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63" r:id="rId1"/>
  </p:sldMasterIdLst>
  <p:notesMasterIdLst>
    <p:notesMasterId r:id="rId115"/>
  </p:notesMasterIdLst>
  <p:sldIdLst>
    <p:sldId id="256" r:id="rId2"/>
    <p:sldId id="257" r:id="rId3"/>
    <p:sldId id="383" r:id="rId4"/>
    <p:sldId id="384" r:id="rId5"/>
    <p:sldId id="385" r:id="rId6"/>
    <p:sldId id="386" r:id="rId7"/>
    <p:sldId id="387" r:id="rId8"/>
    <p:sldId id="388" r:id="rId9"/>
    <p:sldId id="389" r:id="rId10"/>
    <p:sldId id="265" r:id="rId11"/>
    <p:sldId id="390" r:id="rId12"/>
    <p:sldId id="391" r:id="rId13"/>
    <p:sldId id="393" r:id="rId14"/>
    <p:sldId id="394" r:id="rId15"/>
    <p:sldId id="395" r:id="rId16"/>
    <p:sldId id="271" r:id="rId17"/>
    <p:sldId id="396" r:id="rId18"/>
    <p:sldId id="275" r:id="rId19"/>
    <p:sldId id="398" r:id="rId20"/>
    <p:sldId id="399" r:id="rId21"/>
    <p:sldId id="278" r:id="rId22"/>
    <p:sldId id="416" r:id="rId23"/>
    <p:sldId id="279" r:id="rId24"/>
    <p:sldId id="280" r:id="rId25"/>
    <p:sldId id="281" r:id="rId26"/>
    <p:sldId id="425" r:id="rId27"/>
    <p:sldId id="282" r:id="rId28"/>
    <p:sldId id="411" r:id="rId29"/>
    <p:sldId id="412" r:id="rId30"/>
    <p:sldId id="410" r:id="rId31"/>
    <p:sldId id="413" r:id="rId32"/>
    <p:sldId id="414" r:id="rId33"/>
    <p:sldId id="288" r:id="rId34"/>
    <p:sldId id="289" r:id="rId35"/>
    <p:sldId id="290" r:id="rId36"/>
    <p:sldId id="291" r:id="rId37"/>
    <p:sldId id="292" r:id="rId38"/>
    <p:sldId id="295" r:id="rId39"/>
    <p:sldId id="296" r:id="rId40"/>
    <p:sldId id="298" r:id="rId41"/>
    <p:sldId id="417" r:id="rId42"/>
    <p:sldId id="301" r:id="rId43"/>
    <p:sldId id="302" r:id="rId44"/>
    <p:sldId id="303" r:id="rId45"/>
    <p:sldId id="305" r:id="rId46"/>
    <p:sldId id="307" r:id="rId47"/>
    <p:sldId id="309" r:id="rId48"/>
    <p:sldId id="310" r:id="rId49"/>
    <p:sldId id="311" r:id="rId50"/>
    <p:sldId id="312" r:id="rId51"/>
    <p:sldId id="313" r:id="rId52"/>
    <p:sldId id="314" r:id="rId53"/>
    <p:sldId id="315" r:id="rId54"/>
    <p:sldId id="318" r:id="rId55"/>
    <p:sldId id="319" r:id="rId56"/>
    <p:sldId id="320" r:id="rId57"/>
    <p:sldId id="321" r:id="rId58"/>
    <p:sldId id="420" r:id="rId59"/>
    <p:sldId id="418" r:id="rId60"/>
    <p:sldId id="322" r:id="rId61"/>
    <p:sldId id="323" r:id="rId62"/>
    <p:sldId id="419" r:id="rId63"/>
    <p:sldId id="324" r:id="rId64"/>
    <p:sldId id="325" r:id="rId65"/>
    <p:sldId id="326" r:id="rId66"/>
    <p:sldId id="327" r:id="rId67"/>
    <p:sldId id="328" r:id="rId68"/>
    <p:sldId id="329" r:id="rId69"/>
    <p:sldId id="330" r:id="rId70"/>
    <p:sldId id="331" r:id="rId71"/>
    <p:sldId id="421" r:id="rId72"/>
    <p:sldId id="333" r:id="rId73"/>
    <p:sldId id="334" r:id="rId74"/>
    <p:sldId id="336" r:id="rId75"/>
    <p:sldId id="422" r:id="rId76"/>
    <p:sldId id="338" r:id="rId77"/>
    <p:sldId id="339" r:id="rId78"/>
    <p:sldId id="423" r:id="rId79"/>
    <p:sldId id="340" r:id="rId80"/>
    <p:sldId id="342" r:id="rId81"/>
    <p:sldId id="343" r:id="rId82"/>
    <p:sldId id="344" r:id="rId83"/>
    <p:sldId id="345" r:id="rId84"/>
    <p:sldId id="346" r:id="rId85"/>
    <p:sldId id="424" r:id="rId86"/>
    <p:sldId id="348" r:id="rId87"/>
    <p:sldId id="350" r:id="rId88"/>
    <p:sldId id="351" r:id="rId89"/>
    <p:sldId id="429" r:id="rId90"/>
    <p:sldId id="355" r:id="rId91"/>
    <p:sldId id="356" r:id="rId92"/>
    <p:sldId id="357" r:id="rId93"/>
    <p:sldId id="358" r:id="rId94"/>
    <p:sldId id="359" r:id="rId95"/>
    <p:sldId id="360" r:id="rId96"/>
    <p:sldId id="361" r:id="rId97"/>
    <p:sldId id="362" r:id="rId98"/>
    <p:sldId id="426" r:id="rId99"/>
    <p:sldId id="364" r:id="rId100"/>
    <p:sldId id="366" r:id="rId101"/>
    <p:sldId id="367" r:id="rId102"/>
    <p:sldId id="427" r:id="rId103"/>
    <p:sldId id="369" r:id="rId104"/>
    <p:sldId id="370" r:id="rId105"/>
    <p:sldId id="371" r:id="rId106"/>
    <p:sldId id="408" r:id="rId107"/>
    <p:sldId id="407" r:id="rId108"/>
    <p:sldId id="405" r:id="rId109"/>
    <p:sldId id="404" r:id="rId110"/>
    <p:sldId id="403" r:id="rId111"/>
    <p:sldId id="428" r:id="rId112"/>
    <p:sldId id="400" r:id="rId113"/>
    <p:sldId id="401" r:id="rId114"/>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2962F39-D75D-4A2F-BEEC-4C154D6D893C}" type="datetimeFigureOut">
              <a:rPr lang="en-IN" smtClean="0"/>
              <a:t>06-10-2026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D2846A00-73BE-4744-8F0D-3A2C5F2EAB84}" type="slidenum">
              <a:rPr lang="en-IN" smtClean="0"/>
              <a:t>‹#›</a:t>
            </a:fld>
            <a:endParaRPr lang="en-IN"/>
          </a:p>
        </p:txBody>
      </p:sp>
    </p:spTree>
    <p:extLst>
      <p:ext uri="{BB962C8B-B14F-4D97-AF65-F5344CB8AC3E}">
        <p14:creationId xmlns:p14="http://schemas.microsoft.com/office/powerpoint/2010/main" val="1374330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56382-24F4-C6F2-13FF-5FE993F17C0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E5090AB-E873-A6D3-9396-E1FC41996C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0218F6A-A571-C4FA-5856-98833AE00B25}"/>
              </a:ext>
            </a:extLst>
          </p:cNvPr>
          <p:cNvSpPr>
            <a:spLocks noGrp="1"/>
          </p:cNvSpPr>
          <p:nvPr>
            <p:ph type="dt" sz="half" idx="10"/>
          </p:nvPr>
        </p:nvSpPr>
        <p:spPr/>
        <p:txBody>
          <a:bodyPr/>
          <a:lstStyle/>
          <a:p>
            <a:fld id="{1D8BD707-D9CF-40AE-B4C6-C98DA3205C09}" type="datetimeFigureOut">
              <a:rPr lang="en-US" smtClean="0"/>
              <a:t>10/6/2026</a:t>
            </a:fld>
            <a:endParaRPr lang="en-US"/>
          </a:p>
        </p:txBody>
      </p:sp>
      <p:sp>
        <p:nvSpPr>
          <p:cNvPr id="5" name="Footer Placeholder 4">
            <a:extLst>
              <a:ext uri="{FF2B5EF4-FFF2-40B4-BE49-F238E27FC236}">
                <a16:creationId xmlns:a16="http://schemas.microsoft.com/office/drawing/2014/main" id="{046ADB6F-6893-F7B1-E3E4-A033ACA360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2AEE9B-F077-FDC9-AA38-DE4C3CEB1112}"/>
              </a:ext>
            </a:extLst>
          </p:cNvPr>
          <p:cNvSpPr>
            <a:spLocks noGrp="1"/>
          </p:cNvSpPr>
          <p:nvPr>
            <p:ph type="sldNum" sz="quarter" idx="12"/>
          </p:nvPr>
        </p:nvSpPr>
        <p:spPr/>
        <p:txBody>
          <a:bodyPr/>
          <a:lstStyle/>
          <a:p>
            <a:pPr marL="294005">
              <a:lnSpc>
                <a:spcPts val="2090"/>
              </a:lnSpc>
            </a:pPr>
            <a:fld id="{81D60167-4931-47E6-BA6A-407CBD079E47}" type="slidenum">
              <a:rPr lang="en-IN" spc="-50" smtClean="0"/>
              <a:t>‹#›</a:t>
            </a:fld>
            <a:endParaRPr lang="en-IN" spc="-50" dirty="0"/>
          </a:p>
        </p:txBody>
      </p:sp>
    </p:spTree>
    <p:extLst>
      <p:ext uri="{BB962C8B-B14F-4D97-AF65-F5344CB8AC3E}">
        <p14:creationId xmlns:p14="http://schemas.microsoft.com/office/powerpoint/2010/main" val="3790994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255C0-A376-C88D-50A6-71B54E700B3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7504A99-5C8C-93C1-8C94-7670C62C29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67EB05-EDC5-22A3-6634-D8BA6EA2728B}"/>
              </a:ext>
            </a:extLst>
          </p:cNvPr>
          <p:cNvSpPr>
            <a:spLocks noGrp="1"/>
          </p:cNvSpPr>
          <p:nvPr>
            <p:ph type="dt" sz="half" idx="10"/>
          </p:nvPr>
        </p:nvSpPr>
        <p:spPr/>
        <p:txBody>
          <a:bodyPr/>
          <a:lstStyle/>
          <a:p>
            <a:fld id="{1D8BD707-D9CF-40AE-B4C6-C98DA3205C09}" type="datetimeFigureOut">
              <a:rPr lang="en-US" smtClean="0"/>
              <a:t>10/6/2026</a:t>
            </a:fld>
            <a:endParaRPr lang="en-US"/>
          </a:p>
        </p:txBody>
      </p:sp>
      <p:sp>
        <p:nvSpPr>
          <p:cNvPr id="5" name="Footer Placeholder 4">
            <a:extLst>
              <a:ext uri="{FF2B5EF4-FFF2-40B4-BE49-F238E27FC236}">
                <a16:creationId xmlns:a16="http://schemas.microsoft.com/office/drawing/2014/main" id="{C94D784D-CBB0-0E8F-D324-F82EB3CA30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453373-EE11-8CFF-6BEA-E89F9395F225}"/>
              </a:ext>
            </a:extLst>
          </p:cNvPr>
          <p:cNvSpPr>
            <a:spLocks noGrp="1"/>
          </p:cNvSpPr>
          <p:nvPr>
            <p:ph type="sldNum" sz="quarter" idx="12"/>
          </p:nvPr>
        </p:nvSpPr>
        <p:spPr/>
        <p:txBody>
          <a:bodyPr/>
          <a:lstStyle/>
          <a:p>
            <a:pPr marL="294005">
              <a:lnSpc>
                <a:spcPts val="2090"/>
              </a:lnSpc>
            </a:pPr>
            <a:fld id="{81D60167-4931-47E6-BA6A-407CBD079E47}" type="slidenum">
              <a:rPr lang="en-IN" spc="-50" smtClean="0"/>
              <a:t>‹#›</a:t>
            </a:fld>
            <a:endParaRPr lang="en-IN" spc="-50" dirty="0"/>
          </a:p>
        </p:txBody>
      </p:sp>
    </p:spTree>
    <p:extLst>
      <p:ext uri="{BB962C8B-B14F-4D97-AF65-F5344CB8AC3E}">
        <p14:creationId xmlns:p14="http://schemas.microsoft.com/office/powerpoint/2010/main" val="625911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E2032-722D-8DC2-1EEF-C70E15DA9A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FCB4BF4-04E1-AC49-837C-82115E6C026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DFCAD5-6D2E-568B-035E-1E91836FE1B9}"/>
              </a:ext>
            </a:extLst>
          </p:cNvPr>
          <p:cNvSpPr>
            <a:spLocks noGrp="1"/>
          </p:cNvSpPr>
          <p:nvPr>
            <p:ph type="dt" sz="half" idx="10"/>
          </p:nvPr>
        </p:nvSpPr>
        <p:spPr/>
        <p:txBody>
          <a:bodyPr/>
          <a:lstStyle/>
          <a:p>
            <a:fld id="{1D8BD707-D9CF-40AE-B4C6-C98DA3205C09}" type="datetimeFigureOut">
              <a:rPr lang="en-US" smtClean="0"/>
              <a:t>10/6/2026</a:t>
            </a:fld>
            <a:endParaRPr lang="en-US"/>
          </a:p>
        </p:txBody>
      </p:sp>
      <p:sp>
        <p:nvSpPr>
          <p:cNvPr id="5" name="Footer Placeholder 4">
            <a:extLst>
              <a:ext uri="{FF2B5EF4-FFF2-40B4-BE49-F238E27FC236}">
                <a16:creationId xmlns:a16="http://schemas.microsoft.com/office/drawing/2014/main" id="{C4E2DC2A-210A-8D0A-2CB3-0C0E4998F1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45F4E4-FA04-6F7E-EA36-B75C3E478C44}"/>
              </a:ext>
            </a:extLst>
          </p:cNvPr>
          <p:cNvSpPr>
            <a:spLocks noGrp="1"/>
          </p:cNvSpPr>
          <p:nvPr>
            <p:ph type="sldNum" sz="quarter" idx="12"/>
          </p:nvPr>
        </p:nvSpPr>
        <p:spPr/>
        <p:txBody>
          <a:bodyPr/>
          <a:lstStyle/>
          <a:p>
            <a:pPr marL="294005">
              <a:lnSpc>
                <a:spcPts val="2090"/>
              </a:lnSpc>
            </a:pPr>
            <a:fld id="{81D60167-4931-47E6-BA6A-407CBD079E47}" type="slidenum">
              <a:rPr lang="en-IN" spc="-50" smtClean="0"/>
              <a:t>‹#›</a:t>
            </a:fld>
            <a:endParaRPr lang="en-IN" spc="-50" dirty="0"/>
          </a:p>
        </p:txBody>
      </p:sp>
    </p:spTree>
    <p:extLst>
      <p:ext uri="{BB962C8B-B14F-4D97-AF65-F5344CB8AC3E}">
        <p14:creationId xmlns:p14="http://schemas.microsoft.com/office/powerpoint/2010/main" val="1408037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21DE7-9C44-5405-5C9A-3897E68612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19DA9C-D7BF-9549-A6AA-4ABFFB23DC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43DE0BC-E9A4-A194-5DA7-7C0AF57700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815E9EE-B6C7-50AC-0466-F427D01814F5}"/>
              </a:ext>
            </a:extLst>
          </p:cNvPr>
          <p:cNvSpPr>
            <a:spLocks noGrp="1"/>
          </p:cNvSpPr>
          <p:nvPr>
            <p:ph type="dt" sz="half" idx="10"/>
          </p:nvPr>
        </p:nvSpPr>
        <p:spPr/>
        <p:txBody>
          <a:bodyPr/>
          <a:lstStyle/>
          <a:p>
            <a:fld id="{1D8BD707-D9CF-40AE-B4C6-C98DA3205C09}" type="datetimeFigureOut">
              <a:rPr lang="en-US" smtClean="0"/>
              <a:t>10/6/2026</a:t>
            </a:fld>
            <a:endParaRPr lang="en-US"/>
          </a:p>
        </p:txBody>
      </p:sp>
      <p:sp>
        <p:nvSpPr>
          <p:cNvPr id="6" name="Footer Placeholder 5">
            <a:extLst>
              <a:ext uri="{FF2B5EF4-FFF2-40B4-BE49-F238E27FC236}">
                <a16:creationId xmlns:a16="http://schemas.microsoft.com/office/drawing/2014/main" id="{B9E76CC3-6E8D-CF8F-D650-247DB6EA0B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BD11DC-DBBA-C422-68EA-0D38F3C0A233}"/>
              </a:ext>
            </a:extLst>
          </p:cNvPr>
          <p:cNvSpPr>
            <a:spLocks noGrp="1"/>
          </p:cNvSpPr>
          <p:nvPr>
            <p:ph type="sldNum" sz="quarter" idx="12"/>
          </p:nvPr>
        </p:nvSpPr>
        <p:spPr/>
        <p:txBody>
          <a:bodyPr/>
          <a:lstStyle/>
          <a:p>
            <a:pPr marL="294005">
              <a:lnSpc>
                <a:spcPts val="2090"/>
              </a:lnSpc>
            </a:pPr>
            <a:fld id="{81D60167-4931-47E6-BA6A-407CBD079E47}" type="slidenum">
              <a:rPr lang="en-IN" spc="-50" smtClean="0"/>
              <a:t>‹#›</a:t>
            </a:fld>
            <a:endParaRPr lang="en-IN" spc="-50" dirty="0"/>
          </a:p>
        </p:txBody>
      </p:sp>
    </p:spTree>
    <p:extLst>
      <p:ext uri="{BB962C8B-B14F-4D97-AF65-F5344CB8AC3E}">
        <p14:creationId xmlns:p14="http://schemas.microsoft.com/office/powerpoint/2010/main" val="3144068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01A7B-DD27-C155-6C67-2CFE992DF6D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B976F55-7088-7B96-9156-0D7BFE9144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CA60AD-7D4E-BD6E-D66F-A31B20D2A5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E1864B4-255C-4981-0824-D160CCEBBB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0BECC0-96CE-F765-C9D1-9CB0C21A05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38068CF-98A8-0B18-2D4E-99A729ACAD6D}"/>
              </a:ext>
            </a:extLst>
          </p:cNvPr>
          <p:cNvSpPr>
            <a:spLocks noGrp="1"/>
          </p:cNvSpPr>
          <p:nvPr>
            <p:ph type="dt" sz="half" idx="10"/>
          </p:nvPr>
        </p:nvSpPr>
        <p:spPr/>
        <p:txBody>
          <a:bodyPr/>
          <a:lstStyle/>
          <a:p>
            <a:fld id="{1D8BD707-D9CF-40AE-B4C6-C98DA3205C09}" type="datetimeFigureOut">
              <a:rPr lang="en-US" smtClean="0"/>
              <a:t>10/6/2026</a:t>
            </a:fld>
            <a:endParaRPr lang="en-US"/>
          </a:p>
        </p:txBody>
      </p:sp>
      <p:sp>
        <p:nvSpPr>
          <p:cNvPr id="8" name="Footer Placeholder 7">
            <a:extLst>
              <a:ext uri="{FF2B5EF4-FFF2-40B4-BE49-F238E27FC236}">
                <a16:creationId xmlns:a16="http://schemas.microsoft.com/office/drawing/2014/main" id="{B7164B06-8A79-F239-37B3-67B411E71B4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4EF35A6-9E8C-192A-F2A4-7F6B63868030}"/>
              </a:ext>
            </a:extLst>
          </p:cNvPr>
          <p:cNvSpPr>
            <a:spLocks noGrp="1"/>
          </p:cNvSpPr>
          <p:nvPr>
            <p:ph type="sldNum" sz="quarter" idx="12"/>
          </p:nvPr>
        </p:nvSpPr>
        <p:spPr/>
        <p:txBody>
          <a:bodyPr/>
          <a:lstStyle/>
          <a:p>
            <a:pPr marL="294005">
              <a:lnSpc>
                <a:spcPts val="2090"/>
              </a:lnSpc>
            </a:pPr>
            <a:fld id="{81D60167-4931-47E6-BA6A-407CBD079E47}" type="slidenum">
              <a:rPr lang="en-IN" spc="-50" smtClean="0"/>
              <a:t>‹#›</a:t>
            </a:fld>
            <a:endParaRPr lang="en-IN" spc="-50" dirty="0"/>
          </a:p>
        </p:txBody>
      </p:sp>
    </p:spTree>
    <p:extLst>
      <p:ext uri="{BB962C8B-B14F-4D97-AF65-F5344CB8AC3E}">
        <p14:creationId xmlns:p14="http://schemas.microsoft.com/office/powerpoint/2010/main" val="122883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676B2-704A-5CB8-4AF3-5740DF5396A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350A61-881C-BB65-D9B8-A5918981B7EA}"/>
              </a:ext>
            </a:extLst>
          </p:cNvPr>
          <p:cNvSpPr>
            <a:spLocks noGrp="1"/>
          </p:cNvSpPr>
          <p:nvPr>
            <p:ph type="dt" sz="half" idx="10"/>
          </p:nvPr>
        </p:nvSpPr>
        <p:spPr/>
        <p:txBody>
          <a:bodyPr/>
          <a:lstStyle/>
          <a:p>
            <a:fld id="{1D8BD707-D9CF-40AE-B4C6-C98DA3205C09}" type="datetimeFigureOut">
              <a:rPr lang="en-US" smtClean="0"/>
              <a:t>10/6/2026</a:t>
            </a:fld>
            <a:endParaRPr lang="en-US"/>
          </a:p>
        </p:txBody>
      </p:sp>
      <p:sp>
        <p:nvSpPr>
          <p:cNvPr id="4" name="Footer Placeholder 3">
            <a:extLst>
              <a:ext uri="{FF2B5EF4-FFF2-40B4-BE49-F238E27FC236}">
                <a16:creationId xmlns:a16="http://schemas.microsoft.com/office/drawing/2014/main" id="{E3EB8237-4BB0-C7C0-072D-6167209FE50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2A4BA6D-C4FE-51E8-FC12-924C704BE355}"/>
              </a:ext>
            </a:extLst>
          </p:cNvPr>
          <p:cNvSpPr>
            <a:spLocks noGrp="1"/>
          </p:cNvSpPr>
          <p:nvPr>
            <p:ph type="sldNum" sz="quarter" idx="12"/>
          </p:nvPr>
        </p:nvSpPr>
        <p:spPr/>
        <p:txBody>
          <a:bodyPr/>
          <a:lstStyle/>
          <a:p>
            <a:pPr marL="294005">
              <a:lnSpc>
                <a:spcPts val="2090"/>
              </a:lnSpc>
            </a:pPr>
            <a:fld id="{81D60167-4931-47E6-BA6A-407CBD079E47}" type="slidenum">
              <a:rPr lang="en-IN" spc="-50" smtClean="0"/>
              <a:t>‹#›</a:t>
            </a:fld>
            <a:endParaRPr lang="en-IN" spc="-50" dirty="0"/>
          </a:p>
        </p:txBody>
      </p:sp>
    </p:spTree>
    <p:extLst>
      <p:ext uri="{BB962C8B-B14F-4D97-AF65-F5344CB8AC3E}">
        <p14:creationId xmlns:p14="http://schemas.microsoft.com/office/powerpoint/2010/main" val="2404315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F972DE-4B5B-45BC-38A5-5D1E0EEBF1AE}"/>
              </a:ext>
            </a:extLst>
          </p:cNvPr>
          <p:cNvSpPr>
            <a:spLocks noGrp="1"/>
          </p:cNvSpPr>
          <p:nvPr>
            <p:ph type="dt" sz="half" idx="10"/>
          </p:nvPr>
        </p:nvSpPr>
        <p:spPr/>
        <p:txBody>
          <a:bodyPr/>
          <a:lstStyle/>
          <a:p>
            <a:fld id="{1D8BD707-D9CF-40AE-B4C6-C98DA3205C09}" type="datetimeFigureOut">
              <a:rPr lang="en-US" smtClean="0"/>
              <a:t>10/6/2026</a:t>
            </a:fld>
            <a:endParaRPr lang="en-US"/>
          </a:p>
        </p:txBody>
      </p:sp>
      <p:sp>
        <p:nvSpPr>
          <p:cNvPr id="3" name="Footer Placeholder 2">
            <a:extLst>
              <a:ext uri="{FF2B5EF4-FFF2-40B4-BE49-F238E27FC236}">
                <a16:creationId xmlns:a16="http://schemas.microsoft.com/office/drawing/2014/main" id="{AEA1465E-F881-AABF-9A7D-AC7F35FD3DF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E07F994-0FD4-F154-CD42-A650CBD76E99}"/>
              </a:ext>
            </a:extLst>
          </p:cNvPr>
          <p:cNvSpPr>
            <a:spLocks noGrp="1"/>
          </p:cNvSpPr>
          <p:nvPr>
            <p:ph type="sldNum" sz="quarter" idx="12"/>
          </p:nvPr>
        </p:nvSpPr>
        <p:spPr/>
        <p:txBody>
          <a:bodyPr/>
          <a:lstStyle/>
          <a:p>
            <a:pPr marL="294005">
              <a:lnSpc>
                <a:spcPts val="2090"/>
              </a:lnSpc>
            </a:pPr>
            <a:fld id="{81D60167-4931-47E6-BA6A-407CBD079E47}" type="slidenum">
              <a:rPr lang="en-IN" spc="-50" smtClean="0"/>
              <a:t>‹#›</a:t>
            </a:fld>
            <a:endParaRPr lang="en-IN" spc="-50" dirty="0"/>
          </a:p>
        </p:txBody>
      </p:sp>
    </p:spTree>
    <p:extLst>
      <p:ext uri="{BB962C8B-B14F-4D97-AF65-F5344CB8AC3E}">
        <p14:creationId xmlns:p14="http://schemas.microsoft.com/office/powerpoint/2010/main" val="3929453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92B7C-03BD-8B68-3F3B-40947C477D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9457E13-F6F0-3BD6-0760-20190211B6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D603BEE-9C24-4862-3F20-20A92EEEED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45E5F8-6DB1-D12E-69F7-96A93B412664}"/>
              </a:ext>
            </a:extLst>
          </p:cNvPr>
          <p:cNvSpPr>
            <a:spLocks noGrp="1"/>
          </p:cNvSpPr>
          <p:nvPr>
            <p:ph type="dt" sz="half" idx="10"/>
          </p:nvPr>
        </p:nvSpPr>
        <p:spPr/>
        <p:txBody>
          <a:bodyPr/>
          <a:lstStyle/>
          <a:p>
            <a:fld id="{1D8BD707-D9CF-40AE-B4C6-C98DA3205C09}" type="datetimeFigureOut">
              <a:rPr lang="en-US" smtClean="0"/>
              <a:t>10/6/2026</a:t>
            </a:fld>
            <a:endParaRPr lang="en-US"/>
          </a:p>
        </p:txBody>
      </p:sp>
      <p:sp>
        <p:nvSpPr>
          <p:cNvPr id="6" name="Footer Placeholder 5">
            <a:extLst>
              <a:ext uri="{FF2B5EF4-FFF2-40B4-BE49-F238E27FC236}">
                <a16:creationId xmlns:a16="http://schemas.microsoft.com/office/drawing/2014/main" id="{A199ABD3-2857-42E2-2C13-069464964E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D34D381-7032-BA5D-EAC2-EF8090382787}"/>
              </a:ext>
            </a:extLst>
          </p:cNvPr>
          <p:cNvSpPr>
            <a:spLocks noGrp="1"/>
          </p:cNvSpPr>
          <p:nvPr>
            <p:ph type="sldNum" sz="quarter" idx="12"/>
          </p:nvPr>
        </p:nvSpPr>
        <p:spPr/>
        <p:txBody>
          <a:bodyPr/>
          <a:lstStyle/>
          <a:p>
            <a:pPr marL="294005">
              <a:lnSpc>
                <a:spcPts val="2090"/>
              </a:lnSpc>
            </a:pPr>
            <a:fld id="{81D60167-4931-47E6-BA6A-407CBD079E47}" type="slidenum">
              <a:rPr lang="en-IN" spc="-50" smtClean="0"/>
              <a:t>‹#›</a:t>
            </a:fld>
            <a:endParaRPr lang="en-IN" spc="-50" dirty="0"/>
          </a:p>
        </p:txBody>
      </p:sp>
    </p:spTree>
    <p:extLst>
      <p:ext uri="{BB962C8B-B14F-4D97-AF65-F5344CB8AC3E}">
        <p14:creationId xmlns:p14="http://schemas.microsoft.com/office/powerpoint/2010/main" val="3471479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4CE49-3D7A-B229-EBC8-EC7BF6E0E5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BDFAD6B-9057-6931-2635-98031DB5BC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BCD5DC9C-203D-B93A-D3DF-5E50D657FA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B77170-D544-EB0E-4DFD-1AE34730E27A}"/>
              </a:ext>
            </a:extLst>
          </p:cNvPr>
          <p:cNvSpPr>
            <a:spLocks noGrp="1"/>
          </p:cNvSpPr>
          <p:nvPr>
            <p:ph type="dt" sz="half" idx="10"/>
          </p:nvPr>
        </p:nvSpPr>
        <p:spPr/>
        <p:txBody>
          <a:bodyPr/>
          <a:lstStyle/>
          <a:p>
            <a:fld id="{1D8BD707-D9CF-40AE-B4C6-C98DA3205C09}" type="datetimeFigureOut">
              <a:rPr lang="en-US" smtClean="0"/>
              <a:t>10/6/2026</a:t>
            </a:fld>
            <a:endParaRPr lang="en-US"/>
          </a:p>
        </p:txBody>
      </p:sp>
      <p:sp>
        <p:nvSpPr>
          <p:cNvPr id="6" name="Footer Placeholder 5">
            <a:extLst>
              <a:ext uri="{FF2B5EF4-FFF2-40B4-BE49-F238E27FC236}">
                <a16:creationId xmlns:a16="http://schemas.microsoft.com/office/drawing/2014/main" id="{266BEB9B-5CDA-684A-9C42-C37DC0D778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C42603-C78C-57A5-024F-1EB3D2D97ECD}"/>
              </a:ext>
            </a:extLst>
          </p:cNvPr>
          <p:cNvSpPr>
            <a:spLocks noGrp="1"/>
          </p:cNvSpPr>
          <p:nvPr>
            <p:ph type="sldNum" sz="quarter" idx="12"/>
          </p:nvPr>
        </p:nvSpPr>
        <p:spPr/>
        <p:txBody>
          <a:bodyPr/>
          <a:lstStyle/>
          <a:p>
            <a:pPr marL="294005">
              <a:lnSpc>
                <a:spcPts val="2090"/>
              </a:lnSpc>
            </a:pPr>
            <a:fld id="{81D60167-4931-47E6-BA6A-407CBD079E47}" type="slidenum">
              <a:rPr lang="en-IN" spc="-50" smtClean="0"/>
              <a:t>‹#›</a:t>
            </a:fld>
            <a:endParaRPr lang="en-IN" spc="-50" dirty="0"/>
          </a:p>
        </p:txBody>
      </p:sp>
    </p:spTree>
    <p:extLst>
      <p:ext uri="{BB962C8B-B14F-4D97-AF65-F5344CB8AC3E}">
        <p14:creationId xmlns:p14="http://schemas.microsoft.com/office/powerpoint/2010/main" val="21330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2134-0A84-766A-7EEC-2B56F09FBF8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EC98FE-A732-B15D-02E3-0B7DECE94A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74E73F-F525-AAB7-B617-B62CE68490E1}"/>
              </a:ext>
            </a:extLst>
          </p:cNvPr>
          <p:cNvSpPr>
            <a:spLocks noGrp="1"/>
          </p:cNvSpPr>
          <p:nvPr>
            <p:ph type="dt" sz="half" idx="10"/>
          </p:nvPr>
        </p:nvSpPr>
        <p:spPr/>
        <p:txBody>
          <a:bodyPr/>
          <a:lstStyle/>
          <a:p>
            <a:fld id="{1D8BD707-D9CF-40AE-B4C6-C98DA3205C09}" type="datetimeFigureOut">
              <a:rPr lang="en-US" smtClean="0"/>
              <a:t>10/6/2026</a:t>
            </a:fld>
            <a:endParaRPr lang="en-US"/>
          </a:p>
        </p:txBody>
      </p:sp>
      <p:sp>
        <p:nvSpPr>
          <p:cNvPr id="5" name="Footer Placeholder 4">
            <a:extLst>
              <a:ext uri="{FF2B5EF4-FFF2-40B4-BE49-F238E27FC236}">
                <a16:creationId xmlns:a16="http://schemas.microsoft.com/office/drawing/2014/main" id="{00C5511A-517F-A8BD-8214-ED4B780B59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9EE16D-EA3C-7617-A7D6-248E4AD7B3E1}"/>
              </a:ext>
            </a:extLst>
          </p:cNvPr>
          <p:cNvSpPr>
            <a:spLocks noGrp="1"/>
          </p:cNvSpPr>
          <p:nvPr>
            <p:ph type="sldNum" sz="quarter" idx="12"/>
          </p:nvPr>
        </p:nvSpPr>
        <p:spPr/>
        <p:txBody>
          <a:bodyPr/>
          <a:lstStyle/>
          <a:p>
            <a:pPr marL="294005">
              <a:lnSpc>
                <a:spcPts val="2090"/>
              </a:lnSpc>
            </a:pPr>
            <a:fld id="{81D60167-4931-47E6-BA6A-407CBD079E47}" type="slidenum">
              <a:rPr lang="en-IN" spc="-50" smtClean="0"/>
              <a:t>‹#›</a:t>
            </a:fld>
            <a:endParaRPr lang="en-IN" spc="-50" dirty="0"/>
          </a:p>
        </p:txBody>
      </p:sp>
    </p:spTree>
    <p:extLst>
      <p:ext uri="{BB962C8B-B14F-4D97-AF65-F5344CB8AC3E}">
        <p14:creationId xmlns:p14="http://schemas.microsoft.com/office/powerpoint/2010/main" val="27200186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0D68D4-D048-609B-4AB7-4EEADFA211F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35DABEF-11C1-6C9A-3CFD-E58496F09B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A51DA8-D764-1659-7E17-5961078F3DD9}"/>
              </a:ext>
            </a:extLst>
          </p:cNvPr>
          <p:cNvSpPr>
            <a:spLocks noGrp="1"/>
          </p:cNvSpPr>
          <p:nvPr>
            <p:ph type="dt" sz="half" idx="10"/>
          </p:nvPr>
        </p:nvSpPr>
        <p:spPr/>
        <p:txBody>
          <a:bodyPr/>
          <a:lstStyle/>
          <a:p>
            <a:fld id="{1D8BD707-D9CF-40AE-B4C6-C98DA3205C09}" type="datetimeFigureOut">
              <a:rPr lang="en-US" smtClean="0"/>
              <a:t>10/6/2026</a:t>
            </a:fld>
            <a:endParaRPr lang="en-US"/>
          </a:p>
        </p:txBody>
      </p:sp>
      <p:sp>
        <p:nvSpPr>
          <p:cNvPr id="5" name="Footer Placeholder 4">
            <a:extLst>
              <a:ext uri="{FF2B5EF4-FFF2-40B4-BE49-F238E27FC236}">
                <a16:creationId xmlns:a16="http://schemas.microsoft.com/office/drawing/2014/main" id="{6146BA48-A3B9-B092-5BCE-8FC5F56716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AC4107-7712-E546-CE3C-B190EDCD1B52}"/>
              </a:ext>
            </a:extLst>
          </p:cNvPr>
          <p:cNvSpPr>
            <a:spLocks noGrp="1"/>
          </p:cNvSpPr>
          <p:nvPr>
            <p:ph type="sldNum" sz="quarter" idx="12"/>
          </p:nvPr>
        </p:nvSpPr>
        <p:spPr/>
        <p:txBody>
          <a:bodyPr/>
          <a:lstStyle/>
          <a:p>
            <a:pPr marL="294005">
              <a:lnSpc>
                <a:spcPts val="2090"/>
              </a:lnSpc>
            </a:pPr>
            <a:fld id="{81D60167-4931-47E6-BA6A-407CBD079E47}" type="slidenum">
              <a:rPr lang="en-IN" spc="-50" smtClean="0"/>
              <a:t>‹#›</a:t>
            </a:fld>
            <a:endParaRPr lang="en-IN" spc="-50" dirty="0"/>
          </a:p>
        </p:txBody>
      </p:sp>
    </p:spTree>
    <p:extLst>
      <p:ext uri="{BB962C8B-B14F-4D97-AF65-F5344CB8AC3E}">
        <p14:creationId xmlns:p14="http://schemas.microsoft.com/office/powerpoint/2010/main" val="21401465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713482" y="1559763"/>
            <a:ext cx="6765035" cy="454025"/>
          </a:xfrm>
          <a:prstGeom prst="rect">
            <a:avLst/>
          </a:prstGeom>
        </p:spPr>
        <p:txBody>
          <a:bodyPr wrap="square" lIns="0" tIns="0" rIns="0" bIns="0">
            <a:spAutoFit/>
          </a:bodyPr>
          <a:lstStyle>
            <a:lvl1pPr>
              <a:defRPr sz="2400" b="1" i="0">
                <a:solidFill>
                  <a:srgbClr val="FF0000"/>
                </a:solidFill>
                <a:latin typeface="Comic Sans MS"/>
                <a:cs typeface="Comic Sans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10/6/2026</a:t>
            </a:fld>
            <a:endParaRPr lang="en-US"/>
          </a:p>
        </p:txBody>
      </p:sp>
      <p:sp>
        <p:nvSpPr>
          <p:cNvPr id="6" name="Holder 6"/>
          <p:cNvSpPr>
            <a:spLocks noGrp="1"/>
          </p:cNvSpPr>
          <p:nvPr>
            <p:ph type="sldNum" sz="quarter" idx="7"/>
          </p:nvPr>
        </p:nvSpPr>
        <p:spPr/>
        <p:txBody>
          <a:bodyPr lIns="0" tIns="0" rIns="0" bIns="0"/>
          <a:lstStyle>
            <a:lvl1pPr>
              <a:defRPr sz="1800" b="0" i="0">
                <a:solidFill>
                  <a:srgbClr val="888888"/>
                </a:solidFill>
                <a:latin typeface="Arial MT"/>
                <a:cs typeface="Arial MT"/>
              </a:defRPr>
            </a:lvl1pPr>
          </a:lstStyle>
          <a:p>
            <a:pPr marL="294005">
              <a:lnSpc>
                <a:spcPts val="2090"/>
              </a:lnSpc>
            </a:pPr>
            <a:fld id="{81D60167-4931-47E6-BA6A-407CBD079E47}" type="slidenum">
              <a:rPr spc="-50" dirty="0"/>
              <a:t>‹#›</a:t>
            </a:fld>
            <a:endParaRPr spc="-50" dirty="0"/>
          </a:p>
        </p:txBody>
      </p:sp>
    </p:spTree>
    <p:extLst>
      <p:ext uri="{BB962C8B-B14F-4D97-AF65-F5344CB8AC3E}">
        <p14:creationId xmlns:p14="http://schemas.microsoft.com/office/powerpoint/2010/main" val="8901008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2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FF0000"/>
                </a:solidFill>
                <a:latin typeface="Comic Sans MS"/>
                <a:cs typeface="Comic Sans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10/6/2026</a:t>
            </a:fld>
            <a:endParaRPr lang="en-US"/>
          </a:p>
        </p:txBody>
      </p:sp>
      <p:sp>
        <p:nvSpPr>
          <p:cNvPr id="7" name="Holder 7"/>
          <p:cNvSpPr>
            <a:spLocks noGrp="1"/>
          </p:cNvSpPr>
          <p:nvPr>
            <p:ph type="sldNum" sz="quarter" idx="7"/>
          </p:nvPr>
        </p:nvSpPr>
        <p:spPr/>
        <p:txBody>
          <a:bodyPr lIns="0" tIns="0" rIns="0" bIns="0"/>
          <a:lstStyle>
            <a:lvl1pPr>
              <a:defRPr sz="1800" b="0" i="0">
                <a:solidFill>
                  <a:srgbClr val="888888"/>
                </a:solidFill>
                <a:latin typeface="Arial MT"/>
                <a:cs typeface="Arial MT"/>
              </a:defRPr>
            </a:lvl1pPr>
          </a:lstStyle>
          <a:p>
            <a:pPr marL="294005">
              <a:lnSpc>
                <a:spcPts val="2090"/>
              </a:lnSpc>
            </a:pPr>
            <a:fld id="{81D60167-4931-47E6-BA6A-407CBD079E47}" type="slidenum">
              <a:rPr spc="-50" dirty="0"/>
              <a:t>‹#›</a:t>
            </a:fld>
            <a:endParaRPr spc="-50" dirty="0"/>
          </a:p>
        </p:txBody>
      </p:sp>
    </p:spTree>
    <p:extLst>
      <p:ext uri="{BB962C8B-B14F-4D97-AF65-F5344CB8AC3E}">
        <p14:creationId xmlns:p14="http://schemas.microsoft.com/office/powerpoint/2010/main" val="824607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85DC9D-70FC-3658-B124-88DCAB9F56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96A95FF-B945-B0C8-B086-1EE195C2E9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7CE22A-D03B-A369-E1A7-CB62E20104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8BD707-D9CF-40AE-B4C6-C98DA3205C09}" type="datetimeFigureOut">
              <a:rPr lang="en-US" smtClean="0"/>
              <a:t>10/6/2026</a:t>
            </a:fld>
            <a:endParaRPr lang="en-US"/>
          </a:p>
        </p:txBody>
      </p:sp>
      <p:sp>
        <p:nvSpPr>
          <p:cNvPr id="5" name="Footer Placeholder 4">
            <a:extLst>
              <a:ext uri="{FF2B5EF4-FFF2-40B4-BE49-F238E27FC236}">
                <a16:creationId xmlns:a16="http://schemas.microsoft.com/office/drawing/2014/main" id="{28D73025-82B2-11FD-CF5B-9935739ACD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2E9B54A-046F-DF2E-8CD7-E7FB368EF7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marL="294005">
              <a:lnSpc>
                <a:spcPts val="2090"/>
              </a:lnSpc>
            </a:pPr>
            <a:fld id="{81D60167-4931-47E6-BA6A-407CBD079E47}" type="slidenum">
              <a:rPr lang="en-IN" spc="-50" smtClean="0"/>
              <a:t>‹#›</a:t>
            </a:fld>
            <a:endParaRPr lang="en-IN" spc="-50" dirty="0"/>
          </a:p>
        </p:txBody>
      </p:sp>
      <p:pic>
        <p:nvPicPr>
          <p:cNvPr id="90" name="College Logo"/>
          <p:cNvPicPr>
            <a:picLocks noChangeAspect="1"/>
          </p:cNvPicPr>
          <p:nvPr userDrawn="1"/>
        </p:nvPicPr>
        <p:blipFill>
          <a:blip r:embed="rId15"/>
          <a:stretch>
            <a:fillRect/>
          </a:stretch>
        </p:blipFill>
        <p:spPr>
          <a:xfrm>
            <a:off x="11430000" y="91440"/>
            <a:ext cx="555000" cy="699000"/>
          </a:xfrm>
          <a:prstGeom prst="rect">
            <a:avLst/>
          </a:prstGeom>
        </p:spPr>
      </p:pic>
      <p:sp>
        <p:nvSpPr>
          <p:cNvPr id="91" name="Footer Text"/>
          <p:cNvSpPr txBox="1"/>
          <p:nvPr userDrawn="1"/>
        </p:nvSpPr>
        <p:spPr>
          <a:xfrm>
            <a:off x="457200" y="6477000"/>
            <a:ext cx="6400800" cy="277000"/>
          </a:xfrm>
          <a:prstGeom prst="rect">
            <a:avLst/>
          </a:prstGeom>
          <a:noFill/>
        </p:spPr>
        <p:txBody>
          <a:bodyPr wrap="square" lIns="0" tIns="0" rIns="0" bIns="0" anchor="ctr"/>
          <a:lstStyle/>
          <a:p>
            <a:pPr algn="l"/>
            <a:r>
              <a:rPr lang="en-IN" sz="1200">
                <a:solidFill>
                  <a:srgbClr val="6B7280"/>
                </a:solidFill>
                <a:latin typeface="Calibri"/>
                <a:cs typeface="Calibri"/>
              </a:rPr>
              <a:t>Ramachandra College of Engineering (A), Eluru</a:t>
            </a:r>
          </a:p>
        </p:txBody>
      </p:sp>
      <p:sp>
        <p:nvSpPr>
          <p:cNvPr id="92" name="Page Number"/>
          <p:cNvSpPr txBox="1"/>
          <p:nvPr userDrawn="1"/>
        </p:nvSpPr>
        <p:spPr>
          <a:xfrm>
            <a:off x="10744200" y="6477000"/>
            <a:ext cx="990600" cy="277000"/>
          </a:xfrm>
          <a:prstGeom prst="rect">
            <a:avLst/>
          </a:prstGeom>
          <a:noFill/>
        </p:spPr>
        <p:txBody>
          <a:bodyPr wrap="square" lIns="0" tIns="0" rIns="0" bIns="0" anchor="ctr"/>
          <a:lstStyle/>
          <a:p>
            <a:pPr algn="r"/>
            <a:fld id="{B6F15528-21DE-4FAA-801E-634DDDAF4B2B}" type="slidenum">
              <a:rPr lang="en-IN" sz="1200">
                <a:solidFill>
                  <a:srgbClr val="6B7280"/>
                </a:solidFill>
                <a:latin typeface="Calibri"/>
                <a:cs typeface="Calibri"/>
              </a:rPr>
              <a:t>‹#›</a:t>
            </a:fld>
            <a:endParaRPr lang="en-IN" sz="1200">
              <a:solidFill>
                <a:srgbClr val="6B7280"/>
              </a:solidFill>
              <a:latin typeface="Calibri"/>
              <a:cs typeface="Calibri"/>
            </a:endParaRPr>
          </a:p>
        </p:txBody>
      </p:sp>
    </p:spTree>
    <p:extLst>
      <p:ext uri="{BB962C8B-B14F-4D97-AF65-F5344CB8AC3E}">
        <p14:creationId xmlns:p14="http://schemas.microsoft.com/office/powerpoint/2010/main" val="1374217614"/>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hyperlink" Target="https://www.javatpoint.com/java-tutorial"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hyperlink" Target="https://www.javatpoint.com/java-string"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g"/><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9035" y="314020"/>
            <a:ext cx="9936480" cy="636905"/>
          </a:xfrm>
          <a:prstGeom prst="rect">
            <a:avLst/>
          </a:prstGeom>
        </p:spPr>
        <p:txBody>
          <a:bodyPr vert="horz" wrap="square" lIns="0" tIns="13970" rIns="0" bIns="0" rtlCol="0">
            <a:spAutoFit/>
          </a:bodyPr>
          <a:lstStyle/>
          <a:p>
            <a:pPr marL="12700">
              <a:lnSpc>
                <a:spcPct val="100000"/>
              </a:lnSpc>
              <a:spcBef>
                <a:spcPts val="110"/>
              </a:spcBef>
            </a:pPr>
            <a:r>
              <a:rPr lang="en-IN" sz="4000">
                <a:solidFill>
                  <a:srgbClr val="001F5F"/>
                </a:solidFill>
                <a:latin typeface="Calibri"/>
                <a:cs typeface="Calibri"/>
              </a:rPr>
              <a:t>R</a:t>
            </a:r>
            <a:r>
              <a:rPr lang="en-IN" sz="4000">
                <a:solidFill>
                  <a:srgbClr val="171717"/>
                </a:solidFill>
                <a:latin typeface="Calibri"/>
                <a:cs typeface="Calibri"/>
              </a:rPr>
              <a:t>AMACHANDRA </a:t>
            </a:r>
            <a:r>
              <a:rPr lang="en-IN" sz="4000">
                <a:solidFill>
                  <a:srgbClr val="001F5F"/>
                </a:solidFill>
                <a:latin typeface="Calibri"/>
                <a:cs typeface="Calibri"/>
              </a:rPr>
              <a:t>C</a:t>
            </a:r>
            <a:r>
              <a:rPr lang="en-IN" sz="4000">
                <a:solidFill>
                  <a:srgbClr val="171717"/>
                </a:solidFill>
                <a:latin typeface="Calibri"/>
                <a:cs typeface="Calibri"/>
              </a:rPr>
              <a:t>OLLEGE OF </a:t>
            </a:r>
            <a:r>
              <a:rPr lang="en-IN" sz="4000">
                <a:solidFill>
                  <a:srgbClr val="001F5F"/>
                </a:solidFill>
                <a:latin typeface="Calibri"/>
                <a:cs typeface="Calibri"/>
              </a:rPr>
              <a:t>E</a:t>
            </a:r>
            <a:r>
              <a:rPr lang="en-IN" sz="4000">
                <a:solidFill>
                  <a:srgbClr val="171717"/>
                </a:solidFill>
                <a:latin typeface="Calibri"/>
                <a:cs typeface="Calibri"/>
              </a:rPr>
              <a:t>NGINEERING</a:t>
            </a:r>
            <a:endParaRPr lang="en-IN" sz="4000">
              <a:solidFill>
                <a:srgbClr val="001F5F"/>
              </a:solidFill>
              <a:latin typeface="Calibri"/>
              <a:cs typeface="Calibri"/>
            </a:endParaRPr>
          </a:p>
        </p:txBody>
      </p:sp>
      <p:sp>
        <p:nvSpPr>
          <p:cNvPr id="3" name="object 3"/>
          <p:cNvSpPr txBox="1"/>
          <p:nvPr/>
        </p:nvSpPr>
        <p:spPr>
          <a:xfrm>
            <a:off x="392684" y="1012102"/>
            <a:ext cx="11723116" cy="2889894"/>
          </a:xfrm>
          <a:prstGeom prst="rect">
            <a:avLst/>
          </a:prstGeom>
        </p:spPr>
        <p:txBody>
          <a:bodyPr vert="horz" wrap="square" lIns="0" tIns="182245" rIns="0" bIns="0" rtlCol="0">
            <a:spAutoFit/>
          </a:bodyPr>
          <a:lstStyle/>
          <a:p>
            <a:pPr marR="52705" algn="ctr">
              <a:lnSpc>
                <a:spcPct val="100000"/>
              </a:lnSpc>
              <a:spcBef>
                <a:spcPts val="1435"/>
              </a:spcBef>
            </a:pPr>
            <a:r>
              <a:rPr lang="en-US" sz="2800" b="1">
                <a:solidFill>
                  <a:srgbClr val="001F5F"/>
                </a:solidFill>
                <a:latin typeface="Calibri"/>
                <a:cs typeface="Calibri"/>
              </a:rPr>
              <a:t>(</a:t>
            </a:r>
            <a:r>
              <a:rPr lang="en-US" sz="2800" b="1">
                <a:solidFill>
                  <a:srgbClr val="2E7D32"/>
                </a:solidFill>
                <a:latin typeface="Calibri"/>
                <a:cs typeface="Calibri"/>
              </a:rPr>
              <a:t>A</a:t>
            </a:r>
            <a:r>
              <a:rPr lang="en-US" sz="2800" b="1">
                <a:solidFill>
                  <a:srgbClr val="171717"/>
                </a:solidFill>
                <a:latin typeface="Calibri"/>
                <a:cs typeface="Calibri"/>
              </a:rPr>
              <a:t>utonomous</a:t>
            </a:r>
            <a:r>
              <a:rPr lang="en-US" sz="2800" b="1">
                <a:solidFill>
                  <a:srgbClr val="001F5F"/>
                </a:solidFill>
                <a:latin typeface="Calibri"/>
                <a:cs typeface="Calibri"/>
              </a:rPr>
              <a:t>)</a:t>
            </a:r>
            <a:endParaRPr lang="en-US" sz="2800">
              <a:solidFill>
                <a:srgbClr val="001F5F"/>
              </a:solidFill>
              <a:latin typeface="Calibri"/>
              <a:cs typeface="Calibri"/>
            </a:endParaRPr>
          </a:p>
          <a:p>
            <a:pPr algn="ctr">
              <a:lnSpc>
                <a:spcPct val="100000"/>
              </a:lnSpc>
              <a:spcBef>
                <a:spcPts val="1700"/>
              </a:spcBef>
            </a:pPr>
            <a:r>
              <a:rPr lang="en-US" sz="3600" b="1">
                <a:solidFill>
                  <a:srgbClr val="0070C0"/>
                </a:solidFill>
                <a:latin typeface="Calibri"/>
                <a:cs typeface="Calibri"/>
              </a:rPr>
              <a:t>COURSE:</a:t>
            </a:r>
            <a:r>
              <a:rPr lang="en-US" sz="3200" b="1">
                <a:solidFill>
                  <a:srgbClr val="C00000"/>
                </a:solidFill>
                <a:latin typeface="Calibri"/>
                <a:cs typeface="Calibri"/>
              </a:rPr>
              <a:t>OBJECT-ORIENTED PROGRAMMING THROUGH JAVA</a:t>
            </a:r>
            <a:endParaRPr lang="en-US" sz="3200">
              <a:solidFill>
                <a:srgbClr val="001F5F"/>
              </a:solidFill>
              <a:latin typeface="Calibri"/>
              <a:cs typeface="Calibri"/>
            </a:endParaRPr>
          </a:p>
          <a:p>
            <a:pPr>
              <a:lnSpc>
                <a:spcPct val="100000"/>
              </a:lnSpc>
              <a:spcBef>
                <a:spcPts val="229"/>
              </a:spcBef>
            </a:pPr>
            <a:endParaRPr lang="en-US" sz="3200">
              <a:solidFill>
                <a:srgbClr val="001F5F"/>
              </a:solidFill>
              <a:latin typeface="Calibri"/>
              <a:cs typeface="Calibri"/>
            </a:endParaRPr>
          </a:p>
          <a:p>
            <a:pPr marL="457200" marR="442595" algn="ctr">
              <a:lnSpc>
                <a:spcPct val="100000"/>
              </a:lnSpc>
            </a:pPr>
            <a:r>
              <a:rPr lang="en-US" sz="3200" b="1">
                <a:solidFill>
                  <a:srgbClr val="001F5F"/>
                </a:solidFill>
                <a:latin typeface="Calibri"/>
                <a:cs typeface="Calibri"/>
              </a:rPr>
              <a:t>Unit-04: </a:t>
            </a:r>
            <a:r>
              <a:rPr lang="en-US" sz="3200" b="1">
                <a:solidFill>
                  <a:srgbClr val="C00000"/>
                </a:solidFill>
                <a:latin typeface="Calibri"/>
                <a:cs typeface="Calibri"/>
              </a:rPr>
              <a:t>Interfaces, Packages and Java Library and Exception Handling</a:t>
            </a:r>
            <a:endParaRPr lang="en-US" sz="3200" dirty="0">
              <a:solidFill>
                <a:srgbClr val="001F5F"/>
              </a:solidFill>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6278" y="995933"/>
            <a:ext cx="7704455" cy="329565"/>
          </a:xfrm>
          <a:prstGeom prst="rect">
            <a:avLst/>
          </a:prstGeom>
        </p:spPr>
        <p:txBody>
          <a:bodyPr vert="horz" wrap="square" lIns="0" tIns="11430" rIns="0" bIns="0" rtlCol="0">
            <a:normAutofit lnSpcReduction="10000"/>
          </a:bodyPr>
          <a:lstStyle/>
          <a:p>
            <a:pPr marL="321310" indent="-283210">
              <a:lnSpc>
                <a:spcPct val="110000"/>
              </a:lnSpc>
              <a:spcBef>
                <a:spcPts val="0"/>
              </a:spcBef>
              <a:spcAft>
                <a:spcPts val="600"/>
              </a:spcAft>
              <a:buFont typeface="Wingdings"/>
              <a:buChar char=""/>
              <a:tabLst>
                <a:tab pos="321310" algn="l"/>
              </a:tabLst>
            </a:pPr>
            <a:r>
              <a:rPr sz="2000" b="1" dirty="0">
                <a:solidFill>
                  <a:srgbClr val="C00000"/>
                </a:solidFill>
                <a:latin typeface="Calibri"/>
                <a:cs typeface="Calibri"/>
              </a:rPr>
              <a:t>The complete Reference Java</a:t>
            </a:r>
            <a:r>
              <a:rPr sz="2000" b="1" dirty="0">
                <a:solidFill>
                  <a:srgbClr val="0070C0"/>
                </a:solidFill>
                <a:latin typeface="Calibri"/>
                <a:cs typeface="Calibri"/>
              </a:rPr>
              <a:t>, 11</a:t>
            </a:r>
            <a:r>
              <a:rPr sz="2000" b="1" baseline="20576" dirty="0">
                <a:solidFill>
                  <a:srgbClr val="0070C0"/>
                </a:solidFill>
                <a:latin typeface="Calibri"/>
                <a:cs typeface="Calibri"/>
              </a:rPr>
              <a:t>th </a:t>
            </a:r>
            <a:r>
              <a:rPr sz="2000" b="1" dirty="0">
                <a:solidFill>
                  <a:srgbClr val="0070C0"/>
                </a:solidFill>
                <a:latin typeface="Calibri"/>
                <a:cs typeface="Calibri"/>
              </a:rPr>
              <a:t>Edition, Herbert Schildt, TMH</a:t>
            </a:r>
            <a:endParaRPr sz="2000">
              <a:solidFill>
                <a:srgbClr val="001F5F"/>
              </a:solidFill>
              <a:latin typeface="Calibri"/>
              <a:cs typeface="Calibri"/>
            </a:endParaRPr>
          </a:p>
        </p:txBody>
      </p:sp>
      <p:sp>
        <p:nvSpPr>
          <p:cNvPr id="3" name="object 3"/>
          <p:cNvSpPr txBox="1"/>
          <p:nvPr/>
        </p:nvSpPr>
        <p:spPr>
          <a:xfrm>
            <a:off x="269849" y="2216276"/>
            <a:ext cx="11505565" cy="951230"/>
          </a:xfrm>
          <a:prstGeom prst="rect">
            <a:avLst/>
          </a:prstGeom>
        </p:spPr>
        <p:txBody>
          <a:bodyPr vert="horz" wrap="square" lIns="0" tIns="11430" rIns="0" bIns="0" rtlCol="0">
            <a:normAutofit fontScale="92500" lnSpcReduction="20000"/>
          </a:bodyPr>
          <a:lstStyle/>
          <a:p>
            <a:pPr marL="299085" indent="-286385">
              <a:lnSpc>
                <a:spcPct val="110000"/>
              </a:lnSpc>
              <a:spcBef>
                <a:spcPts val="0"/>
              </a:spcBef>
              <a:spcAft>
                <a:spcPts val="600"/>
              </a:spcAft>
              <a:buFont typeface="Wingdings"/>
              <a:buChar char=""/>
              <a:tabLst>
                <a:tab pos="299085" algn="l"/>
                <a:tab pos="795655" algn="l"/>
                <a:tab pos="1460500" algn="l"/>
                <a:tab pos="3990975" algn="l"/>
                <a:tab pos="4356735" algn="l"/>
                <a:tab pos="6369050" algn="l"/>
                <a:tab pos="8179434" algn="l"/>
                <a:tab pos="9228455" algn="l"/>
                <a:tab pos="10438765" algn="l"/>
              </a:tabLst>
            </a:pPr>
            <a:r>
              <a:rPr sz="2000" b="1" dirty="0">
                <a:solidFill>
                  <a:srgbClr val="C00000"/>
                </a:solidFill>
                <a:latin typeface="Calibri"/>
                <a:cs typeface="Calibri"/>
              </a:rPr>
              <a:t>Joy with JAVA, Fundamentals of Object-Oriented Programming</a:t>
            </a:r>
            <a:r>
              <a:rPr sz="2000" b="1" dirty="0">
                <a:solidFill>
                  <a:srgbClr val="0070C0"/>
                </a:solidFill>
                <a:latin typeface="Calibri"/>
                <a:cs typeface="Calibri"/>
              </a:rPr>
              <a:t>, Debasis Samanta, Monalisa</a:t>
            </a:r>
            <a:endParaRPr sz="2000">
              <a:solidFill>
                <a:srgbClr val="001F5F"/>
              </a:solidFill>
              <a:latin typeface="Calibri"/>
              <a:cs typeface="Calibri"/>
            </a:endParaRPr>
          </a:p>
          <a:p>
            <a:pPr>
              <a:lnSpc>
                <a:spcPct val="110000"/>
              </a:lnSpc>
              <a:spcBef>
                <a:spcPts val="0"/>
              </a:spcBef>
              <a:spcAft>
                <a:spcPts val="600"/>
              </a:spcAft>
            </a:pPr>
            <a:endParaRPr sz="2000">
              <a:solidFill>
                <a:srgbClr val="001F5F"/>
              </a:solidFill>
              <a:latin typeface="Calibri"/>
              <a:cs typeface="Calibri"/>
            </a:endParaRPr>
          </a:p>
          <a:p>
            <a:pPr marL="299085">
              <a:lnSpc>
                <a:spcPct val="110000"/>
              </a:lnSpc>
              <a:spcBef>
                <a:spcPts val="0"/>
              </a:spcBef>
              <a:spcAft>
                <a:spcPts val="600"/>
              </a:spcAft>
            </a:pPr>
            <a:r>
              <a:rPr sz="2000" b="1" dirty="0">
                <a:solidFill>
                  <a:srgbClr val="0070C0"/>
                </a:solidFill>
                <a:latin typeface="Calibri"/>
                <a:cs typeface="Calibri"/>
              </a:rPr>
              <a:t>Sarma, Cambridge, 2023.</a:t>
            </a:r>
            <a:endParaRPr sz="2000">
              <a:solidFill>
                <a:srgbClr val="001F5F"/>
              </a:solidFill>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B6423DD0-0699-C5DD-C8C0-6A9B0291B4FB}"/>
              </a:ext>
            </a:extLst>
          </p:cNvPr>
          <p:cNvSpPr txBox="1"/>
          <p:nvPr/>
        </p:nvSpPr>
        <p:spPr>
          <a:xfrm>
            <a:off x="187642" y="1066800"/>
            <a:ext cx="11816715" cy="3497368"/>
          </a:xfrm>
          <a:prstGeom prst="rect">
            <a:avLst/>
          </a:prstGeom>
        </p:spPr>
        <p:txBody>
          <a:bodyPr vert="horz" wrap="square" lIns="0" tIns="152400" rIns="0" bIns="0" rtlCol="0">
            <a:normAutofit/>
          </a:bodyPr>
          <a:lstStyle/>
          <a:p>
            <a:pPr marL="12700" algn="l">
              <a:lnSpc>
                <a:spcPct val="110000"/>
              </a:lnSpc>
              <a:spcBef>
                <a:spcPts val="0"/>
              </a:spcBef>
              <a:spcAft>
                <a:spcPts val="600"/>
              </a:spcAft>
            </a:pPr>
            <a:r>
              <a:rPr sz="1800" b="1" dirty="0">
                <a:solidFill>
                  <a:srgbClr val="C00000"/>
                </a:solidFill>
                <a:latin typeface="Calibri"/>
                <a:cs typeface="Calibri"/>
              </a:rPr>
              <a:t>Interfaces: </a:t>
            </a:r>
            <a:r>
              <a:rPr sz="1800" b="1" dirty="0">
                <a:solidFill>
                  <a:srgbClr val="001F5F"/>
                </a:solidFill>
                <a:latin typeface="Calibri"/>
                <a:cs typeface="Calibri"/>
              </a:rPr>
              <a:t>Introduction, Declaration and Implementation of Interface, Multiple Interfaces, Nested</a:t>
            </a:r>
            <a:endParaRPr sz="1800" dirty="0">
              <a:solidFill>
                <a:srgbClr val="001F5F"/>
              </a:solidFill>
              <a:latin typeface="Calibri"/>
              <a:cs typeface="Calibri"/>
            </a:endParaRPr>
          </a:p>
          <a:p>
            <a:pPr marL="12700" algn="l">
              <a:lnSpc>
                <a:spcPct val="110000"/>
              </a:lnSpc>
              <a:spcBef>
                <a:spcPts val="0"/>
              </a:spcBef>
              <a:spcAft>
                <a:spcPts val="600"/>
              </a:spcAft>
            </a:pPr>
            <a:r>
              <a:rPr sz="1800" b="1" dirty="0">
                <a:solidFill>
                  <a:srgbClr val="001F5F"/>
                </a:solidFill>
                <a:latin typeface="Calibri"/>
                <a:cs typeface="Calibri"/>
              </a:rPr>
              <a:t>Interfaces, Inheritance of Interfaces, Default Methods in Interfaces, Static Methods in Interface.</a:t>
            </a:r>
            <a:endParaRPr sz="1800" dirty="0">
              <a:solidFill>
                <a:srgbClr val="001F5F"/>
              </a:solidFill>
              <a:latin typeface="Calibri"/>
              <a:cs typeface="Calibri"/>
            </a:endParaRPr>
          </a:p>
          <a:p>
            <a:pPr marL="12700" marR="5080" algn="l">
              <a:lnSpc>
                <a:spcPct val="110000"/>
              </a:lnSpc>
              <a:spcBef>
                <a:spcPts val="0"/>
              </a:spcBef>
              <a:spcAft>
                <a:spcPts val="600"/>
              </a:spcAft>
            </a:pPr>
            <a:r>
              <a:rPr sz="1800" b="1" dirty="0">
                <a:solidFill>
                  <a:srgbClr val="C00000"/>
                </a:solidFill>
                <a:latin typeface="Calibri"/>
                <a:cs typeface="Calibri"/>
              </a:rPr>
              <a:t>Packages and Java Library: </a:t>
            </a:r>
            <a:r>
              <a:rPr sz="1800" b="1" dirty="0">
                <a:solidFill>
                  <a:srgbClr val="001F5F"/>
                </a:solidFill>
                <a:latin typeface="Calibri"/>
                <a:cs typeface="Calibri"/>
              </a:rPr>
              <a:t>Introduction, Defining Package, Importing Packages and Classes into Programs, Path and Class Path, Access Control, Packages in Java SE, Java.lang Package and its Classes, Universal super Class Object Class, Enumeration, class Math, Wrapper Classes, Auto boxing and Auto- un boxing, Java util Classes and Interfaces, Scanner class.</a:t>
            </a:r>
            <a:endParaRPr sz="1800" dirty="0">
              <a:solidFill>
                <a:srgbClr val="001F5F"/>
              </a:solidFill>
              <a:latin typeface="Calibri"/>
              <a:cs typeface="Calibri"/>
            </a:endParaRPr>
          </a:p>
          <a:p>
            <a:pPr marL="12700" marR="8890" algn="l">
              <a:lnSpc>
                <a:spcPct val="110000"/>
              </a:lnSpc>
              <a:spcBef>
                <a:spcPts val="0"/>
              </a:spcBef>
              <a:spcAft>
                <a:spcPts val="600"/>
              </a:spcAft>
            </a:pPr>
            <a:r>
              <a:rPr sz="1800" b="1" dirty="0">
                <a:solidFill>
                  <a:srgbClr val="C00000"/>
                </a:solidFill>
                <a:latin typeface="Calibri"/>
                <a:cs typeface="Calibri"/>
              </a:rPr>
              <a:t>Exception Handling: </a:t>
            </a:r>
            <a:r>
              <a:rPr sz="1800" b="1" dirty="0">
                <a:solidFill>
                  <a:srgbClr val="001F5F"/>
                </a:solidFill>
                <a:latin typeface="Calibri"/>
                <a:cs typeface="Calibri"/>
              </a:rPr>
              <a:t>Introduction, Hierarchy of Standard Exception Classes, Keywords throws and throw, try, catch, and finally Blocks, Multiple Catch Clauses, Class Throwable, Unchecked Exceptions, Checked Exceptions.</a:t>
            </a:r>
            <a:endParaRPr sz="1800" dirty="0">
              <a:solidFill>
                <a:srgbClr val="001F5F"/>
              </a:solidFill>
              <a:latin typeface="Calibri"/>
              <a:cs typeface="Calibri"/>
            </a:endParaRPr>
          </a:p>
        </p:txBody>
      </p:sp>
    </p:spTree>
    <p:extLst>
      <p:ext uri="{BB962C8B-B14F-4D97-AF65-F5344CB8AC3E}">
        <p14:creationId xmlns:p14="http://schemas.microsoft.com/office/powerpoint/2010/main" val="3785252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98A6C-94DC-8C81-F064-F53E3CF881EC}"/>
            </a:ext>
          </a:extLst>
        </p:cNvPr>
        <p:cNvGrpSpPr/>
        <p:nvPr/>
      </p:nvGrpSpPr>
      <p:grpSpPr>
        <a:xfrm>
          <a:off x="0" y="0"/>
          <a:ext cx="0" cy="0"/>
          <a:chOff x="0" y="0"/>
          <a:chExt cx="0" cy="0"/>
        </a:xfrm>
      </p:grpSpPr>
      <p:sp>
        <p:nvSpPr>
          <p:cNvPr id="6" name="object 2">
            <a:extLst>
              <a:ext uri="{FF2B5EF4-FFF2-40B4-BE49-F238E27FC236}">
                <a16:creationId xmlns:a16="http://schemas.microsoft.com/office/drawing/2014/main" id="{3204F906-6EC4-A536-8F31-0267DFE188CA}"/>
              </a:ext>
            </a:extLst>
          </p:cNvPr>
          <p:cNvSpPr txBox="1"/>
          <p:nvPr/>
        </p:nvSpPr>
        <p:spPr>
          <a:xfrm>
            <a:off x="341782" y="864488"/>
            <a:ext cx="11354435" cy="3479165"/>
          </a:xfrm>
          <a:prstGeom prst="rect">
            <a:avLst/>
          </a:prstGeom>
        </p:spPr>
        <p:txBody>
          <a:bodyPr vert="horz" wrap="square" lIns="0" tIns="11430" rIns="0" bIns="0" rtlCol="0">
            <a:normAutofit/>
          </a:bodyPr>
          <a:lstStyle/>
          <a:p>
            <a:pPr marL="12700">
              <a:lnSpc>
                <a:spcPct val="110000"/>
              </a:lnSpc>
              <a:spcBef>
                <a:spcPts val="0"/>
              </a:spcBef>
              <a:spcAft>
                <a:spcPts val="600"/>
              </a:spcAft>
            </a:pPr>
            <a:r>
              <a:rPr sz="2000" b="1" dirty="0">
                <a:solidFill>
                  <a:srgbClr val="C00000"/>
                </a:solidFill>
                <a:latin typeface="Calibri"/>
                <a:cs typeface="Calibri"/>
              </a:rPr>
              <a:t>LEARNING OBJECTIVE</a:t>
            </a:r>
            <a:endParaRPr sz="2000" dirty="0">
              <a:solidFill>
                <a:srgbClr val="C00000"/>
              </a:solidFill>
              <a:latin typeface="Calibri"/>
              <a:cs typeface="Calibri"/>
            </a:endParaRPr>
          </a:p>
          <a:p>
            <a:pPr marL="12700" marR="5715">
              <a:lnSpc>
                <a:spcPct val="110000"/>
              </a:lnSpc>
              <a:spcBef>
                <a:spcPts val="0"/>
              </a:spcBef>
              <a:spcAft>
                <a:spcPts val="600"/>
              </a:spcAft>
            </a:pPr>
            <a:r>
              <a:rPr sz="2000" b="1" dirty="0">
                <a:solidFill>
                  <a:srgbClr val="001F5F"/>
                </a:solidFill>
                <a:latin typeface="Calibri"/>
                <a:cs typeface="Calibri"/>
              </a:rPr>
              <a:t>Make the student able to Understanding to </a:t>
            </a:r>
            <a:r>
              <a:rPr sz="2000" dirty="0">
                <a:solidFill>
                  <a:srgbClr val="001F5F"/>
                </a:solidFill>
                <a:latin typeface="Calibri"/>
                <a:cs typeface="Calibri"/>
              </a:rPr>
              <a:t>the concepts of interfaces, packages, Java library, and exception handling.</a:t>
            </a:r>
          </a:p>
          <a:p>
            <a:pPr>
              <a:lnSpc>
                <a:spcPct val="110000"/>
              </a:lnSpc>
              <a:spcBef>
                <a:spcPts val="0"/>
              </a:spcBef>
              <a:spcAft>
                <a:spcPts val="600"/>
              </a:spcAft>
            </a:pPr>
            <a:endParaRPr sz="2000" dirty="0">
              <a:solidFill>
                <a:srgbClr val="001F5F"/>
              </a:solidFill>
              <a:latin typeface="Calibri"/>
              <a:cs typeface="Calibri"/>
            </a:endParaRPr>
          </a:p>
          <a:p>
            <a:pPr marL="12700">
              <a:lnSpc>
                <a:spcPct val="110000"/>
              </a:lnSpc>
              <a:spcBef>
                <a:spcPts val="0"/>
              </a:spcBef>
              <a:spcAft>
                <a:spcPts val="600"/>
              </a:spcAft>
            </a:pPr>
            <a:r>
              <a:rPr sz="2000" b="1" dirty="0">
                <a:solidFill>
                  <a:srgbClr val="C00000"/>
                </a:solidFill>
                <a:latin typeface="Calibri"/>
                <a:cs typeface="Calibri"/>
              </a:rPr>
              <a:t>LEARNING OUTCOMES</a:t>
            </a:r>
            <a:endParaRPr sz="2000" dirty="0">
              <a:solidFill>
                <a:srgbClr val="C00000"/>
              </a:solidFill>
              <a:latin typeface="Calibri"/>
              <a:cs typeface="Calibri"/>
            </a:endParaRPr>
          </a:p>
          <a:p>
            <a:pPr marL="12700" marR="5080">
              <a:lnSpc>
                <a:spcPct val="110000"/>
              </a:lnSpc>
              <a:spcBef>
                <a:spcPts val="0"/>
              </a:spcBef>
              <a:spcAft>
                <a:spcPts val="600"/>
              </a:spcAft>
            </a:pPr>
            <a:r>
              <a:rPr sz="2000" b="1" dirty="0">
                <a:solidFill>
                  <a:srgbClr val="001F5F"/>
                </a:solidFill>
                <a:latin typeface="Calibri"/>
                <a:cs typeface="Calibri"/>
              </a:rPr>
              <a:t>After attending this session, a student will be able to Apply the concepts of interfaces, packages, Java library, and exception handling</a:t>
            </a:r>
            <a:endParaRPr sz="2000" dirty="0">
              <a:solidFill>
                <a:srgbClr val="001F5F"/>
              </a:solidFill>
              <a:latin typeface="Calibri"/>
              <a:cs typeface="Calibri"/>
            </a:endParaRPr>
          </a:p>
        </p:txBody>
      </p:sp>
    </p:spTree>
    <p:extLst>
      <p:ext uri="{BB962C8B-B14F-4D97-AF65-F5344CB8AC3E}">
        <p14:creationId xmlns:p14="http://schemas.microsoft.com/office/powerpoint/2010/main" val="600869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4C600-E624-30A2-98BC-6B87A318AE5F}"/>
            </a:ext>
          </a:extLst>
        </p:cNvPr>
        <p:cNvGrpSpPr/>
        <p:nvPr/>
      </p:nvGrpSpPr>
      <p:grpSpPr>
        <a:xfrm>
          <a:off x="0" y="0"/>
          <a:ext cx="0" cy="0"/>
          <a:chOff x="0" y="0"/>
          <a:chExt cx="0" cy="0"/>
        </a:xfrm>
      </p:grpSpPr>
      <p:sp>
        <p:nvSpPr>
          <p:cNvPr id="6" name="object 2">
            <a:extLst>
              <a:ext uri="{FF2B5EF4-FFF2-40B4-BE49-F238E27FC236}">
                <a16:creationId xmlns:a16="http://schemas.microsoft.com/office/drawing/2014/main" id="{86EC221D-F320-D692-2FFC-8B8DCC7ED0E1}"/>
              </a:ext>
            </a:extLst>
          </p:cNvPr>
          <p:cNvSpPr txBox="1"/>
          <p:nvPr/>
        </p:nvSpPr>
        <p:spPr>
          <a:xfrm>
            <a:off x="414019" y="1658239"/>
            <a:ext cx="11525250" cy="1204176"/>
          </a:xfrm>
          <a:prstGeom prst="rect">
            <a:avLst/>
          </a:prstGeom>
        </p:spPr>
        <p:txBody>
          <a:bodyPr vert="horz" wrap="square" lIns="0" tIns="12700" rIns="0" bIns="0" rtlCol="0">
            <a:normAutofit/>
          </a:bodyPr>
          <a:lstStyle/>
          <a:p>
            <a:pPr marL="49530" algn="ctr">
              <a:lnSpc>
                <a:spcPct val="110000"/>
              </a:lnSpc>
              <a:spcBef>
                <a:spcPts val="0"/>
              </a:spcBef>
              <a:spcAft>
                <a:spcPts val="600"/>
              </a:spcAft>
            </a:pPr>
            <a:r>
              <a:rPr sz="2000" b="1" dirty="0">
                <a:solidFill>
                  <a:srgbClr val="C00000"/>
                </a:solidFill>
                <a:latin typeface="Calibri"/>
                <a:cs typeface="Calibri"/>
              </a:rPr>
              <a:t>UNIT-IV PART-A :</a:t>
            </a:r>
            <a:endParaRPr sz="2000" dirty="0">
              <a:solidFill>
                <a:srgbClr val="001F5F"/>
              </a:solidFill>
              <a:latin typeface="Calibri"/>
              <a:cs typeface="Calibri"/>
            </a:endParaRPr>
          </a:p>
          <a:p>
            <a:pPr marL="12700" marR="5080">
              <a:lnSpc>
                <a:spcPct val="110000"/>
              </a:lnSpc>
              <a:spcBef>
                <a:spcPts val="0"/>
              </a:spcBef>
              <a:spcAft>
                <a:spcPts val="600"/>
              </a:spcAft>
            </a:pPr>
            <a:r>
              <a:rPr sz="2000" b="1" dirty="0">
                <a:solidFill>
                  <a:srgbClr val="C00000"/>
                </a:solidFill>
                <a:latin typeface="Calibri"/>
                <a:cs typeface="Calibri"/>
              </a:rPr>
              <a:t>Interfaces: </a:t>
            </a:r>
            <a:r>
              <a:rPr sz="2000" b="1" dirty="0">
                <a:solidFill>
                  <a:srgbClr val="001F5F"/>
                </a:solidFill>
                <a:latin typeface="Calibri"/>
                <a:cs typeface="Calibri"/>
              </a:rPr>
              <a:t>Introduction, Declaration and Implementation of Interface, Multiple Interfaces, Nested Interfaces, Inheritance of Interfaces, Default Methods in Interfaces, Static Methods in Interface.</a:t>
            </a:r>
            <a:endParaRPr sz="2000" dirty="0">
              <a:solidFill>
                <a:srgbClr val="001F5F"/>
              </a:solidFill>
              <a:latin typeface="Calibri"/>
              <a:cs typeface="Calibri"/>
            </a:endParaRPr>
          </a:p>
        </p:txBody>
      </p:sp>
    </p:spTree>
    <p:extLst>
      <p:ext uri="{BB962C8B-B14F-4D97-AF65-F5344CB8AC3E}">
        <p14:creationId xmlns:p14="http://schemas.microsoft.com/office/powerpoint/2010/main" val="973640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44E1E-EA24-E78B-A495-6B0441375AB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8E41586-CF7B-EDF3-1619-98AD478B65D3}"/>
              </a:ext>
            </a:extLst>
          </p:cNvPr>
          <p:cNvSpPr txBox="1">
            <a:spLocks/>
          </p:cNvSpPr>
          <p:nvPr/>
        </p:nvSpPr>
        <p:spPr>
          <a:xfrm>
            <a:off x="2362200" y="1066800"/>
            <a:ext cx="8578470" cy="2216443"/>
          </a:xfrm>
          <a:prstGeom prst="rect">
            <a:avLst/>
          </a:prstGeom>
        </p:spPr>
        <p:txBody>
          <a:bodyPr vert="horz" wrap="square" lIns="0" tIns="13970" rIns="0" bIns="0" rtlCol="0" anchor="b">
            <a:normAutofit/>
          </a:bodyPr>
          <a:lstStyle>
            <a:lvl1pPr algn="ctr" defTabSz="914400" rtl="0" eaLnBrk="1" latinLnBrk="0" hangingPunct="1">
              <a:lnSpc>
                <a:spcPct val="80000"/>
              </a:lnSpc>
              <a:spcBef>
                <a:spcPct val="0"/>
              </a:spcBef>
              <a:buNone/>
              <a:defRPr sz="6000" b="0" i="0" kern="1200" spc="-200" baseline="0">
                <a:solidFill>
                  <a:schemeClr val="tx1"/>
                </a:solidFill>
                <a:latin typeface="+mj-lt"/>
                <a:ea typeface="+mj-ea"/>
                <a:cs typeface="+mj-cs"/>
              </a:defRPr>
            </a:lvl1pPr>
          </a:lstStyle>
          <a:p>
            <a:pPr marR="3810">
              <a:lnSpc>
                <a:spcPct val="110000"/>
              </a:lnSpc>
              <a:spcBef>
                <a:spcPts val="0"/>
              </a:spcBef>
              <a:spcAft>
                <a:spcPts val="600"/>
              </a:spcAft>
            </a:pPr>
            <a:r>
              <a:rPr lang="en-US" sz="2800" b="1" dirty="0">
                <a:solidFill>
                  <a:srgbClr val="002060"/>
                </a:solidFill>
                <a:latin typeface="Calibri"/>
                <a:cs typeface="Calibri"/>
              </a:rPr>
              <a:t>PART- A: Interfaces:</a:t>
            </a:r>
          </a:p>
          <a:p>
            <a:pPr>
              <a:lnSpc>
                <a:spcPct val="110000"/>
              </a:lnSpc>
              <a:spcBef>
                <a:spcPts val="0"/>
              </a:spcBef>
              <a:spcAft>
                <a:spcPts val="600"/>
              </a:spcAft>
            </a:pPr>
            <a:r>
              <a:rPr lang="en-US" sz="2000" b="1" dirty="0">
                <a:solidFill>
                  <a:srgbClr val="C00000"/>
                </a:solidFill>
                <a:latin typeface="Calibri"/>
                <a:cs typeface="Calibri"/>
              </a:rPr>
              <a:t>Concept-1</a:t>
            </a:r>
            <a:r>
              <a:rPr lang="en-US" sz="2000" b="1" dirty="0">
                <a:solidFill>
                  <a:srgbClr val="001F5F"/>
                </a:solidFill>
                <a:latin typeface="Calibri"/>
                <a:cs typeface="Calibri"/>
              </a:rPr>
              <a:t>:Introduction, Declaration and Implementation of Interface</a:t>
            </a:r>
          </a:p>
        </p:txBody>
      </p:sp>
    </p:spTree>
    <p:extLst>
      <p:ext uri="{BB962C8B-B14F-4D97-AF65-F5344CB8AC3E}">
        <p14:creationId xmlns:p14="http://schemas.microsoft.com/office/powerpoint/2010/main" val="2609642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8762E-2904-4AF8-94C0-D3BEF7F5BA28}"/>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499B4945-FB1C-3BAF-308B-0721F4DC53D8}"/>
              </a:ext>
            </a:extLst>
          </p:cNvPr>
          <p:cNvSpPr txBox="1"/>
          <p:nvPr/>
        </p:nvSpPr>
        <p:spPr>
          <a:xfrm>
            <a:off x="685800" y="2082291"/>
            <a:ext cx="10559415" cy="3193415"/>
          </a:xfrm>
          <a:prstGeom prst="rect">
            <a:avLst/>
          </a:prstGeom>
        </p:spPr>
        <p:txBody>
          <a:bodyPr vert="horz" wrap="square" lIns="0" tIns="12700" rIns="0" bIns="0" rtlCol="0">
            <a:normAutofit/>
          </a:bodyPr>
          <a:lstStyle/>
          <a:p>
            <a:pPr marL="103505" indent="-90805">
              <a:lnSpc>
                <a:spcPct val="110000"/>
              </a:lnSpc>
              <a:spcBef>
                <a:spcPts val="0"/>
              </a:spcBef>
              <a:spcAft>
                <a:spcPts val="600"/>
              </a:spcAft>
              <a:buSzPct val="91666"/>
              <a:buFont typeface="Arial MT"/>
              <a:buChar char="•"/>
              <a:tabLst>
                <a:tab pos="103505" algn="l"/>
              </a:tabLst>
            </a:pPr>
            <a:r>
              <a:rPr sz="1800" b="1" dirty="0">
                <a:latin typeface="Calibri" panose="020F0502020204030204" pitchFamily="34" charset="0"/>
                <a:ea typeface="Calibri" panose="020F0502020204030204" pitchFamily="34" charset="0"/>
                <a:cs typeface="Calibri" panose="020F0502020204030204" pitchFamily="34" charset="0"/>
              </a:rPr>
              <a:t>Interface in Java having only abstract methods</a:t>
            </a:r>
            <a:endParaRPr sz="1800" dirty="0">
              <a:latin typeface="Calibri" panose="020F0502020204030204" pitchFamily="34" charset="0"/>
              <a:ea typeface="Calibri" panose="020F0502020204030204" pitchFamily="34" charset="0"/>
              <a:cs typeface="Calibri" panose="020F0502020204030204" pitchFamily="34" charset="0"/>
            </a:endParaRPr>
          </a:p>
          <a:p>
            <a:pPr marL="103505" indent="-90805">
              <a:buSzPct val="91666"/>
              <a:buFont typeface="Arial MT"/>
              <a:buChar char="•"/>
              <a:tabLst>
                <a:tab pos="103505" algn="l"/>
              </a:tabLst>
            </a:pPr>
            <a:r>
              <a:rPr sz="1600" dirty="0">
                <a:latin typeface="Calibri" panose="020F0502020204030204" pitchFamily="34" charset="0"/>
                <a:ea typeface="Calibri" panose="020F0502020204030204" pitchFamily="34" charset="0"/>
                <a:cs typeface="Calibri" panose="020F0502020204030204" pitchFamily="34" charset="0"/>
              </a:rPr>
              <a:t>abstract methods means writing only method declaration but not method definition</a:t>
            </a:r>
          </a:p>
          <a:p>
            <a:pPr marL="103505" indent="-90805">
              <a:lnSpc>
                <a:spcPct val="110000"/>
              </a:lnSpc>
              <a:spcBef>
                <a:spcPts val="0"/>
              </a:spcBef>
              <a:spcAft>
                <a:spcPts val="600"/>
              </a:spcAft>
              <a:buSzPct val="91666"/>
              <a:buFont typeface="Arial MT"/>
              <a:buChar char="•"/>
              <a:tabLst>
                <a:tab pos="103505" algn="l"/>
              </a:tabLst>
            </a:pPr>
            <a:r>
              <a:rPr sz="1800" b="1" dirty="0">
                <a:latin typeface="Calibri" panose="020F0502020204030204" pitchFamily="34" charset="0"/>
                <a:ea typeface="Calibri" panose="020F0502020204030204" pitchFamily="34" charset="0"/>
                <a:cs typeface="Calibri" panose="020F0502020204030204" pitchFamily="34" charset="0"/>
              </a:rPr>
              <a:t>Interface says I will tell you what are the methods you need but I will not implement.</a:t>
            </a:r>
            <a:endParaRPr sz="1800" dirty="0">
              <a:latin typeface="Calibri" panose="020F0502020204030204" pitchFamily="34" charset="0"/>
              <a:ea typeface="Calibri" panose="020F0502020204030204" pitchFamily="34" charset="0"/>
              <a:cs typeface="Calibri" panose="020F0502020204030204" pitchFamily="34" charset="0"/>
            </a:endParaRPr>
          </a:p>
          <a:p>
            <a:pPr marL="103505" indent="-90805">
              <a:lnSpc>
                <a:spcPct val="110000"/>
              </a:lnSpc>
              <a:spcBef>
                <a:spcPts val="0"/>
              </a:spcBef>
              <a:spcAft>
                <a:spcPts val="600"/>
              </a:spcAft>
              <a:buSzPct val="91666"/>
              <a:buFont typeface="Arial MT"/>
              <a:buChar char="•"/>
              <a:tabLst>
                <a:tab pos="103505" algn="l"/>
              </a:tabLst>
            </a:pPr>
            <a:r>
              <a:rPr sz="1800" b="1" dirty="0">
                <a:latin typeface="Calibri" panose="020F0502020204030204" pitchFamily="34" charset="0"/>
                <a:ea typeface="Calibri" panose="020F0502020204030204" pitchFamily="34" charset="0"/>
                <a:cs typeface="Calibri" panose="020F0502020204030204" pitchFamily="34" charset="0"/>
              </a:rPr>
              <a:t>We want to create Concrete class to define methods and concrete class implements interface</a:t>
            </a:r>
            <a:endParaRPr sz="1800" dirty="0">
              <a:latin typeface="Calibri" panose="020F0502020204030204" pitchFamily="34" charset="0"/>
              <a:ea typeface="Calibri" panose="020F0502020204030204" pitchFamily="34" charset="0"/>
              <a:cs typeface="Calibri" panose="020F0502020204030204" pitchFamily="34" charset="0"/>
            </a:endParaRPr>
          </a:p>
          <a:p>
            <a:pPr marL="103505" indent="-90805">
              <a:lnSpc>
                <a:spcPct val="110000"/>
              </a:lnSpc>
              <a:spcBef>
                <a:spcPts val="0"/>
              </a:spcBef>
              <a:spcAft>
                <a:spcPts val="600"/>
              </a:spcAft>
              <a:buSzPct val="91666"/>
              <a:buFont typeface="Arial MT"/>
              <a:buChar char="•"/>
              <a:tabLst>
                <a:tab pos="103505" algn="l"/>
              </a:tabLst>
            </a:pPr>
            <a:r>
              <a:rPr sz="1800" b="1" dirty="0">
                <a:latin typeface="Calibri" panose="020F0502020204030204" pitchFamily="34" charset="0"/>
                <a:ea typeface="Calibri" panose="020F0502020204030204" pitchFamily="34" charset="0"/>
                <a:cs typeface="Calibri" panose="020F0502020204030204" pitchFamily="34" charset="0"/>
              </a:rPr>
              <a:t>Two keywords we are using a.interface b.implements</a:t>
            </a:r>
            <a:endParaRPr sz="1800" dirty="0">
              <a:latin typeface="Calibri" panose="020F0502020204030204" pitchFamily="34" charset="0"/>
              <a:ea typeface="Calibri" panose="020F0502020204030204" pitchFamily="34" charset="0"/>
              <a:cs typeface="Calibri" panose="020F0502020204030204" pitchFamily="34" charset="0"/>
            </a:endParaRPr>
          </a:p>
          <a:p>
            <a:pPr marL="103505" indent="-90805">
              <a:lnSpc>
                <a:spcPct val="110000"/>
              </a:lnSpc>
              <a:spcBef>
                <a:spcPts val="0"/>
              </a:spcBef>
              <a:spcAft>
                <a:spcPts val="600"/>
              </a:spcAft>
              <a:buSzPct val="91666"/>
              <a:buFont typeface="Arial MT"/>
              <a:buChar char="•"/>
              <a:tabLst>
                <a:tab pos="103505" algn="l"/>
              </a:tabLst>
            </a:pPr>
            <a:r>
              <a:rPr sz="1800" b="1" dirty="0">
                <a:latin typeface="Calibri" panose="020F0502020204030204" pitchFamily="34" charset="0"/>
                <a:ea typeface="Calibri" panose="020F0502020204030204" pitchFamily="34" charset="0"/>
                <a:cs typeface="Calibri" panose="020F0502020204030204" pitchFamily="34" charset="0"/>
              </a:rPr>
              <a:t>Syntax:</a:t>
            </a:r>
            <a:endParaRPr sz="1800" dirty="0">
              <a:latin typeface="Calibri" panose="020F0502020204030204" pitchFamily="34" charset="0"/>
              <a:ea typeface="Calibri" panose="020F0502020204030204" pitchFamily="34" charset="0"/>
              <a:cs typeface="Calibri" panose="020F0502020204030204" pitchFamily="34" charset="0"/>
            </a:endParaRPr>
          </a:p>
        </p:txBody>
      </p:sp>
      <p:sp>
        <p:nvSpPr>
          <p:cNvPr id="11" name="object 3">
            <a:extLst>
              <a:ext uri="{FF2B5EF4-FFF2-40B4-BE49-F238E27FC236}">
                <a16:creationId xmlns:a16="http://schemas.microsoft.com/office/drawing/2014/main" id="{3491B611-CE67-70AC-0C1E-4A755050ECA0}"/>
              </a:ext>
            </a:extLst>
          </p:cNvPr>
          <p:cNvSpPr txBox="1"/>
          <p:nvPr/>
        </p:nvSpPr>
        <p:spPr>
          <a:xfrm>
            <a:off x="1350391" y="4160266"/>
            <a:ext cx="3599179" cy="756920"/>
          </a:xfrm>
          <a:prstGeom prst="rect">
            <a:avLst/>
          </a:prstGeom>
        </p:spPr>
        <p:txBody>
          <a:bodyPr vert="horz" wrap="none" lIns="0" tIns="12700" rIns="0" bIns="0" rtlCol="0">
            <a:normAutofit/>
          </a:bodyPr>
          <a:lstStyle/>
          <a:p>
            <a:pPr marL="12700"/>
            <a:r>
              <a:rPr sz="1600" dirty="0">
                <a:latin typeface="Calibri" panose="020F0502020204030204" pitchFamily="34" charset="0"/>
                <a:ea typeface="Calibri" panose="020F0502020204030204" pitchFamily="34" charset="0"/>
                <a:cs typeface="Calibri" panose="020F0502020204030204" pitchFamily="34" charset="0"/>
              </a:rPr>
              <a:t>interface interfacename</a:t>
            </a:r>
          </a:p>
          <a:p>
            <a:pPr marL="12700"/>
            <a:r>
              <a:rPr sz="1600" dirty="0">
                <a:latin typeface="Calibri" panose="020F0502020204030204" pitchFamily="34" charset="0"/>
                <a:ea typeface="Calibri" panose="020F0502020204030204" pitchFamily="34" charset="0"/>
                <a:cs typeface="Calibri" panose="020F0502020204030204" pitchFamily="34" charset="0"/>
              </a:rPr>
              <a:t>{</a:t>
            </a:r>
          </a:p>
        </p:txBody>
      </p:sp>
      <p:sp>
        <p:nvSpPr>
          <p:cNvPr id="12" name="object 4">
            <a:extLst>
              <a:ext uri="{FF2B5EF4-FFF2-40B4-BE49-F238E27FC236}">
                <a16:creationId xmlns:a16="http://schemas.microsoft.com/office/drawing/2014/main" id="{88147F49-D413-7EDC-FC4A-58F59D9C9DDC}"/>
              </a:ext>
            </a:extLst>
          </p:cNvPr>
          <p:cNvSpPr txBox="1"/>
          <p:nvPr/>
        </p:nvSpPr>
        <p:spPr>
          <a:xfrm>
            <a:off x="4315650" y="4199993"/>
            <a:ext cx="4223385" cy="329565"/>
          </a:xfrm>
          <a:prstGeom prst="rect">
            <a:avLst/>
          </a:prstGeom>
        </p:spPr>
        <p:txBody>
          <a:bodyPr vert="horz" wrap="none" lIns="0" tIns="11430" rIns="0" bIns="0" rtlCol="0">
            <a:normAutofit/>
          </a:bodyPr>
          <a:lstStyle/>
          <a:p>
            <a:pPr marL="12700"/>
            <a:r>
              <a:rPr sz="1600" dirty="0">
                <a:latin typeface="Calibri" panose="020F0502020204030204" pitchFamily="34" charset="0"/>
                <a:ea typeface="Calibri" panose="020F0502020204030204" pitchFamily="34" charset="0"/>
                <a:cs typeface="Calibri" panose="020F0502020204030204" pitchFamily="34" charset="0"/>
              </a:rPr>
              <a:t>//by using the interface keyword.</a:t>
            </a:r>
          </a:p>
        </p:txBody>
      </p:sp>
      <p:sp>
        <p:nvSpPr>
          <p:cNvPr id="13" name="object 5">
            <a:extLst>
              <a:ext uri="{FF2B5EF4-FFF2-40B4-BE49-F238E27FC236}">
                <a16:creationId xmlns:a16="http://schemas.microsoft.com/office/drawing/2014/main" id="{AADC642A-DDA6-B975-98FE-0F0BD63CF0ED}"/>
              </a:ext>
            </a:extLst>
          </p:cNvPr>
          <p:cNvSpPr txBox="1"/>
          <p:nvPr/>
        </p:nvSpPr>
        <p:spPr>
          <a:xfrm>
            <a:off x="1350391" y="5260975"/>
            <a:ext cx="137160" cy="391160"/>
          </a:xfrm>
          <a:prstGeom prst="rect">
            <a:avLst/>
          </a:prstGeom>
        </p:spPr>
        <p:txBody>
          <a:bodyPr vert="horz" wrap="none" lIns="0" tIns="12700" rIns="0" bIns="0" rtlCol="0">
            <a:normAutofit/>
          </a:bodyPr>
          <a:lstStyle/>
          <a:p>
            <a:pPr marL="12700"/>
            <a:r>
              <a:rPr sz="1600" dirty="0">
                <a:latin typeface="Calibri" panose="020F0502020204030204" pitchFamily="34" charset="0"/>
                <a:ea typeface="Calibri" panose="020F0502020204030204" pitchFamily="34" charset="0"/>
                <a:cs typeface="Calibri" panose="020F0502020204030204" pitchFamily="34" charset="0"/>
              </a:rPr>
              <a:t>}</a:t>
            </a:r>
            <a:endParaRPr sz="1600">
              <a:latin typeface="Calibri" panose="020F0502020204030204" pitchFamily="34" charset="0"/>
              <a:ea typeface="Calibri" panose="020F0502020204030204" pitchFamily="34" charset="0"/>
              <a:cs typeface="Calibri" panose="020F0502020204030204" pitchFamily="34" charset="0"/>
            </a:endParaRPr>
          </a:p>
        </p:txBody>
      </p:sp>
      <p:sp>
        <p:nvSpPr>
          <p:cNvPr id="14" name="object 6">
            <a:extLst>
              <a:ext uri="{FF2B5EF4-FFF2-40B4-BE49-F238E27FC236}">
                <a16:creationId xmlns:a16="http://schemas.microsoft.com/office/drawing/2014/main" id="{58A24BB2-A9ED-7205-5ADC-C19D5B640A1B}"/>
              </a:ext>
            </a:extLst>
          </p:cNvPr>
          <p:cNvSpPr txBox="1"/>
          <p:nvPr/>
        </p:nvSpPr>
        <p:spPr>
          <a:xfrm>
            <a:off x="1877948" y="4892420"/>
            <a:ext cx="2141855" cy="391160"/>
          </a:xfrm>
          <a:prstGeom prst="rect">
            <a:avLst/>
          </a:prstGeom>
        </p:spPr>
        <p:txBody>
          <a:bodyPr vert="horz" wrap="none" lIns="0" tIns="12700" rIns="0" bIns="0" rtlCol="0">
            <a:normAutofit/>
          </a:bodyPr>
          <a:lstStyle/>
          <a:p>
            <a:pPr marL="12700"/>
            <a:r>
              <a:rPr sz="1600" dirty="0">
                <a:latin typeface="Calibri" panose="020F0502020204030204" pitchFamily="34" charset="0"/>
                <a:ea typeface="Calibri" panose="020F0502020204030204" pitchFamily="34" charset="0"/>
                <a:cs typeface="Calibri" panose="020F0502020204030204" pitchFamily="34" charset="0"/>
              </a:rPr>
              <a:t>void method();</a:t>
            </a:r>
          </a:p>
        </p:txBody>
      </p:sp>
      <p:sp>
        <p:nvSpPr>
          <p:cNvPr id="15" name="object 7">
            <a:extLst>
              <a:ext uri="{FF2B5EF4-FFF2-40B4-BE49-F238E27FC236}">
                <a16:creationId xmlns:a16="http://schemas.microsoft.com/office/drawing/2014/main" id="{A0093FE3-E2AB-BAA2-1BD4-F396F164127E}"/>
              </a:ext>
            </a:extLst>
          </p:cNvPr>
          <p:cNvSpPr txBox="1"/>
          <p:nvPr/>
        </p:nvSpPr>
        <p:spPr>
          <a:xfrm>
            <a:off x="4265803" y="4946141"/>
            <a:ext cx="2161540" cy="329565"/>
          </a:xfrm>
          <a:prstGeom prst="rect">
            <a:avLst/>
          </a:prstGeom>
        </p:spPr>
        <p:txBody>
          <a:bodyPr vert="horz" wrap="none" lIns="0" tIns="11430" rIns="0" bIns="0" rtlCol="0">
            <a:normAutofit/>
          </a:bodyPr>
          <a:lstStyle/>
          <a:p>
            <a:pPr marL="12700"/>
            <a:r>
              <a:rPr sz="1600" dirty="0">
                <a:latin typeface="Calibri" panose="020F0502020204030204" pitchFamily="34" charset="0"/>
                <a:ea typeface="Calibri" panose="020F0502020204030204" pitchFamily="34" charset="0"/>
                <a:cs typeface="Calibri" panose="020F0502020204030204" pitchFamily="34" charset="0"/>
              </a:rPr>
              <a:t>//declare method</a:t>
            </a:r>
          </a:p>
        </p:txBody>
      </p:sp>
      <p:sp>
        <p:nvSpPr>
          <p:cNvPr id="3" name="object 3">
            <a:extLst>
              <a:ext uri="{FF2B5EF4-FFF2-40B4-BE49-F238E27FC236}">
                <a16:creationId xmlns:a16="http://schemas.microsoft.com/office/drawing/2014/main" id="{A7D5B631-ACDF-F44A-C231-5D366122E6BF}"/>
              </a:ext>
            </a:extLst>
          </p:cNvPr>
          <p:cNvSpPr txBox="1"/>
          <p:nvPr/>
        </p:nvSpPr>
        <p:spPr>
          <a:xfrm>
            <a:off x="685800" y="381000"/>
            <a:ext cx="8170545" cy="1925320"/>
          </a:xfrm>
          <a:prstGeom prst="rect">
            <a:avLst/>
          </a:prstGeom>
        </p:spPr>
        <p:txBody>
          <a:bodyPr vert="horz" wrap="square" lIns="0" tIns="12700" rIns="0" bIns="0" rtlCol="0">
            <a:normAutofit/>
          </a:bodyPr>
          <a:lstStyle/>
          <a:p>
            <a:pPr marL="12700">
              <a:lnSpc>
                <a:spcPct val="110000"/>
              </a:lnSpc>
              <a:spcBef>
                <a:spcPts val="0"/>
              </a:spcBef>
              <a:spcAft>
                <a:spcPts val="600"/>
              </a:spcAft>
            </a:pPr>
            <a:r>
              <a:rPr sz="2000" b="1" dirty="0">
                <a:solidFill>
                  <a:srgbClr val="FF0000"/>
                </a:solidFill>
                <a:latin typeface="Calibri" panose="020F0502020204030204" pitchFamily="34" charset="0"/>
                <a:ea typeface="Calibri" panose="020F0502020204030204" pitchFamily="34" charset="0"/>
                <a:cs typeface="Calibri" panose="020F0502020204030204" pitchFamily="34" charset="0"/>
              </a:rPr>
              <a:t>Why use Java interface?</a:t>
            </a:r>
            <a:endParaRPr sz="20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356870" indent="-344170">
              <a:lnSpc>
                <a:spcPct val="110000"/>
              </a:lnSpc>
              <a:spcBef>
                <a:spcPts val="0"/>
              </a:spcBef>
              <a:spcAft>
                <a:spcPts val="600"/>
              </a:spcAft>
              <a:buFont typeface="Wingdings"/>
              <a:buChar char=""/>
              <a:tabLst>
                <a:tab pos="356870" algn="l"/>
              </a:tabLst>
            </a:pPr>
            <a:r>
              <a:rPr sz="2000" b="1" dirty="0">
                <a:latin typeface="Calibri" panose="020F0502020204030204" pitchFamily="34" charset="0"/>
                <a:ea typeface="Calibri" panose="020F0502020204030204" pitchFamily="34" charset="0"/>
                <a:cs typeface="Calibri" panose="020F0502020204030204" pitchFamily="34" charset="0"/>
              </a:rPr>
              <a:t>There are mainly two reasons to use interface. They are given below.</a:t>
            </a:r>
            <a:endParaRPr sz="2000" dirty="0">
              <a:latin typeface="Calibri" panose="020F0502020204030204" pitchFamily="34" charset="0"/>
              <a:ea typeface="Calibri" panose="020F0502020204030204" pitchFamily="34" charset="0"/>
              <a:cs typeface="Calibri" panose="020F0502020204030204" pitchFamily="34" charset="0"/>
            </a:endParaRPr>
          </a:p>
          <a:p>
            <a:pPr marL="346075" indent="-333375">
              <a:lnSpc>
                <a:spcPct val="110000"/>
              </a:lnSpc>
              <a:spcBef>
                <a:spcPts val="0"/>
              </a:spcBef>
              <a:spcAft>
                <a:spcPts val="600"/>
              </a:spcAft>
              <a:buAutoNum type="arabicPeriod"/>
              <a:tabLst>
                <a:tab pos="346075" algn="l"/>
              </a:tabLst>
            </a:pPr>
            <a:r>
              <a:rPr sz="2000" b="1" dirty="0">
                <a:latin typeface="Calibri" panose="020F0502020204030204" pitchFamily="34" charset="0"/>
                <a:ea typeface="Calibri" panose="020F0502020204030204" pitchFamily="34" charset="0"/>
                <a:cs typeface="Calibri" panose="020F0502020204030204" pitchFamily="34" charset="0"/>
              </a:rPr>
              <a:t>It is used to achieve multiple inheritances.</a:t>
            </a:r>
            <a:endParaRPr sz="2000" dirty="0">
              <a:latin typeface="Calibri" panose="020F0502020204030204" pitchFamily="34" charset="0"/>
              <a:ea typeface="Calibri" panose="020F0502020204030204" pitchFamily="34" charset="0"/>
              <a:cs typeface="Calibri" panose="020F0502020204030204" pitchFamily="34" charset="0"/>
            </a:endParaRPr>
          </a:p>
          <a:p>
            <a:pPr marL="346710" indent="-334010">
              <a:lnSpc>
                <a:spcPct val="110000"/>
              </a:lnSpc>
              <a:spcBef>
                <a:spcPts val="0"/>
              </a:spcBef>
              <a:spcAft>
                <a:spcPts val="600"/>
              </a:spcAft>
              <a:buAutoNum type="arabicPeriod"/>
              <a:tabLst>
                <a:tab pos="346710" algn="l"/>
              </a:tabLst>
            </a:pPr>
            <a:r>
              <a:rPr sz="2000" b="1" dirty="0">
                <a:latin typeface="Calibri" panose="020F0502020204030204" pitchFamily="34" charset="0"/>
                <a:ea typeface="Calibri" panose="020F0502020204030204" pitchFamily="34" charset="0"/>
                <a:cs typeface="Calibri" panose="020F0502020204030204" pitchFamily="34" charset="0"/>
              </a:rPr>
              <a:t>It is used to achieve abstraction.</a:t>
            </a:r>
            <a:endParaRPr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27901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F0554-2987-02BE-2038-D99E67DCA93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1C560B5-1D49-6A1C-ECC7-D972FB1051CE}"/>
              </a:ext>
            </a:extLst>
          </p:cNvPr>
          <p:cNvSpPr txBox="1">
            <a:spLocks/>
          </p:cNvSpPr>
          <p:nvPr/>
        </p:nvSpPr>
        <p:spPr>
          <a:xfrm>
            <a:off x="1782572" y="53720"/>
            <a:ext cx="4645025" cy="574040"/>
          </a:xfrm>
          <a:prstGeom prst="rect">
            <a:avLst/>
          </a:prstGeom>
        </p:spPr>
        <p:txBody>
          <a:bodyPr vert="horz" wrap="none" lIns="0" tIns="12700" rIns="0" bIns="0" rtlCol="0" anchor="b">
            <a:normAutofit/>
          </a:bodyPr>
          <a:lstStyle>
            <a:lvl1pPr algn="ctr" defTabSz="914400" rtl="0" eaLnBrk="1" latinLnBrk="0" hangingPunct="1">
              <a:lnSpc>
                <a:spcPct val="80000"/>
              </a:lnSpc>
              <a:spcBef>
                <a:spcPct val="0"/>
              </a:spcBef>
              <a:buNone/>
              <a:defRPr sz="6000" b="0" i="0" kern="1200" spc="-200" baseline="0">
                <a:solidFill>
                  <a:schemeClr val="tx1"/>
                </a:solidFill>
                <a:latin typeface="+mj-lt"/>
                <a:ea typeface="+mj-ea"/>
                <a:cs typeface="+mj-cs"/>
              </a:defRPr>
            </a:lvl1pPr>
          </a:lstStyle>
          <a:p>
            <a:pPr marL="12700"/>
            <a:r>
              <a:rPr lang="en-IN" sz="1600" b="1" dirty="0">
                <a:solidFill>
                  <a:srgbClr val="001F5F"/>
                </a:solidFill>
                <a:latin typeface="Courier New"/>
                <a:cs typeface="Courier New"/>
              </a:rPr>
              <a:t>interface Parent </a:t>
            </a:r>
            <a:r>
              <a:rPr lang="en-IN" sz="1600" b="1" dirty="0">
                <a:solidFill>
                  <a:srgbClr val="2E7D32"/>
                </a:solidFill>
                <a:latin typeface="Courier New"/>
                <a:cs typeface="Courier New"/>
              </a:rPr>
              <a:t>//</a:t>
            </a:r>
            <a:r>
              <a:rPr lang="en-IN" sz="1600" b="1" dirty="0">
                <a:solidFill>
                  <a:srgbClr val="001F5F"/>
                </a:solidFill>
                <a:latin typeface="Courier New"/>
                <a:cs typeface="Courier New"/>
              </a:rPr>
              <a:t> Interface declaration</a:t>
            </a:r>
          </a:p>
          <a:p>
            <a:pPr marL="12700"/>
            <a:r>
              <a:rPr lang="en-IN" sz="1600" dirty="0">
                <a:solidFill>
                  <a:srgbClr val="001F5F"/>
                </a:solidFill>
                <a:latin typeface="Courier New"/>
                <a:cs typeface="Courier New"/>
              </a:rPr>
              <a:t>{</a:t>
            </a:r>
          </a:p>
        </p:txBody>
      </p:sp>
      <p:sp>
        <p:nvSpPr>
          <p:cNvPr id="8" name="object 3">
            <a:extLst>
              <a:ext uri="{FF2B5EF4-FFF2-40B4-BE49-F238E27FC236}">
                <a16:creationId xmlns:a16="http://schemas.microsoft.com/office/drawing/2014/main" id="{672D0BD3-C389-6327-94CA-92C0EF4024D6}"/>
              </a:ext>
            </a:extLst>
          </p:cNvPr>
          <p:cNvSpPr txBox="1"/>
          <p:nvPr/>
        </p:nvSpPr>
        <p:spPr>
          <a:xfrm>
            <a:off x="1782572" y="602437"/>
            <a:ext cx="7299959" cy="1403985"/>
          </a:xfrm>
          <a:prstGeom prst="rect">
            <a:avLst/>
          </a:prstGeom>
        </p:spPr>
        <p:txBody>
          <a:bodyPr vert="horz" wrap="none" lIns="0" tIns="12700" rIns="0" bIns="0" rtlCol="0">
            <a:normAutofit/>
          </a:bodyPr>
          <a:lstStyle/>
          <a:p>
            <a:pPr marL="408305"/>
            <a:r>
              <a:rPr sz="1600" b="1" dirty="0">
                <a:solidFill>
                  <a:srgbClr val="001F5F"/>
                </a:solidFill>
                <a:latin typeface="Courier New"/>
                <a:cs typeface="Courier New"/>
              </a:rPr>
              <a:t>void display(); </a:t>
            </a:r>
            <a:r>
              <a:rPr sz="1600" b="1" dirty="0">
                <a:solidFill>
                  <a:srgbClr val="2E7D32"/>
                </a:solidFill>
                <a:latin typeface="Courier New"/>
                <a:cs typeface="Courier New"/>
              </a:rPr>
              <a:t>//</a:t>
            </a:r>
            <a:r>
              <a:rPr sz="1600" b="1" dirty="0">
                <a:solidFill>
                  <a:srgbClr val="C00000"/>
                </a:solidFill>
                <a:latin typeface="Courier New"/>
                <a:cs typeface="Courier New"/>
              </a:rPr>
              <a:t> Abstract method</a:t>
            </a:r>
            <a:endParaRPr sz="1600" b="1" dirty="0">
              <a:solidFill>
                <a:srgbClr val="001F5F"/>
              </a:solidFill>
              <a:latin typeface="Courier New"/>
              <a:cs typeface="Courier New"/>
            </a:endParaRP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class Child implements Parent </a:t>
            </a:r>
            <a:r>
              <a:rPr sz="1600" b="1" dirty="0">
                <a:solidFill>
                  <a:srgbClr val="2E7D32"/>
                </a:solidFill>
                <a:latin typeface="Courier New"/>
                <a:cs typeface="Courier New"/>
              </a:rPr>
              <a:t>//</a:t>
            </a:r>
            <a:r>
              <a:rPr sz="1600" b="1" dirty="0">
                <a:solidFill>
                  <a:srgbClr val="C00000"/>
                </a:solidFill>
                <a:latin typeface="Courier New"/>
                <a:cs typeface="Courier New"/>
              </a:rPr>
              <a:t> Class implementing the interface</a:t>
            </a:r>
            <a:endParaRPr sz="1600" b="1" dirty="0">
              <a:solidFill>
                <a:srgbClr val="001F5F"/>
              </a:solidFill>
              <a:latin typeface="Courier New"/>
              <a:cs typeface="Courier New"/>
            </a:endParaRPr>
          </a:p>
          <a:p>
            <a:pPr marL="12700"/>
            <a:r>
              <a:rPr sz="1600" b="1" dirty="0">
                <a:solidFill>
                  <a:srgbClr val="001F5F"/>
                </a:solidFill>
                <a:latin typeface="Courier New"/>
                <a:cs typeface="Courier New"/>
              </a:rPr>
              <a:t>{</a:t>
            </a:r>
          </a:p>
        </p:txBody>
      </p:sp>
      <p:sp>
        <p:nvSpPr>
          <p:cNvPr id="16" name="object 4">
            <a:extLst>
              <a:ext uri="{FF2B5EF4-FFF2-40B4-BE49-F238E27FC236}">
                <a16:creationId xmlns:a16="http://schemas.microsoft.com/office/drawing/2014/main" id="{5802EAB1-FB37-3607-9878-04FF4102814D}"/>
              </a:ext>
            </a:extLst>
          </p:cNvPr>
          <p:cNvSpPr txBox="1"/>
          <p:nvPr/>
        </p:nvSpPr>
        <p:spPr>
          <a:xfrm>
            <a:off x="1782572" y="1975180"/>
            <a:ext cx="2176145" cy="300355"/>
          </a:xfrm>
          <a:prstGeom prst="rect">
            <a:avLst/>
          </a:prstGeom>
        </p:spPr>
        <p:txBody>
          <a:bodyPr vert="horz" wrap="none" lIns="0" tIns="12700" rIns="0" bIns="0" rtlCol="0">
            <a:normAutofit/>
          </a:bodyPr>
          <a:lstStyle/>
          <a:p>
            <a:pPr marL="12700"/>
            <a:r>
              <a:rPr sz="1600" b="1" dirty="0">
                <a:solidFill>
                  <a:srgbClr val="001F5F"/>
                </a:solidFill>
                <a:latin typeface="Courier New"/>
                <a:cs typeface="Courier New"/>
              </a:rPr>
              <a:t>public void display()</a:t>
            </a:r>
          </a:p>
        </p:txBody>
      </p:sp>
      <p:sp>
        <p:nvSpPr>
          <p:cNvPr id="17" name="object 5">
            <a:extLst>
              <a:ext uri="{FF2B5EF4-FFF2-40B4-BE49-F238E27FC236}">
                <a16:creationId xmlns:a16="http://schemas.microsoft.com/office/drawing/2014/main" id="{A3770777-55C3-614B-C21D-4F5016B3E3BE}"/>
              </a:ext>
            </a:extLst>
          </p:cNvPr>
          <p:cNvSpPr txBox="1"/>
          <p:nvPr/>
        </p:nvSpPr>
        <p:spPr>
          <a:xfrm>
            <a:off x="4142994" y="2029206"/>
            <a:ext cx="5623560" cy="226985"/>
          </a:xfrm>
          <a:prstGeom prst="rect">
            <a:avLst/>
          </a:prstGeom>
        </p:spPr>
        <p:txBody>
          <a:bodyPr vert="horz" wrap="none" lIns="0" tIns="11430" rIns="0" bIns="0" rtlCol="0">
            <a:normAutofit fontScale="92500" lnSpcReduction="10000"/>
          </a:bodyPr>
          <a:lstStyle/>
          <a:p>
            <a:pPr marL="12700"/>
            <a:r>
              <a:rPr sz="1600" dirty="0">
                <a:solidFill>
                  <a:srgbClr val="2E7D32"/>
                </a:solidFill>
                <a:latin typeface="Courier New"/>
                <a:cs typeface="Courier New"/>
              </a:rPr>
              <a:t>//</a:t>
            </a:r>
            <a:r>
              <a:rPr sz="1600" dirty="0">
                <a:solidFill>
                  <a:srgbClr val="C00000"/>
                </a:solidFill>
                <a:latin typeface="Courier New"/>
                <a:cs typeface="Courier New"/>
              </a:rPr>
              <a:t> Implementing the method from the interface (must be public)</a:t>
            </a:r>
            <a:endParaRPr sz="1600">
              <a:solidFill>
                <a:srgbClr val="001F5F"/>
              </a:solidFill>
              <a:latin typeface="Courier New"/>
              <a:cs typeface="Courier New"/>
            </a:endParaRPr>
          </a:p>
        </p:txBody>
      </p:sp>
      <p:sp>
        <p:nvSpPr>
          <p:cNvPr id="18" name="object 6">
            <a:extLst>
              <a:ext uri="{FF2B5EF4-FFF2-40B4-BE49-F238E27FC236}">
                <a16:creationId xmlns:a16="http://schemas.microsoft.com/office/drawing/2014/main" id="{6DA8D538-9C36-DA21-C528-76A5BA5B2595}"/>
              </a:ext>
            </a:extLst>
          </p:cNvPr>
          <p:cNvSpPr txBox="1"/>
          <p:nvPr/>
        </p:nvSpPr>
        <p:spPr>
          <a:xfrm>
            <a:off x="1782572" y="2249804"/>
            <a:ext cx="7943850" cy="3599815"/>
          </a:xfrm>
          <a:prstGeom prst="rect">
            <a:avLst/>
          </a:prstGeom>
        </p:spPr>
        <p:txBody>
          <a:bodyPr vert="horz" wrap="none" lIns="0" tIns="12700" rIns="0" bIns="0" rtlCol="0">
            <a:normAutofit/>
          </a:bodyPr>
          <a:lstStyle/>
          <a:p>
            <a:pPr marL="12700"/>
            <a:r>
              <a:rPr sz="1600" b="1" dirty="0">
                <a:solidFill>
                  <a:srgbClr val="001F5F"/>
                </a:solidFill>
                <a:latin typeface="Courier New"/>
                <a:cs typeface="Courier New"/>
              </a:rPr>
              <a:t>{</a:t>
            </a:r>
          </a:p>
          <a:p>
            <a:pPr marL="802005"/>
            <a:r>
              <a:rPr sz="1600" b="1" dirty="0">
                <a:solidFill>
                  <a:srgbClr val="001F5F"/>
                </a:solidFill>
                <a:latin typeface="Courier New"/>
                <a:cs typeface="Courier New"/>
              </a:rPr>
              <a:t>System.out.println("Welcome to RCE");</a:t>
            </a:r>
          </a:p>
          <a:p>
            <a:pPr marL="408305"/>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class InterfaceExample</a:t>
            </a:r>
          </a:p>
          <a:p>
            <a:pPr marL="109855"/>
            <a:r>
              <a:rPr sz="1600" b="1" dirty="0">
                <a:solidFill>
                  <a:srgbClr val="001F5F"/>
                </a:solidFill>
                <a:latin typeface="Courier New"/>
                <a:cs typeface="Courier New"/>
              </a:rPr>
              <a:t>{</a:t>
            </a:r>
          </a:p>
          <a:p>
            <a:pPr marL="408305"/>
            <a:r>
              <a:rPr sz="1600" b="1" dirty="0">
                <a:solidFill>
                  <a:srgbClr val="001F5F"/>
                </a:solidFill>
                <a:latin typeface="Courier New"/>
                <a:cs typeface="Courier New"/>
              </a:rPr>
              <a:t>public static void main(String args[])</a:t>
            </a:r>
          </a:p>
          <a:p>
            <a:pPr marL="12700"/>
            <a:r>
              <a:rPr sz="1600" b="1" dirty="0">
                <a:solidFill>
                  <a:srgbClr val="001F5F"/>
                </a:solidFill>
                <a:latin typeface="Courier New"/>
                <a:cs typeface="Courier New"/>
              </a:rPr>
              <a:t>{</a:t>
            </a:r>
          </a:p>
          <a:p>
            <a:pPr marL="802005"/>
            <a:r>
              <a:rPr sz="1600" b="1" dirty="0">
                <a:solidFill>
                  <a:srgbClr val="001F5F"/>
                </a:solidFill>
                <a:latin typeface="Courier New"/>
                <a:cs typeface="Courier New"/>
              </a:rPr>
              <a:t>Child obj = new Child(); </a:t>
            </a:r>
            <a:r>
              <a:rPr sz="1600" b="1" dirty="0">
                <a:solidFill>
                  <a:srgbClr val="2E7D32"/>
                </a:solidFill>
                <a:latin typeface="Courier New"/>
                <a:cs typeface="Courier New"/>
              </a:rPr>
              <a:t>//</a:t>
            </a:r>
            <a:r>
              <a:rPr sz="1600" b="1" dirty="0">
                <a:solidFill>
                  <a:srgbClr val="C00000"/>
                </a:solidFill>
                <a:latin typeface="Courier New"/>
                <a:cs typeface="Courier New"/>
              </a:rPr>
              <a:t> Creating an object of the Child class</a:t>
            </a:r>
            <a:endParaRPr sz="1600" b="1" dirty="0">
              <a:solidFill>
                <a:srgbClr val="001F5F"/>
              </a:solidFill>
              <a:latin typeface="Courier New"/>
              <a:cs typeface="Courier New"/>
            </a:endParaRPr>
          </a:p>
          <a:p>
            <a:pPr marL="802005"/>
            <a:r>
              <a:rPr sz="1600" b="1" dirty="0">
                <a:solidFill>
                  <a:srgbClr val="001F5F"/>
                </a:solidFill>
                <a:latin typeface="Courier New"/>
                <a:cs typeface="Courier New"/>
              </a:rPr>
              <a:t>obj.display(); </a:t>
            </a:r>
            <a:r>
              <a:rPr sz="1600" b="1" dirty="0">
                <a:solidFill>
                  <a:srgbClr val="2E7D32"/>
                </a:solidFill>
                <a:latin typeface="Courier New"/>
                <a:cs typeface="Courier New"/>
              </a:rPr>
              <a:t>//</a:t>
            </a:r>
            <a:r>
              <a:rPr sz="1600" b="1" dirty="0">
                <a:solidFill>
                  <a:srgbClr val="C00000"/>
                </a:solidFill>
                <a:latin typeface="Courier New"/>
                <a:cs typeface="Courier New"/>
              </a:rPr>
              <a:t> Calling the display method</a:t>
            </a:r>
            <a:endParaRPr sz="1600" b="1" dirty="0">
              <a:solidFill>
                <a:srgbClr val="001F5F"/>
              </a:solidFill>
              <a:latin typeface="Courier New"/>
              <a:cs typeface="Courier New"/>
            </a:endParaRPr>
          </a:p>
          <a:p>
            <a:pPr marL="408305"/>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pic>
        <p:nvPicPr>
          <p:cNvPr id="19" name="object 7">
            <a:extLst>
              <a:ext uri="{FF2B5EF4-FFF2-40B4-BE49-F238E27FC236}">
                <a16:creationId xmlns:a16="http://schemas.microsoft.com/office/drawing/2014/main" id="{B865D5A0-5364-9326-B9A1-631353E4BDD6}"/>
              </a:ext>
            </a:extLst>
          </p:cNvPr>
          <p:cNvPicPr/>
          <p:nvPr/>
        </p:nvPicPr>
        <p:blipFill>
          <a:blip r:embed="rId2" cstate="print"/>
          <a:stretch>
            <a:fillRect/>
          </a:stretch>
        </p:blipFill>
        <p:spPr>
          <a:xfrm>
            <a:off x="6755253" y="5470306"/>
            <a:ext cx="4754880" cy="1075944"/>
          </a:xfrm>
          <a:prstGeom prst="rect">
            <a:avLst/>
          </a:prstGeom>
        </p:spPr>
      </p:pic>
    </p:spTree>
    <p:extLst>
      <p:ext uri="{BB962C8B-B14F-4D97-AF65-F5344CB8AC3E}">
        <p14:creationId xmlns:p14="http://schemas.microsoft.com/office/powerpoint/2010/main" val="1175835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5CDAB-8241-EFFA-57C7-923E47A6FFF3}"/>
            </a:ext>
          </a:extLst>
        </p:cNvPr>
        <p:cNvGrpSpPr/>
        <p:nvPr/>
      </p:nvGrpSpPr>
      <p:grpSpPr>
        <a:xfrm>
          <a:off x="0" y="0"/>
          <a:ext cx="0" cy="0"/>
          <a:chOff x="0" y="0"/>
          <a:chExt cx="0" cy="0"/>
        </a:xfrm>
      </p:grpSpPr>
      <p:sp>
        <p:nvSpPr>
          <p:cNvPr id="11" name="object 2">
            <a:extLst>
              <a:ext uri="{FF2B5EF4-FFF2-40B4-BE49-F238E27FC236}">
                <a16:creationId xmlns:a16="http://schemas.microsoft.com/office/drawing/2014/main" id="{32F3EB78-3ED6-ADDD-690B-BD4B92CA6E09}"/>
              </a:ext>
            </a:extLst>
          </p:cNvPr>
          <p:cNvSpPr txBox="1">
            <a:spLocks/>
          </p:cNvSpPr>
          <p:nvPr/>
        </p:nvSpPr>
        <p:spPr>
          <a:xfrm>
            <a:off x="4310634" y="2507450"/>
            <a:ext cx="3573145" cy="444994"/>
          </a:xfrm>
          <a:prstGeom prst="rect">
            <a:avLst/>
          </a:prstGeom>
        </p:spPr>
        <p:txBody>
          <a:bodyPr vert="horz" wrap="square" lIns="0" tIns="13970" rIns="0" bIns="0" rtlCol="0" anchor="b">
            <a:spAutoFit/>
          </a:bodyPr>
          <a:lstStyle>
            <a:lvl1pPr algn="ctr" defTabSz="914400" rtl="0" eaLnBrk="1" latinLnBrk="0" hangingPunct="1">
              <a:lnSpc>
                <a:spcPct val="80000"/>
              </a:lnSpc>
              <a:spcBef>
                <a:spcPct val="0"/>
              </a:spcBef>
              <a:buNone/>
              <a:defRPr sz="6000" b="0" i="0" kern="1200" spc="-200" baseline="0">
                <a:solidFill>
                  <a:schemeClr val="tx1"/>
                </a:solidFill>
                <a:latin typeface="+mj-lt"/>
                <a:ea typeface="+mj-ea"/>
                <a:cs typeface="+mj-cs"/>
              </a:defRPr>
            </a:lvl1pPr>
          </a:lstStyle>
          <a:p>
            <a:pPr>
              <a:lnSpc>
                <a:spcPct val="100000"/>
              </a:lnSpc>
              <a:spcBef>
                <a:spcPts val="110"/>
              </a:spcBef>
            </a:pPr>
            <a:r>
              <a:rPr lang="en-IN" sz="2800" b="1" dirty="0">
                <a:solidFill>
                  <a:srgbClr val="001F5F"/>
                </a:solidFill>
                <a:latin typeface="Calibri"/>
                <a:cs typeface="Calibri"/>
              </a:rPr>
              <a:t>PART-A: Interfaces:</a:t>
            </a:r>
          </a:p>
        </p:txBody>
      </p:sp>
      <p:sp>
        <p:nvSpPr>
          <p:cNvPr id="12" name="object 3">
            <a:extLst>
              <a:ext uri="{FF2B5EF4-FFF2-40B4-BE49-F238E27FC236}">
                <a16:creationId xmlns:a16="http://schemas.microsoft.com/office/drawing/2014/main" id="{ABF2FC28-1BC7-3E25-4CE3-BA7EED06C000}"/>
              </a:ext>
            </a:extLst>
          </p:cNvPr>
          <p:cNvSpPr txBox="1"/>
          <p:nvPr/>
        </p:nvSpPr>
        <p:spPr>
          <a:xfrm>
            <a:off x="2971800" y="3103452"/>
            <a:ext cx="8397240" cy="321242"/>
          </a:xfrm>
          <a:prstGeom prst="rect">
            <a:avLst/>
          </a:prstGeom>
        </p:spPr>
        <p:txBody>
          <a:bodyPr vert="horz" wrap="square" lIns="0" tIns="13335" rIns="0" bIns="0" rtlCol="0">
            <a:spAutoFit/>
          </a:bodyPr>
          <a:lstStyle/>
          <a:p>
            <a:pPr marL="12700">
              <a:spcBef>
                <a:spcPts val="105"/>
              </a:spcBef>
            </a:pPr>
            <a:r>
              <a:rPr lang="en-IN" sz="2000" b="1" dirty="0">
                <a:solidFill>
                  <a:srgbClr val="C00000"/>
                </a:solidFill>
                <a:latin typeface="Calibri"/>
                <a:cs typeface="Calibri"/>
              </a:rPr>
              <a:t>Concept-2</a:t>
            </a:r>
            <a:r>
              <a:rPr lang="en-IN" sz="2000" b="1" dirty="0">
                <a:solidFill>
                  <a:srgbClr val="001F5F"/>
                </a:solidFill>
                <a:latin typeface="Calibri"/>
                <a:cs typeface="Calibri"/>
              </a:rPr>
              <a:t>:</a:t>
            </a:r>
            <a:r>
              <a:rPr sz="2000" b="1" dirty="0">
                <a:solidFill>
                  <a:srgbClr val="001F5F"/>
                </a:solidFill>
                <a:latin typeface="Calibri"/>
                <a:cs typeface="Calibri"/>
              </a:rPr>
              <a:t>Multiple Interfaces &amp; Inheritance of Interfaces</a:t>
            </a:r>
          </a:p>
        </p:txBody>
      </p:sp>
    </p:spTree>
    <p:extLst>
      <p:ext uri="{BB962C8B-B14F-4D97-AF65-F5344CB8AC3E}">
        <p14:creationId xmlns:p14="http://schemas.microsoft.com/office/powerpoint/2010/main" val="3579177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10800000" cy="640080"/>
          </a:xfrm>
          <a:prstGeom prst="rect">
            <a:avLst/>
          </a:prstGeom>
        </p:spPr>
        <p:txBody>
          <a:bodyPr vert="horz" wrap="square" rtlCol="0" anchor="ctr"/>
          <a:lstStyle/>
          <a:p>
            <a:pPr marL="12700" algn="l">
              <a:lnSpc>
                <a:spcPct val="100000"/>
              </a:lnSpc>
              <a:spcBef>
                <a:spcPts val="110"/>
              </a:spcBef>
            </a:pPr>
            <a:r>
              <a:rPr sz="2800" b="1" dirty="0">
                <a:solidFill>
                  <a:srgbClr val="001F5F"/>
                </a:solidFill>
                <a:latin typeface="Calibri"/>
                <a:cs typeface="Calibri"/>
              </a:rPr>
              <a:t>Multiple Inheritance</a:t>
            </a:r>
            <a:endParaRPr sz="2800" b="1">
              <a:solidFill>
                <a:srgbClr val="001F5F"/>
              </a:solidFill>
              <a:latin typeface="Calibri"/>
              <a:cs typeface="Calibri"/>
            </a:endParaRPr>
          </a:p>
        </p:txBody>
      </p:sp>
      <p:sp>
        <p:nvSpPr>
          <p:cNvPr id="3" name="object 3"/>
          <p:cNvSpPr txBox="1"/>
          <p:nvPr/>
        </p:nvSpPr>
        <p:spPr>
          <a:xfrm>
            <a:off x="197916" y="1058417"/>
            <a:ext cx="9519285" cy="299720"/>
          </a:xfrm>
          <a:prstGeom prst="rect">
            <a:avLst/>
          </a:prstGeom>
        </p:spPr>
        <p:txBody>
          <a:bodyPr vert="horz" wrap="square" lIns="0" tIns="12700" rIns="0" bIns="0" rtlCol="0">
            <a:normAutofit fontScale="92500" lnSpcReduction="20000"/>
          </a:bodyPr>
          <a:lstStyle/>
          <a:p>
            <a:pPr marL="12700">
              <a:lnSpc>
                <a:spcPct val="110000"/>
              </a:lnSpc>
              <a:spcBef>
                <a:spcPts val="0"/>
              </a:spcBef>
              <a:spcAft>
                <a:spcPts val="600"/>
              </a:spcAft>
            </a:pPr>
            <a:r>
              <a:rPr sz="2000" dirty="0">
                <a:solidFill>
                  <a:srgbClr val="001F5F"/>
                </a:solidFill>
                <a:latin typeface="Calibri"/>
                <a:cs typeface="Calibri"/>
              </a:rPr>
              <a:t>In multiple inheritance, a single subclass extends from multiple superclasses. For example</a:t>
            </a:r>
            <a:endParaRPr sz="2000">
              <a:solidFill>
                <a:srgbClr val="001F5F"/>
              </a:solidFill>
              <a:latin typeface="Calibri"/>
              <a:cs typeface="Calibri"/>
            </a:endParaRPr>
          </a:p>
        </p:txBody>
      </p:sp>
      <p:sp>
        <p:nvSpPr>
          <p:cNvPr id="4" name="object 4"/>
          <p:cNvSpPr txBox="1"/>
          <p:nvPr/>
        </p:nvSpPr>
        <p:spPr>
          <a:xfrm>
            <a:off x="485952" y="5293563"/>
            <a:ext cx="10862945" cy="855344"/>
          </a:xfrm>
          <a:prstGeom prst="rect">
            <a:avLst/>
          </a:prstGeom>
        </p:spPr>
        <p:txBody>
          <a:bodyPr vert="horz" wrap="square" lIns="0" tIns="12700" rIns="0" bIns="0" rtlCol="0">
            <a:normAutofit/>
          </a:bodyPr>
          <a:lstStyle/>
          <a:p>
            <a:pPr marL="12700">
              <a:lnSpc>
                <a:spcPct val="110000"/>
              </a:lnSpc>
              <a:spcBef>
                <a:spcPts val="0"/>
              </a:spcBef>
              <a:spcAft>
                <a:spcPts val="600"/>
              </a:spcAft>
            </a:pPr>
            <a:r>
              <a:rPr sz="2000" b="1" dirty="0">
                <a:solidFill>
                  <a:srgbClr val="001F5F"/>
                </a:solidFill>
                <a:latin typeface="Calibri"/>
                <a:cs typeface="Calibri"/>
              </a:rPr>
              <a:t>Note</a:t>
            </a:r>
            <a:r>
              <a:rPr sz="2000" dirty="0">
                <a:solidFill>
                  <a:srgbClr val="001F5F"/>
                </a:solidFill>
                <a:latin typeface="Calibri"/>
                <a:cs typeface="Calibri"/>
              </a:rPr>
              <a:t>: Java doesn't support multiple inheritance. However, we can achieve multiple inheritance using</a:t>
            </a:r>
            <a:endParaRPr sz="2000">
              <a:solidFill>
                <a:srgbClr val="001F5F"/>
              </a:solidFill>
              <a:latin typeface="Calibri"/>
              <a:cs typeface="Calibri"/>
            </a:endParaRPr>
          </a:p>
          <a:p>
            <a:pPr marL="12700">
              <a:lnSpc>
                <a:spcPct val="110000"/>
              </a:lnSpc>
              <a:spcBef>
                <a:spcPts val="0"/>
              </a:spcBef>
              <a:spcAft>
                <a:spcPts val="600"/>
              </a:spcAft>
            </a:pPr>
            <a:r>
              <a:rPr sz="2000" dirty="0">
                <a:solidFill>
                  <a:srgbClr val="001F5F"/>
                </a:solidFill>
                <a:latin typeface="Calibri"/>
                <a:cs typeface="Calibri"/>
              </a:rPr>
              <a:t>interfaces.</a:t>
            </a:r>
            <a:endParaRPr sz="2000">
              <a:solidFill>
                <a:srgbClr val="001F5F"/>
              </a:solidFill>
              <a:latin typeface="Calibri"/>
              <a:cs typeface="Calibri"/>
            </a:endParaRPr>
          </a:p>
        </p:txBody>
      </p:sp>
      <p:pic>
        <p:nvPicPr>
          <p:cNvPr id="5" name="object 5"/>
          <p:cNvPicPr/>
          <p:nvPr/>
        </p:nvPicPr>
        <p:blipFill>
          <a:blip r:embed="rId2" cstate="print"/>
          <a:stretch>
            <a:fillRect/>
          </a:stretch>
        </p:blipFill>
        <p:spPr>
          <a:xfrm>
            <a:off x="3352800" y="1556427"/>
            <a:ext cx="3553967" cy="348691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5F715-B8A1-5135-888C-F4B3D0DFA07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5D3BEDE-4037-4E6C-FBB2-EF4F9972567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3580" y="155257"/>
            <a:ext cx="10784840" cy="6547485"/>
          </a:xfrm>
          <a:prstGeom prst="rect">
            <a:avLst/>
          </a:prstGeom>
          <a:noFill/>
        </p:spPr>
      </p:pic>
    </p:spTree>
    <p:extLst>
      <p:ext uri="{BB962C8B-B14F-4D97-AF65-F5344CB8AC3E}">
        <p14:creationId xmlns:p14="http://schemas.microsoft.com/office/powerpoint/2010/main" val="2722419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4B53CF0-C3D3-1E06-0BBC-2457F5282D03}"/>
            </a:ext>
          </a:extLst>
        </p:cNvPr>
        <p:cNvGrpSpPr/>
        <p:nvPr/>
      </p:nvGrpSpPr>
      <p:grpSpPr>
        <a:xfrm>
          <a:off x="0" y="0"/>
          <a:ext cx="0" cy="0"/>
          <a:chOff x="0" y="0"/>
          <a:chExt cx="0" cy="0"/>
        </a:xfrm>
      </p:grpSpPr>
      <p:sp>
        <p:nvSpPr>
          <p:cNvPr id="12" name="object 2">
            <a:extLst>
              <a:ext uri="{FF2B5EF4-FFF2-40B4-BE49-F238E27FC236}">
                <a16:creationId xmlns:a16="http://schemas.microsoft.com/office/drawing/2014/main" id="{7818ED1E-20FD-F0A9-7E1C-E42526914C06}"/>
              </a:ext>
            </a:extLst>
          </p:cNvPr>
          <p:cNvSpPr txBox="1"/>
          <p:nvPr/>
        </p:nvSpPr>
        <p:spPr>
          <a:xfrm>
            <a:off x="914400" y="609600"/>
            <a:ext cx="10668000" cy="3276600"/>
          </a:xfrm>
          <a:prstGeom prst="rect">
            <a:avLst/>
          </a:prstGeom>
        </p:spPr>
        <p:txBody>
          <a:bodyPr vert="horz" wrap="none" lIns="0" tIns="187325" rIns="0" bIns="0" rtlCol="0">
            <a:normAutofit/>
          </a:bodyPr>
          <a:lstStyle/>
          <a:p>
            <a:pPr marL="12700"/>
            <a:r>
              <a:rPr sz="1600" b="1" dirty="0">
                <a:solidFill>
                  <a:srgbClr val="2E7D32"/>
                </a:solidFill>
                <a:latin typeface="Courier New"/>
                <a:cs typeface="Courier New"/>
              </a:rPr>
              <a:t>//</a:t>
            </a:r>
            <a:r>
              <a:rPr sz="1600" b="1" dirty="0">
                <a:solidFill>
                  <a:srgbClr val="C00000"/>
                </a:solidFill>
                <a:latin typeface="Courier New"/>
                <a:cs typeface="Courier New"/>
              </a:rPr>
              <a:t> Implement both interfaces in the Child class</a:t>
            </a:r>
            <a:endParaRPr sz="1600" b="1" dirty="0">
              <a:solidFill>
                <a:srgbClr val="001F5F"/>
              </a:solidFill>
              <a:latin typeface="Courier New"/>
              <a:cs typeface="Courier New"/>
            </a:endParaRPr>
          </a:p>
          <a:p>
            <a:pPr marL="12700"/>
            <a:r>
              <a:rPr sz="1600" b="1" dirty="0">
                <a:solidFill>
                  <a:srgbClr val="001F5F"/>
                </a:solidFill>
                <a:latin typeface="Courier New"/>
                <a:cs typeface="Courier New"/>
              </a:rPr>
              <a:t>class Child implements Parent1, Parent2</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public void display() </a:t>
            </a:r>
            <a:r>
              <a:rPr sz="1600" b="1" dirty="0">
                <a:solidFill>
                  <a:srgbClr val="2E7D32"/>
                </a:solidFill>
                <a:latin typeface="Courier New"/>
                <a:cs typeface="Courier New"/>
              </a:rPr>
              <a:t>//</a:t>
            </a:r>
            <a:r>
              <a:rPr sz="1600" b="1" dirty="0">
                <a:solidFill>
                  <a:srgbClr val="001F5F"/>
                </a:solidFill>
                <a:latin typeface="Courier New"/>
                <a:cs typeface="Courier New"/>
              </a:rPr>
              <a:t> Implementing the method from the interface (must be public)</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System.out.println("Welcome to display method");</a:t>
            </a:r>
          </a:p>
          <a:p>
            <a:pPr marL="121920"/>
            <a:r>
              <a:rPr sz="1600" b="1" dirty="0">
                <a:solidFill>
                  <a:srgbClr val="001F5F"/>
                </a:solidFill>
                <a:latin typeface="Courier New"/>
                <a:cs typeface="Courier New"/>
              </a:rPr>
              <a:t>}</a:t>
            </a:r>
          </a:p>
          <a:p>
            <a:pPr marL="12700"/>
            <a:r>
              <a:rPr sz="1600" b="1" dirty="0">
                <a:solidFill>
                  <a:srgbClr val="001F5F"/>
                </a:solidFill>
                <a:latin typeface="Courier New"/>
                <a:cs typeface="Courier New"/>
              </a:rPr>
              <a:t>public void message() </a:t>
            </a:r>
            <a:r>
              <a:rPr sz="1600" b="1" dirty="0">
                <a:solidFill>
                  <a:srgbClr val="2E7D32"/>
                </a:solidFill>
                <a:latin typeface="Courier New"/>
                <a:cs typeface="Courier New"/>
              </a:rPr>
              <a:t>//</a:t>
            </a:r>
            <a:r>
              <a:rPr sz="1600" b="1" dirty="0">
                <a:solidFill>
                  <a:srgbClr val="001F5F"/>
                </a:solidFill>
                <a:latin typeface="Courier New"/>
                <a:cs typeface="Courier New"/>
              </a:rPr>
              <a:t> Implementing the method from the interface (must be public)</a:t>
            </a:r>
          </a:p>
          <a:p>
            <a:pPr marL="121920"/>
            <a:r>
              <a:rPr sz="1600" b="1" dirty="0">
                <a:solidFill>
                  <a:srgbClr val="001F5F"/>
                </a:solidFill>
                <a:latin typeface="Courier New"/>
                <a:cs typeface="Courier New"/>
              </a:rPr>
              <a:t>{</a:t>
            </a:r>
          </a:p>
          <a:p>
            <a:pPr marL="12700"/>
            <a:r>
              <a:rPr sz="1600" b="1" dirty="0">
                <a:solidFill>
                  <a:srgbClr val="001F5F"/>
                </a:solidFill>
                <a:latin typeface="Courier New"/>
                <a:cs typeface="Courier New"/>
              </a:rPr>
              <a:t>System.out.println("Welcome to message method");</a:t>
            </a:r>
          </a:p>
          <a:p>
            <a:pPr marL="231775"/>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sp>
        <p:nvSpPr>
          <p:cNvPr id="3" name="object 2">
            <a:extLst>
              <a:ext uri="{FF2B5EF4-FFF2-40B4-BE49-F238E27FC236}">
                <a16:creationId xmlns:a16="http://schemas.microsoft.com/office/drawing/2014/main" id="{7EA8E863-DADA-8AC2-0077-BE21DC53C315}"/>
              </a:ext>
            </a:extLst>
          </p:cNvPr>
          <p:cNvSpPr txBox="1"/>
          <p:nvPr/>
        </p:nvSpPr>
        <p:spPr>
          <a:xfrm>
            <a:off x="882445" y="3962400"/>
            <a:ext cx="8991600" cy="1905000"/>
          </a:xfrm>
          <a:prstGeom prst="rect">
            <a:avLst/>
          </a:prstGeom>
        </p:spPr>
        <p:txBody>
          <a:bodyPr vert="horz" wrap="none" lIns="0" tIns="12065" rIns="0" bIns="0" rtlCol="0">
            <a:normAutofit fontScale="92500" lnSpcReduction="10000"/>
          </a:bodyPr>
          <a:lstStyle/>
          <a:p>
            <a:pPr marL="12700"/>
            <a:r>
              <a:rPr sz="1600" b="1" dirty="0">
                <a:solidFill>
                  <a:srgbClr val="001F5F"/>
                </a:solidFill>
                <a:latin typeface="Courier New"/>
                <a:cs typeface="Courier New"/>
              </a:rPr>
              <a:t>class Sample</a:t>
            </a:r>
          </a:p>
          <a:p>
            <a:pPr marL="121920"/>
            <a:r>
              <a:rPr sz="1600" b="1" dirty="0">
                <a:solidFill>
                  <a:srgbClr val="001F5F"/>
                </a:solidFill>
                <a:latin typeface="Courier New"/>
                <a:cs typeface="Courier New"/>
              </a:rPr>
              <a:t>{</a:t>
            </a:r>
          </a:p>
          <a:p>
            <a:pPr marL="451484"/>
            <a:r>
              <a:rPr sz="1600" b="1" dirty="0">
                <a:solidFill>
                  <a:srgbClr val="001F5F"/>
                </a:solidFill>
                <a:latin typeface="Courier New"/>
                <a:cs typeface="Courier New"/>
              </a:rPr>
              <a:t>public static void main(String[] args)</a:t>
            </a:r>
          </a:p>
          <a:p>
            <a:pPr marL="121920"/>
            <a:r>
              <a:rPr sz="1600" b="1" dirty="0">
                <a:solidFill>
                  <a:srgbClr val="001F5F"/>
                </a:solidFill>
                <a:latin typeface="Courier New"/>
                <a:cs typeface="Courier New"/>
              </a:rPr>
              <a:t>{</a:t>
            </a:r>
          </a:p>
          <a:p>
            <a:pPr marL="12700" marR="5080">
              <a:tabLst>
                <a:tab pos="1856739" algn="l"/>
                <a:tab pos="3146425" algn="l"/>
              </a:tabLst>
            </a:pPr>
            <a:r>
              <a:rPr sz="1600" b="1" dirty="0">
                <a:solidFill>
                  <a:srgbClr val="001F5F"/>
                </a:solidFill>
                <a:latin typeface="Courier New"/>
                <a:cs typeface="Courier New"/>
              </a:rPr>
              <a:t>Child obj = new Child();	</a:t>
            </a:r>
            <a:r>
              <a:rPr sz="1600" b="1" dirty="0">
                <a:solidFill>
                  <a:srgbClr val="2E7D32"/>
                </a:solidFill>
                <a:latin typeface="Courier New"/>
                <a:cs typeface="Courier New"/>
              </a:rPr>
              <a:t>//</a:t>
            </a:r>
            <a:r>
              <a:rPr sz="1600" b="1" dirty="0">
                <a:solidFill>
                  <a:srgbClr val="C00000"/>
                </a:solidFill>
                <a:latin typeface="Courier New"/>
                <a:cs typeface="Courier New"/>
              </a:rPr>
              <a:t> Create an instance of Child </a:t>
            </a:r>
            <a:endParaRPr lang="en-IN" sz="1600" b="1" dirty="0">
              <a:solidFill>
                <a:srgbClr val="C00000"/>
              </a:solidFill>
              <a:latin typeface="Courier New"/>
              <a:cs typeface="Courier New"/>
            </a:endParaRPr>
          </a:p>
          <a:p>
            <a:pPr marL="12700" marR="5080">
              <a:tabLst>
                <a:tab pos="1856739" algn="l"/>
                <a:tab pos="3146425" algn="l"/>
              </a:tabLst>
            </a:pPr>
            <a:r>
              <a:rPr sz="1600" b="1" dirty="0" err="1">
                <a:solidFill>
                  <a:srgbClr val="001F5F"/>
                </a:solidFill>
                <a:latin typeface="Courier New"/>
                <a:cs typeface="Courier New"/>
              </a:rPr>
              <a:t>obj.display</a:t>
            </a:r>
            <a:r>
              <a:rPr sz="1600" b="1" dirty="0">
                <a:solidFill>
                  <a:srgbClr val="001F5F"/>
                </a:solidFill>
                <a:latin typeface="Courier New"/>
                <a:cs typeface="Courier New"/>
              </a:rPr>
              <a:t>();	</a:t>
            </a:r>
            <a:r>
              <a:rPr sz="1600" b="1" dirty="0">
                <a:solidFill>
                  <a:srgbClr val="2E7D32"/>
                </a:solidFill>
                <a:latin typeface="Courier New"/>
                <a:cs typeface="Courier New"/>
              </a:rPr>
              <a:t>//</a:t>
            </a:r>
            <a:r>
              <a:rPr sz="1600" b="1" dirty="0">
                <a:solidFill>
                  <a:srgbClr val="C00000"/>
                </a:solidFill>
                <a:latin typeface="Courier New"/>
                <a:cs typeface="Courier New"/>
              </a:rPr>
              <a:t> Call methods defined in the interfaces </a:t>
            </a:r>
            <a:endParaRPr lang="en-IN" sz="1600" b="1" dirty="0">
              <a:solidFill>
                <a:srgbClr val="C00000"/>
              </a:solidFill>
              <a:latin typeface="Courier New"/>
              <a:cs typeface="Courier New"/>
            </a:endParaRPr>
          </a:p>
          <a:p>
            <a:pPr marL="12700" marR="5080">
              <a:tabLst>
                <a:tab pos="1856739" algn="l"/>
                <a:tab pos="3146425" algn="l"/>
              </a:tabLst>
            </a:pPr>
            <a:r>
              <a:rPr sz="1600" b="1" dirty="0" err="1">
                <a:solidFill>
                  <a:srgbClr val="001F5F"/>
                </a:solidFill>
                <a:latin typeface="Courier New"/>
                <a:cs typeface="Courier New"/>
              </a:rPr>
              <a:t>obj.message</a:t>
            </a:r>
            <a:r>
              <a:rPr sz="1600" b="1" dirty="0">
                <a:solidFill>
                  <a:srgbClr val="001F5F"/>
                </a:solidFill>
                <a:latin typeface="Courier New"/>
                <a:cs typeface="Courier New"/>
              </a:rPr>
              <a:t>();</a:t>
            </a:r>
          </a:p>
          <a:p>
            <a:pPr marL="12192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spTree>
    <p:extLst>
      <p:ext uri="{BB962C8B-B14F-4D97-AF65-F5344CB8AC3E}">
        <p14:creationId xmlns:p14="http://schemas.microsoft.com/office/powerpoint/2010/main" val="2022288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B1883-D6CC-58B6-8B92-EDB997FF69F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C861D72-D04D-B734-D29A-3B6DFDA133F1}"/>
              </a:ext>
            </a:extLst>
          </p:cNvPr>
          <p:cNvSpPr txBox="1">
            <a:spLocks/>
          </p:cNvSpPr>
          <p:nvPr/>
        </p:nvSpPr>
        <p:spPr>
          <a:xfrm>
            <a:off x="-457200" y="672153"/>
            <a:ext cx="4648200" cy="442429"/>
          </a:xfrm>
          <a:prstGeom prst="rect">
            <a:avLst/>
          </a:prstGeom>
        </p:spPr>
        <p:txBody>
          <a:bodyPr vert="horz" wrap="square" lIns="0" tIns="11430" rIns="0" bIns="0" rtlCol="0" anchor="b">
            <a:spAutoFit/>
          </a:bodyPr>
          <a:lstStyle>
            <a:lvl1pPr algn="ctr" defTabSz="914400" rtl="0" eaLnBrk="1" latinLnBrk="0" hangingPunct="1">
              <a:lnSpc>
                <a:spcPct val="80000"/>
              </a:lnSpc>
              <a:spcBef>
                <a:spcPct val="0"/>
              </a:spcBef>
              <a:buNone/>
              <a:defRPr sz="6000" b="0" i="0" kern="1200" spc="-200" baseline="0">
                <a:solidFill>
                  <a:schemeClr val="tx1"/>
                </a:solidFill>
                <a:latin typeface="+mj-lt"/>
                <a:ea typeface="+mj-ea"/>
                <a:cs typeface="+mj-cs"/>
              </a:defRPr>
            </a:lvl1pPr>
          </a:lstStyle>
          <a:p>
            <a:pPr marL="685165">
              <a:lnSpc>
                <a:spcPct val="100000"/>
              </a:lnSpc>
              <a:spcBef>
                <a:spcPts val="90"/>
              </a:spcBef>
            </a:pPr>
            <a:r>
              <a:rPr lang="en-IN" sz="2800" b="1" dirty="0">
                <a:solidFill>
                  <a:srgbClr val="C00000"/>
                </a:solidFill>
                <a:latin typeface="Calibri"/>
                <a:cs typeface="Calibri"/>
              </a:rPr>
              <a:t>Abstract class and Methods</a:t>
            </a:r>
          </a:p>
        </p:txBody>
      </p:sp>
      <p:sp>
        <p:nvSpPr>
          <p:cNvPr id="12" name="object 3">
            <a:extLst>
              <a:ext uri="{FF2B5EF4-FFF2-40B4-BE49-F238E27FC236}">
                <a16:creationId xmlns:a16="http://schemas.microsoft.com/office/drawing/2014/main" id="{84E77D96-5358-649B-4260-DDB4B6D15206}"/>
              </a:ext>
            </a:extLst>
          </p:cNvPr>
          <p:cNvSpPr txBox="1"/>
          <p:nvPr/>
        </p:nvSpPr>
        <p:spPr>
          <a:xfrm>
            <a:off x="372443" y="1169747"/>
            <a:ext cx="10295558" cy="2259253"/>
          </a:xfrm>
          <a:prstGeom prst="rect">
            <a:avLst/>
          </a:prstGeom>
        </p:spPr>
        <p:txBody>
          <a:bodyPr vert="horz" wrap="square" lIns="0" tIns="12700" rIns="0" bIns="0" rtlCol="0">
            <a:normAutofit/>
          </a:bodyPr>
          <a:lstStyle/>
          <a:p>
            <a:pPr marL="356870" marR="111760" indent="-344805">
              <a:lnSpc>
                <a:spcPct val="110000"/>
              </a:lnSpc>
              <a:spcBef>
                <a:spcPts val="0"/>
              </a:spcBef>
              <a:spcAft>
                <a:spcPts val="600"/>
              </a:spcAft>
              <a:buFont typeface="Wingdings"/>
              <a:buChar char=""/>
              <a:tabLst>
                <a:tab pos="356870" algn="l"/>
              </a:tabLst>
            </a:pPr>
            <a:r>
              <a:rPr sz="1800" b="1" dirty="0">
                <a:solidFill>
                  <a:srgbClr val="001F5F"/>
                </a:solidFill>
                <a:latin typeface="Calibri"/>
                <a:cs typeface="Calibri"/>
              </a:rPr>
              <a:t>Abstract class contains atleast one abstract method.i.e., abstract methods and non abstract methods</a:t>
            </a:r>
          </a:p>
          <a:p>
            <a:pPr marL="356870" indent="-344170">
              <a:lnSpc>
                <a:spcPct val="110000"/>
              </a:lnSpc>
              <a:spcBef>
                <a:spcPts val="0"/>
              </a:spcBef>
              <a:spcAft>
                <a:spcPts val="600"/>
              </a:spcAft>
              <a:buFont typeface="Wingdings"/>
              <a:buChar char=""/>
              <a:tabLst>
                <a:tab pos="356870" algn="l"/>
              </a:tabLst>
            </a:pPr>
            <a:r>
              <a:rPr sz="1800" b="1" dirty="0">
                <a:solidFill>
                  <a:srgbClr val="001F5F"/>
                </a:solidFill>
                <a:latin typeface="Calibri"/>
                <a:cs typeface="Calibri"/>
              </a:rPr>
              <a:t>Abstract method only declaration but no definition</a:t>
            </a:r>
          </a:p>
          <a:p>
            <a:pPr marL="356870" indent="-344170">
              <a:lnSpc>
                <a:spcPct val="110000"/>
              </a:lnSpc>
              <a:spcBef>
                <a:spcPts val="0"/>
              </a:spcBef>
              <a:spcAft>
                <a:spcPts val="600"/>
              </a:spcAft>
              <a:buFont typeface="Wingdings"/>
              <a:buChar char=""/>
              <a:tabLst>
                <a:tab pos="356870" algn="l"/>
              </a:tabLst>
            </a:pPr>
            <a:r>
              <a:rPr sz="1800" b="1" dirty="0">
                <a:solidFill>
                  <a:srgbClr val="001F5F"/>
                </a:solidFill>
                <a:latin typeface="Calibri"/>
                <a:cs typeface="Calibri"/>
              </a:rPr>
              <a:t>Implementation of abstract method will be written in derived class</a:t>
            </a:r>
          </a:p>
          <a:p>
            <a:pPr marL="356870" marR="5080" indent="-344805">
              <a:buFont typeface="Wingdings"/>
              <a:buChar char=""/>
              <a:tabLst>
                <a:tab pos="356870" algn="l"/>
                <a:tab pos="2002789" algn="l"/>
                <a:tab pos="4177029" algn="l"/>
                <a:tab pos="5658485" algn="l"/>
                <a:tab pos="7249795" algn="l"/>
                <a:tab pos="7762240" algn="l"/>
                <a:tab pos="10113010" algn="l"/>
                <a:tab pos="10633710" algn="l"/>
                <a:tab pos="11158220" algn="l"/>
              </a:tabLst>
            </a:pPr>
            <a:r>
              <a:rPr b="1" dirty="0">
                <a:solidFill>
                  <a:srgbClr val="001F5F"/>
                </a:solidFill>
                <a:latin typeface="Calibri"/>
                <a:cs typeface="Calibri"/>
              </a:rPr>
              <a:t>Concreate</a:t>
            </a:r>
            <a:r>
              <a:rPr lang="en-IN" b="1" dirty="0">
                <a:solidFill>
                  <a:srgbClr val="001F5F"/>
                </a:solidFill>
                <a:latin typeface="Calibri"/>
                <a:cs typeface="Calibri"/>
              </a:rPr>
              <a:t> </a:t>
            </a:r>
            <a:r>
              <a:rPr b="1" dirty="0">
                <a:solidFill>
                  <a:srgbClr val="001F5F"/>
                </a:solidFill>
                <a:latin typeface="Calibri"/>
                <a:cs typeface="Calibri"/>
              </a:rPr>
              <a:t>class(contains</a:t>
            </a:r>
            <a:r>
              <a:rPr lang="en-IN" b="1" dirty="0">
                <a:solidFill>
                  <a:srgbClr val="001F5F"/>
                </a:solidFill>
                <a:latin typeface="Calibri"/>
                <a:cs typeface="Calibri"/>
              </a:rPr>
              <a:t> </a:t>
            </a:r>
            <a:r>
              <a:rPr b="1" dirty="0">
                <a:solidFill>
                  <a:srgbClr val="001F5F"/>
                </a:solidFill>
                <a:latin typeface="Calibri"/>
                <a:cs typeface="Calibri"/>
              </a:rPr>
              <a:t>complete</a:t>
            </a:r>
            <a:r>
              <a:rPr lang="en-IN" b="1" dirty="0">
                <a:solidFill>
                  <a:srgbClr val="001F5F"/>
                </a:solidFill>
                <a:latin typeface="Calibri"/>
                <a:cs typeface="Calibri"/>
              </a:rPr>
              <a:t> </a:t>
            </a:r>
            <a:r>
              <a:rPr b="1" dirty="0">
                <a:solidFill>
                  <a:srgbClr val="001F5F"/>
                </a:solidFill>
                <a:latin typeface="Calibri"/>
                <a:cs typeface="Calibri"/>
              </a:rPr>
              <a:t>definition</a:t>
            </a:r>
            <a:r>
              <a:rPr lang="en-IN" b="1" dirty="0">
                <a:solidFill>
                  <a:srgbClr val="001F5F"/>
                </a:solidFill>
                <a:latin typeface="Calibri"/>
                <a:cs typeface="Calibri"/>
              </a:rPr>
              <a:t> </a:t>
            </a:r>
            <a:r>
              <a:rPr b="1" dirty="0">
                <a:solidFill>
                  <a:srgbClr val="001F5F"/>
                </a:solidFill>
                <a:latin typeface="Calibri"/>
                <a:cs typeface="Calibri"/>
              </a:rPr>
              <a:t>or</a:t>
            </a:r>
            <a:r>
              <a:rPr lang="en-IN" b="1" dirty="0">
                <a:solidFill>
                  <a:srgbClr val="001F5F"/>
                </a:solidFill>
                <a:latin typeface="Calibri"/>
                <a:cs typeface="Calibri"/>
              </a:rPr>
              <a:t> </a:t>
            </a:r>
            <a:r>
              <a:rPr b="1" dirty="0">
                <a:solidFill>
                  <a:srgbClr val="001F5F"/>
                </a:solidFill>
                <a:latin typeface="Calibri"/>
                <a:cs typeface="Calibri"/>
              </a:rPr>
              <a:t>implementation</a:t>
            </a:r>
            <a:r>
              <a:rPr lang="en-IN" b="1" dirty="0">
                <a:solidFill>
                  <a:srgbClr val="001F5F"/>
                </a:solidFill>
                <a:latin typeface="Calibri"/>
                <a:cs typeface="Calibri"/>
              </a:rPr>
              <a:t> </a:t>
            </a:r>
            <a:r>
              <a:rPr b="1" dirty="0">
                <a:solidFill>
                  <a:srgbClr val="001F5F"/>
                </a:solidFill>
                <a:latin typeface="Calibri"/>
                <a:cs typeface="Calibri"/>
              </a:rPr>
              <a:t>of</a:t>
            </a:r>
            <a:r>
              <a:rPr lang="en-IN" b="1" dirty="0">
                <a:solidFill>
                  <a:srgbClr val="001F5F"/>
                </a:solidFill>
                <a:latin typeface="Calibri"/>
                <a:cs typeface="Calibri"/>
              </a:rPr>
              <a:t> </a:t>
            </a:r>
            <a:r>
              <a:rPr b="1" dirty="0">
                <a:solidFill>
                  <a:srgbClr val="001F5F"/>
                </a:solidFill>
                <a:latin typeface="Calibri"/>
                <a:cs typeface="Calibri"/>
              </a:rPr>
              <a:t>all</a:t>
            </a:r>
            <a:r>
              <a:rPr lang="en-IN" b="1" dirty="0">
                <a:solidFill>
                  <a:srgbClr val="001F5F"/>
                </a:solidFill>
                <a:latin typeface="Calibri"/>
                <a:cs typeface="Calibri"/>
              </a:rPr>
              <a:t> </a:t>
            </a:r>
            <a:r>
              <a:rPr b="1" dirty="0">
                <a:solidFill>
                  <a:srgbClr val="001F5F"/>
                </a:solidFill>
                <a:latin typeface="Calibri"/>
                <a:cs typeface="Calibri"/>
              </a:rPr>
              <a:t>the methods)</a:t>
            </a:r>
          </a:p>
          <a:p>
            <a:pPr marL="356235" indent="-343535">
              <a:lnSpc>
                <a:spcPct val="110000"/>
              </a:lnSpc>
              <a:spcBef>
                <a:spcPts val="0"/>
              </a:spcBef>
              <a:spcAft>
                <a:spcPts val="600"/>
              </a:spcAft>
              <a:buFont typeface="Wingdings"/>
              <a:buChar char=""/>
              <a:tabLst>
                <a:tab pos="356235" algn="l"/>
              </a:tabLst>
            </a:pPr>
            <a:r>
              <a:rPr sz="1800" b="1" dirty="0">
                <a:solidFill>
                  <a:srgbClr val="001F5F"/>
                </a:solidFill>
                <a:latin typeface="Calibri"/>
                <a:cs typeface="Calibri"/>
              </a:rPr>
              <a:t>Object can not be created for Abstract class</a:t>
            </a:r>
          </a:p>
          <a:p>
            <a:pPr marL="356235" indent="-343535">
              <a:lnSpc>
                <a:spcPct val="110000"/>
              </a:lnSpc>
              <a:spcBef>
                <a:spcPts val="0"/>
              </a:spcBef>
              <a:spcAft>
                <a:spcPts val="600"/>
              </a:spcAft>
              <a:buFont typeface="Wingdings"/>
              <a:buChar char=""/>
              <a:tabLst>
                <a:tab pos="356235" algn="l"/>
              </a:tabLst>
            </a:pPr>
            <a:r>
              <a:rPr sz="1800" b="1" dirty="0">
                <a:solidFill>
                  <a:srgbClr val="001F5F"/>
                </a:solidFill>
                <a:latin typeface="Calibri"/>
                <a:cs typeface="Calibri"/>
              </a:rPr>
              <a:t>Object can be created for concreate class</a:t>
            </a:r>
          </a:p>
        </p:txBody>
      </p:sp>
    </p:spTree>
    <p:extLst>
      <p:ext uri="{BB962C8B-B14F-4D97-AF65-F5344CB8AC3E}">
        <p14:creationId xmlns:p14="http://schemas.microsoft.com/office/powerpoint/2010/main" val="899272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EC3F2-3C49-CAC5-A629-8904B9CF0C7C}"/>
            </a:ext>
          </a:extLst>
        </p:cNvPr>
        <p:cNvGrpSpPr/>
        <p:nvPr/>
      </p:nvGrpSpPr>
      <p:grpSpPr>
        <a:xfrm>
          <a:off x="0" y="0"/>
          <a:ext cx="0" cy="0"/>
          <a:chOff x="0" y="0"/>
          <a:chExt cx="0" cy="0"/>
        </a:xfrm>
      </p:grpSpPr>
      <p:sp>
        <p:nvSpPr>
          <p:cNvPr id="8" name="object 2">
            <a:extLst>
              <a:ext uri="{FF2B5EF4-FFF2-40B4-BE49-F238E27FC236}">
                <a16:creationId xmlns:a16="http://schemas.microsoft.com/office/drawing/2014/main" id="{557A4083-5E4B-15E8-6470-154C69804E1E}"/>
              </a:ext>
            </a:extLst>
          </p:cNvPr>
          <p:cNvSpPr txBox="1">
            <a:spLocks/>
          </p:cNvSpPr>
          <p:nvPr/>
        </p:nvSpPr>
        <p:spPr>
          <a:xfrm>
            <a:off x="78130" y="556717"/>
            <a:ext cx="8533765" cy="300355"/>
          </a:xfrm>
          <a:prstGeom prst="rect">
            <a:avLst/>
          </a:prstGeom>
        </p:spPr>
        <p:txBody>
          <a:bodyPr vert="horz" wrap="square" lIns="0" tIns="12700" rIns="0" bIns="0" rtlCol="0" anchor="b">
            <a:noAutofit/>
          </a:bodyPr>
          <a:lstStyle>
            <a:lvl1pPr algn="ctr" defTabSz="914400" rtl="0" eaLnBrk="1" latinLnBrk="0" hangingPunct="1">
              <a:lnSpc>
                <a:spcPct val="80000"/>
              </a:lnSpc>
              <a:spcBef>
                <a:spcPct val="0"/>
              </a:spcBef>
              <a:buNone/>
              <a:defRPr sz="6000" b="0" i="0" kern="1200" spc="-200" baseline="0">
                <a:solidFill>
                  <a:schemeClr val="tx1"/>
                </a:solidFill>
                <a:latin typeface="+mj-lt"/>
                <a:ea typeface="+mj-ea"/>
                <a:cs typeface="+mj-cs"/>
              </a:defRPr>
            </a:lvl1pPr>
          </a:lstStyle>
          <a:p>
            <a:pPr marL="12700">
              <a:lnSpc>
                <a:spcPct val="110000"/>
              </a:lnSpc>
              <a:spcBef>
                <a:spcPts val="0"/>
              </a:spcBef>
              <a:spcAft>
                <a:spcPts val="600"/>
              </a:spcAft>
            </a:pPr>
            <a:r>
              <a:rPr 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rPr>
              <a:t>Write a JAVA program for abstract class to find areas of different shapes</a:t>
            </a:r>
          </a:p>
        </p:txBody>
      </p:sp>
      <p:sp>
        <p:nvSpPr>
          <p:cNvPr id="19" name="object 9">
            <a:extLst>
              <a:ext uri="{FF2B5EF4-FFF2-40B4-BE49-F238E27FC236}">
                <a16:creationId xmlns:a16="http://schemas.microsoft.com/office/drawing/2014/main" id="{D40991BA-FCE7-3FA2-3C74-9CBB81051B29}"/>
              </a:ext>
            </a:extLst>
          </p:cNvPr>
          <p:cNvSpPr txBox="1"/>
          <p:nvPr/>
        </p:nvSpPr>
        <p:spPr>
          <a:xfrm>
            <a:off x="1371600" y="3801923"/>
            <a:ext cx="6410960" cy="2499360"/>
          </a:xfrm>
          <a:prstGeom prst="rect">
            <a:avLst/>
          </a:prstGeom>
        </p:spPr>
        <p:txBody>
          <a:bodyPr vert="horz" wrap="none" lIns="0" tIns="152400" rIns="0" bIns="0" rtlCol="0">
            <a:normAutofit/>
          </a:bodyPr>
          <a:lstStyle/>
          <a:p>
            <a:pPr marL="12700"/>
            <a:r>
              <a:rPr sz="1600" b="1" dirty="0">
                <a:solidFill>
                  <a:srgbClr val="001F5F"/>
                </a:solidFill>
                <a:latin typeface="Courier New"/>
                <a:cs typeface="Courier New"/>
              </a:rPr>
              <a:t>void display() </a:t>
            </a:r>
            <a:r>
              <a:rPr sz="1600" b="1" dirty="0">
                <a:solidFill>
                  <a:srgbClr val="2E7D32"/>
                </a:solidFill>
                <a:latin typeface="Courier New"/>
                <a:cs typeface="Courier New"/>
              </a:rPr>
              <a:t>//</a:t>
            </a:r>
            <a:r>
              <a:rPr sz="1600" b="1" dirty="0">
                <a:solidFill>
                  <a:srgbClr val="C00000"/>
                </a:solidFill>
                <a:latin typeface="Courier New"/>
                <a:cs typeface="Courier New"/>
              </a:rPr>
              <a:t> Implementing the abstract method</a:t>
            </a:r>
            <a:endParaRPr sz="1600" b="1" dirty="0">
              <a:solidFill>
                <a:srgbClr val="001F5F"/>
              </a:solidFill>
              <a:latin typeface="Courier New"/>
              <a:cs typeface="Courier New"/>
            </a:endParaRPr>
          </a:p>
          <a:p>
            <a:pPr marL="109855"/>
            <a:r>
              <a:rPr sz="1600" b="1" dirty="0">
                <a:solidFill>
                  <a:srgbClr val="001F5F"/>
                </a:solidFill>
                <a:latin typeface="Courier New"/>
                <a:cs typeface="Courier New"/>
              </a:rPr>
              <a:t>{</a:t>
            </a:r>
          </a:p>
          <a:p>
            <a:pPr marL="109855" marR="5080"/>
            <a:r>
              <a:rPr sz="1600" b="1" dirty="0">
                <a:solidFill>
                  <a:srgbClr val="001F5F"/>
                </a:solidFill>
                <a:latin typeface="Courier New"/>
                <a:cs typeface="Courier New"/>
              </a:rPr>
              <a:t>double area = 3.14* radius * radius; </a:t>
            </a:r>
            <a:endParaRPr lang="en-IN" sz="1600" b="1" dirty="0">
              <a:solidFill>
                <a:srgbClr val="001F5F"/>
              </a:solidFill>
              <a:latin typeface="Courier New"/>
              <a:cs typeface="Courier New"/>
            </a:endParaRPr>
          </a:p>
          <a:p>
            <a:pPr marL="109855" marR="5080"/>
            <a:r>
              <a:rPr sz="1600" b="1" dirty="0" err="1">
                <a:solidFill>
                  <a:srgbClr val="001F5F"/>
                </a:solidFill>
                <a:latin typeface="Courier New"/>
                <a:cs typeface="Courier New"/>
              </a:rPr>
              <a:t>System.out.println</a:t>
            </a:r>
            <a:r>
              <a:rPr sz="1600" b="1" dirty="0">
                <a:solidFill>
                  <a:srgbClr val="001F5F"/>
                </a:solidFill>
                <a:latin typeface="Courier New"/>
                <a:cs typeface="Courier New"/>
              </a:rPr>
              <a:t>("The area of the circle is: " + area);</a:t>
            </a:r>
          </a:p>
          <a:p>
            <a:pPr marL="109855"/>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sp>
        <p:nvSpPr>
          <p:cNvPr id="22" name="object 11">
            <a:extLst>
              <a:ext uri="{FF2B5EF4-FFF2-40B4-BE49-F238E27FC236}">
                <a16:creationId xmlns:a16="http://schemas.microsoft.com/office/drawing/2014/main" id="{9A82DDA0-1DEC-E00D-024D-BF060C2C8761}"/>
              </a:ext>
            </a:extLst>
          </p:cNvPr>
          <p:cNvSpPr/>
          <p:nvPr/>
        </p:nvSpPr>
        <p:spPr>
          <a:xfrm>
            <a:off x="7885869" y="2982866"/>
            <a:ext cx="734695" cy="3520440"/>
          </a:xfrm>
          <a:custGeom>
            <a:avLst/>
            <a:gdLst/>
            <a:ahLst/>
            <a:cxnLst/>
            <a:rect l="l" t="t" r="r" b="b"/>
            <a:pathLst>
              <a:path w="734695" h="3520440">
                <a:moveTo>
                  <a:pt x="0" y="0"/>
                </a:moveTo>
                <a:lnTo>
                  <a:pt x="74041" y="1269"/>
                </a:lnTo>
                <a:lnTo>
                  <a:pt x="142875" y="4825"/>
                </a:lnTo>
                <a:lnTo>
                  <a:pt x="205359" y="10413"/>
                </a:lnTo>
                <a:lnTo>
                  <a:pt x="259715" y="17906"/>
                </a:lnTo>
                <a:lnTo>
                  <a:pt x="304546" y="27050"/>
                </a:lnTo>
                <a:lnTo>
                  <a:pt x="359791" y="48894"/>
                </a:lnTo>
                <a:lnTo>
                  <a:pt x="367157" y="61213"/>
                </a:lnTo>
                <a:lnTo>
                  <a:pt x="367157" y="1699006"/>
                </a:lnTo>
                <a:lnTo>
                  <a:pt x="374650" y="1711325"/>
                </a:lnTo>
                <a:lnTo>
                  <a:pt x="429895" y="1733169"/>
                </a:lnTo>
                <a:lnTo>
                  <a:pt x="474725" y="1742313"/>
                </a:lnTo>
                <a:lnTo>
                  <a:pt x="529082" y="1749806"/>
                </a:lnTo>
                <a:lnTo>
                  <a:pt x="591566" y="1755394"/>
                </a:lnTo>
                <a:lnTo>
                  <a:pt x="660400" y="1758950"/>
                </a:lnTo>
                <a:lnTo>
                  <a:pt x="734441" y="1760220"/>
                </a:lnTo>
                <a:lnTo>
                  <a:pt x="660400" y="1761489"/>
                </a:lnTo>
                <a:lnTo>
                  <a:pt x="591566" y="1765045"/>
                </a:lnTo>
                <a:lnTo>
                  <a:pt x="529082" y="1770633"/>
                </a:lnTo>
                <a:lnTo>
                  <a:pt x="474725" y="1778127"/>
                </a:lnTo>
                <a:lnTo>
                  <a:pt x="429895" y="1787270"/>
                </a:lnTo>
                <a:lnTo>
                  <a:pt x="374650" y="1809114"/>
                </a:lnTo>
                <a:lnTo>
                  <a:pt x="367157" y="1821433"/>
                </a:lnTo>
                <a:lnTo>
                  <a:pt x="367157" y="3459226"/>
                </a:lnTo>
                <a:lnTo>
                  <a:pt x="359791" y="3471557"/>
                </a:lnTo>
                <a:lnTo>
                  <a:pt x="304546" y="3493452"/>
                </a:lnTo>
                <a:lnTo>
                  <a:pt x="259715" y="3502507"/>
                </a:lnTo>
                <a:lnTo>
                  <a:pt x="205359" y="3509987"/>
                </a:lnTo>
                <a:lnTo>
                  <a:pt x="142875" y="3515626"/>
                </a:lnTo>
                <a:lnTo>
                  <a:pt x="74041" y="3519195"/>
                </a:lnTo>
                <a:lnTo>
                  <a:pt x="0" y="3520440"/>
                </a:lnTo>
              </a:path>
            </a:pathLst>
          </a:custGeom>
          <a:ln w="18288">
            <a:solidFill>
              <a:srgbClr val="FFC000"/>
            </a:solidFill>
          </a:ln>
        </p:spPr>
        <p:txBody>
          <a:bodyPr wrap="square" lIns="0" tIns="0" rIns="0" bIns="0" rtlCol="0"/>
          <a:lstStyle/>
          <a:p>
            <a:endParaRPr b="1"/>
          </a:p>
        </p:txBody>
      </p:sp>
      <p:grpSp>
        <p:nvGrpSpPr>
          <p:cNvPr id="2" name="Group 1">
            <a:extLst>
              <a:ext uri="{FF2B5EF4-FFF2-40B4-BE49-F238E27FC236}">
                <a16:creationId xmlns:a16="http://schemas.microsoft.com/office/drawing/2014/main" id="{7E0FF555-F274-5905-3FFE-BBDE67A4E641}"/>
              </a:ext>
            </a:extLst>
          </p:cNvPr>
          <p:cNvGrpSpPr/>
          <p:nvPr/>
        </p:nvGrpSpPr>
        <p:grpSpPr>
          <a:xfrm>
            <a:off x="1371600" y="1143000"/>
            <a:ext cx="8823514" cy="3648744"/>
            <a:chOff x="2060575" y="1128631"/>
            <a:chExt cx="8823514" cy="3648744"/>
          </a:xfrm>
        </p:grpSpPr>
        <p:sp>
          <p:nvSpPr>
            <p:cNvPr id="13" name="object 3">
              <a:extLst>
                <a:ext uri="{FF2B5EF4-FFF2-40B4-BE49-F238E27FC236}">
                  <a16:creationId xmlns:a16="http://schemas.microsoft.com/office/drawing/2014/main" id="{F3B8C960-44A7-DD92-197D-99F9E10E5FED}"/>
                </a:ext>
              </a:extLst>
            </p:cNvPr>
            <p:cNvSpPr txBox="1"/>
            <p:nvPr/>
          </p:nvSpPr>
          <p:spPr>
            <a:xfrm>
              <a:off x="2060575" y="1128631"/>
              <a:ext cx="2337435" cy="854075"/>
            </a:xfrm>
            <a:prstGeom prst="rect">
              <a:avLst/>
            </a:prstGeom>
          </p:spPr>
          <p:txBody>
            <a:bodyPr vert="horz" wrap="none" lIns="0" tIns="152400" rIns="0" bIns="0" rtlCol="0">
              <a:normAutofit/>
            </a:bodyPr>
            <a:lstStyle/>
            <a:p>
              <a:pPr marL="12700"/>
              <a:r>
                <a:rPr sz="1600" b="1" dirty="0">
                  <a:solidFill>
                    <a:srgbClr val="001F5F"/>
                  </a:solidFill>
                  <a:latin typeface="Courier New"/>
                  <a:cs typeface="Courier New"/>
                </a:rPr>
                <a:t>class Shape</a:t>
              </a:r>
            </a:p>
            <a:p>
              <a:pPr marL="12700"/>
              <a:r>
                <a:rPr sz="1600" b="1" dirty="0">
                  <a:solidFill>
                    <a:srgbClr val="001F5F"/>
                  </a:solidFill>
                  <a:latin typeface="Courier New"/>
                  <a:cs typeface="Courier New"/>
                </a:rPr>
                <a:t>{</a:t>
              </a:r>
            </a:p>
          </p:txBody>
        </p:sp>
        <p:sp>
          <p:nvSpPr>
            <p:cNvPr id="14" name="object 4">
              <a:extLst>
                <a:ext uri="{FF2B5EF4-FFF2-40B4-BE49-F238E27FC236}">
                  <a16:creationId xmlns:a16="http://schemas.microsoft.com/office/drawing/2014/main" id="{E1A70618-2F05-53C4-5C29-49818DE581F4}"/>
                </a:ext>
              </a:extLst>
            </p:cNvPr>
            <p:cNvSpPr txBox="1"/>
            <p:nvPr/>
          </p:nvSpPr>
          <p:spPr>
            <a:xfrm>
              <a:off x="4695190" y="1268044"/>
              <a:ext cx="2545715" cy="300355"/>
            </a:xfrm>
            <a:prstGeom prst="rect">
              <a:avLst/>
            </a:prstGeom>
          </p:spPr>
          <p:txBody>
            <a:bodyPr vert="horz" wrap="none" lIns="0" tIns="12700" rIns="0" bIns="0" rtlCol="0">
              <a:normAutofit/>
            </a:bodyPr>
            <a:lstStyle/>
            <a:p>
              <a:pPr marL="12700"/>
              <a:r>
                <a:rPr sz="1600" b="1" dirty="0">
                  <a:solidFill>
                    <a:srgbClr val="2E7D32"/>
                  </a:solidFill>
                  <a:latin typeface="Courier New"/>
                  <a:cs typeface="Courier New"/>
                </a:rPr>
                <a:t>//</a:t>
              </a:r>
              <a:r>
                <a:rPr sz="1600" b="1" dirty="0">
                  <a:solidFill>
                    <a:srgbClr val="C00000"/>
                  </a:solidFill>
                  <a:latin typeface="Courier New"/>
                  <a:cs typeface="Courier New"/>
                </a:rPr>
                <a:t> Abstract base class</a:t>
              </a:r>
              <a:endParaRPr sz="1600" b="1">
                <a:solidFill>
                  <a:srgbClr val="001F5F"/>
                </a:solidFill>
                <a:latin typeface="Courier New"/>
                <a:cs typeface="Courier New"/>
              </a:endParaRPr>
            </a:p>
          </p:txBody>
        </p:sp>
        <p:sp>
          <p:nvSpPr>
            <p:cNvPr id="15" name="object 5">
              <a:extLst>
                <a:ext uri="{FF2B5EF4-FFF2-40B4-BE49-F238E27FC236}">
                  <a16:creationId xmlns:a16="http://schemas.microsoft.com/office/drawing/2014/main" id="{CD94BF31-10DB-6717-F164-16B20973B7B5}"/>
                </a:ext>
              </a:extLst>
            </p:cNvPr>
            <p:cNvSpPr txBox="1"/>
            <p:nvPr/>
          </p:nvSpPr>
          <p:spPr>
            <a:xfrm>
              <a:off x="2158110" y="2092197"/>
              <a:ext cx="2596515" cy="299720"/>
            </a:xfrm>
            <a:prstGeom prst="rect">
              <a:avLst/>
            </a:prstGeom>
          </p:spPr>
          <p:txBody>
            <a:bodyPr vert="horz" wrap="none" lIns="0" tIns="12700" rIns="0" bIns="0" rtlCol="0">
              <a:normAutofit/>
            </a:bodyPr>
            <a:lstStyle/>
            <a:p>
              <a:pPr marL="12700"/>
              <a:r>
                <a:rPr sz="1600" b="1" dirty="0">
                  <a:solidFill>
                    <a:srgbClr val="001F5F"/>
                  </a:solidFill>
                  <a:latin typeface="Courier New"/>
                  <a:cs typeface="Courier New"/>
                </a:rPr>
                <a:t>void display();</a:t>
              </a:r>
            </a:p>
          </p:txBody>
        </p:sp>
        <p:sp>
          <p:nvSpPr>
            <p:cNvPr id="16" name="object 6">
              <a:extLst>
                <a:ext uri="{FF2B5EF4-FFF2-40B4-BE49-F238E27FC236}">
                  <a16:creationId xmlns:a16="http://schemas.microsoft.com/office/drawing/2014/main" id="{6CFFD397-D6A3-F788-7B02-3D4B8BF66015}"/>
                </a:ext>
              </a:extLst>
            </p:cNvPr>
            <p:cNvSpPr txBox="1"/>
            <p:nvPr/>
          </p:nvSpPr>
          <p:spPr>
            <a:xfrm>
              <a:off x="5436234" y="2092197"/>
              <a:ext cx="2226945" cy="299720"/>
            </a:xfrm>
            <a:prstGeom prst="rect">
              <a:avLst/>
            </a:prstGeom>
          </p:spPr>
          <p:txBody>
            <a:bodyPr vert="horz" wrap="none" lIns="0" tIns="12700" rIns="0" bIns="0" rtlCol="0">
              <a:normAutofit/>
            </a:bodyPr>
            <a:lstStyle/>
            <a:p>
              <a:pPr marL="12700"/>
              <a:r>
                <a:rPr sz="1600" b="1" dirty="0">
                  <a:solidFill>
                    <a:srgbClr val="2E7D32"/>
                  </a:solidFill>
                  <a:latin typeface="Courier New"/>
                  <a:cs typeface="Courier New"/>
                </a:rPr>
                <a:t>//</a:t>
              </a:r>
              <a:r>
                <a:rPr sz="1600" b="1" dirty="0">
                  <a:solidFill>
                    <a:srgbClr val="C00000"/>
                  </a:solidFill>
                  <a:latin typeface="Courier New"/>
                  <a:cs typeface="Courier New"/>
                </a:rPr>
                <a:t> Abstract method</a:t>
              </a:r>
              <a:endParaRPr sz="1600" b="1">
                <a:solidFill>
                  <a:srgbClr val="001F5F"/>
                </a:solidFill>
                <a:latin typeface="Courier New"/>
                <a:cs typeface="Courier New"/>
              </a:endParaRPr>
            </a:p>
          </p:txBody>
        </p:sp>
        <p:sp>
          <p:nvSpPr>
            <p:cNvPr id="17" name="object 7">
              <a:extLst>
                <a:ext uri="{FF2B5EF4-FFF2-40B4-BE49-F238E27FC236}">
                  <a16:creationId xmlns:a16="http://schemas.microsoft.com/office/drawing/2014/main" id="{5CD62247-B047-AC02-D4A5-31F8A61DE841}"/>
                </a:ext>
              </a:extLst>
            </p:cNvPr>
            <p:cNvSpPr txBox="1"/>
            <p:nvPr/>
          </p:nvSpPr>
          <p:spPr>
            <a:xfrm>
              <a:off x="5338698" y="2915792"/>
              <a:ext cx="2976245" cy="299720"/>
            </a:xfrm>
            <a:prstGeom prst="rect">
              <a:avLst/>
            </a:prstGeom>
          </p:spPr>
          <p:txBody>
            <a:bodyPr vert="horz" wrap="none" lIns="0" tIns="12700" rIns="0" bIns="0" rtlCol="0">
              <a:normAutofit/>
            </a:bodyPr>
            <a:lstStyle/>
            <a:p>
              <a:pPr marL="12700"/>
              <a:r>
                <a:rPr sz="1600" b="1" dirty="0">
                  <a:solidFill>
                    <a:srgbClr val="2E7D32"/>
                  </a:solidFill>
                  <a:latin typeface="Courier New"/>
                  <a:cs typeface="Courier New"/>
                </a:rPr>
                <a:t>//</a:t>
              </a:r>
              <a:r>
                <a:rPr sz="1600" b="1" dirty="0">
                  <a:solidFill>
                    <a:srgbClr val="C00000"/>
                  </a:solidFill>
                  <a:latin typeface="Courier New"/>
                  <a:cs typeface="Courier New"/>
                </a:rPr>
                <a:t> Derived class for Circle</a:t>
              </a:r>
              <a:endParaRPr sz="1600" b="1">
                <a:solidFill>
                  <a:srgbClr val="001F5F"/>
                </a:solidFill>
                <a:latin typeface="Courier New"/>
                <a:cs typeface="Courier New"/>
              </a:endParaRPr>
            </a:p>
          </p:txBody>
        </p:sp>
        <p:sp>
          <p:nvSpPr>
            <p:cNvPr id="18" name="object 8">
              <a:extLst>
                <a:ext uri="{FF2B5EF4-FFF2-40B4-BE49-F238E27FC236}">
                  <a16:creationId xmlns:a16="http://schemas.microsoft.com/office/drawing/2014/main" id="{9F503792-23B6-D54D-2480-FCCCA0D175E3}"/>
                </a:ext>
              </a:extLst>
            </p:cNvPr>
            <p:cNvSpPr txBox="1"/>
            <p:nvPr/>
          </p:nvSpPr>
          <p:spPr>
            <a:xfrm>
              <a:off x="2060575" y="2363089"/>
              <a:ext cx="2970530" cy="1684655"/>
            </a:xfrm>
            <a:prstGeom prst="rect">
              <a:avLst/>
            </a:prstGeom>
          </p:spPr>
          <p:txBody>
            <a:bodyPr vert="horz" wrap="none" lIns="0" tIns="153035" rIns="0" bIns="0" rtlCol="0">
              <a:normAutofit/>
            </a:bodyPr>
            <a:lstStyle/>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class Circle extends Shape</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double radius=2.25;</a:t>
              </a:r>
            </a:p>
          </p:txBody>
        </p:sp>
        <p:sp>
          <p:nvSpPr>
            <p:cNvPr id="21" name="object 10">
              <a:extLst>
                <a:ext uri="{FF2B5EF4-FFF2-40B4-BE49-F238E27FC236}">
                  <a16:creationId xmlns:a16="http://schemas.microsoft.com/office/drawing/2014/main" id="{5D182837-7081-47BE-8F92-7E33E6F3C2D5}"/>
                </a:ext>
              </a:extLst>
            </p:cNvPr>
            <p:cNvSpPr/>
            <p:nvPr/>
          </p:nvSpPr>
          <p:spPr>
            <a:xfrm>
              <a:off x="7552943" y="1185672"/>
              <a:ext cx="502920" cy="1542415"/>
            </a:xfrm>
            <a:custGeom>
              <a:avLst/>
              <a:gdLst/>
              <a:ahLst/>
              <a:cxnLst/>
              <a:rect l="l" t="t" r="r" b="b"/>
              <a:pathLst>
                <a:path w="502920" h="1542414">
                  <a:moveTo>
                    <a:pt x="0" y="0"/>
                  </a:moveTo>
                  <a:lnTo>
                    <a:pt x="79501" y="2158"/>
                  </a:lnTo>
                  <a:lnTo>
                    <a:pt x="148589" y="8127"/>
                  </a:lnTo>
                  <a:lnTo>
                    <a:pt x="202946" y="17144"/>
                  </a:lnTo>
                  <a:lnTo>
                    <a:pt x="251459" y="41910"/>
                  </a:lnTo>
                  <a:lnTo>
                    <a:pt x="251459" y="729233"/>
                  </a:lnTo>
                  <a:lnTo>
                    <a:pt x="264286" y="742441"/>
                  </a:lnTo>
                  <a:lnTo>
                    <a:pt x="299974" y="753872"/>
                  </a:lnTo>
                  <a:lnTo>
                    <a:pt x="354329" y="763015"/>
                  </a:lnTo>
                  <a:lnTo>
                    <a:pt x="423417" y="768985"/>
                  </a:lnTo>
                  <a:lnTo>
                    <a:pt x="502920" y="771016"/>
                  </a:lnTo>
                  <a:lnTo>
                    <a:pt x="423417" y="773176"/>
                  </a:lnTo>
                  <a:lnTo>
                    <a:pt x="354329" y="779144"/>
                  </a:lnTo>
                  <a:lnTo>
                    <a:pt x="299974" y="788288"/>
                  </a:lnTo>
                  <a:lnTo>
                    <a:pt x="264286" y="799718"/>
                  </a:lnTo>
                  <a:lnTo>
                    <a:pt x="251459" y="812926"/>
                  </a:lnTo>
                  <a:lnTo>
                    <a:pt x="251459" y="1500251"/>
                  </a:lnTo>
                  <a:lnTo>
                    <a:pt x="238632" y="1513458"/>
                  </a:lnTo>
                  <a:lnTo>
                    <a:pt x="202946" y="1525015"/>
                  </a:lnTo>
                  <a:lnTo>
                    <a:pt x="148589" y="1534032"/>
                  </a:lnTo>
                  <a:lnTo>
                    <a:pt x="79501" y="1540002"/>
                  </a:lnTo>
                  <a:lnTo>
                    <a:pt x="0" y="1542161"/>
                  </a:lnTo>
                </a:path>
              </a:pathLst>
            </a:custGeom>
            <a:ln w="18288">
              <a:solidFill>
                <a:srgbClr val="FFC000"/>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23" name="object 12">
              <a:extLst>
                <a:ext uri="{FF2B5EF4-FFF2-40B4-BE49-F238E27FC236}">
                  <a16:creationId xmlns:a16="http://schemas.microsoft.com/office/drawing/2014/main" id="{FC21E3E7-B0DB-B754-978E-58418B5A14B5}"/>
                </a:ext>
              </a:extLst>
            </p:cNvPr>
            <p:cNvSpPr txBox="1"/>
            <p:nvPr/>
          </p:nvSpPr>
          <p:spPr>
            <a:xfrm>
              <a:off x="8223631" y="1901393"/>
              <a:ext cx="1621790" cy="300355"/>
            </a:xfrm>
            <a:prstGeom prst="rect">
              <a:avLst/>
            </a:prstGeom>
          </p:spPr>
          <p:txBody>
            <a:bodyPr vert="horz" wrap="square" lIns="0" tIns="12700" rIns="0" bIns="0" rtlCol="0">
              <a:normAutofit fontScale="92500" lnSpcReduction="20000"/>
            </a:bodyPr>
            <a:lstStyle/>
            <a:p>
              <a:pPr marL="12700">
                <a:lnSpc>
                  <a:spcPct val="110000"/>
                </a:lnSpc>
                <a:spcBef>
                  <a:spcPts val="0"/>
                </a:spcBef>
                <a:spcAft>
                  <a:spcPts val="600"/>
                </a:spcAft>
              </a:pPr>
              <a:r>
                <a:rPr sz="2000" b="1" dirty="0">
                  <a:solidFill>
                    <a:srgbClr val="001F5F"/>
                  </a:solidFill>
                  <a:latin typeface="Calibri"/>
                  <a:cs typeface="Calibri"/>
                </a:rPr>
                <a:t>Abstract class</a:t>
              </a:r>
              <a:endParaRPr sz="2000" b="1">
                <a:solidFill>
                  <a:srgbClr val="001F5F"/>
                </a:solidFill>
                <a:latin typeface="Calibri"/>
                <a:cs typeface="Calibri"/>
              </a:endParaRPr>
            </a:p>
          </p:txBody>
        </p:sp>
        <p:sp>
          <p:nvSpPr>
            <p:cNvPr id="24" name="object 13">
              <a:extLst>
                <a:ext uri="{FF2B5EF4-FFF2-40B4-BE49-F238E27FC236}">
                  <a16:creationId xmlns:a16="http://schemas.microsoft.com/office/drawing/2014/main" id="{6A3C7C80-1536-907A-0659-2F979A3A6343}"/>
                </a:ext>
              </a:extLst>
            </p:cNvPr>
            <p:cNvSpPr txBox="1"/>
            <p:nvPr/>
          </p:nvSpPr>
          <p:spPr>
            <a:xfrm>
              <a:off x="9295954" y="4477655"/>
              <a:ext cx="1588135" cy="299720"/>
            </a:xfrm>
            <a:prstGeom prst="rect">
              <a:avLst/>
            </a:prstGeom>
          </p:spPr>
          <p:txBody>
            <a:bodyPr vert="horz" wrap="square" lIns="0" tIns="12700" rIns="0" bIns="0" rtlCol="0">
              <a:normAutofit fontScale="92500" lnSpcReduction="20000"/>
            </a:bodyPr>
            <a:lstStyle/>
            <a:p>
              <a:pPr marL="12700">
                <a:lnSpc>
                  <a:spcPct val="110000"/>
                </a:lnSpc>
                <a:spcBef>
                  <a:spcPts val="0"/>
                </a:spcBef>
                <a:spcAft>
                  <a:spcPts val="600"/>
                </a:spcAft>
              </a:pPr>
              <a:r>
                <a:rPr sz="2000" b="1" dirty="0">
                  <a:solidFill>
                    <a:srgbClr val="001F5F"/>
                  </a:solidFill>
                  <a:latin typeface="Calibri"/>
                  <a:cs typeface="Calibri"/>
                </a:rPr>
                <a:t>concrete class</a:t>
              </a:r>
            </a:p>
          </p:txBody>
        </p:sp>
      </p:grpSp>
    </p:spTree>
    <p:extLst>
      <p:ext uri="{BB962C8B-B14F-4D97-AF65-F5344CB8AC3E}">
        <p14:creationId xmlns:p14="http://schemas.microsoft.com/office/powerpoint/2010/main" val="4069234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EE369-CD62-98BF-BA1F-1E2A3EA4783E}"/>
            </a:ext>
          </a:extLst>
        </p:cNvPr>
        <p:cNvGrpSpPr/>
        <p:nvPr/>
      </p:nvGrpSpPr>
      <p:grpSpPr>
        <a:xfrm>
          <a:off x="0" y="0"/>
          <a:ext cx="0" cy="0"/>
          <a:chOff x="0" y="0"/>
          <a:chExt cx="0" cy="0"/>
        </a:xfrm>
      </p:grpSpPr>
      <p:sp>
        <p:nvSpPr>
          <p:cNvPr id="8" name="object 2">
            <a:extLst>
              <a:ext uri="{FF2B5EF4-FFF2-40B4-BE49-F238E27FC236}">
                <a16:creationId xmlns:a16="http://schemas.microsoft.com/office/drawing/2014/main" id="{592DA9B2-35CA-E602-38A6-606676B3211B}"/>
              </a:ext>
            </a:extLst>
          </p:cNvPr>
          <p:cNvSpPr txBox="1">
            <a:spLocks/>
          </p:cNvSpPr>
          <p:nvPr/>
        </p:nvSpPr>
        <p:spPr>
          <a:xfrm>
            <a:off x="78130" y="556717"/>
            <a:ext cx="8533765" cy="300355"/>
          </a:xfrm>
          <a:prstGeom prst="rect">
            <a:avLst/>
          </a:prstGeom>
        </p:spPr>
        <p:txBody>
          <a:bodyPr vert="horz" wrap="square" lIns="0" tIns="12700" rIns="0" bIns="0" rtlCol="0" anchor="b">
            <a:normAutofit fontScale="92500" lnSpcReduction="20000"/>
          </a:bodyPr>
          <a:lstStyle>
            <a:lvl1pPr algn="ctr" defTabSz="914400" rtl="0" eaLnBrk="1" latinLnBrk="0" hangingPunct="1">
              <a:lnSpc>
                <a:spcPct val="80000"/>
              </a:lnSpc>
              <a:spcBef>
                <a:spcPct val="0"/>
              </a:spcBef>
              <a:buNone/>
              <a:defRPr sz="6000" b="0" i="0" kern="1200" spc="-200" baseline="0">
                <a:solidFill>
                  <a:schemeClr val="tx1"/>
                </a:solidFill>
                <a:latin typeface="+mj-lt"/>
                <a:ea typeface="+mj-ea"/>
                <a:cs typeface="+mj-cs"/>
              </a:defRPr>
            </a:lvl1pPr>
          </a:lstStyle>
          <a:p>
            <a:pPr marL="12700">
              <a:lnSpc>
                <a:spcPct val="110000"/>
              </a:lnSpc>
              <a:spcBef>
                <a:spcPts val="0"/>
              </a:spcBef>
              <a:spcAft>
                <a:spcPts val="600"/>
              </a:spcAft>
            </a:pPr>
            <a:r>
              <a:rPr lang="en-US" sz="2000" b="1" dirty="0">
                <a:solidFill>
                  <a:srgbClr val="C00000"/>
                </a:solidFill>
                <a:latin typeface="Calibri"/>
                <a:cs typeface="Calibri"/>
              </a:rPr>
              <a:t>Write a JAVA program for abstract class to find areas of different shapes</a:t>
            </a:r>
          </a:p>
        </p:txBody>
      </p:sp>
      <p:sp>
        <p:nvSpPr>
          <p:cNvPr id="13" name="object 3">
            <a:extLst>
              <a:ext uri="{FF2B5EF4-FFF2-40B4-BE49-F238E27FC236}">
                <a16:creationId xmlns:a16="http://schemas.microsoft.com/office/drawing/2014/main" id="{D24A4113-F51C-1556-3C21-5E84828EB07C}"/>
              </a:ext>
            </a:extLst>
          </p:cNvPr>
          <p:cNvSpPr txBox="1"/>
          <p:nvPr/>
        </p:nvSpPr>
        <p:spPr>
          <a:xfrm>
            <a:off x="2060575" y="1128631"/>
            <a:ext cx="2337435" cy="854075"/>
          </a:xfrm>
          <a:prstGeom prst="rect">
            <a:avLst/>
          </a:prstGeom>
        </p:spPr>
        <p:txBody>
          <a:bodyPr vert="horz" wrap="none" lIns="0" tIns="152400" rIns="0" bIns="0" rtlCol="0">
            <a:normAutofit/>
          </a:bodyPr>
          <a:lstStyle/>
          <a:p>
            <a:pPr marL="12700"/>
            <a:r>
              <a:rPr sz="1600" b="1" dirty="0">
                <a:solidFill>
                  <a:srgbClr val="001F5F"/>
                </a:solidFill>
                <a:latin typeface="Courier New"/>
                <a:cs typeface="Courier New"/>
              </a:rPr>
              <a:t>class Shape</a:t>
            </a:r>
          </a:p>
          <a:p>
            <a:pPr marL="12700"/>
            <a:r>
              <a:rPr sz="1600" b="1" dirty="0">
                <a:solidFill>
                  <a:srgbClr val="001F5F"/>
                </a:solidFill>
                <a:latin typeface="Courier New"/>
                <a:cs typeface="Courier New"/>
              </a:rPr>
              <a:t>{</a:t>
            </a:r>
          </a:p>
        </p:txBody>
      </p:sp>
      <p:sp>
        <p:nvSpPr>
          <p:cNvPr id="14" name="object 4">
            <a:extLst>
              <a:ext uri="{FF2B5EF4-FFF2-40B4-BE49-F238E27FC236}">
                <a16:creationId xmlns:a16="http://schemas.microsoft.com/office/drawing/2014/main" id="{85EF50FB-B8F5-B398-FE26-07C7A89C6C86}"/>
              </a:ext>
            </a:extLst>
          </p:cNvPr>
          <p:cNvSpPr txBox="1"/>
          <p:nvPr/>
        </p:nvSpPr>
        <p:spPr>
          <a:xfrm>
            <a:off x="4695190" y="1268044"/>
            <a:ext cx="2545715" cy="300355"/>
          </a:xfrm>
          <a:prstGeom prst="rect">
            <a:avLst/>
          </a:prstGeom>
        </p:spPr>
        <p:txBody>
          <a:bodyPr vert="horz" wrap="none" lIns="0" tIns="12700" rIns="0" bIns="0" rtlCol="0">
            <a:normAutofit/>
          </a:bodyPr>
          <a:lstStyle/>
          <a:p>
            <a:pPr marL="12700"/>
            <a:r>
              <a:rPr sz="1600" b="1" dirty="0">
                <a:solidFill>
                  <a:srgbClr val="2E7D32"/>
                </a:solidFill>
                <a:latin typeface="Courier New"/>
                <a:cs typeface="Courier New"/>
              </a:rPr>
              <a:t>//</a:t>
            </a:r>
            <a:r>
              <a:rPr sz="1600" b="1" dirty="0">
                <a:solidFill>
                  <a:srgbClr val="C00000"/>
                </a:solidFill>
                <a:latin typeface="Courier New"/>
                <a:cs typeface="Courier New"/>
              </a:rPr>
              <a:t> Abstract base class</a:t>
            </a:r>
            <a:endParaRPr sz="1600" b="1">
              <a:solidFill>
                <a:srgbClr val="001F5F"/>
              </a:solidFill>
              <a:latin typeface="Courier New"/>
              <a:cs typeface="Courier New"/>
            </a:endParaRPr>
          </a:p>
        </p:txBody>
      </p:sp>
      <p:sp>
        <p:nvSpPr>
          <p:cNvPr id="15" name="object 5">
            <a:extLst>
              <a:ext uri="{FF2B5EF4-FFF2-40B4-BE49-F238E27FC236}">
                <a16:creationId xmlns:a16="http://schemas.microsoft.com/office/drawing/2014/main" id="{817C884B-AE05-F263-EB19-16DD5ECAB517}"/>
              </a:ext>
            </a:extLst>
          </p:cNvPr>
          <p:cNvSpPr txBox="1"/>
          <p:nvPr/>
        </p:nvSpPr>
        <p:spPr>
          <a:xfrm>
            <a:off x="2158110" y="2092197"/>
            <a:ext cx="2596515" cy="299720"/>
          </a:xfrm>
          <a:prstGeom prst="rect">
            <a:avLst/>
          </a:prstGeom>
        </p:spPr>
        <p:txBody>
          <a:bodyPr vert="horz" wrap="none" lIns="0" tIns="12700" rIns="0" bIns="0" rtlCol="0">
            <a:normAutofit/>
          </a:bodyPr>
          <a:lstStyle/>
          <a:p>
            <a:pPr marL="12700"/>
            <a:r>
              <a:rPr sz="1600" b="1" dirty="0">
                <a:solidFill>
                  <a:srgbClr val="001F5F"/>
                </a:solidFill>
                <a:latin typeface="Courier New"/>
                <a:cs typeface="Courier New"/>
              </a:rPr>
              <a:t>void display();</a:t>
            </a:r>
          </a:p>
        </p:txBody>
      </p:sp>
      <p:sp>
        <p:nvSpPr>
          <p:cNvPr id="16" name="object 6">
            <a:extLst>
              <a:ext uri="{FF2B5EF4-FFF2-40B4-BE49-F238E27FC236}">
                <a16:creationId xmlns:a16="http://schemas.microsoft.com/office/drawing/2014/main" id="{63167CCD-AB15-6C05-7806-34C2C8295617}"/>
              </a:ext>
            </a:extLst>
          </p:cNvPr>
          <p:cNvSpPr txBox="1"/>
          <p:nvPr/>
        </p:nvSpPr>
        <p:spPr>
          <a:xfrm>
            <a:off x="5436234" y="2092197"/>
            <a:ext cx="2226945" cy="299720"/>
          </a:xfrm>
          <a:prstGeom prst="rect">
            <a:avLst/>
          </a:prstGeom>
        </p:spPr>
        <p:txBody>
          <a:bodyPr vert="horz" wrap="none" lIns="0" tIns="12700" rIns="0" bIns="0" rtlCol="0">
            <a:normAutofit/>
          </a:bodyPr>
          <a:lstStyle/>
          <a:p>
            <a:pPr marL="12700"/>
            <a:r>
              <a:rPr sz="1600" b="1" dirty="0">
                <a:solidFill>
                  <a:srgbClr val="2E7D32"/>
                </a:solidFill>
                <a:latin typeface="Courier New"/>
                <a:cs typeface="Courier New"/>
              </a:rPr>
              <a:t>//</a:t>
            </a:r>
            <a:r>
              <a:rPr sz="1600" b="1" dirty="0">
                <a:solidFill>
                  <a:srgbClr val="C00000"/>
                </a:solidFill>
                <a:latin typeface="Courier New"/>
                <a:cs typeface="Courier New"/>
              </a:rPr>
              <a:t> Abstract method</a:t>
            </a:r>
            <a:endParaRPr sz="1600" b="1">
              <a:solidFill>
                <a:srgbClr val="001F5F"/>
              </a:solidFill>
              <a:latin typeface="Courier New"/>
              <a:cs typeface="Courier New"/>
            </a:endParaRPr>
          </a:p>
        </p:txBody>
      </p:sp>
      <p:sp>
        <p:nvSpPr>
          <p:cNvPr id="17" name="object 7">
            <a:extLst>
              <a:ext uri="{FF2B5EF4-FFF2-40B4-BE49-F238E27FC236}">
                <a16:creationId xmlns:a16="http://schemas.microsoft.com/office/drawing/2014/main" id="{1E37DA6E-871A-AAD8-6CA7-B936D08A56F8}"/>
              </a:ext>
            </a:extLst>
          </p:cNvPr>
          <p:cNvSpPr txBox="1"/>
          <p:nvPr/>
        </p:nvSpPr>
        <p:spPr>
          <a:xfrm>
            <a:off x="5338698" y="2915792"/>
            <a:ext cx="2976245" cy="299720"/>
          </a:xfrm>
          <a:prstGeom prst="rect">
            <a:avLst/>
          </a:prstGeom>
        </p:spPr>
        <p:txBody>
          <a:bodyPr vert="horz" wrap="none" lIns="0" tIns="12700" rIns="0" bIns="0" rtlCol="0">
            <a:normAutofit/>
          </a:bodyPr>
          <a:lstStyle/>
          <a:p>
            <a:pPr marL="12700"/>
            <a:r>
              <a:rPr sz="1600" b="1" dirty="0">
                <a:solidFill>
                  <a:srgbClr val="2E7D32"/>
                </a:solidFill>
                <a:latin typeface="Courier New"/>
                <a:cs typeface="Courier New"/>
              </a:rPr>
              <a:t>//</a:t>
            </a:r>
            <a:r>
              <a:rPr sz="1600" b="1" dirty="0">
                <a:solidFill>
                  <a:srgbClr val="C00000"/>
                </a:solidFill>
                <a:latin typeface="Courier New"/>
                <a:cs typeface="Courier New"/>
              </a:rPr>
              <a:t> Derived class for Circle</a:t>
            </a:r>
            <a:endParaRPr sz="1600" b="1">
              <a:solidFill>
                <a:srgbClr val="001F5F"/>
              </a:solidFill>
              <a:latin typeface="Courier New"/>
              <a:cs typeface="Courier New"/>
            </a:endParaRPr>
          </a:p>
        </p:txBody>
      </p:sp>
      <p:sp>
        <p:nvSpPr>
          <p:cNvPr id="18" name="object 8">
            <a:extLst>
              <a:ext uri="{FF2B5EF4-FFF2-40B4-BE49-F238E27FC236}">
                <a16:creationId xmlns:a16="http://schemas.microsoft.com/office/drawing/2014/main" id="{177464F9-BDC3-73B2-656C-390111CC5C69}"/>
              </a:ext>
            </a:extLst>
          </p:cNvPr>
          <p:cNvSpPr txBox="1"/>
          <p:nvPr/>
        </p:nvSpPr>
        <p:spPr>
          <a:xfrm>
            <a:off x="2060575" y="2363089"/>
            <a:ext cx="2970530" cy="1684655"/>
          </a:xfrm>
          <a:prstGeom prst="rect">
            <a:avLst/>
          </a:prstGeom>
        </p:spPr>
        <p:txBody>
          <a:bodyPr vert="horz" wrap="none" lIns="0" tIns="153035" rIns="0" bIns="0" rtlCol="0">
            <a:normAutofit/>
          </a:bodyPr>
          <a:lstStyle/>
          <a:p>
            <a:pPr marL="12700"/>
            <a:r>
              <a:rPr sz="1600" b="1" dirty="0">
                <a:solidFill>
                  <a:srgbClr val="001F5F"/>
                </a:solidFill>
                <a:latin typeface="Courier New"/>
                <a:cs typeface="Courier New"/>
              </a:rPr>
              <a:t>}</a:t>
            </a:r>
            <a:endParaRPr sz="1600" b="1">
              <a:solidFill>
                <a:srgbClr val="001F5F"/>
              </a:solidFill>
              <a:latin typeface="Courier New"/>
              <a:cs typeface="Courier New"/>
            </a:endParaRPr>
          </a:p>
          <a:p>
            <a:pPr marL="12700"/>
            <a:r>
              <a:rPr sz="1600" b="1" dirty="0">
                <a:solidFill>
                  <a:srgbClr val="001F5F"/>
                </a:solidFill>
                <a:latin typeface="Courier New"/>
                <a:cs typeface="Courier New"/>
              </a:rPr>
              <a:t>class Circle extends Shape</a:t>
            </a:r>
            <a:endParaRPr sz="1600" b="1">
              <a:solidFill>
                <a:srgbClr val="001F5F"/>
              </a:solidFill>
              <a:latin typeface="Courier New"/>
              <a:cs typeface="Courier New"/>
            </a:endParaRPr>
          </a:p>
          <a:p>
            <a:pPr marL="12700"/>
            <a:r>
              <a:rPr sz="1600" b="1" dirty="0">
                <a:solidFill>
                  <a:srgbClr val="001F5F"/>
                </a:solidFill>
                <a:latin typeface="Courier New"/>
                <a:cs typeface="Courier New"/>
              </a:rPr>
              <a:t>{</a:t>
            </a:r>
            <a:endParaRPr sz="1600" b="1">
              <a:solidFill>
                <a:srgbClr val="001F5F"/>
              </a:solidFill>
              <a:latin typeface="Courier New"/>
              <a:cs typeface="Courier New"/>
            </a:endParaRPr>
          </a:p>
          <a:p>
            <a:pPr marL="12700"/>
            <a:r>
              <a:rPr sz="1600" b="1" dirty="0">
                <a:solidFill>
                  <a:srgbClr val="001F5F"/>
                </a:solidFill>
                <a:latin typeface="Courier New"/>
                <a:cs typeface="Courier New"/>
              </a:rPr>
              <a:t>double radius=2.25;</a:t>
            </a:r>
            <a:endParaRPr sz="1600" b="1">
              <a:solidFill>
                <a:srgbClr val="001F5F"/>
              </a:solidFill>
              <a:latin typeface="Courier New"/>
              <a:cs typeface="Courier New"/>
            </a:endParaRPr>
          </a:p>
        </p:txBody>
      </p:sp>
      <p:sp>
        <p:nvSpPr>
          <p:cNvPr id="19" name="object 9">
            <a:extLst>
              <a:ext uri="{FF2B5EF4-FFF2-40B4-BE49-F238E27FC236}">
                <a16:creationId xmlns:a16="http://schemas.microsoft.com/office/drawing/2014/main" id="{D30C4657-234B-2920-7CD0-05D14896333E}"/>
              </a:ext>
            </a:extLst>
          </p:cNvPr>
          <p:cNvSpPr txBox="1"/>
          <p:nvPr/>
        </p:nvSpPr>
        <p:spPr>
          <a:xfrm>
            <a:off x="2060575" y="4011405"/>
            <a:ext cx="6410960" cy="2499360"/>
          </a:xfrm>
          <a:prstGeom prst="rect">
            <a:avLst/>
          </a:prstGeom>
        </p:spPr>
        <p:txBody>
          <a:bodyPr vert="horz" wrap="none" lIns="0" tIns="152400" rIns="0" bIns="0" rtlCol="0">
            <a:normAutofit/>
          </a:bodyPr>
          <a:lstStyle/>
          <a:p>
            <a:pPr marL="12700"/>
            <a:r>
              <a:rPr sz="1600" b="1" dirty="0">
                <a:solidFill>
                  <a:srgbClr val="001F5F"/>
                </a:solidFill>
                <a:latin typeface="Courier New"/>
                <a:cs typeface="Courier New"/>
              </a:rPr>
              <a:t>void display() </a:t>
            </a:r>
            <a:r>
              <a:rPr sz="1600" b="1" dirty="0">
                <a:solidFill>
                  <a:srgbClr val="2E7D32"/>
                </a:solidFill>
                <a:latin typeface="Courier New"/>
                <a:cs typeface="Courier New"/>
              </a:rPr>
              <a:t>//</a:t>
            </a:r>
            <a:r>
              <a:rPr sz="1600" b="1" dirty="0">
                <a:solidFill>
                  <a:srgbClr val="C00000"/>
                </a:solidFill>
                <a:latin typeface="Courier New"/>
                <a:cs typeface="Courier New"/>
              </a:rPr>
              <a:t> Implementing the abstract method</a:t>
            </a:r>
            <a:endParaRPr sz="1600" b="1" dirty="0">
              <a:solidFill>
                <a:srgbClr val="001F5F"/>
              </a:solidFill>
              <a:latin typeface="Courier New"/>
              <a:cs typeface="Courier New"/>
            </a:endParaRPr>
          </a:p>
          <a:p>
            <a:pPr marL="109855"/>
            <a:r>
              <a:rPr sz="1600" b="1" dirty="0">
                <a:solidFill>
                  <a:srgbClr val="001F5F"/>
                </a:solidFill>
                <a:latin typeface="Courier New"/>
                <a:cs typeface="Courier New"/>
              </a:rPr>
              <a:t>{</a:t>
            </a:r>
          </a:p>
          <a:p>
            <a:pPr marL="109855" marR="5080"/>
            <a:r>
              <a:rPr sz="1600" b="1" dirty="0">
                <a:solidFill>
                  <a:srgbClr val="001F5F"/>
                </a:solidFill>
                <a:latin typeface="Courier New"/>
                <a:cs typeface="Courier New"/>
              </a:rPr>
              <a:t>double area = 3.14* radius * radius; </a:t>
            </a:r>
            <a:endParaRPr lang="en-IN" sz="1600" b="1" dirty="0">
              <a:solidFill>
                <a:srgbClr val="001F5F"/>
              </a:solidFill>
              <a:latin typeface="Courier New"/>
              <a:cs typeface="Courier New"/>
            </a:endParaRPr>
          </a:p>
          <a:p>
            <a:pPr marL="109855" marR="5080"/>
            <a:r>
              <a:rPr sz="1600" b="1" dirty="0" err="1">
                <a:solidFill>
                  <a:srgbClr val="001F5F"/>
                </a:solidFill>
                <a:latin typeface="Courier New"/>
                <a:cs typeface="Courier New"/>
              </a:rPr>
              <a:t>System.out.println</a:t>
            </a:r>
            <a:r>
              <a:rPr sz="1600" b="1" dirty="0">
                <a:solidFill>
                  <a:srgbClr val="001F5F"/>
                </a:solidFill>
                <a:latin typeface="Courier New"/>
                <a:cs typeface="Courier New"/>
              </a:rPr>
              <a:t>("The area of the circle is: " + area);</a:t>
            </a:r>
          </a:p>
          <a:p>
            <a:pPr marL="109855"/>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sp>
        <p:nvSpPr>
          <p:cNvPr id="21" name="object 10">
            <a:extLst>
              <a:ext uri="{FF2B5EF4-FFF2-40B4-BE49-F238E27FC236}">
                <a16:creationId xmlns:a16="http://schemas.microsoft.com/office/drawing/2014/main" id="{5EAC1A65-DE74-3A4C-60F0-1B470E683558}"/>
              </a:ext>
            </a:extLst>
          </p:cNvPr>
          <p:cNvSpPr/>
          <p:nvPr/>
        </p:nvSpPr>
        <p:spPr>
          <a:xfrm>
            <a:off x="7552943" y="1185672"/>
            <a:ext cx="502920" cy="1542415"/>
          </a:xfrm>
          <a:custGeom>
            <a:avLst/>
            <a:gdLst/>
            <a:ahLst/>
            <a:cxnLst/>
            <a:rect l="l" t="t" r="r" b="b"/>
            <a:pathLst>
              <a:path w="502920" h="1542414">
                <a:moveTo>
                  <a:pt x="0" y="0"/>
                </a:moveTo>
                <a:lnTo>
                  <a:pt x="79501" y="2158"/>
                </a:lnTo>
                <a:lnTo>
                  <a:pt x="148589" y="8127"/>
                </a:lnTo>
                <a:lnTo>
                  <a:pt x="202946" y="17144"/>
                </a:lnTo>
                <a:lnTo>
                  <a:pt x="251459" y="41910"/>
                </a:lnTo>
                <a:lnTo>
                  <a:pt x="251459" y="729233"/>
                </a:lnTo>
                <a:lnTo>
                  <a:pt x="264286" y="742441"/>
                </a:lnTo>
                <a:lnTo>
                  <a:pt x="299974" y="753872"/>
                </a:lnTo>
                <a:lnTo>
                  <a:pt x="354329" y="763015"/>
                </a:lnTo>
                <a:lnTo>
                  <a:pt x="423417" y="768985"/>
                </a:lnTo>
                <a:lnTo>
                  <a:pt x="502920" y="771016"/>
                </a:lnTo>
                <a:lnTo>
                  <a:pt x="423417" y="773176"/>
                </a:lnTo>
                <a:lnTo>
                  <a:pt x="354329" y="779144"/>
                </a:lnTo>
                <a:lnTo>
                  <a:pt x="299974" y="788288"/>
                </a:lnTo>
                <a:lnTo>
                  <a:pt x="264286" y="799718"/>
                </a:lnTo>
                <a:lnTo>
                  <a:pt x="251459" y="812926"/>
                </a:lnTo>
                <a:lnTo>
                  <a:pt x="251459" y="1500251"/>
                </a:lnTo>
                <a:lnTo>
                  <a:pt x="238632" y="1513458"/>
                </a:lnTo>
                <a:lnTo>
                  <a:pt x="202946" y="1525015"/>
                </a:lnTo>
                <a:lnTo>
                  <a:pt x="148589" y="1534032"/>
                </a:lnTo>
                <a:lnTo>
                  <a:pt x="79501" y="1540002"/>
                </a:lnTo>
                <a:lnTo>
                  <a:pt x="0" y="1542161"/>
                </a:lnTo>
              </a:path>
            </a:pathLst>
          </a:custGeom>
          <a:ln w="18288">
            <a:solidFill>
              <a:srgbClr val="FFC000"/>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22" name="object 11">
            <a:extLst>
              <a:ext uri="{FF2B5EF4-FFF2-40B4-BE49-F238E27FC236}">
                <a16:creationId xmlns:a16="http://schemas.microsoft.com/office/drawing/2014/main" id="{B313D6A6-1782-DE5D-4398-722355D384AA}"/>
              </a:ext>
            </a:extLst>
          </p:cNvPr>
          <p:cNvSpPr/>
          <p:nvPr/>
        </p:nvSpPr>
        <p:spPr>
          <a:xfrm>
            <a:off x="8257031" y="2956560"/>
            <a:ext cx="734695" cy="3520440"/>
          </a:xfrm>
          <a:custGeom>
            <a:avLst/>
            <a:gdLst/>
            <a:ahLst/>
            <a:cxnLst/>
            <a:rect l="l" t="t" r="r" b="b"/>
            <a:pathLst>
              <a:path w="734695" h="3520440">
                <a:moveTo>
                  <a:pt x="0" y="0"/>
                </a:moveTo>
                <a:lnTo>
                  <a:pt x="74041" y="1269"/>
                </a:lnTo>
                <a:lnTo>
                  <a:pt x="142875" y="4825"/>
                </a:lnTo>
                <a:lnTo>
                  <a:pt x="205359" y="10413"/>
                </a:lnTo>
                <a:lnTo>
                  <a:pt x="259715" y="17906"/>
                </a:lnTo>
                <a:lnTo>
                  <a:pt x="304546" y="27050"/>
                </a:lnTo>
                <a:lnTo>
                  <a:pt x="359791" y="48894"/>
                </a:lnTo>
                <a:lnTo>
                  <a:pt x="367157" y="61213"/>
                </a:lnTo>
                <a:lnTo>
                  <a:pt x="367157" y="1699006"/>
                </a:lnTo>
                <a:lnTo>
                  <a:pt x="374650" y="1711325"/>
                </a:lnTo>
                <a:lnTo>
                  <a:pt x="429895" y="1733169"/>
                </a:lnTo>
                <a:lnTo>
                  <a:pt x="474725" y="1742313"/>
                </a:lnTo>
                <a:lnTo>
                  <a:pt x="529082" y="1749806"/>
                </a:lnTo>
                <a:lnTo>
                  <a:pt x="591566" y="1755394"/>
                </a:lnTo>
                <a:lnTo>
                  <a:pt x="660400" y="1758950"/>
                </a:lnTo>
                <a:lnTo>
                  <a:pt x="734441" y="1760220"/>
                </a:lnTo>
                <a:lnTo>
                  <a:pt x="660400" y="1761489"/>
                </a:lnTo>
                <a:lnTo>
                  <a:pt x="591566" y="1765045"/>
                </a:lnTo>
                <a:lnTo>
                  <a:pt x="529082" y="1770633"/>
                </a:lnTo>
                <a:lnTo>
                  <a:pt x="474725" y="1778127"/>
                </a:lnTo>
                <a:lnTo>
                  <a:pt x="429895" y="1787270"/>
                </a:lnTo>
                <a:lnTo>
                  <a:pt x="374650" y="1809114"/>
                </a:lnTo>
                <a:lnTo>
                  <a:pt x="367157" y="1821433"/>
                </a:lnTo>
                <a:lnTo>
                  <a:pt x="367157" y="3459226"/>
                </a:lnTo>
                <a:lnTo>
                  <a:pt x="359791" y="3471557"/>
                </a:lnTo>
                <a:lnTo>
                  <a:pt x="304546" y="3493452"/>
                </a:lnTo>
                <a:lnTo>
                  <a:pt x="259715" y="3502507"/>
                </a:lnTo>
                <a:lnTo>
                  <a:pt x="205359" y="3509987"/>
                </a:lnTo>
                <a:lnTo>
                  <a:pt x="142875" y="3515626"/>
                </a:lnTo>
                <a:lnTo>
                  <a:pt x="74041" y="3519195"/>
                </a:lnTo>
                <a:lnTo>
                  <a:pt x="0" y="3520440"/>
                </a:lnTo>
              </a:path>
            </a:pathLst>
          </a:custGeom>
          <a:ln w="18288">
            <a:solidFill>
              <a:srgbClr val="FFC000"/>
            </a:solidFill>
          </a:ln>
        </p:spPr>
        <p:txBody>
          <a:bodyPr wrap="square" lIns="0" tIns="0" rIns="0" bIns="0" rtlCol="0"/>
          <a:lstStyle/>
          <a:p>
            <a:endParaRPr b="1"/>
          </a:p>
        </p:txBody>
      </p:sp>
      <p:sp>
        <p:nvSpPr>
          <p:cNvPr id="23" name="object 12">
            <a:extLst>
              <a:ext uri="{FF2B5EF4-FFF2-40B4-BE49-F238E27FC236}">
                <a16:creationId xmlns:a16="http://schemas.microsoft.com/office/drawing/2014/main" id="{0AF44DF0-C442-85DF-84DA-F5901109E9C3}"/>
              </a:ext>
            </a:extLst>
          </p:cNvPr>
          <p:cNvSpPr txBox="1"/>
          <p:nvPr/>
        </p:nvSpPr>
        <p:spPr>
          <a:xfrm>
            <a:off x="8223631" y="1901393"/>
            <a:ext cx="1621790" cy="300355"/>
          </a:xfrm>
          <a:prstGeom prst="rect">
            <a:avLst/>
          </a:prstGeom>
        </p:spPr>
        <p:txBody>
          <a:bodyPr vert="horz" wrap="square" lIns="0" tIns="12700" rIns="0" bIns="0" rtlCol="0">
            <a:normAutofit fontScale="92500" lnSpcReduction="20000"/>
          </a:bodyPr>
          <a:lstStyle/>
          <a:p>
            <a:pPr marL="12700">
              <a:lnSpc>
                <a:spcPct val="110000"/>
              </a:lnSpc>
              <a:spcBef>
                <a:spcPts val="0"/>
              </a:spcBef>
              <a:spcAft>
                <a:spcPts val="600"/>
              </a:spcAft>
            </a:pPr>
            <a:r>
              <a:rPr sz="2000" b="1" dirty="0">
                <a:solidFill>
                  <a:srgbClr val="001F5F"/>
                </a:solidFill>
                <a:latin typeface="Calibri"/>
                <a:cs typeface="Calibri"/>
              </a:rPr>
              <a:t>Abstract class</a:t>
            </a:r>
            <a:endParaRPr sz="2000" b="1">
              <a:solidFill>
                <a:srgbClr val="001F5F"/>
              </a:solidFill>
              <a:latin typeface="Calibri"/>
              <a:cs typeface="Calibri"/>
            </a:endParaRPr>
          </a:p>
        </p:txBody>
      </p:sp>
      <p:sp>
        <p:nvSpPr>
          <p:cNvPr id="24" name="object 13">
            <a:extLst>
              <a:ext uri="{FF2B5EF4-FFF2-40B4-BE49-F238E27FC236}">
                <a16:creationId xmlns:a16="http://schemas.microsoft.com/office/drawing/2014/main" id="{95A3B4D6-412C-1C4F-6773-A76D55AA6091}"/>
              </a:ext>
            </a:extLst>
          </p:cNvPr>
          <p:cNvSpPr txBox="1"/>
          <p:nvPr/>
        </p:nvSpPr>
        <p:spPr>
          <a:xfrm>
            <a:off x="8840216" y="4728717"/>
            <a:ext cx="1588135" cy="299720"/>
          </a:xfrm>
          <a:prstGeom prst="rect">
            <a:avLst/>
          </a:prstGeom>
        </p:spPr>
        <p:txBody>
          <a:bodyPr vert="horz" wrap="square" lIns="0" tIns="12700" rIns="0" bIns="0" rtlCol="0">
            <a:normAutofit fontScale="92500" lnSpcReduction="20000"/>
          </a:bodyPr>
          <a:lstStyle/>
          <a:p>
            <a:pPr marL="12700">
              <a:lnSpc>
                <a:spcPct val="110000"/>
              </a:lnSpc>
              <a:spcBef>
                <a:spcPts val="0"/>
              </a:spcBef>
              <a:spcAft>
                <a:spcPts val="600"/>
              </a:spcAft>
            </a:pPr>
            <a:r>
              <a:rPr sz="2000" b="1" dirty="0">
                <a:solidFill>
                  <a:srgbClr val="001F5F"/>
                </a:solidFill>
                <a:latin typeface="Calibri"/>
                <a:cs typeface="Calibri"/>
              </a:rPr>
              <a:t>concrete class</a:t>
            </a:r>
            <a:endParaRPr sz="2000" b="1">
              <a:solidFill>
                <a:srgbClr val="001F5F"/>
              </a:solidFill>
              <a:latin typeface="Calibri"/>
              <a:cs typeface="Calibri"/>
            </a:endParaRPr>
          </a:p>
        </p:txBody>
      </p:sp>
    </p:spTree>
    <p:extLst>
      <p:ext uri="{BB962C8B-B14F-4D97-AF65-F5344CB8AC3E}">
        <p14:creationId xmlns:p14="http://schemas.microsoft.com/office/powerpoint/2010/main" val="15849449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37486" y="514604"/>
            <a:ext cx="3788410" cy="329565"/>
          </a:xfrm>
          <a:prstGeom prst="rect">
            <a:avLst/>
          </a:prstGeom>
        </p:spPr>
        <p:txBody>
          <a:bodyPr vert="horz" wrap="none" lIns="0" tIns="11430" rIns="0" bIns="0" rtlCol="0">
            <a:normAutofit/>
          </a:bodyPr>
          <a:lstStyle/>
          <a:p>
            <a:pPr marL="12700"/>
            <a:r>
              <a:rPr sz="1600" b="1" dirty="0">
                <a:solidFill>
                  <a:srgbClr val="001F5F"/>
                </a:solidFill>
                <a:latin typeface="Courier New"/>
                <a:cs typeface="Courier New"/>
              </a:rPr>
              <a:t>class Rectangle extends Shape</a:t>
            </a:r>
            <a:endParaRPr sz="1600" b="1">
              <a:solidFill>
                <a:srgbClr val="001F5F"/>
              </a:solidFill>
              <a:latin typeface="Courier New"/>
              <a:cs typeface="Courier New"/>
            </a:endParaRPr>
          </a:p>
        </p:txBody>
      </p:sp>
      <p:sp>
        <p:nvSpPr>
          <p:cNvPr id="3" name="object 3"/>
          <p:cNvSpPr txBox="1"/>
          <p:nvPr/>
        </p:nvSpPr>
        <p:spPr>
          <a:xfrm>
            <a:off x="5966840" y="514604"/>
            <a:ext cx="2498090" cy="329565"/>
          </a:xfrm>
          <a:prstGeom prst="rect">
            <a:avLst/>
          </a:prstGeom>
        </p:spPr>
        <p:txBody>
          <a:bodyPr vert="horz" wrap="none" lIns="0" tIns="11430" rIns="0" bIns="0" rtlCol="0">
            <a:normAutofit/>
          </a:bodyPr>
          <a:lstStyle/>
          <a:p>
            <a:pPr marL="12700"/>
            <a:r>
              <a:rPr sz="1600" b="1" dirty="0">
                <a:solidFill>
                  <a:srgbClr val="2E7D32"/>
                </a:solidFill>
                <a:latin typeface="Courier New"/>
                <a:cs typeface="Courier New"/>
              </a:rPr>
              <a:t>//</a:t>
            </a:r>
            <a:r>
              <a:rPr sz="1600" b="1" dirty="0">
                <a:solidFill>
                  <a:srgbClr val="C00000"/>
                </a:solidFill>
                <a:latin typeface="Courier New"/>
                <a:cs typeface="Courier New"/>
              </a:rPr>
              <a:t> Derived class for</a:t>
            </a:r>
            <a:endParaRPr sz="1600" b="1">
              <a:solidFill>
                <a:srgbClr val="001F5F"/>
              </a:solidFill>
              <a:latin typeface="Courier New"/>
              <a:cs typeface="Courier New"/>
            </a:endParaRPr>
          </a:p>
        </p:txBody>
      </p:sp>
      <p:sp>
        <p:nvSpPr>
          <p:cNvPr id="4" name="object 4"/>
          <p:cNvSpPr txBox="1"/>
          <p:nvPr/>
        </p:nvSpPr>
        <p:spPr>
          <a:xfrm>
            <a:off x="1737486" y="817501"/>
            <a:ext cx="2990850" cy="1856105"/>
          </a:xfrm>
          <a:prstGeom prst="rect">
            <a:avLst/>
          </a:prstGeom>
        </p:spPr>
        <p:txBody>
          <a:bodyPr vert="horz" wrap="square" lIns="0" tIns="165735" rIns="0" bIns="0" rtlCol="0">
            <a:normAutofit/>
          </a:bodyPr>
          <a:lstStyle/>
          <a:p>
            <a:pPr marL="12700">
              <a:lnSpc>
                <a:spcPct val="110000"/>
              </a:lnSpc>
              <a:spcBef>
                <a:spcPts val="0"/>
              </a:spcBef>
              <a:spcAft>
                <a:spcPts val="600"/>
              </a:spcAft>
            </a:pPr>
            <a:r>
              <a:rPr sz="2000" b="1" dirty="0">
                <a:solidFill>
                  <a:srgbClr val="C00000"/>
                </a:solidFill>
                <a:latin typeface="Calibri"/>
                <a:cs typeface="Calibri"/>
              </a:rPr>
              <a:t>Rectangle</a:t>
            </a:r>
            <a:endParaRPr sz="2000" b="1">
              <a:solidFill>
                <a:srgbClr val="001F5F"/>
              </a:solidFill>
              <a:latin typeface="Calibri"/>
              <a:cs typeface="Calibri"/>
            </a:endParaRPr>
          </a:p>
          <a:p>
            <a:pPr marL="121920"/>
            <a:r>
              <a:rPr sz="1600" b="1" dirty="0">
                <a:solidFill>
                  <a:srgbClr val="001F5F"/>
                </a:solidFill>
                <a:latin typeface="Courier New"/>
                <a:cs typeface="Courier New"/>
              </a:rPr>
              <a:t>{</a:t>
            </a:r>
            <a:endParaRPr sz="1600" b="1">
              <a:solidFill>
                <a:srgbClr val="001F5F"/>
              </a:solidFill>
              <a:latin typeface="Courier New"/>
              <a:cs typeface="Courier New"/>
            </a:endParaRPr>
          </a:p>
          <a:p>
            <a:pPr marL="451484"/>
            <a:r>
              <a:rPr sz="1600" b="1" dirty="0">
                <a:solidFill>
                  <a:srgbClr val="001F5F"/>
                </a:solidFill>
                <a:latin typeface="Courier New"/>
                <a:cs typeface="Courier New"/>
              </a:rPr>
              <a:t>double length=4.0;</a:t>
            </a:r>
            <a:endParaRPr sz="1600" b="1">
              <a:solidFill>
                <a:srgbClr val="001F5F"/>
              </a:solidFill>
              <a:latin typeface="Courier New"/>
              <a:cs typeface="Courier New"/>
            </a:endParaRPr>
          </a:p>
          <a:p>
            <a:pPr marL="451484"/>
            <a:r>
              <a:rPr sz="1600" b="1" dirty="0">
                <a:solidFill>
                  <a:srgbClr val="001F5F"/>
                </a:solidFill>
                <a:latin typeface="Courier New"/>
                <a:cs typeface="Courier New"/>
              </a:rPr>
              <a:t>double breadth=6.0;</a:t>
            </a:r>
            <a:endParaRPr sz="1600" b="1">
              <a:solidFill>
                <a:srgbClr val="001F5F"/>
              </a:solidFill>
              <a:latin typeface="Courier New"/>
              <a:cs typeface="Courier New"/>
            </a:endParaRPr>
          </a:p>
        </p:txBody>
      </p:sp>
      <p:sp>
        <p:nvSpPr>
          <p:cNvPr id="5" name="object 5"/>
          <p:cNvSpPr txBox="1"/>
          <p:nvPr/>
        </p:nvSpPr>
        <p:spPr>
          <a:xfrm>
            <a:off x="1737486" y="2648381"/>
            <a:ext cx="7451090" cy="3227705"/>
          </a:xfrm>
          <a:prstGeom prst="rect">
            <a:avLst/>
          </a:prstGeom>
        </p:spPr>
        <p:txBody>
          <a:bodyPr vert="horz" wrap="none" lIns="0" tIns="165735" rIns="0" bIns="0" rtlCol="0">
            <a:normAutofit/>
          </a:bodyPr>
          <a:lstStyle/>
          <a:p>
            <a:pPr marL="451484">
              <a:tabLst>
                <a:tab pos="2823210" algn="l"/>
              </a:tabLst>
            </a:pPr>
            <a:r>
              <a:rPr sz="1600" b="1" dirty="0">
                <a:solidFill>
                  <a:srgbClr val="001F5F"/>
                </a:solidFill>
                <a:latin typeface="Courier New"/>
                <a:cs typeface="Courier New"/>
              </a:rPr>
              <a:t>void display()	</a:t>
            </a:r>
            <a:r>
              <a:rPr sz="1600" b="1" dirty="0">
                <a:solidFill>
                  <a:srgbClr val="2E7D32"/>
                </a:solidFill>
                <a:latin typeface="Courier New"/>
                <a:cs typeface="Courier New"/>
              </a:rPr>
              <a:t>//</a:t>
            </a:r>
            <a:r>
              <a:rPr sz="1600" b="1" dirty="0">
                <a:solidFill>
                  <a:srgbClr val="C00000"/>
                </a:solidFill>
                <a:latin typeface="Courier New"/>
                <a:cs typeface="Courier New"/>
              </a:rPr>
              <a:t> Implementing the abstract method</a:t>
            </a:r>
            <a:endParaRPr sz="1600" b="1" dirty="0">
              <a:solidFill>
                <a:srgbClr val="001F5F"/>
              </a:solidFill>
              <a:latin typeface="Courier New"/>
              <a:cs typeface="Courier New"/>
            </a:endParaRPr>
          </a:p>
          <a:p>
            <a:pPr marL="12700"/>
            <a:r>
              <a:rPr sz="1600" b="1" dirty="0">
                <a:solidFill>
                  <a:srgbClr val="001F5F"/>
                </a:solidFill>
                <a:latin typeface="Courier New"/>
                <a:cs typeface="Courier New"/>
              </a:rPr>
              <a:t>{</a:t>
            </a:r>
          </a:p>
          <a:p>
            <a:pPr marL="890269"/>
            <a:r>
              <a:rPr sz="1600" b="1" dirty="0">
                <a:solidFill>
                  <a:srgbClr val="001F5F"/>
                </a:solidFill>
                <a:latin typeface="Courier New"/>
                <a:cs typeface="Courier New"/>
              </a:rPr>
              <a:t>double area = length * breadth;</a:t>
            </a:r>
          </a:p>
          <a:p>
            <a:pPr marL="890269"/>
            <a:r>
              <a:rPr sz="1600" b="1" dirty="0">
                <a:solidFill>
                  <a:srgbClr val="001F5F"/>
                </a:solidFill>
                <a:latin typeface="Courier New"/>
                <a:cs typeface="Courier New"/>
              </a:rPr>
              <a:t>System.out.println("The area of the rectangle is: "</a:t>
            </a:r>
          </a:p>
          <a:p>
            <a:pPr marL="12700"/>
            <a:r>
              <a:rPr sz="1600" b="1" dirty="0">
                <a:solidFill>
                  <a:srgbClr val="001F5F"/>
                </a:solidFill>
                <a:latin typeface="Courier New"/>
                <a:cs typeface="Courier New"/>
              </a:rPr>
              <a:t>+ area);</a:t>
            </a:r>
          </a:p>
          <a:p>
            <a:pPr marL="12192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sp>
        <p:nvSpPr>
          <p:cNvPr id="6" name="object 6"/>
          <p:cNvSpPr/>
          <p:nvPr/>
        </p:nvSpPr>
        <p:spPr>
          <a:xfrm>
            <a:off x="8903207" y="475487"/>
            <a:ext cx="856615" cy="5507990"/>
          </a:xfrm>
          <a:custGeom>
            <a:avLst/>
            <a:gdLst/>
            <a:ahLst/>
            <a:cxnLst/>
            <a:rect l="l" t="t" r="r" b="b"/>
            <a:pathLst>
              <a:path w="856615" h="5507990">
                <a:moveTo>
                  <a:pt x="0" y="0"/>
                </a:moveTo>
                <a:lnTo>
                  <a:pt x="76962" y="1142"/>
                </a:lnTo>
                <a:lnTo>
                  <a:pt x="149351" y="4445"/>
                </a:lnTo>
                <a:lnTo>
                  <a:pt x="216153" y="9778"/>
                </a:lnTo>
                <a:lnTo>
                  <a:pt x="275844" y="16763"/>
                </a:lnTo>
                <a:lnTo>
                  <a:pt x="327406" y="25400"/>
                </a:lnTo>
                <a:lnTo>
                  <a:pt x="369697" y="35306"/>
                </a:lnTo>
                <a:lnTo>
                  <a:pt x="421259" y="58547"/>
                </a:lnTo>
                <a:lnTo>
                  <a:pt x="428244" y="71374"/>
                </a:lnTo>
                <a:lnTo>
                  <a:pt x="428244" y="2682366"/>
                </a:lnTo>
                <a:lnTo>
                  <a:pt x="435101" y="2695194"/>
                </a:lnTo>
                <a:lnTo>
                  <a:pt x="486664" y="2718308"/>
                </a:lnTo>
                <a:lnTo>
                  <a:pt x="528955" y="2728341"/>
                </a:lnTo>
                <a:lnTo>
                  <a:pt x="580517" y="2736977"/>
                </a:lnTo>
                <a:lnTo>
                  <a:pt x="640207" y="2743962"/>
                </a:lnTo>
                <a:lnTo>
                  <a:pt x="707009" y="2749296"/>
                </a:lnTo>
                <a:lnTo>
                  <a:pt x="779399" y="2752598"/>
                </a:lnTo>
                <a:lnTo>
                  <a:pt x="856361" y="2753741"/>
                </a:lnTo>
                <a:lnTo>
                  <a:pt x="779399" y="2754884"/>
                </a:lnTo>
                <a:lnTo>
                  <a:pt x="707009" y="2758186"/>
                </a:lnTo>
                <a:lnTo>
                  <a:pt x="640207" y="2763520"/>
                </a:lnTo>
                <a:lnTo>
                  <a:pt x="580517" y="2770504"/>
                </a:lnTo>
                <a:lnTo>
                  <a:pt x="528955" y="2779141"/>
                </a:lnTo>
                <a:lnTo>
                  <a:pt x="486664" y="2789047"/>
                </a:lnTo>
                <a:lnTo>
                  <a:pt x="435101" y="2812288"/>
                </a:lnTo>
                <a:lnTo>
                  <a:pt x="428244" y="2825115"/>
                </a:lnTo>
                <a:lnTo>
                  <a:pt x="428244" y="5436108"/>
                </a:lnTo>
                <a:lnTo>
                  <a:pt x="421259" y="5448935"/>
                </a:lnTo>
                <a:lnTo>
                  <a:pt x="369697" y="5472137"/>
                </a:lnTo>
                <a:lnTo>
                  <a:pt x="327406" y="5482094"/>
                </a:lnTo>
                <a:lnTo>
                  <a:pt x="275844" y="5490692"/>
                </a:lnTo>
                <a:lnTo>
                  <a:pt x="216153" y="5497741"/>
                </a:lnTo>
                <a:lnTo>
                  <a:pt x="149351" y="5503011"/>
                </a:lnTo>
                <a:lnTo>
                  <a:pt x="76962" y="5506326"/>
                </a:lnTo>
                <a:lnTo>
                  <a:pt x="0" y="5507482"/>
                </a:lnTo>
              </a:path>
            </a:pathLst>
          </a:custGeom>
          <a:ln w="18288">
            <a:solidFill>
              <a:srgbClr val="FFC000"/>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7" name="object 7"/>
          <p:cNvSpPr txBox="1"/>
          <p:nvPr/>
        </p:nvSpPr>
        <p:spPr>
          <a:xfrm>
            <a:off x="9529698" y="2093467"/>
            <a:ext cx="972819" cy="574040"/>
          </a:xfrm>
          <a:prstGeom prst="rect">
            <a:avLst/>
          </a:prstGeom>
        </p:spPr>
        <p:txBody>
          <a:bodyPr vert="horz" wrap="square" lIns="0" tIns="12700" rIns="0" bIns="0" rtlCol="0">
            <a:normAutofit fontScale="92500" lnSpcReduction="20000"/>
          </a:bodyPr>
          <a:lstStyle/>
          <a:p>
            <a:pPr marL="219710" marR="5080" indent="-207645">
              <a:lnSpc>
                <a:spcPct val="110000"/>
              </a:lnSpc>
              <a:spcBef>
                <a:spcPts val="0"/>
              </a:spcBef>
              <a:spcAft>
                <a:spcPts val="600"/>
              </a:spcAft>
            </a:pPr>
            <a:r>
              <a:rPr sz="2000" b="1" dirty="0">
                <a:solidFill>
                  <a:srgbClr val="001F5F"/>
                </a:solidFill>
                <a:latin typeface="Calibri"/>
                <a:cs typeface="Calibri"/>
              </a:rPr>
              <a:t>concrete class</a:t>
            </a:r>
            <a:endParaRPr sz="2000" b="1">
              <a:solidFill>
                <a:srgbClr val="001F5F"/>
              </a:solidFill>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AFD45-C426-401B-7AEC-3F068A29BB4A}"/>
            </a:ext>
          </a:extLst>
        </p:cNvPr>
        <p:cNvGrpSpPr/>
        <p:nvPr/>
      </p:nvGrpSpPr>
      <p:grpSpPr>
        <a:xfrm>
          <a:off x="0" y="0"/>
          <a:ext cx="0" cy="0"/>
          <a:chOff x="0" y="0"/>
          <a:chExt cx="0" cy="0"/>
        </a:xfrm>
      </p:grpSpPr>
      <p:sp>
        <p:nvSpPr>
          <p:cNvPr id="12" name="object 2">
            <a:extLst>
              <a:ext uri="{FF2B5EF4-FFF2-40B4-BE49-F238E27FC236}">
                <a16:creationId xmlns:a16="http://schemas.microsoft.com/office/drawing/2014/main" id="{011AB50D-1899-FB49-21E4-B85E9ADEC701}"/>
              </a:ext>
            </a:extLst>
          </p:cNvPr>
          <p:cNvSpPr txBox="1"/>
          <p:nvPr/>
        </p:nvSpPr>
        <p:spPr>
          <a:xfrm>
            <a:off x="1908175" y="605789"/>
            <a:ext cx="6814820" cy="5817870"/>
          </a:xfrm>
          <a:prstGeom prst="rect">
            <a:avLst/>
          </a:prstGeom>
        </p:spPr>
        <p:txBody>
          <a:bodyPr vert="horz" wrap="none" lIns="0" tIns="11430" rIns="0" bIns="0" rtlCol="0">
            <a:normAutofit/>
          </a:bodyPr>
          <a:lstStyle/>
          <a:p>
            <a:pPr marL="12700"/>
            <a:r>
              <a:rPr sz="1600" b="1" dirty="0">
                <a:solidFill>
                  <a:srgbClr val="001F5F"/>
                </a:solidFill>
                <a:latin typeface="Courier New"/>
                <a:cs typeface="Courier New"/>
              </a:rPr>
              <a:t>class Main </a:t>
            </a:r>
            <a:r>
              <a:rPr sz="1600" b="1" dirty="0">
                <a:solidFill>
                  <a:srgbClr val="2E7D32"/>
                </a:solidFill>
                <a:latin typeface="Courier New"/>
                <a:cs typeface="Courier New"/>
              </a:rPr>
              <a:t>//</a:t>
            </a:r>
            <a:r>
              <a:rPr sz="1600" b="1" dirty="0">
                <a:solidFill>
                  <a:srgbClr val="C00000"/>
                </a:solidFill>
                <a:latin typeface="Courier New"/>
                <a:cs typeface="Courier New"/>
              </a:rPr>
              <a:t> Main class to test the shapes</a:t>
            </a:r>
            <a:endParaRPr sz="1600" b="1" dirty="0">
              <a:solidFill>
                <a:srgbClr val="001F5F"/>
              </a:solidFill>
              <a:latin typeface="Courier New"/>
              <a:cs typeface="Courier New"/>
            </a:endParaRPr>
          </a:p>
          <a:p>
            <a:pPr marL="12700"/>
            <a:r>
              <a:rPr sz="1600" b="1" dirty="0">
                <a:solidFill>
                  <a:srgbClr val="001F5F"/>
                </a:solidFill>
                <a:latin typeface="Courier New"/>
                <a:cs typeface="Courier New"/>
              </a:rPr>
              <a:t>{</a:t>
            </a:r>
          </a:p>
          <a:p>
            <a:pPr marL="451484"/>
            <a:r>
              <a:rPr sz="1600" b="1" dirty="0">
                <a:solidFill>
                  <a:srgbClr val="001F5F"/>
                </a:solidFill>
                <a:latin typeface="Courier New"/>
                <a:cs typeface="Courier New"/>
              </a:rPr>
              <a:t>public static void main(String[] args)</a:t>
            </a:r>
          </a:p>
          <a:p>
            <a:pPr marL="12700"/>
            <a:r>
              <a:rPr sz="1600" b="1" dirty="0">
                <a:solidFill>
                  <a:srgbClr val="001F5F"/>
                </a:solidFill>
                <a:latin typeface="Courier New"/>
                <a:cs typeface="Courier New"/>
              </a:rPr>
              <a:t>{</a:t>
            </a:r>
          </a:p>
          <a:p>
            <a:pPr marL="231775">
              <a:tabLst>
                <a:tab pos="3561079" algn="l"/>
              </a:tabLst>
            </a:pPr>
            <a:r>
              <a:rPr sz="1600" b="1" dirty="0">
                <a:solidFill>
                  <a:srgbClr val="001F5F"/>
                </a:solidFill>
                <a:latin typeface="Courier New"/>
                <a:cs typeface="Courier New"/>
              </a:rPr>
              <a:t>Circle obj = new Circle();	</a:t>
            </a:r>
            <a:r>
              <a:rPr sz="1600" b="1" dirty="0">
                <a:solidFill>
                  <a:srgbClr val="2E7D32"/>
                </a:solidFill>
                <a:latin typeface="Courier New"/>
                <a:cs typeface="Courier New"/>
              </a:rPr>
              <a:t>//</a:t>
            </a:r>
            <a:r>
              <a:rPr sz="1600" b="1" dirty="0">
                <a:solidFill>
                  <a:srgbClr val="C00000"/>
                </a:solidFill>
                <a:latin typeface="Courier New"/>
                <a:cs typeface="Courier New"/>
              </a:rPr>
              <a:t> Creating object</a:t>
            </a:r>
            <a:endParaRPr sz="1600" b="1" dirty="0">
              <a:solidFill>
                <a:srgbClr val="001F5F"/>
              </a:solidFill>
              <a:latin typeface="Courier New"/>
              <a:cs typeface="Courier New"/>
            </a:endParaRPr>
          </a:p>
          <a:p>
            <a:pPr marL="341630"/>
            <a:r>
              <a:rPr sz="1600" b="1" dirty="0">
                <a:solidFill>
                  <a:srgbClr val="001F5F"/>
                </a:solidFill>
                <a:latin typeface="Courier New"/>
                <a:cs typeface="Courier New"/>
              </a:rPr>
              <a:t>Rectangle obj1= new Rectangle(); </a:t>
            </a:r>
            <a:r>
              <a:rPr sz="1600" b="1" dirty="0">
                <a:solidFill>
                  <a:srgbClr val="2E7D32"/>
                </a:solidFill>
                <a:latin typeface="Courier New"/>
                <a:cs typeface="Courier New"/>
              </a:rPr>
              <a:t>//</a:t>
            </a:r>
            <a:r>
              <a:rPr sz="1600" b="1" dirty="0">
                <a:solidFill>
                  <a:srgbClr val="C00000"/>
                </a:solidFill>
                <a:latin typeface="Courier New"/>
                <a:cs typeface="Courier New"/>
              </a:rPr>
              <a:t> Creating object</a:t>
            </a:r>
            <a:endParaRPr sz="1600" b="1" dirty="0">
              <a:solidFill>
                <a:srgbClr val="001F5F"/>
              </a:solidFill>
              <a:latin typeface="Courier New"/>
              <a:cs typeface="Courier New"/>
            </a:endParaRPr>
          </a:p>
          <a:p>
            <a:pPr marL="341630"/>
            <a:r>
              <a:rPr sz="1600" b="1" dirty="0">
                <a:solidFill>
                  <a:srgbClr val="001F5F"/>
                </a:solidFill>
                <a:latin typeface="Courier New"/>
                <a:cs typeface="Courier New"/>
              </a:rPr>
              <a:t>obj.display();</a:t>
            </a:r>
          </a:p>
          <a:p>
            <a:pPr>
              <a:lnSpc>
                <a:spcPct val="110000"/>
              </a:lnSpc>
              <a:spcBef>
                <a:spcPts val="0"/>
              </a:spcBef>
              <a:spcAft>
                <a:spcPts val="600"/>
              </a:spcAft>
            </a:pPr>
            <a:endParaRPr sz="2000" b="1" dirty="0">
              <a:solidFill>
                <a:srgbClr val="001F5F"/>
              </a:solidFill>
              <a:latin typeface="Calibri"/>
              <a:cs typeface="Calibri"/>
            </a:endParaRPr>
          </a:p>
          <a:p>
            <a:pPr marL="560705"/>
            <a:r>
              <a:rPr sz="1600" b="1" dirty="0">
                <a:solidFill>
                  <a:srgbClr val="001F5F"/>
                </a:solidFill>
                <a:latin typeface="Courier New"/>
                <a:cs typeface="Courier New"/>
              </a:rPr>
              <a:t>obj1.display();</a:t>
            </a:r>
          </a:p>
          <a:p>
            <a:pPr marL="12192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pic>
        <p:nvPicPr>
          <p:cNvPr id="27" name="object 2">
            <a:extLst>
              <a:ext uri="{FF2B5EF4-FFF2-40B4-BE49-F238E27FC236}">
                <a16:creationId xmlns:a16="http://schemas.microsoft.com/office/drawing/2014/main" id="{F33E6735-ECFB-C144-5A1E-A730DD02F690}"/>
              </a:ext>
            </a:extLst>
          </p:cNvPr>
          <p:cNvPicPr/>
          <p:nvPr/>
        </p:nvPicPr>
        <p:blipFill>
          <a:blip r:embed="rId2" cstate="print"/>
          <a:stretch>
            <a:fillRect/>
          </a:stretch>
        </p:blipFill>
        <p:spPr>
          <a:xfrm>
            <a:off x="6841991" y="4267200"/>
            <a:ext cx="4920801" cy="1295400"/>
          </a:xfrm>
          <a:prstGeom prst="rect">
            <a:avLst/>
          </a:prstGeom>
        </p:spPr>
      </p:pic>
    </p:spTree>
    <p:extLst>
      <p:ext uri="{BB962C8B-B14F-4D97-AF65-F5344CB8AC3E}">
        <p14:creationId xmlns:p14="http://schemas.microsoft.com/office/powerpoint/2010/main" val="98739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4"/>
          <p:cNvGraphicFramePr>
            <a:graphicFrameLocks noGrp="1"/>
          </p:cNvGraphicFramePr>
          <p:nvPr>
            <p:extLst>
              <p:ext uri="{D42A27DB-BD31-4B8C-83A1-F6EECF244321}">
                <p14:modId xmlns:p14="http://schemas.microsoft.com/office/powerpoint/2010/main" val="3779497547"/>
              </p:ext>
            </p:extLst>
          </p:nvPr>
        </p:nvGraphicFramePr>
        <p:xfrm>
          <a:off x="299720" y="457201"/>
          <a:ext cx="11054080" cy="5904676"/>
        </p:xfrm>
        <a:graphic>
          <a:graphicData uri="http://schemas.openxmlformats.org/drawingml/2006/table">
            <a:tbl>
              <a:tblPr firstRow="1" bandRow="1">
                <a:tableStyleId>{2D5ABB26-0587-4C30-8999-92F81FD0307C}</a:tableStyleId>
              </a:tblPr>
              <a:tblGrid>
                <a:gridCol w="4805885">
                  <a:extLst>
                    <a:ext uri="{9D8B030D-6E8A-4147-A177-3AD203B41FA5}">
                      <a16:colId xmlns:a16="http://schemas.microsoft.com/office/drawing/2014/main" val="20000"/>
                    </a:ext>
                  </a:extLst>
                </a:gridCol>
                <a:gridCol w="6248195">
                  <a:extLst>
                    <a:ext uri="{9D8B030D-6E8A-4147-A177-3AD203B41FA5}">
                      <a16:colId xmlns:a16="http://schemas.microsoft.com/office/drawing/2014/main" val="20001"/>
                    </a:ext>
                  </a:extLst>
                </a:gridCol>
              </a:tblGrid>
              <a:tr h="295315">
                <a:tc>
                  <a:txBody>
                    <a:bodyPr/>
                    <a:lstStyle/>
                    <a:p>
                      <a:pPr marL="3810" algn="ctr">
                        <a:lnSpc>
                          <a:spcPts val="2030"/>
                        </a:lnSpc>
                      </a:pPr>
                      <a:r>
                        <a:rPr sz="1400" b="1" dirty="0">
                          <a:solidFill>
                            <a:srgbClr val="FFFFFF"/>
                          </a:solidFill>
                          <a:latin typeface="Calibri"/>
                          <a:cs typeface="Calibri"/>
                        </a:rPr>
                        <a:t>Interface</a:t>
                      </a:r>
                      <a:endParaRPr sz="1400" dirty="0">
                        <a:solidFill>
                          <a:srgbClr val="FFFFFF"/>
                        </a:solidFill>
                        <a:latin typeface="Calibri"/>
                        <a:cs typeface="Calibri"/>
                      </a:endParaRPr>
                    </a:p>
                  </a:txBody>
                  <a:tcPr marL="0" marR="0" marT="0" marB="0">
                    <a:lnL w="12700">
                      <a:solidFill>
                        <a:srgbClr val="FFFFFF"/>
                      </a:solidFill>
                      <a:prstDash val="solid"/>
                    </a:lnL>
                    <a:lnR w="12700">
                      <a:solidFill>
                        <a:srgbClr val="FFFFFF"/>
                      </a:solidFill>
                      <a:prstDash val="solid"/>
                    </a:lnR>
                    <a:lnB w="38100">
                      <a:solidFill>
                        <a:srgbClr val="FFFFFF"/>
                      </a:solidFill>
                      <a:prstDash val="solid"/>
                    </a:lnB>
                    <a:solidFill>
                      <a:srgbClr val="4470C4"/>
                    </a:solidFill>
                  </a:tcPr>
                </a:tc>
                <a:tc>
                  <a:txBody>
                    <a:bodyPr/>
                    <a:lstStyle/>
                    <a:p>
                      <a:pPr marL="4445" algn="ctr">
                        <a:lnSpc>
                          <a:spcPts val="2030"/>
                        </a:lnSpc>
                      </a:pPr>
                      <a:r>
                        <a:rPr sz="1400" b="1" dirty="0">
                          <a:solidFill>
                            <a:srgbClr val="FFFFFF"/>
                          </a:solidFill>
                          <a:latin typeface="Calibri"/>
                          <a:cs typeface="Calibri"/>
                        </a:rPr>
                        <a:t>Abstract class</a:t>
                      </a:r>
                      <a:endParaRPr sz="1400">
                        <a:solidFill>
                          <a:srgbClr val="FFFFFF"/>
                        </a:solidFill>
                        <a:latin typeface="Calibri"/>
                        <a:cs typeface="Calibri"/>
                      </a:endParaRPr>
                    </a:p>
                  </a:txBody>
                  <a:tcPr marL="0" marR="0" marT="0" marB="0">
                    <a:lnL w="12700">
                      <a:solidFill>
                        <a:srgbClr val="FFFFFF"/>
                      </a:solidFill>
                      <a:prstDash val="solid"/>
                    </a:lnL>
                    <a:lnR w="12700">
                      <a:solidFill>
                        <a:srgbClr val="FFFFFF"/>
                      </a:solidFill>
                      <a:prstDash val="solid"/>
                    </a:lnR>
                    <a:lnB w="38100">
                      <a:solidFill>
                        <a:srgbClr val="FFFFFF"/>
                      </a:solidFill>
                      <a:prstDash val="solid"/>
                    </a:lnB>
                    <a:solidFill>
                      <a:srgbClr val="4470C4"/>
                    </a:solidFill>
                  </a:tcPr>
                </a:tc>
                <a:extLst>
                  <a:ext uri="{0D108BD9-81ED-4DB2-BD59-A6C34878D82A}">
                    <a16:rowId xmlns:a16="http://schemas.microsoft.com/office/drawing/2014/main" val="10000"/>
                  </a:ext>
                </a:extLst>
              </a:tr>
              <a:tr h="551182">
                <a:tc>
                  <a:txBody>
                    <a:bodyPr/>
                    <a:lstStyle/>
                    <a:p>
                      <a:pPr marL="435609" indent="-344170">
                        <a:lnSpc>
                          <a:spcPct val="100000"/>
                        </a:lnSpc>
                        <a:spcBef>
                          <a:spcPts val="170"/>
                        </a:spcBef>
                        <a:buFont typeface="Wingdings"/>
                        <a:buChar char=""/>
                        <a:tabLst>
                          <a:tab pos="435609" algn="l"/>
                          <a:tab pos="1639570" algn="l"/>
                          <a:tab pos="2463165" algn="l"/>
                          <a:tab pos="3371850" algn="l"/>
                          <a:tab pos="4712970" algn="l"/>
                        </a:tabLst>
                      </a:pPr>
                      <a:r>
                        <a:rPr sz="1400" b="1" dirty="0">
                          <a:solidFill>
                            <a:srgbClr val="001F5F"/>
                          </a:solidFill>
                          <a:latin typeface="Calibri"/>
                          <a:cs typeface="Calibri"/>
                        </a:rPr>
                        <a:t>Interface</a:t>
                      </a:r>
                      <a:r>
                        <a:rPr lang="en-IN" sz="1400" b="1" dirty="0">
                          <a:solidFill>
                            <a:srgbClr val="001F5F"/>
                          </a:solidFill>
                          <a:latin typeface="Calibri"/>
                          <a:cs typeface="Calibri"/>
                        </a:rPr>
                        <a:t> </a:t>
                      </a:r>
                      <a:r>
                        <a:rPr sz="1400" b="1" dirty="0">
                          <a:solidFill>
                            <a:srgbClr val="001F5F"/>
                          </a:solidFill>
                          <a:latin typeface="Calibri"/>
                          <a:cs typeface="Calibri"/>
                        </a:rPr>
                        <a:t>should	contain</a:t>
                      </a:r>
                      <a:r>
                        <a:rPr lang="en-IN" sz="1400" b="1" dirty="0">
                          <a:solidFill>
                            <a:srgbClr val="001F5F"/>
                          </a:solidFill>
                          <a:latin typeface="Calibri"/>
                          <a:cs typeface="Calibri"/>
                        </a:rPr>
                        <a:t> </a:t>
                      </a:r>
                      <a:r>
                        <a:rPr sz="1400" b="1" dirty="0">
                          <a:solidFill>
                            <a:srgbClr val="001F5F"/>
                          </a:solidFill>
                          <a:latin typeface="Calibri"/>
                          <a:cs typeface="Calibri"/>
                        </a:rPr>
                        <a:t>declaration</a:t>
                      </a:r>
                      <a:r>
                        <a:rPr lang="en-IN" sz="1400" b="1" dirty="0">
                          <a:solidFill>
                            <a:srgbClr val="001F5F"/>
                          </a:solidFill>
                          <a:latin typeface="Calibri"/>
                          <a:cs typeface="Calibri"/>
                        </a:rPr>
                        <a:t> </a:t>
                      </a:r>
                      <a:r>
                        <a:rPr sz="1400" b="1" dirty="0">
                          <a:solidFill>
                            <a:srgbClr val="001F5F"/>
                          </a:solidFill>
                          <a:latin typeface="Calibri"/>
                          <a:cs typeface="Calibri"/>
                        </a:rPr>
                        <a:t>of</a:t>
                      </a:r>
                    </a:p>
                    <a:p>
                      <a:pPr marL="435609">
                        <a:lnSpc>
                          <a:spcPct val="100000"/>
                        </a:lnSpc>
                      </a:pPr>
                      <a:r>
                        <a:rPr sz="1400" b="1" dirty="0">
                          <a:solidFill>
                            <a:srgbClr val="001F5F"/>
                          </a:solidFill>
                          <a:latin typeface="Calibri"/>
                          <a:cs typeface="Calibri"/>
                        </a:rPr>
                        <a:t>methods</a:t>
                      </a:r>
                    </a:p>
                  </a:txBody>
                  <a:tcPr marL="0" marR="0" marT="215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3EA"/>
                    </a:solidFill>
                  </a:tcPr>
                </a:tc>
                <a:tc>
                  <a:txBody>
                    <a:bodyPr/>
                    <a:lstStyle/>
                    <a:p>
                      <a:pPr marL="436880" indent="-344170">
                        <a:lnSpc>
                          <a:spcPct val="100000"/>
                        </a:lnSpc>
                        <a:spcBef>
                          <a:spcPts val="170"/>
                        </a:spcBef>
                        <a:buFont typeface="Wingdings"/>
                        <a:buChar char=""/>
                        <a:tabLst>
                          <a:tab pos="436880" algn="l"/>
                        </a:tabLst>
                      </a:pPr>
                      <a:r>
                        <a:rPr sz="1400" b="1" dirty="0">
                          <a:solidFill>
                            <a:srgbClr val="001F5F"/>
                          </a:solidFill>
                          <a:latin typeface="Calibri"/>
                          <a:cs typeface="Calibri"/>
                        </a:rPr>
                        <a:t>Abstract should contain Both declaration and definition</a:t>
                      </a:r>
                      <a:endParaRPr sz="1400" b="1">
                        <a:solidFill>
                          <a:srgbClr val="001F5F"/>
                        </a:solidFill>
                        <a:latin typeface="Calibri"/>
                        <a:cs typeface="Calibri"/>
                      </a:endParaRPr>
                    </a:p>
                    <a:p>
                      <a:pPr marL="436880">
                        <a:lnSpc>
                          <a:spcPct val="100000"/>
                        </a:lnSpc>
                      </a:pPr>
                      <a:r>
                        <a:rPr sz="1400" b="1" dirty="0">
                          <a:solidFill>
                            <a:srgbClr val="001F5F"/>
                          </a:solidFill>
                          <a:latin typeface="Calibri"/>
                          <a:cs typeface="Calibri"/>
                        </a:rPr>
                        <a:t>of methods</a:t>
                      </a:r>
                      <a:endParaRPr sz="1400" b="1">
                        <a:solidFill>
                          <a:srgbClr val="001F5F"/>
                        </a:solidFill>
                        <a:latin typeface="Calibri"/>
                        <a:cs typeface="Calibri"/>
                      </a:endParaRPr>
                    </a:p>
                  </a:txBody>
                  <a:tcPr marL="0" marR="0" marT="215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3EA"/>
                    </a:solidFill>
                  </a:tcPr>
                </a:tc>
                <a:extLst>
                  <a:ext uri="{0D108BD9-81ED-4DB2-BD59-A6C34878D82A}">
                    <a16:rowId xmlns:a16="http://schemas.microsoft.com/office/drawing/2014/main" val="10001"/>
                  </a:ext>
                </a:extLst>
              </a:tr>
              <a:tr h="628982">
                <a:tc>
                  <a:txBody>
                    <a:bodyPr/>
                    <a:lstStyle/>
                    <a:p>
                      <a:pPr marL="435609" indent="-344170">
                        <a:lnSpc>
                          <a:spcPct val="100000"/>
                        </a:lnSpc>
                        <a:spcBef>
                          <a:spcPts val="175"/>
                        </a:spcBef>
                        <a:buFont typeface="Wingdings"/>
                        <a:buChar char=""/>
                        <a:tabLst>
                          <a:tab pos="435609" algn="l"/>
                        </a:tabLst>
                      </a:pPr>
                      <a:r>
                        <a:rPr sz="1400" b="1" dirty="0">
                          <a:solidFill>
                            <a:srgbClr val="001F5F"/>
                          </a:solidFill>
                          <a:latin typeface="Calibri"/>
                          <a:cs typeface="Calibri"/>
                        </a:rPr>
                        <a:t>Interface having Interface keyword only</a:t>
                      </a:r>
                      <a:r>
                        <a:rPr lang="en-IN" sz="1400" b="1" dirty="0">
                          <a:solidFill>
                            <a:srgbClr val="001F5F"/>
                          </a:solidFill>
                          <a:latin typeface="Calibri"/>
                          <a:cs typeface="Calibri"/>
                        </a:rPr>
                        <a:t> </a:t>
                      </a:r>
                      <a:r>
                        <a:rPr sz="1400" b="1" dirty="0">
                          <a:solidFill>
                            <a:srgbClr val="001F5F"/>
                          </a:solidFill>
                          <a:latin typeface="Calibri"/>
                          <a:cs typeface="Calibri"/>
                        </a:rPr>
                        <a:t>for class</a:t>
                      </a:r>
                    </a:p>
                  </a:txBody>
                  <a:tcPr marL="0" marR="0" marT="222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436880" indent="-344170">
                        <a:lnSpc>
                          <a:spcPct val="100000"/>
                        </a:lnSpc>
                        <a:spcBef>
                          <a:spcPts val="175"/>
                        </a:spcBef>
                        <a:buFont typeface="Wingdings"/>
                        <a:buChar char=""/>
                        <a:tabLst>
                          <a:tab pos="436880" algn="l"/>
                        </a:tabLst>
                      </a:pPr>
                      <a:r>
                        <a:rPr sz="1400" b="1" dirty="0">
                          <a:solidFill>
                            <a:srgbClr val="001F5F"/>
                          </a:solidFill>
                          <a:latin typeface="Calibri"/>
                          <a:cs typeface="Calibri"/>
                        </a:rPr>
                        <a:t>Abstract class having Abstract keyword for class and</a:t>
                      </a:r>
                      <a:endParaRPr sz="1400" b="1">
                        <a:solidFill>
                          <a:srgbClr val="001F5F"/>
                        </a:solidFill>
                        <a:latin typeface="Calibri"/>
                        <a:cs typeface="Calibri"/>
                      </a:endParaRPr>
                    </a:p>
                    <a:p>
                      <a:pPr marL="436880">
                        <a:lnSpc>
                          <a:spcPct val="100000"/>
                        </a:lnSpc>
                        <a:spcBef>
                          <a:spcPts val="5"/>
                        </a:spcBef>
                      </a:pPr>
                      <a:r>
                        <a:rPr sz="1400" b="1" dirty="0">
                          <a:solidFill>
                            <a:srgbClr val="001F5F"/>
                          </a:solidFill>
                          <a:latin typeface="Calibri"/>
                          <a:cs typeface="Calibri"/>
                        </a:rPr>
                        <a:t>method</a:t>
                      </a:r>
                      <a:endParaRPr sz="1400" b="1">
                        <a:solidFill>
                          <a:srgbClr val="001F5F"/>
                        </a:solidFill>
                        <a:latin typeface="Calibri"/>
                        <a:cs typeface="Calibri"/>
                      </a:endParaRPr>
                    </a:p>
                  </a:txBody>
                  <a:tcPr marL="0" marR="0" marT="222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742397">
                <a:tc>
                  <a:txBody>
                    <a:bodyPr/>
                    <a:lstStyle/>
                    <a:p>
                      <a:pPr marL="435609" indent="-344170">
                        <a:lnSpc>
                          <a:spcPct val="100000"/>
                        </a:lnSpc>
                        <a:spcBef>
                          <a:spcPts val="180"/>
                        </a:spcBef>
                        <a:buFont typeface="Wingdings"/>
                        <a:buChar char=""/>
                        <a:tabLst>
                          <a:tab pos="435609" algn="l"/>
                          <a:tab pos="1649095" algn="l"/>
                          <a:tab pos="1978660" algn="l"/>
                          <a:tab pos="2624455" algn="l"/>
                          <a:tab pos="3008630" algn="l"/>
                          <a:tab pos="4106545" algn="l"/>
                        </a:tabLst>
                      </a:pPr>
                      <a:r>
                        <a:rPr sz="1400" b="1" dirty="0">
                          <a:solidFill>
                            <a:srgbClr val="001F5F"/>
                          </a:solidFill>
                          <a:latin typeface="Calibri"/>
                          <a:cs typeface="Calibri"/>
                        </a:rPr>
                        <a:t>Interface</a:t>
                      </a:r>
                      <a:r>
                        <a:rPr lang="en-IN" sz="1400" b="1" dirty="0">
                          <a:solidFill>
                            <a:srgbClr val="001F5F"/>
                          </a:solidFill>
                          <a:latin typeface="Calibri"/>
                          <a:cs typeface="Calibri"/>
                        </a:rPr>
                        <a:t> </a:t>
                      </a:r>
                      <a:r>
                        <a:rPr sz="1400" b="1" dirty="0">
                          <a:solidFill>
                            <a:srgbClr val="001F5F"/>
                          </a:solidFill>
                          <a:latin typeface="Calibri"/>
                          <a:cs typeface="Calibri"/>
                        </a:rPr>
                        <a:t>is</a:t>
                      </a:r>
                      <a:r>
                        <a:rPr lang="en-IN" sz="1400" b="1" dirty="0">
                          <a:solidFill>
                            <a:srgbClr val="001F5F"/>
                          </a:solidFill>
                          <a:latin typeface="Calibri"/>
                          <a:cs typeface="Calibri"/>
                        </a:rPr>
                        <a:t> </a:t>
                      </a:r>
                      <a:r>
                        <a:rPr sz="1400" b="1" dirty="0">
                          <a:solidFill>
                            <a:srgbClr val="001F5F"/>
                          </a:solidFill>
                          <a:latin typeface="Calibri"/>
                          <a:cs typeface="Calibri"/>
                        </a:rPr>
                        <a:t>used</a:t>
                      </a:r>
                      <a:r>
                        <a:rPr lang="en-IN" sz="1400" b="1" dirty="0">
                          <a:solidFill>
                            <a:srgbClr val="001F5F"/>
                          </a:solidFill>
                          <a:latin typeface="Calibri"/>
                          <a:cs typeface="Calibri"/>
                        </a:rPr>
                        <a:t> </a:t>
                      </a:r>
                      <a:r>
                        <a:rPr sz="1400" b="1" dirty="0">
                          <a:solidFill>
                            <a:srgbClr val="001F5F"/>
                          </a:solidFill>
                          <a:latin typeface="Calibri"/>
                          <a:cs typeface="Calibri"/>
                        </a:rPr>
                        <a:t>	to	achieve	multiple</a:t>
                      </a:r>
                    </a:p>
                    <a:p>
                      <a:pPr marL="435609">
                        <a:lnSpc>
                          <a:spcPct val="100000"/>
                        </a:lnSpc>
                      </a:pPr>
                      <a:r>
                        <a:rPr sz="1400" b="1" dirty="0">
                          <a:solidFill>
                            <a:srgbClr val="001F5F"/>
                          </a:solidFill>
                          <a:latin typeface="Calibri"/>
                          <a:cs typeface="Calibri"/>
                        </a:rPr>
                        <a:t>inheritance</a:t>
                      </a:r>
                    </a:p>
                  </a:txBody>
                  <a:tcPr marL="0" marR="0" marT="22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3EA"/>
                    </a:solidFill>
                  </a:tcPr>
                </a:tc>
                <a:tc>
                  <a:txBody>
                    <a:bodyPr/>
                    <a:lstStyle/>
                    <a:p>
                      <a:pPr marL="436880" indent="-344170">
                        <a:lnSpc>
                          <a:spcPct val="100000"/>
                        </a:lnSpc>
                        <a:spcBef>
                          <a:spcPts val="180"/>
                        </a:spcBef>
                        <a:buFont typeface="Wingdings"/>
                        <a:buChar char=""/>
                        <a:tabLst>
                          <a:tab pos="436880" algn="l"/>
                        </a:tabLst>
                      </a:pPr>
                      <a:r>
                        <a:rPr sz="1400" b="1" dirty="0">
                          <a:solidFill>
                            <a:srgbClr val="001F5F"/>
                          </a:solidFill>
                          <a:latin typeface="Calibri"/>
                          <a:cs typeface="Calibri"/>
                        </a:rPr>
                        <a:t>Abstract class Not Supports multiple inheritance</a:t>
                      </a:r>
                      <a:endParaRPr sz="1400" b="1">
                        <a:solidFill>
                          <a:srgbClr val="001F5F"/>
                        </a:solidFill>
                        <a:latin typeface="Calibri"/>
                        <a:cs typeface="Calibri"/>
                      </a:endParaRPr>
                    </a:p>
                  </a:txBody>
                  <a:tcPr marL="0" marR="0" marT="22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3EA"/>
                    </a:solidFill>
                  </a:tcPr>
                </a:tc>
                <a:extLst>
                  <a:ext uri="{0D108BD9-81ED-4DB2-BD59-A6C34878D82A}">
                    <a16:rowId xmlns:a16="http://schemas.microsoft.com/office/drawing/2014/main" val="10003"/>
                  </a:ext>
                </a:extLst>
              </a:tr>
              <a:tr h="628982">
                <a:tc>
                  <a:txBody>
                    <a:bodyPr/>
                    <a:lstStyle/>
                    <a:p>
                      <a:pPr marL="435609" indent="-344170">
                        <a:lnSpc>
                          <a:spcPct val="100000"/>
                        </a:lnSpc>
                        <a:spcBef>
                          <a:spcPts val="185"/>
                        </a:spcBef>
                        <a:buFont typeface="Wingdings"/>
                        <a:buChar char=""/>
                        <a:tabLst>
                          <a:tab pos="435609" algn="l"/>
                          <a:tab pos="3594100" algn="l"/>
                        </a:tabLst>
                      </a:pPr>
                      <a:r>
                        <a:rPr sz="1400" b="1" dirty="0">
                          <a:solidFill>
                            <a:srgbClr val="001F5F"/>
                          </a:solidFill>
                          <a:latin typeface="Calibri"/>
                          <a:cs typeface="Calibri"/>
                        </a:rPr>
                        <a:t>Interface is used to achieve</a:t>
                      </a:r>
                      <a:r>
                        <a:rPr lang="en-IN" sz="1400" b="1" dirty="0">
                          <a:solidFill>
                            <a:srgbClr val="001F5F"/>
                          </a:solidFill>
                          <a:latin typeface="Calibri"/>
                          <a:cs typeface="Calibri"/>
                        </a:rPr>
                        <a:t> </a:t>
                      </a:r>
                      <a:r>
                        <a:rPr sz="1400" b="1" dirty="0">
                          <a:solidFill>
                            <a:srgbClr val="001F5F"/>
                          </a:solidFill>
                          <a:latin typeface="Calibri"/>
                          <a:cs typeface="Calibri"/>
                        </a:rPr>
                        <a:t>abstraction</a:t>
                      </a:r>
                    </a:p>
                  </a:txBody>
                  <a:tcPr marL="0" marR="0" marT="234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436880" indent="-344170">
                        <a:lnSpc>
                          <a:spcPct val="100000"/>
                        </a:lnSpc>
                        <a:spcBef>
                          <a:spcPts val="185"/>
                        </a:spcBef>
                        <a:buFont typeface="Wingdings"/>
                        <a:buChar char=""/>
                        <a:tabLst>
                          <a:tab pos="436880" algn="l"/>
                        </a:tabLst>
                      </a:pPr>
                      <a:r>
                        <a:rPr sz="1400" b="1" dirty="0">
                          <a:solidFill>
                            <a:srgbClr val="001F5F"/>
                          </a:solidFill>
                          <a:latin typeface="Calibri"/>
                          <a:cs typeface="Calibri"/>
                        </a:rPr>
                        <a:t>Abstract class is used to achieve abstraction</a:t>
                      </a:r>
                      <a:endParaRPr sz="1400" b="1">
                        <a:solidFill>
                          <a:srgbClr val="001F5F"/>
                        </a:solidFill>
                        <a:latin typeface="Calibri"/>
                        <a:cs typeface="Calibri"/>
                      </a:endParaRPr>
                    </a:p>
                  </a:txBody>
                  <a:tcPr marL="0" marR="0" marT="234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499132">
                <a:tc>
                  <a:txBody>
                    <a:bodyPr/>
                    <a:lstStyle/>
                    <a:p>
                      <a:pPr marL="377825" indent="-286385">
                        <a:lnSpc>
                          <a:spcPct val="100000"/>
                        </a:lnSpc>
                        <a:spcBef>
                          <a:spcPts val="209"/>
                        </a:spcBef>
                        <a:buFont typeface="Wingdings"/>
                        <a:buChar char=""/>
                        <a:tabLst>
                          <a:tab pos="377825" algn="l"/>
                        </a:tabLst>
                      </a:pPr>
                      <a:r>
                        <a:rPr sz="1400" b="1" dirty="0">
                          <a:solidFill>
                            <a:srgbClr val="001F5F"/>
                          </a:solidFill>
                          <a:latin typeface="Calibri"/>
                          <a:cs typeface="Calibri"/>
                        </a:rPr>
                        <a:t>Interface having only abstract methods</a:t>
                      </a:r>
                      <a:endParaRPr sz="1400" b="1">
                        <a:solidFill>
                          <a:srgbClr val="001F5F"/>
                        </a:solidFill>
                        <a:latin typeface="Calibri"/>
                        <a:cs typeface="Calibri"/>
                      </a:endParaRPr>
                    </a:p>
                  </a:txBody>
                  <a:tcPr marL="0" marR="0" marT="266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3EA"/>
                    </a:solidFill>
                  </a:tcPr>
                </a:tc>
                <a:tc>
                  <a:txBody>
                    <a:bodyPr/>
                    <a:lstStyle/>
                    <a:p>
                      <a:pPr marL="379095" indent="-286385">
                        <a:lnSpc>
                          <a:spcPct val="100000"/>
                        </a:lnSpc>
                        <a:spcBef>
                          <a:spcPts val="209"/>
                        </a:spcBef>
                        <a:buFont typeface="Wingdings"/>
                        <a:buChar char=""/>
                        <a:tabLst>
                          <a:tab pos="379095" algn="l"/>
                        </a:tabLst>
                      </a:pPr>
                      <a:r>
                        <a:rPr sz="1400" b="1" dirty="0">
                          <a:solidFill>
                            <a:srgbClr val="001F5F"/>
                          </a:solidFill>
                          <a:latin typeface="Calibri"/>
                          <a:cs typeface="Calibri"/>
                        </a:rPr>
                        <a:t>Abstract class having atleast one abstract method and non</a:t>
                      </a:r>
                    </a:p>
                    <a:p>
                      <a:pPr marL="379095">
                        <a:lnSpc>
                          <a:spcPct val="100000"/>
                        </a:lnSpc>
                      </a:pPr>
                      <a:r>
                        <a:rPr sz="1400" b="1" dirty="0">
                          <a:solidFill>
                            <a:srgbClr val="001F5F"/>
                          </a:solidFill>
                          <a:latin typeface="Calibri"/>
                          <a:cs typeface="Calibri"/>
                        </a:rPr>
                        <a:t>abstract methods</a:t>
                      </a:r>
                    </a:p>
                  </a:txBody>
                  <a:tcPr marL="0" marR="0" marT="266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3EA"/>
                    </a:solidFill>
                  </a:tcPr>
                </a:tc>
                <a:extLst>
                  <a:ext uri="{0D108BD9-81ED-4DB2-BD59-A6C34878D82A}">
                    <a16:rowId xmlns:a16="http://schemas.microsoft.com/office/drawing/2014/main" val="10005"/>
                  </a:ext>
                </a:extLst>
              </a:tr>
              <a:tr h="470093">
                <a:tc>
                  <a:txBody>
                    <a:bodyPr/>
                    <a:lstStyle/>
                    <a:p>
                      <a:pPr marL="377190" indent="-285750">
                        <a:lnSpc>
                          <a:spcPct val="100000"/>
                        </a:lnSpc>
                        <a:spcBef>
                          <a:spcPts val="210"/>
                        </a:spcBef>
                        <a:buFont typeface="Wingdings"/>
                        <a:buChar char=""/>
                        <a:tabLst>
                          <a:tab pos="377190" algn="l"/>
                        </a:tabLst>
                      </a:pPr>
                      <a:r>
                        <a:rPr sz="1400" b="1" dirty="0">
                          <a:solidFill>
                            <a:srgbClr val="001F5F"/>
                          </a:solidFill>
                          <a:latin typeface="Calibri"/>
                          <a:cs typeface="Calibri"/>
                        </a:rPr>
                        <a:t>Interface having impelements keyword</a:t>
                      </a:r>
                    </a:p>
                  </a:txBody>
                  <a:tcPr marL="0" marR="0" marT="266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378460" indent="-285750">
                        <a:lnSpc>
                          <a:spcPct val="100000"/>
                        </a:lnSpc>
                        <a:spcBef>
                          <a:spcPts val="210"/>
                        </a:spcBef>
                        <a:buFont typeface="Wingdings"/>
                        <a:buChar char=""/>
                        <a:tabLst>
                          <a:tab pos="378460" algn="l"/>
                        </a:tabLst>
                      </a:pPr>
                      <a:r>
                        <a:rPr sz="1400" b="1" dirty="0">
                          <a:solidFill>
                            <a:srgbClr val="001F5F"/>
                          </a:solidFill>
                          <a:latin typeface="Calibri"/>
                          <a:cs typeface="Calibri"/>
                        </a:rPr>
                        <a:t>Abstract class having extends keyword</a:t>
                      </a:r>
                      <a:endParaRPr sz="1400" b="1">
                        <a:solidFill>
                          <a:srgbClr val="001F5F"/>
                        </a:solidFill>
                        <a:latin typeface="Calibri"/>
                        <a:cs typeface="Calibri"/>
                      </a:endParaRPr>
                    </a:p>
                  </a:txBody>
                  <a:tcPr marL="0" marR="0" marT="266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r h="710071">
                <a:tc>
                  <a:txBody>
                    <a:bodyPr/>
                    <a:lstStyle/>
                    <a:p>
                      <a:pPr marL="379095" marR="27940" indent="-286385" algn="l" defTabSz="914400" rtl="0" eaLnBrk="1" latinLnBrk="0" hangingPunct="1">
                        <a:lnSpc>
                          <a:spcPct val="100000"/>
                        </a:lnSpc>
                        <a:spcBef>
                          <a:spcPts val="210"/>
                        </a:spcBef>
                        <a:buFont typeface="Wingdings"/>
                        <a:buChar char=""/>
                        <a:tabLst>
                          <a:tab pos="286385" algn="l"/>
                        </a:tabLst>
                      </a:pPr>
                      <a:r>
                        <a:rPr sz="1400" b="1" kern="1200" dirty="0">
                          <a:solidFill>
                            <a:srgbClr val="001F5F"/>
                          </a:solidFill>
                          <a:latin typeface="Calibri"/>
                          <a:cs typeface="Calibri"/>
                        </a:rPr>
                        <a:t>In Interface ,implement keyword is used to</a:t>
                      </a:r>
                    </a:p>
                    <a:p>
                      <a:pPr marL="379095" algn="l" defTabSz="914400" rtl="0" eaLnBrk="1" latinLnBrk="0" hangingPunct="1">
                        <a:lnSpc>
                          <a:spcPct val="100000"/>
                        </a:lnSpc>
                        <a:spcBef>
                          <a:spcPts val="5"/>
                        </a:spcBef>
                      </a:pPr>
                      <a:r>
                        <a:rPr sz="1400" b="1" kern="1200" dirty="0">
                          <a:solidFill>
                            <a:srgbClr val="001F5F"/>
                          </a:solidFill>
                          <a:latin typeface="Calibri"/>
                          <a:cs typeface="Calibri"/>
                        </a:rPr>
                        <a:t>import multiples base class properties into</a:t>
                      </a:r>
                    </a:p>
                    <a:p>
                      <a:pPr marL="379095" algn="l" defTabSz="914400" rtl="0" eaLnBrk="1" latinLnBrk="0" hangingPunct="1">
                        <a:lnSpc>
                          <a:spcPct val="100000"/>
                        </a:lnSpc>
                      </a:pPr>
                      <a:r>
                        <a:rPr sz="1400" b="1" kern="1200" dirty="0">
                          <a:solidFill>
                            <a:srgbClr val="001F5F"/>
                          </a:solidFill>
                          <a:latin typeface="Calibri"/>
                          <a:cs typeface="Calibri"/>
                        </a:rPr>
                        <a:t>single derived class</a:t>
                      </a:r>
                    </a:p>
                  </a:txBody>
                  <a:tcPr marL="0" marR="0" marT="266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3EA"/>
                    </a:solidFill>
                  </a:tcPr>
                </a:tc>
                <a:tc>
                  <a:txBody>
                    <a:bodyPr/>
                    <a:lstStyle/>
                    <a:p>
                      <a:pPr marL="379095" marR="27940" indent="-286385" algn="l" defTabSz="914400" rtl="0" eaLnBrk="1" latinLnBrk="0" hangingPunct="1">
                        <a:lnSpc>
                          <a:spcPct val="100000"/>
                        </a:lnSpc>
                        <a:spcBef>
                          <a:spcPts val="210"/>
                        </a:spcBef>
                        <a:buFont typeface="Wingdings"/>
                        <a:buChar char=""/>
                        <a:tabLst>
                          <a:tab pos="286385" algn="l"/>
                        </a:tabLst>
                      </a:pPr>
                      <a:r>
                        <a:rPr lang="en-US" sz="1400" b="1" kern="1200" dirty="0">
                          <a:solidFill>
                            <a:srgbClr val="001F5F"/>
                          </a:solidFill>
                          <a:latin typeface="Calibri"/>
                          <a:cs typeface="Calibri"/>
                        </a:rPr>
                        <a:t>In Abstract </a:t>
                      </a:r>
                      <a:r>
                        <a:rPr lang="en-US" sz="1400" b="1" kern="1200" dirty="0" err="1">
                          <a:solidFill>
                            <a:srgbClr val="001F5F"/>
                          </a:solidFill>
                          <a:latin typeface="Calibri"/>
                          <a:cs typeface="Calibri"/>
                        </a:rPr>
                        <a:t>class,extends</a:t>
                      </a:r>
                      <a:r>
                        <a:rPr lang="en-US" sz="1400" b="1" kern="1200" dirty="0">
                          <a:solidFill>
                            <a:srgbClr val="001F5F"/>
                          </a:solidFill>
                          <a:latin typeface="Calibri"/>
                          <a:cs typeface="Calibri"/>
                        </a:rPr>
                        <a:t> keyword is used to import single base</a:t>
                      </a:r>
                    </a:p>
                    <a:p>
                      <a:pPr marL="379095" algn="l" defTabSz="914400" rtl="0" eaLnBrk="1" latinLnBrk="0" hangingPunct="1">
                        <a:lnSpc>
                          <a:spcPct val="100000"/>
                        </a:lnSpc>
                        <a:spcBef>
                          <a:spcPts val="5"/>
                        </a:spcBef>
                      </a:pPr>
                      <a:r>
                        <a:rPr sz="1400" b="1" kern="1200" dirty="0">
                          <a:solidFill>
                            <a:srgbClr val="001F5F"/>
                          </a:solidFill>
                          <a:latin typeface="Calibri"/>
                          <a:cs typeface="Calibri"/>
                        </a:rPr>
                        <a:t>class properties into single derived class</a:t>
                      </a:r>
                    </a:p>
                  </a:txBody>
                  <a:tcPr marL="0" marR="0" marT="266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3EA"/>
                    </a:solidFill>
                  </a:tcPr>
                </a:tc>
                <a:extLst>
                  <a:ext uri="{0D108BD9-81ED-4DB2-BD59-A6C34878D82A}">
                    <a16:rowId xmlns:a16="http://schemas.microsoft.com/office/drawing/2014/main" val="10007"/>
                  </a:ext>
                </a:extLst>
              </a:tr>
              <a:tr h="1341245">
                <a:tc>
                  <a:txBody>
                    <a:bodyPr/>
                    <a:lstStyle/>
                    <a:p>
                      <a:pPr marL="91440" marR="3051810" indent="285750">
                        <a:lnSpc>
                          <a:spcPct val="100000"/>
                        </a:lnSpc>
                        <a:spcBef>
                          <a:spcPts val="220"/>
                        </a:spcBef>
                        <a:buFont typeface="Wingdings"/>
                        <a:buChar char=""/>
                        <a:tabLst>
                          <a:tab pos="377190" algn="l"/>
                        </a:tabLst>
                      </a:pPr>
                      <a:r>
                        <a:rPr sz="1400" b="1" dirty="0">
                          <a:solidFill>
                            <a:srgbClr val="C00000"/>
                          </a:solidFill>
                          <a:latin typeface="Calibri"/>
                          <a:cs typeface="Calibri"/>
                        </a:rPr>
                        <a:t>Syntax: </a:t>
                      </a:r>
                      <a:r>
                        <a:rPr sz="1400" b="1" dirty="0">
                          <a:solidFill>
                            <a:srgbClr val="001F5F"/>
                          </a:solidFill>
                          <a:latin typeface="Calibri"/>
                          <a:cs typeface="Calibri"/>
                        </a:rPr>
                        <a:t>interface classname</a:t>
                      </a:r>
                    </a:p>
                    <a:p>
                      <a:pPr marL="91440">
                        <a:lnSpc>
                          <a:spcPct val="100000"/>
                        </a:lnSpc>
                        <a:spcBef>
                          <a:spcPts val="5"/>
                        </a:spcBef>
                      </a:pPr>
                      <a:r>
                        <a:rPr sz="1400" b="1" dirty="0">
                          <a:solidFill>
                            <a:srgbClr val="001F5F"/>
                          </a:solidFill>
                          <a:latin typeface="Calibri"/>
                          <a:cs typeface="Calibri"/>
                        </a:rPr>
                        <a:t>{</a:t>
                      </a:r>
                    </a:p>
                    <a:p>
                      <a:pPr marL="91440">
                        <a:lnSpc>
                          <a:spcPct val="100000"/>
                        </a:lnSpc>
                      </a:pPr>
                      <a:r>
                        <a:rPr sz="1400" b="1" dirty="0">
                          <a:solidFill>
                            <a:srgbClr val="001F5F"/>
                          </a:solidFill>
                          <a:latin typeface="Calibri"/>
                          <a:cs typeface="Calibri"/>
                        </a:rPr>
                        <a:t>abstract method();</a:t>
                      </a:r>
                    </a:p>
                    <a:p>
                      <a:pPr marL="91440">
                        <a:lnSpc>
                          <a:spcPct val="100000"/>
                        </a:lnSpc>
                      </a:pPr>
                      <a:r>
                        <a:rPr sz="1400" b="1" dirty="0">
                          <a:solidFill>
                            <a:srgbClr val="001F5F"/>
                          </a:solidFill>
                          <a:latin typeface="Calibri"/>
                          <a:cs typeface="Calibri"/>
                        </a:rPr>
                        <a:t>}</a:t>
                      </a:r>
                    </a:p>
                  </a:txBody>
                  <a:tcPr marL="0" marR="0" marT="279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378460" indent="-285750">
                        <a:lnSpc>
                          <a:spcPct val="100000"/>
                        </a:lnSpc>
                        <a:spcBef>
                          <a:spcPts val="220"/>
                        </a:spcBef>
                        <a:buFont typeface="Wingdings"/>
                        <a:buChar char=""/>
                        <a:tabLst>
                          <a:tab pos="378460" algn="l"/>
                        </a:tabLst>
                      </a:pPr>
                      <a:r>
                        <a:rPr sz="1400" b="1" dirty="0">
                          <a:solidFill>
                            <a:srgbClr val="C00000"/>
                          </a:solidFill>
                          <a:latin typeface="Calibri"/>
                          <a:cs typeface="Calibri"/>
                        </a:rPr>
                        <a:t>Syntax:</a:t>
                      </a:r>
                      <a:endParaRPr sz="1400" b="1" dirty="0">
                        <a:solidFill>
                          <a:srgbClr val="001F5F"/>
                        </a:solidFill>
                        <a:latin typeface="Calibri"/>
                        <a:cs typeface="Calibri"/>
                      </a:endParaRPr>
                    </a:p>
                    <a:p>
                      <a:pPr marL="92710">
                        <a:lnSpc>
                          <a:spcPct val="100000"/>
                        </a:lnSpc>
                      </a:pPr>
                      <a:r>
                        <a:rPr sz="1400" b="1" dirty="0">
                          <a:solidFill>
                            <a:srgbClr val="001F5F"/>
                          </a:solidFill>
                          <a:latin typeface="Calibri"/>
                          <a:cs typeface="Calibri"/>
                        </a:rPr>
                        <a:t>abstract class classname</a:t>
                      </a:r>
                    </a:p>
                    <a:p>
                      <a:pPr marL="92710">
                        <a:lnSpc>
                          <a:spcPct val="100000"/>
                        </a:lnSpc>
                        <a:spcBef>
                          <a:spcPts val="5"/>
                        </a:spcBef>
                      </a:pPr>
                      <a:r>
                        <a:rPr sz="1400" b="1" dirty="0">
                          <a:solidFill>
                            <a:srgbClr val="001F5F"/>
                          </a:solidFill>
                          <a:latin typeface="Calibri"/>
                          <a:cs typeface="Calibri"/>
                        </a:rPr>
                        <a:t>{</a:t>
                      </a:r>
                    </a:p>
                    <a:p>
                      <a:pPr marL="92710">
                        <a:lnSpc>
                          <a:spcPts val="1820"/>
                        </a:lnSpc>
                      </a:pPr>
                      <a:r>
                        <a:rPr sz="1400" b="1" dirty="0">
                          <a:solidFill>
                            <a:srgbClr val="001F5F"/>
                          </a:solidFill>
                          <a:latin typeface="Calibri"/>
                          <a:cs typeface="Calibri"/>
                        </a:rPr>
                        <a:t>abstract method();</a:t>
                      </a:r>
                    </a:p>
                    <a:p>
                      <a:pPr marL="92710">
                        <a:lnSpc>
                          <a:spcPts val="2039"/>
                        </a:lnSpc>
                        <a:tabLst>
                          <a:tab pos="5887720" algn="l"/>
                        </a:tabLst>
                      </a:pPr>
                      <a:r>
                        <a:rPr sz="1400" b="1" dirty="0">
                          <a:solidFill>
                            <a:srgbClr val="001F5F"/>
                          </a:solidFill>
                          <a:latin typeface="Calibri"/>
                          <a:cs typeface="Calibri"/>
                        </a:rPr>
                        <a:t>Non-abstract method();	</a:t>
                      </a:r>
                      <a:r>
                        <a:rPr sz="1600" b="1" baseline="-35493" dirty="0">
                          <a:solidFill>
                            <a:srgbClr val="6B7280"/>
                          </a:solidFill>
                          <a:latin typeface="Calibri"/>
                          <a:cs typeface="Calibri"/>
                        </a:rPr>
                        <a:t>20</a:t>
                      </a:r>
                      <a:endParaRPr sz="1600" b="1" baseline="-35493" dirty="0">
                        <a:solidFill>
                          <a:srgbClr val="001F5F"/>
                        </a:solidFill>
                        <a:latin typeface="Calibri"/>
                        <a:cs typeface="Calibri"/>
                      </a:endParaRPr>
                    </a:p>
                    <a:p>
                      <a:pPr marL="92710">
                        <a:lnSpc>
                          <a:spcPts val="1900"/>
                        </a:lnSpc>
                      </a:pPr>
                      <a:r>
                        <a:rPr sz="1400" b="1" dirty="0">
                          <a:solidFill>
                            <a:srgbClr val="001F5F"/>
                          </a:solidFill>
                          <a:latin typeface="Calibri"/>
                          <a:cs typeface="Calibri"/>
                        </a:rPr>
                        <a:t>}</a:t>
                      </a:r>
                    </a:p>
                  </a:txBody>
                  <a:tcPr marL="0" marR="0" marT="279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8"/>
                  </a:ext>
                </a:extLst>
              </a:tr>
            </a:tbl>
          </a:graphicData>
        </a:graphic>
      </p:graphicFrame>
      <p:sp>
        <p:nvSpPr>
          <p:cNvPr id="6" name="TextBox 5">
            <a:extLst>
              <a:ext uri="{FF2B5EF4-FFF2-40B4-BE49-F238E27FC236}">
                <a16:creationId xmlns:a16="http://schemas.microsoft.com/office/drawing/2014/main" id="{48DFE1D4-2798-4104-C20C-7314A630BFFE}"/>
              </a:ext>
            </a:extLst>
          </p:cNvPr>
          <p:cNvSpPr txBox="1"/>
          <p:nvPr/>
        </p:nvSpPr>
        <p:spPr>
          <a:xfrm>
            <a:off x="299720" y="12290"/>
            <a:ext cx="9606280" cy="400110"/>
          </a:xfrm>
          <a:prstGeom prst="rect">
            <a:avLst/>
          </a:prstGeom>
          <a:noFill/>
        </p:spPr>
        <p:txBody>
          <a:bodyPr wrap="square">
            <a:spAutoFit/>
          </a:bodyPr>
          <a:lstStyle/>
          <a:p>
            <a:r>
              <a:rPr lang="en-IN" sz="2000" b="1" dirty="0">
                <a:solidFill>
                  <a:srgbClr val="C00000"/>
                </a:solidFill>
                <a:latin typeface="Calibri"/>
                <a:cs typeface="Calibri"/>
              </a:rPr>
              <a:t> DIFFERENCE BETWEEN  INTERFACE &amp; ABSTRACT</a:t>
            </a:r>
            <a:endParaRPr lang="en-IN" sz="2000" dirty="0">
              <a:solidFill>
                <a:srgbClr val="C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C6450-962C-4806-3A76-674FDCB08BE1}"/>
            </a:ext>
          </a:extLst>
        </p:cNvPr>
        <p:cNvGrpSpPr/>
        <p:nvPr/>
      </p:nvGrpSpPr>
      <p:grpSpPr>
        <a:xfrm>
          <a:off x="0" y="0"/>
          <a:ext cx="0" cy="0"/>
          <a:chOff x="0" y="0"/>
          <a:chExt cx="0" cy="0"/>
        </a:xfrm>
      </p:grpSpPr>
      <p:sp>
        <p:nvSpPr>
          <p:cNvPr id="8" name="object 2">
            <a:extLst>
              <a:ext uri="{FF2B5EF4-FFF2-40B4-BE49-F238E27FC236}">
                <a16:creationId xmlns:a16="http://schemas.microsoft.com/office/drawing/2014/main" id="{723A21A9-3595-278D-0DB6-7595207586E5}"/>
              </a:ext>
            </a:extLst>
          </p:cNvPr>
          <p:cNvSpPr txBox="1">
            <a:spLocks/>
          </p:cNvSpPr>
          <p:nvPr/>
        </p:nvSpPr>
        <p:spPr>
          <a:xfrm>
            <a:off x="4310888" y="2507450"/>
            <a:ext cx="3573145" cy="444994"/>
          </a:xfrm>
          <a:prstGeom prst="rect">
            <a:avLst/>
          </a:prstGeom>
        </p:spPr>
        <p:txBody>
          <a:bodyPr vert="horz" wrap="square" lIns="0" tIns="13970" rIns="0" bIns="0" rtlCol="0" anchor="b">
            <a:spAutoFit/>
          </a:bodyPr>
          <a:lstStyle>
            <a:lvl1pPr algn="ctr" defTabSz="914400" rtl="0" eaLnBrk="1" latinLnBrk="0" hangingPunct="1">
              <a:lnSpc>
                <a:spcPct val="80000"/>
              </a:lnSpc>
              <a:spcBef>
                <a:spcPct val="0"/>
              </a:spcBef>
              <a:buNone/>
              <a:defRPr sz="6000" b="0" i="0" kern="1200" spc="-200" baseline="0">
                <a:solidFill>
                  <a:schemeClr val="tx1"/>
                </a:solidFill>
                <a:latin typeface="+mj-lt"/>
                <a:ea typeface="+mj-ea"/>
                <a:cs typeface="+mj-cs"/>
              </a:defRPr>
            </a:lvl1pPr>
          </a:lstStyle>
          <a:p>
            <a:pPr>
              <a:lnSpc>
                <a:spcPct val="100000"/>
              </a:lnSpc>
              <a:spcBef>
                <a:spcPts val="110"/>
              </a:spcBef>
            </a:pPr>
            <a:r>
              <a:rPr lang="en-IN" sz="2800" b="1" dirty="0" err="1">
                <a:solidFill>
                  <a:srgbClr val="001F5F"/>
                </a:solidFill>
                <a:latin typeface="Calibri"/>
                <a:cs typeface="Calibri"/>
              </a:rPr>
              <a:t>PART-A:Interfaces</a:t>
            </a:r>
            <a:r>
              <a:rPr lang="en-IN" sz="2800" b="1" dirty="0">
                <a:solidFill>
                  <a:srgbClr val="001F5F"/>
                </a:solidFill>
                <a:latin typeface="Calibri"/>
                <a:cs typeface="Calibri"/>
              </a:rPr>
              <a:t>:</a:t>
            </a:r>
          </a:p>
        </p:txBody>
      </p:sp>
      <p:sp>
        <p:nvSpPr>
          <p:cNvPr id="12" name="object 3">
            <a:extLst>
              <a:ext uri="{FF2B5EF4-FFF2-40B4-BE49-F238E27FC236}">
                <a16:creationId xmlns:a16="http://schemas.microsoft.com/office/drawing/2014/main" id="{3191879B-273C-9D3B-C57B-45C88F823816}"/>
              </a:ext>
            </a:extLst>
          </p:cNvPr>
          <p:cNvSpPr txBox="1"/>
          <p:nvPr/>
        </p:nvSpPr>
        <p:spPr>
          <a:xfrm>
            <a:off x="4191000" y="3097926"/>
            <a:ext cx="6339714" cy="321242"/>
          </a:xfrm>
          <a:prstGeom prst="rect">
            <a:avLst/>
          </a:prstGeom>
        </p:spPr>
        <p:txBody>
          <a:bodyPr vert="horz" wrap="square" lIns="0" tIns="13335" rIns="0" bIns="0" rtlCol="0">
            <a:spAutoFit/>
          </a:bodyPr>
          <a:lstStyle/>
          <a:p>
            <a:pPr marL="12700">
              <a:spcBef>
                <a:spcPts val="105"/>
              </a:spcBef>
            </a:pPr>
            <a:r>
              <a:rPr lang="en-IN" sz="2000" b="1" dirty="0">
                <a:solidFill>
                  <a:srgbClr val="C00000"/>
                </a:solidFill>
                <a:latin typeface="Calibri"/>
                <a:cs typeface="Calibri"/>
              </a:rPr>
              <a:t>Concept-3:</a:t>
            </a:r>
            <a:r>
              <a:rPr sz="2000" b="1" dirty="0">
                <a:solidFill>
                  <a:srgbClr val="001F5F"/>
                </a:solidFill>
                <a:latin typeface="Calibri"/>
                <a:cs typeface="Calibri"/>
              </a:rPr>
              <a:t>Default Methods in Interfaces</a:t>
            </a:r>
          </a:p>
        </p:txBody>
      </p:sp>
    </p:spTree>
    <p:extLst>
      <p:ext uri="{BB962C8B-B14F-4D97-AF65-F5344CB8AC3E}">
        <p14:creationId xmlns:p14="http://schemas.microsoft.com/office/powerpoint/2010/main" val="3206233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34A24-5FF3-8446-1C90-E6A530FBEE42}"/>
            </a:ext>
          </a:extLst>
        </p:cNvPr>
        <p:cNvGrpSpPr/>
        <p:nvPr/>
      </p:nvGrpSpPr>
      <p:grpSpPr>
        <a:xfrm>
          <a:off x="0" y="0"/>
          <a:ext cx="0" cy="0"/>
          <a:chOff x="0" y="0"/>
          <a:chExt cx="0" cy="0"/>
        </a:xfrm>
      </p:grpSpPr>
      <p:sp>
        <p:nvSpPr>
          <p:cNvPr id="13" name="object 2">
            <a:extLst>
              <a:ext uri="{FF2B5EF4-FFF2-40B4-BE49-F238E27FC236}">
                <a16:creationId xmlns:a16="http://schemas.microsoft.com/office/drawing/2014/main" id="{934AF82B-BBB8-00AA-FA2A-E727D6D2E7B8}"/>
              </a:ext>
            </a:extLst>
          </p:cNvPr>
          <p:cNvSpPr txBox="1"/>
          <p:nvPr/>
        </p:nvSpPr>
        <p:spPr>
          <a:xfrm>
            <a:off x="234367" y="1371600"/>
            <a:ext cx="11528425" cy="3824445"/>
          </a:xfrm>
          <a:prstGeom prst="rect">
            <a:avLst/>
          </a:prstGeom>
        </p:spPr>
        <p:txBody>
          <a:bodyPr vert="horz" wrap="square" lIns="0" tIns="12700" rIns="0" bIns="0" rtlCol="0">
            <a:normAutofit/>
          </a:bodyPr>
          <a:lstStyle/>
          <a:p>
            <a:pPr marL="356870" marR="5080" indent="-344805" algn="l">
              <a:lnSpc>
                <a:spcPct val="110000"/>
              </a:lnSpc>
              <a:spcBef>
                <a:spcPts val="0"/>
              </a:spcBef>
              <a:spcAft>
                <a:spcPts val="600"/>
              </a:spcAft>
              <a:buFont typeface="Wingdings"/>
              <a:buChar char=""/>
              <a:tabLst>
                <a:tab pos="356870" algn="l"/>
              </a:tabLst>
            </a:pPr>
            <a:r>
              <a:rPr sz="1800" b="1" dirty="0">
                <a:solidFill>
                  <a:srgbClr val="001F5F"/>
                </a:solidFill>
                <a:latin typeface="Calibri"/>
                <a:cs typeface="Calibri"/>
              </a:rPr>
              <a:t>Before Java 8, interfaces could have only abstract methods. The implementation of these methods has to be provided in a separate class.</a:t>
            </a:r>
            <a:endParaRPr sz="1800" dirty="0">
              <a:solidFill>
                <a:srgbClr val="001F5F"/>
              </a:solidFill>
              <a:latin typeface="Calibri"/>
              <a:cs typeface="Calibri"/>
            </a:endParaRPr>
          </a:p>
          <a:p>
            <a:pPr marL="356870" marR="5080" indent="-344805" algn="l">
              <a:lnSpc>
                <a:spcPct val="110000"/>
              </a:lnSpc>
              <a:spcBef>
                <a:spcPts val="0"/>
              </a:spcBef>
              <a:spcAft>
                <a:spcPts val="600"/>
              </a:spcAft>
              <a:buFont typeface="Wingdings"/>
              <a:buChar char=""/>
              <a:tabLst>
                <a:tab pos="356870" algn="l"/>
              </a:tabLst>
            </a:pPr>
            <a:r>
              <a:rPr sz="1800" b="1" dirty="0">
                <a:solidFill>
                  <a:srgbClr val="001F5F"/>
                </a:solidFill>
                <a:latin typeface="Calibri"/>
                <a:cs typeface="Calibri"/>
              </a:rPr>
              <a:t>So, if a new method is to be added in an interface, then its implementation code has to be provided in the class implementing the same interface.</a:t>
            </a:r>
            <a:endParaRPr sz="1800" dirty="0">
              <a:solidFill>
                <a:srgbClr val="001F5F"/>
              </a:solidFill>
              <a:latin typeface="Calibri"/>
              <a:cs typeface="Calibri"/>
            </a:endParaRPr>
          </a:p>
          <a:p>
            <a:pPr marL="355600" marR="8255" indent="-343535" algn="l">
              <a:lnSpc>
                <a:spcPct val="110000"/>
              </a:lnSpc>
              <a:spcBef>
                <a:spcPts val="0"/>
              </a:spcBef>
              <a:spcAft>
                <a:spcPts val="600"/>
              </a:spcAft>
              <a:buFont typeface="Wingdings"/>
              <a:buChar char=""/>
              <a:tabLst>
                <a:tab pos="356870" algn="l"/>
              </a:tabLst>
            </a:pPr>
            <a:r>
              <a:rPr sz="1800" b="1" dirty="0">
                <a:solidFill>
                  <a:srgbClr val="001F5F"/>
                </a:solidFill>
                <a:latin typeface="Calibri"/>
                <a:cs typeface="Calibri"/>
              </a:rPr>
              <a:t>To overcome this issue, Java 8 has introduced the concept of default methods which allow the interfaces to have methods with implementation without affecting the classes that implement the interface. A default method should not override.</a:t>
            </a:r>
            <a:endParaRPr sz="1800" dirty="0">
              <a:solidFill>
                <a:srgbClr val="001F5F"/>
              </a:solidFill>
              <a:latin typeface="Calibri"/>
              <a:cs typeface="Calibri"/>
            </a:endParaRPr>
          </a:p>
        </p:txBody>
      </p:sp>
    </p:spTree>
    <p:extLst>
      <p:ext uri="{BB962C8B-B14F-4D97-AF65-F5344CB8AC3E}">
        <p14:creationId xmlns:p14="http://schemas.microsoft.com/office/powerpoint/2010/main" val="13481396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81200" y="228600"/>
            <a:ext cx="7296150" cy="5817870"/>
          </a:xfrm>
          <a:prstGeom prst="rect">
            <a:avLst/>
          </a:prstGeom>
        </p:spPr>
        <p:txBody>
          <a:bodyPr vert="horz" wrap="none" lIns="0" tIns="11430" rIns="0" bIns="0" rtlCol="0">
            <a:normAutofit/>
          </a:bodyPr>
          <a:lstStyle/>
          <a:p>
            <a:pPr marL="12700"/>
            <a:r>
              <a:rPr sz="1600" b="1" dirty="0">
                <a:solidFill>
                  <a:srgbClr val="001F5F"/>
                </a:solidFill>
                <a:latin typeface="Courier New"/>
                <a:cs typeface="Courier New"/>
              </a:rPr>
              <a:t>interface Parent</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Default void display()</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System.out.println("Welcome to </a:t>
            </a:r>
            <a:r>
              <a:rPr lang="en-IN" sz="1600" b="1" dirty="0">
                <a:solidFill>
                  <a:srgbClr val="001F5F"/>
                </a:solidFill>
                <a:latin typeface="Courier New"/>
                <a:cs typeface="Courier New"/>
              </a:rPr>
              <a:t>RCE</a:t>
            </a:r>
            <a:r>
              <a:rPr sz="1600" b="1" dirty="0">
                <a:solidFill>
                  <a:srgbClr val="001F5F"/>
                </a:solidFill>
                <a:latin typeface="Courier New"/>
                <a:cs typeface="Courier New"/>
              </a:rPr>
              <a:t> from Parent class");</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class Child implements Parent</a:t>
            </a:r>
          </a:p>
          <a:p>
            <a:pPr marL="12700"/>
            <a:r>
              <a:rPr sz="1600" b="1" dirty="0">
                <a:solidFill>
                  <a:srgbClr val="001F5F"/>
                </a:solidFill>
                <a:latin typeface="Courier New"/>
                <a:cs typeface="Courier New"/>
              </a:rPr>
              <a:t>{</a:t>
            </a:r>
          </a:p>
          <a:p>
            <a:pPr marL="12700"/>
            <a:r>
              <a:rPr sz="1600" b="1" dirty="0">
                <a:solidFill>
                  <a:srgbClr val="2E7D32"/>
                </a:solidFill>
                <a:latin typeface="Courier New"/>
                <a:cs typeface="Courier New"/>
              </a:rPr>
              <a:t>//</a:t>
            </a:r>
            <a:r>
              <a:rPr sz="1600" b="1" dirty="0">
                <a:solidFill>
                  <a:srgbClr val="C00000"/>
                </a:solidFill>
                <a:latin typeface="Courier New"/>
                <a:cs typeface="Courier New"/>
              </a:rPr>
              <a:t> can override defaultMethod, but not mandatory</a:t>
            </a:r>
            <a:endParaRPr sz="1600" b="1" dirty="0">
              <a:solidFill>
                <a:srgbClr val="001F5F"/>
              </a:solidFill>
              <a:latin typeface="Courier New"/>
              <a:cs typeface="Courier New"/>
            </a:endParaRP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class DefaultMethodExample</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public static void main(String args[])</a:t>
            </a:r>
          </a:p>
          <a:p>
            <a:pPr marL="12700"/>
            <a:r>
              <a:rPr sz="1600" b="1" dirty="0">
                <a:solidFill>
                  <a:srgbClr val="001F5F"/>
                </a:solidFill>
                <a:latin typeface="Courier New"/>
                <a:cs typeface="Courier New"/>
              </a:rPr>
              <a:t>{</a:t>
            </a:r>
          </a:p>
          <a:p>
            <a:pPr marL="12700" marR="4599940"/>
            <a:r>
              <a:rPr sz="1600" b="1" dirty="0">
                <a:solidFill>
                  <a:srgbClr val="001F5F"/>
                </a:solidFill>
                <a:latin typeface="Courier New"/>
                <a:cs typeface="Courier New"/>
              </a:rPr>
              <a:t>Child obj=new Child(); obj.display();</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0D8C2-E572-CAC6-6124-47B4A0FED50D}"/>
            </a:ext>
          </a:extLst>
        </p:cNvPr>
        <p:cNvGrpSpPr/>
        <p:nvPr/>
      </p:nvGrpSpPr>
      <p:grpSpPr>
        <a:xfrm>
          <a:off x="0" y="0"/>
          <a:ext cx="0" cy="0"/>
          <a:chOff x="0" y="0"/>
          <a:chExt cx="0" cy="0"/>
        </a:xfrm>
      </p:grpSpPr>
      <p:sp>
        <p:nvSpPr>
          <p:cNvPr id="8" name="object 2">
            <a:extLst>
              <a:ext uri="{FF2B5EF4-FFF2-40B4-BE49-F238E27FC236}">
                <a16:creationId xmlns:a16="http://schemas.microsoft.com/office/drawing/2014/main" id="{9B0F332F-2F42-77C7-8744-E879C6590FDB}"/>
              </a:ext>
            </a:extLst>
          </p:cNvPr>
          <p:cNvSpPr txBox="1">
            <a:spLocks/>
          </p:cNvSpPr>
          <p:nvPr/>
        </p:nvSpPr>
        <p:spPr>
          <a:xfrm>
            <a:off x="4310888" y="2507450"/>
            <a:ext cx="3573145" cy="444994"/>
          </a:xfrm>
          <a:prstGeom prst="rect">
            <a:avLst/>
          </a:prstGeom>
        </p:spPr>
        <p:txBody>
          <a:bodyPr vert="horz" wrap="square" lIns="0" tIns="13970" rIns="0" bIns="0" rtlCol="0" anchor="b">
            <a:spAutoFit/>
          </a:bodyPr>
          <a:lstStyle>
            <a:lvl1pPr algn="ctr" defTabSz="914400" rtl="0" eaLnBrk="1" latinLnBrk="0" hangingPunct="1">
              <a:lnSpc>
                <a:spcPct val="80000"/>
              </a:lnSpc>
              <a:spcBef>
                <a:spcPct val="0"/>
              </a:spcBef>
              <a:buNone/>
              <a:defRPr sz="6000" b="0" i="0" kern="1200" spc="-200" baseline="0">
                <a:solidFill>
                  <a:schemeClr val="tx1"/>
                </a:solidFill>
                <a:latin typeface="+mj-lt"/>
                <a:ea typeface="+mj-ea"/>
                <a:cs typeface="+mj-cs"/>
              </a:defRPr>
            </a:lvl1pPr>
          </a:lstStyle>
          <a:p>
            <a:pPr>
              <a:lnSpc>
                <a:spcPct val="100000"/>
              </a:lnSpc>
              <a:spcBef>
                <a:spcPts val="110"/>
              </a:spcBef>
            </a:pPr>
            <a:r>
              <a:rPr lang="en-IN" sz="2800" b="1" dirty="0" err="1">
                <a:solidFill>
                  <a:srgbClr val="001F5F"/>
                </a:solidFill>
                <a:latin typeface="Calibri"/>
                <a:cs typeface="Calibri"/>
              </a:rPr>
              <a:t>PART-A:Interfaces</a:t>
            </a:r>
            <a:r>
              <a:rPr lang="en-IN" sz="2800" b="1" dirty="0">
                <a:solidFill>
                  <a:srgbClr val="001F5F"/>
                </a:solidFill>
                <a:latin typeface="Calibri"/>
                <a:cs typeface="Calibri"/>
              </a:rPr>
              <a:t>:</a:t>
            </a:r>
          </a:p>
        </p:txBody>
      </p:sp>
      <p:sp>
        <p:nvSpPr>
          <p:cNvPr id="12" name="object 3">
            <a:extLst>
              <a:ext uri="{FF2B5EF4-FFF2-40B4-BE49-F238E27FC236}">
                <a16:creationId xmlns:a16="http://schemas.microsoft.com/office/drawing/2014/main" id="{0B492B66-3B73-CD49-8265-8164432F061F}"/>
              </a:ext>
            </a:extLst>
          </p:cNvPr>
          <p:cNvSpPr txBox="1"/>
          <p:nvPr/>
        </p:nvSpPr>
        <p:spPr>
          <a:xfrm>
            <a:off x="3619500" y="2977025"/>
            <a:ext cx="4953000" cy="888064"/>
          </a:xfrm>
          <a:prstGeom prst="rect">
            <a:avLst/>
          </a:prstGeom>
        </p:spPr>
        <p:txBody>
          <a:bodyPr vert="horz" wrap="square" lIns="0" tIns="13335" rIns="0" bIns="0" rtlCol="0">
            <a:spAutoFit/>
          </a:bodyPr>
          <a:lstStyle/>
          <a:p>
            <a:pPr marL="12700">
              <a:spcBef>
                <a:spcPts val="105"/>
              </a:spcBef>
            </a:pPr>
            <a:r>
              <a:rPr lang="en-IN" sz="2800" b="1" dirty="0">
                <a:solidFill>
                  <a:srgbClr val="001F5F"/>
                </a:solidFill>
                <a:latin typeface="Calibri"/>
                <a:cs typeface="Calibri"/>
              </a:rPr>
              <a:t>        </a:t>
            </a:r>
            <a:r>
              <a:rPr lang="en-IN" sz="2000" b="1" dirty="0">
                <a:solidFill>
                  <a:srgbClr val="C00000"/>
                </a:solidFill>
                <a:latin typeface="Calibri"/>
                <a:cs typeface="Calibri"/>
              </a:rPr>
              <a:t>Concept-4:</a:t>
            </a:r>
            <a:r>
              <a:rPr lang="en-IN" sz="2000" b="1" dirty="0">
                <a:solidFill>
                  <a:srgbClr val="001F5F"/>
                </a:solidFill>
                <a:latin typeface="Calibri"/>
                <a:cs typeface="Calibri"/>
              </a:rPr>
              <a:t>Static Methods in Interface</a:t>
            </a:r>
            <a:r>
              <a:rPr lang="en-IN" sz="2800" b="1" dirty="0">
                <a:solidFill>
                  <a:srgbClr val="001F5F"/>
                </a:solidFill>
                <a:latin typeface="Calibri"/>
                <a:cs typeface="Calibri"/>
              </a:rPr>
              <a:t>.</a:t>
            </a:r>
            <a:endParaRPr lang="en-IN" sz="2800" dirty="0">
              <a:solidFill>
                <a:srgbClr val="001F5F"/>
              </a:solidFill>
              <a:latin typeface="Calibri"/>
              <a:cs typeface="Calibri"/>
            </a:endParaRPr>
          </a:p>
          <a:p>
            <a:pPr marL="12700">
              <a:lnSpc>
                <a:spcPct val="100000"/>
              </a:lnSpc>
              <a:spcBef>
                <a:spcPts val="105"/>
              </a:spcBef>
            </a:pPr>
            <a:endParaRPr sz="2800" b="1" dirty="0">
              <a:solidFill>
                <a:srgbClr val="001F5F"/>
              </a:solidFill>
              <a:latin typeface="Calibri"/>
              <a:cs typeface="Calibri"/>
            </a:endParaRPr>
          </a:p>
        </p:txBody>
      </p:sp>
    </p:spTree>
    <p:extLst>
      <p:ext uri="{BB962C8B-B14F-4D97-AF65-F5344CB8AC3E}">
        <p14:creationId xmlns:p14="http://schemas.microsoft.com/office/powerpoint/2010/main" val="20909787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09562" y="914400"/>
            <a:ext cx="11572875" cy="2854325"/>
          </a:xfrm>
          <a:prstGeom prst="rect">
            <a:avLst/>
          </a:prstGeom>
        </p:spPr>
        <p:txBody>
          <a:bodyPr vert="horz" wrap="square" lIns="0" tIns="13970" rIns="0" bIns="0" rtlCol="0">
            <a:normAutofit/>
          </a:bodyPr>
          <a:lstStyle/>
          <a:p>
            <a:pPr marR="695960">
              <a:lnSpc>
                <a:spcPct val="110000"/>
              </a:lnSpc>
              <a:spcBef>
                <a:spcPts val="0"/>
              </a:spcBef>
              <a:spcAft>
                <a:spcPts val="600"/>
              </a:spcAft>
            </a:pPr>
            <a:r>
              <a:rPr sz="2000" b="1" dirty="0">
                <a:solidFill>
                  <a:srgbClr val="C00000"/>
                </a:solidFill>
                <a:latin typeface="Calibri"/>
                <a:cs typeface="Calibri"/>
              </a:rPr>
              <a:t>Static Methods in Interface.</a:t>
            </a:r>
            <a:endParaRPr sz="2000" dirty="0">
              <a:solidFill>
                <a:srgbClr val="C00000"/>
              </a:solidFill>
              <a:latin typeface="Calibri"/>
              <a:cs typeface="Calibri"/>
            </a:endParaRPr>
          </a:p>
          <a:p>
            <a:pPr>
              <a:lnSpc>
                <a:spcPct val="110000"/>
              </a:lnSpc>
              <a:spcBef>
                <a:spcPts val="0"/>
              </a:spcBef>
              <a:spcAft>
                <a:spcPts val="600"/>
              </a:spcAft>
            </a:pPr>
            <a:endParaRPr sz="2000" dirty="0">
              <a:solidFill>
                <a:srgbClr val="001F5F"/>
              </a:solidFill>
              <a:latin typeface="Calibri"/>
              <a:cs typeface="Calibri"/>
            </a:endParaRPr>
          </a:p>
          <a:p>
            <a:pPr marL="356870" indent="-344170">
              <a:lnSpc>
                <a:spcPct val="110000"/>
              </a:lnSpc>
              <a:spcBef>
                <a:spcPts val="0"/>
              </a:spcBef>
              <a:spcAft>
                <a:spcPts val="600"/>
              </a:spcAft>
              <a:buFont typeface="Wingdings"/>
              <a:buChar char=""/>
              <a:tabLst>
                <a:tab pos="356870" algn="l"/>
              </a:tabLst>
            </a:pPr>
            <a:r>
              <a:rPr sz="2000" b="1" dirty="0">
                <a:solidFill>
                  <a:srgbClr val="001F5F"/>
                </a:solidFill>
                <a:latin typeface="Calibri"/>
                <a:cs typeface="Calibri"/>
              </a:rPr>
              <a:t>Similar to Default Method in Interface, the static method in an interface can be defined</a:t>
            </a:r>
            <a:endParaRPr sz="2000" dirty="0">
              <a:solidFill>
                <a:srgbClr val="001F5F"/>
              </a:solidFill>
              <a:latin typeface="Calibri"/>
              <a:cs typeface="Calibri"/>
            </a:endParaRPr>
          </a:p>
          <a:p>
            <a:pPr marL="356870">
              <a:lnSpc>
                <a:spcPct val="110000"/>
              </a:lnSpc>
              <a:spcBef>
                <a:spcPts val="0"/>
              </a:spcBef>
              <a:spcAft>
                <a:spcPts val="600"/>
              </a:spcAft>
            </a:pPr>
            <a:r>
              <a:rPr sz="2000" b="1" dirty="0">
                <a:solidFill>
                  <a:srgbClr val="001F5F"/>
                </a:solidFill>
                <a:latin typeface="Calibri"/>
                <a:cs typeface="Calibri"/>
              </a:rPr>
              <a:t>in the interface, but cannot be overridden in Implementation Classes.</a:t>
            </a:r>
            <a:endParaRPr sz="2000" dirty="0">
              <a:solidFill>
                <a:srgbClr val="001F5F"/>
              </a:solidFill>
              <a:latin typeface="Calibri"/>
              <a:cs typeface="Calibri"/>
            </a:endParaRPr>
          </a:p>
          <a:p>
            <a:pPr marL="356870" marR="17145" indent="-344805">
              <a:lnSpc>
                <a:spcPct val="110000"/>
              </a:lnSpc>
              <a:spcBef>
                <a:spcPts val="0"/>
              </a:spcBef>
              <a:spcAft>
                <a:spcPts val="600"/>
              </a:spcAft>
              <a:buFont typeface="Wingdings"/>
              <a:buChar char=""/>
              <a:tabLst>
                <a:tab pos="356870" algn="l"/>
              </a:tabLst>
            </a:pPr>
            <a:r>
              <a:rPr sz="2000" b="1" dirty="0">
                <a:solidFill>
                  <a:srgbClr val="001F5F"/>
                </a:solidFill>
                <a:latin typeface="Calibri"/>
                <a:cs typeface="Calibri"/>
              </a:rPr>
              <a:t>To use a static method, Interface name should be instantiated with it, as it is a part of the Interface only.</a:t>
            </a:r>
            <a:endParaRPr sz="2000" dirty="0">
              <a:solidFill>
                <a:srgbClr val="001F5F"/>
              </a:solidFill>
              <a:latin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26717" y="545033"/>
            <a:ext cx="7378065" cy="5149215"/>
          </a:xfrm>
          <a:prstGeom prst="rect">
            <a:avLst/>
          </a:prstGeom>
        </p:spPr>
        <p:txBody>
          <a:bodyPr vert="horz" wrap="none" lIns="0" tIns="12700" rIns="0" bIns="0" rtlCol="0">
            <a:normAutofit/>
          </a:bodyPr>
          <a:lstStyle/>
          <a:p>
            <a:pPr marL="12700"/>
            <a:r>
              <a:rPr sz="1600" b="1" dirty="0">
                <a:solidFill>
                  <a:srgbClr val="001F5F"/>
                </a:solidFill>
                <a:latin typeface="Courier New"/>
                <a:cs typeface="Courier New"/>
              </a:rPr>
              <a:t>interface Parent</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Static void display()</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System.out.println("Welcome to </a:t>
            </a:r>
            <a:r>
              <a:rPr lang="en-IN" sz="1600" b="1" dirty="0">
                <a:solidFill>
                  <a:srgbClr val="001F5F"/>
                </a:solidFill>
                <a:latin typeface="Courier New"/>
                <a:cs typeface="Courier New"/>
              </a:rPr>
              <a:t>RCE</a:t>
            </a:r>
            <a:r>
              <a:rPr sz="1600" b="1" dirty="0">
                <a:solidFill>
                  <a:srgbClr val="001F5F"/>
                </a:solidFill>
                <a:latin typeface="Courier New"/>
                <a:cs typeface="Courier New"/>
              </a:rPr>
              <a:t> from Parent class");</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class StaticMethodExample</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public static void main(String args[])</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Parent.display();</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6000" y="2362200"/>
            <a:ext cx="10800000" cy="640080"/>
          </a:xfrm>
          <a:prstGeom prst="rect">
            <a:avLst/>
          </a:prstGeom>
        </p:spPr>
        <p:txBody>
          <a:bodyPr vert="horz" wrap="square" rtlCol="0" anchor="ctr">
            <a:normAutofit fontScale="90000"/>
          </a:bodyPr>
          <a:lstStyle/>
          <a:p>
            <a:pPr algn="ctr">
              <a:lnSpc>
                <a:spcPct val="100000"/>
              </a:lnSpc>
              <a:spcBef>
                <a:spcPts val="110"/>
              </a:spcBef>
            </a:pPr>
            <a:r>
              <a:rPr sz="3100" b="1" dirty="0" err="1">
                <a:solidFill>
                  <a:srgbClr val="001F5F"/>
                </a:solidFill>
                <a:latin typeface="Calibri"/>
                <a:cs typeface="Calibri"/>
              </a:rPr>
              <a:t>PART-A:Interfaces</a:t>
            </a:r>
            <a:r>
              <a:rPr sz="3100" b="1" dirty="0">
                <a:solidFill>
                  <a:srgbClr val="001F5F"/>
                </a:solidFill>
                <a:latin typeface="Calibri"/>
                <a:cs typeface="Calibri"/>
              </a:rPr>
              <a:t>:</a:t>
            </a:r>
            <a:br>
              <a:rPr lang="en-IN" sz="3100" b="1" dirty="0">
                <a:solidFill>
                  <a:srgbClr val="001F5F"/>
                </a:solidFill>
                <a:latin typeface="Calibri"/>
                <a:cs typeface="Calibri"/>
              </a:rPr>
            </a:br>
            <a:r>
              <a:rPr sz="2200" b="1" dirty="0">
                <a:solidFill>
                  <a:srgbClr val="C00000"/>
                </a:solidFill>
                <a:latin typeface="Calibri"/>
                <a:cs typeface="Calibri"/>
              </a:rPr>
              <a:t>Concept-5: </a:t>
            </a:r>
            <a:r>
              <a:rPr sz="2200" b="1" dirty="0">
                <a:solidFill>
                  <a:srgbClr val="001F5F"/>
                </a:solidFill>
                <a:latin typeface="Calibri"/>
                <a:cs typeface="Calibri"/>
              </a:rPr>
              <a:t>Nested Interfaces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a:extLst>
              <a:ext uri="{FF2B5EF4-FFF2-40B4-BE49-F238E27FC236}">
                <a16:creationId xmlns:a16="http://schemas.microsoft.com/office/drawing/2014/main" id="{A8D68980-4C0A-B4D0-CB7B-EB0771E1D523}"/>
              </a:ext>
            </a:extLst>
          </p:cNvPr>
          <p:cNvSpPr txBox="1"/>
          <p:nvPr/>
        </p:nvSpPr>
        <p:spPr>
          <a:xfrm>
            <a:off x="452437" y="1447800"/>
            <a:ext cx="11287125" cy="2819400"/>
          </a:xfrm>
          <a:prstGeom prst="rect">
            <a:avLst/>
          </a:prstGeom>
        </p:spPr>
        <p:txBody>
          <a:bodyPr vert="horz" wrap="square" lIns="0" tIns="12700" rIns="0" bIns="0" rtlCol="0">
            <a:normAutofit/>
          </a:bodyPr>
          <a:lstStyle/>
          <a:p>
            <a:pPr marL="356870" marR="5080" indent="-344805">
              <a:lnSpc>
                <a:spcPct val="110000"/>
              </a:lnSpc>
              <a:spcBef>
                <a:spcPts val="0"/>
              </a:spcBef>
              <a:spcAft>
                <a:spcPts val="600"/>
              </a:spcAft>
              <a:buFont typeface="Wingdings"/>
              <a:buChar char=""/>
              <a:tabLst>
                <a:tab pos="356870" algn="l"/>
              </a:tabLst>
            </a:pPr>
            <a:r>
              <a:rPr sz="2000" b="1" dirty="0">
                <a:latin typeface="Calibri"/>
                <a:cs typeface="Calibri"/>
              </a:rPr>
              <a:t>An interface, i.e., declared within another interface or class, is known as a nested interface.</a:t>
            </a:r>
            <a:endParaRPr sz="2000" dirty="0">
              <a:latin typeface="Calibri"/>
              <a:cs typeface="Calibri"/>
            </a:endParaRPr>
          </a:p>
          <a:p>
            <a:pPr marL="356870" marR="11430" indent="-344805">
              <a:lnSpc>
                <a:spcPct val="110000"/>
              </a:lnSpc>
              <a:spcBef>
                <a:spcPts val="0"/>
              </a:spcBef>
              <a:spcAft>
                <a:spcPts val="600"/>
              </a:spcAft>
              <a:buFont typeface="Wingdings"/>
              <a:buChar char=""/>
              <a:tabLst>
                <a:tab pos="356870" algn="l"/>
              </a:tabLst>
            </a:pPr>
            <a:r>
              <a:rPr sz="2000" b="1" dirty="0">
                <a:latin typeface="Calibri"/>
                <a:cs typeface="Calibri"/>
              </a:rPr>
              <a:t>The nested interfaces are used to group related interfaces so that they can be easy to maintain.</a:t>
            </a:r>
            <a:endParaRPr sz="2000" dirty="0">
              <a:latin typeface="Calibri"/>
              <a:cs typeface="Calibri"/>
            </a:endParaRPr>
          </a:p>
          <a:p>
            <a:pPr marL="356870" marR="6350" indent="-344805">
              <a:lnSpc>
                <a:spcPct val="110000"/>
              </a:lnSpc>
              <a:spcBef>
                <a:spcPts val="0"/>
              </a:spcBef>
              <a:spcAft>
                <a:spcPts val="600"/>
              </a:spcAft>
              <a:buFont typeface="Wingdings"/>
              <a:buChar char=""/>
              <a:tabLst>
                <a:tab pos="356870" algn="l"/>
              </a:tabLst>
            </a:pPr>
            <a:r>
              <a:rPr sz="2000" b="1" dirty="0">
                <a:latin typeface="Calibri"/>
                <a:cs typeface="Calibri"/>
              </a:rPr>
              <a:t>The nested interface must be referred to by the outer interface or class. It can't be accessed directly.</a:t>
            </a:r>
            <a:endParaRPr sz="2000" dirty="0">
              <a:latin typeface="Calibri"/>
              <a:cs typeface="Calibri"/>
            </a:endParaRPr>
          </a:p>
        </p:txBody>
      </p:sp>
    </p:spTree>
    <p:extLst>
      <p:ext uri="{BB962C8B-B14F-4D97-AF65-F5344CB8AC3E}">
        <p14:creationId xmlns:p14="http://schemas.microsoft.com/office/powerpoint/2010/main" val="1393184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710689" y="8076"/>
            <a:ext cx="5330825" cy="6932667"/>
          </a:xfrm>
          <a:prstGeom prst="rect">
            <a:avLst/>
          </a:prstGeom>
        </p:spPr>
        <p:txBody>
          <a:bodyPr vert="horz" wrap="none" lIns="0" tIns="12700" rIns="0" bIns="0" rtlCol="0">
            <a:normAutofit/>
          </a:bodyPr>
          <a:lstStyle/>
          <a:p>
            <a:pPr marL="12700"/>
            <a:r>
              <a:rPr sz="1600" b="1" dirty="0">
                <a:solidFill>
                  <a:srgbClr val="001F5F"/>
                </a:solidFill>
                <a:latin typeface="Courier New"/>
                <a:cs typeface="Courier New"/>
              </a:rPr>
              <a:t>class OuterClass</a:t>
            </a:r>
          </a:p>
          <a:p>
            <a:pPr marL="109855"/>
            <a:r>
              <a:rPr sz="1600" b="1" dirty="0">
                <a:solidFill>
                  <a:srgbClr val="001F5F"/>
                </a:solidFill>
                <a:latin typeface="Courier New"/>
                <a:cs typeface="Courier New"/>
              </a:rPr>
              <a:t>{</a:t>
            </a:r>
          </a:p>
          <a:p>
            <a:pPr marL="408940"/>
            <a:r>
              <a:rPr sz="1600" b="1" dirty="0">
                <a:solidFill>
                  <a:srgbClr val="001F5F"/>
                </a:solidFill>
                <a:latin typeface="Courier New"/>
                <a:cs typeface="Courier New"/>
              </a:rPr>
              <a:t>interface Parent</a:t>
            </a:r>
          </a:p>
          <a:p>
            <a:pPr marL="12700"/>
            <a:r>
              <a:rPr sz="1600" b="1" dirty="0">
                <a:solidFill>
                  <a:srgbClr val="001F5F"/>
                </a:solidFill>
                <a:latin typeface="Courier New"/>
                <a:cs typeface="Courier New"/>
              </a:rPr>
              <a:t>{</a:t>
            </a:r>
          </a:p>
          <a:p>
            <a:pPr marL="802005"/>
            <a:r>
              <a:rPr sz="1600" b="1" dirty="0">
                <a:solidFill>
                  <a:srgbClr val="001F5F"/>
                </a:solidFill>
                <a:latin typeface="Courier New"/>
                <a:cs typeface="Courier New"/>
              </a:rPr>
              <a:t>void display();</a:t>
            </a:r>
          </a:p>
          <a:p>
            <a:pPr marL="40894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endParaRPr lang="en-GB" sz="1600" b="1" dirty="0">
              <a:solidFill>
                <a:srgbClr val="001F5F"/>
              </a:solidFill>
              <a:latin typeface="Courier New"/>
              <a:cs typeface="Courier New"/>
            </a:endParaRPr>
          </a:p>
          <a:p>
            <a:pPr marL="12700"/>
            <a:r>
              <a:rPr sz="1600" b="1" dirty="0">
                <a:solidFill>
                  <a:srgbClr val="001F5F"/>
                </a:solidFill>
                <a:latin typeface="Courier New"/>
                <a:cs typeface="Courier New"/>
              </a:rPr>
              <a:t>class </a:t>
            </a:r>
            <a:r>
              <a:rPr lang="en-GB" sz="1600" b="1" dirty="0">
                <a:solidFill>
                  <a:srgbClr val="001F5F"/>
                </a:solidFill>
                <a:latin typeface="Courier New"/>
                <a:cs typeface="Courier New"/>
              </a:rPr>
              <a:t>i</a:t>
            </a:r>
            <a:r>
              <a:rPr sz="1600" b="1" dirty="0" err="1">
                <a:solidFill>
                  <a:srgbClr val="001F5F"/>
                </a:solidFill>
                <a:latin typeface="Courier New"/>
                <a:cs typeface="Courier New"/>
              </a:rPr>
              <a:t>nnerClass</a:t>
            </a:r>
            <a:r>
              <a:rPr sz="1600" b="1" dirty="0">
                <a:solidFill>
                  <a:srgbClr val="001F5F"/>
                </a:solidFill>
                <a:latin typeface="Courier New"/>
                <a:cs typeface="Courier New"/>
              </a:rPr>
              <a:t> implements </a:t>
            </a:r>
            <a:r>
              <a:rPr sz="1600" b="1" dirty="0" err="1">
                <a:solidFill>
                  <a:srgbClr val="001F5F"/>
                </a:solidFill>
                <a:latin typeface="Courier New"/>
                <a:cs typeface="Courier New"/>
              </a:rPr>
              <a:t>OuterClass</a:t>
            </a:r>
            <a:endParaRPr lang="en-GB" sz="1600" b="1" dirty="0">
              <a:solidFill>
                <a:srgbClr val="001F5F"/>
              </a:solidFill>
              <a:latin typeface="Courier New"/>
              <a:cs typeface="Courier New"/>
            </a:endParaRPr>
          </a:p>
          <a:p>
            <a:pPr marL="109855"/>
            <a:r>
              <a:rPr sz="1600" b="1" dirty="0">
                <a:solidFill>
                  <a:srgbClr val="001F5F"/>
                </a:solidFill>
                <a:latin typeface="Courier New"/>
                <a:cs typeface="Courier New"/>
              </a:rPr>
              <a:t>{</a:t>
            </a:r>
            <a:endParaRPr lang="en-GB" sz="1600" b="1" dirty="0">
              <a:solidFill>
                <a:srgbClr val="001F5F"/>
              </a:solidFill>
              <a:latin typeface="Courier New"/>
              <a:cs typeface="Courier New"/>
            </a:endParaRPr>
          </a:p>
          <a:p>
            <a:pPr marL="109855"/>
            <a:r>
              <a:rPr lang="en-IN" sz="1600" b="1" dirty="0">
                <a:solidFill>
                  <a:srgbClr val="001F5F"/>
                </a:solidFill>
                <a:latin typeface="Courier New"/>
                <a:cs typeface="Courier New"/>
              </a:rPr>
              <a:t>	interface child</a:t>
            </a:r>
          </a:p>
          <a:p>
            <a:pPr marL="109855"/>
            <a:r>
              <a:rPr lang="en-GB" sz="1600" b="1" dirty="0">
                <a:solidFill>
                  <a:srgbClr val="001F5F"/>
                </a:solidFill>
                <a:latin typeface="Courier New"/>
                <a:cs typeface="Courier New"/>
              </a:rPr>
              <a:t>{</a:t>
            </a:r>
            <a:endParaRPr sz="1600" b="1" dirty="0">
              <a:solidFill>
                <a:srgbClr val="001F5F"/>
              </a:solidFill>
              <a:latin typeface="Courier New"/>
              <a:cs typeface="Courier New"/>
            </a:endParaRPr>
          </a:p>
          <a:p>
            <a:pPr marL="408940"/>
            <a:r>
              <a:rPr sz="1600" b="1" dirty="0">
                <a:solidFill>
                  <a:srgbClr val="001F5F"/>
                </a:solidFill>
                <a:latin typeface="Courier New"/>
                <a:cs typeface="Courier New"/>
              </a:rPr>
              <a:t>public void display()</a:t>
            </a:r>
          </a:p>
          <a:p>
            <a:pPr marL="12700"/>
            <a:r>
              <a:rPr sz="1600" b="1" dirty="0">
                <a:solidFill>
                  <a:srgbClr val="001F5F"/>
                </a:solidFill>
                <a:latin typeface="Courier New"/>
                <a:cs typeface="Courier New"/>
              </a:rPr>
              <a:t>{</a:t>
            </a:r>
          </a:p>
          <a:p>
            <a:pPr marL="802005"/>
            <a:r>
              <a:rPr sz="1600" b="1" dirty="0">
                <a:solidFill>
                  <a:srgbClr val="001F5F"/>
                </a:solidFill>
                <a:latin typeface="Courier New"/>
                <a:cs typeface="Courier New"/>
              </a:rPr>
              <a:t>System.out.println("Welcome to </a:t>
            </a:r>
            <a:r>
              <a:rPr lang="en-IN" sz="1600" b="1" dirty="0">
                <a:solidFill>
                  <a:srgbClr val="001F5F"/>
                </a:solidFill>
                <a:latin typeface="Courier New"/>
                <a:cs typeface="Courier New"/>
              </a:rPr>
              <a:t>RCE</a:t>
            </a:r>
            <a:r>
              <a:rPr sz="1600" b="1" dirty="0">
                <a:solidFill>
                  <a:srgbClr val="001F5F"/>
                </a:solidFill>
                <a:latin typeface="Courier New"/>
                <a:cs typeface="Courier New"/>
              </a:rPr>
              <a:t>");</a:t>
            </a:r>
          </a:p>
          <a:p>
            <a:pPr marL="408940"/>
            <a:r>
              <a:rPr sz="1600" b="1" dirty="0">
                <a:solidFill>
                  <a:srgbClr val="001F5F"/>
                </a:solidFill>
                <a:latin typeface="Courier New"/>
                <a:cs typeface="Courier New"/>
              </a:rPr>
              <a:t>}</a:t>
            </a:r>
          </a:p>
          <a:p>
            <a:pPr marL="12700"/>
            <a:r>
              <a:rPr sz="1600" b="1" dirty="0">
                <a:solidFill>
                  <a:srgbClr val="001F5F"/>
                </a:solidFill>
                <a:latin typeface="Courier New"/>
                <a:cs typeface="Courier New"/>
              </a:rPr>
              <a:t>class NestedInterfaceExample</a:t>
            </a:r>
          </a:p>
          <a:p>
            <a:pPr marL="109855"/>
            <a:r>
              <a:rPr sz="1600" b="1" dirty="0">
                <a:solidFill>
                  <a:srgbClr val="001F5F"/>
                </a:solidFill>
                <a:latin typeface="Courier New"/>
                <a:cs typeface="Courier New"/>
              </a:rPr>
              <a:t>{</a:t>
            </a:r>
          </a:p>
          <a:p>
            <a:pPr marL="408940"/>
            <a:r>
              <a:rPr sz="1600" b="1" dirty="0">
                <a:solidFill>
                  <a:srgbClr val="001F5F"/>
                </a:solidFill>
                <a:latin typeface="Courier New"/>
                <a:cs typeface="Courier New"/>
              </a:rPr>
              <a:t>public static void main(String args[ ])</a:t>
            </a:r>
          </a:p>
          <a:p>
            <a:pPr marL="12700"/>
            <a:r>
              <a:rPr sz="1600" b="1" dirty="0">
                <a:solidFill>
                  <a:srgbClr val="001F5F"/>
                </a:solidFill>
                <a:latin typeface="Courier New"/>
                <a:cs typeface="Courier New"/>
              </a:rPr>
              <a:t>{</a:t>
            </a:r>
          </a:p>
          <a:p>
            <a:pPr marL="802005"/>
            <a:r>
              <a:rPr lang="en-IN" sz="1600" b="1" dirty="0" err="1">
                <a:solidFill>
                  <a:srgbClr val="001F5F"/>
                </a:solidFill>
                <a:latin typeface="Courier New"/>
                <a:cs typeface="Courier New"/>
              </a:rPr>
              <a:t>innerclass</a:t>
            </a:r>
            <a:r>
              <a:rPr lang="en-IN" sz="1600" b="1" dirty="0">
                <a:solidFill>
                  <a:srgbClr val="001F5F"/>
                </a:solidFill>
                <a:latin typeface="Courier New"/>
                <a:cs typeface="Courier New"/>
              </a:rPr>
              <a:t> </a:t>
            </a:r>
            <a:r>
              <a:rPr lang="en-IN" sz="1600" b="1" dirty="0" err="1">
                <a:solidFill>
                  <a:srgbClr val="001F5F"/>
                </a:solidFill>
                <a:latin typeface="Courier New"/>
                <a:cs typeface="Courier New"/>
              </a:rPr>
              <a:t>obj</a:t>
            </a:r>
            <a:r>
              <a:rPr lang="en-IN" sz="1600" b="1" dirty="0">
                <a:solidFill>
                  <a:srgbClr val="001F5F"/>
                </a:solidFill>
                <a:latin typeface="Courier New"/>
                <a:cs typeface="Courier New"/>
              </a:rPr>
              <a:t> = new </a:t>
            </a:r>
            <a:r>
              <a:rPr lang="en-IN" sz="1600" b="1" dirty="0" err="1">
                <a:solidFill>
                  <a:srgbClr val="001F5F"/>
                </a:solidFill>
                <a:latin typeface="Courier New"/>
                <a:cs typeface="Courier New"/>
              </a:rPr>
              <a:t>innerclass</a:t>
            </a:r>
            <a:r>
              <a:rPr lang="en-IN" sz="1600" b="1" dirty="0">
                <a:solidFill>
                  <a:srgbClr val="001F5F"/>
                </a:solidFill>
                <a:latin typeface="Courier New"/>
                <a:cs typeface="Courier New"/>
              </a:rPr>
              <a:t>();</a:t>
            </a:r>
          </a:p>
          <a:p>
            <a:pPr marL="802005"/>
            <a:r>
              <a:rPr lang="en-IN" sz="1600" b="1" dirty="0" err="1">
                <a:solidFill>
                  <a:srgbClr val="001F5F"/>
                </a:solidFill>
                <a:latin typeface="Courier New"/>
                <a:cs typeface="Courier New"/>
              </a:rPr>
              <a:t>obj.display</a:t>
            </a:r>
            <a:r>
              <a:rPr lang="en-IN" sz="1600" b="1" dirty="0">
                <a:solidFill>
                  <a:srgbClr val="001F5F"/>
                </a:solidFill>
                <a:latin typeface="Courier New"/>
                <a:cs typeface="Courier New"/>
              </a:rPr>
              <a:t>();</a:t>
            </a:r>
          </a:p>
          <a:p>
            <a:pPr marL="40894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1BABF-6EEA-A65A-009E-E90F581A796B}"/>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159284FC-6155-17FE-E40E-53D5AA23D80C}"/>
              </a:ext>
            </a:extLst>
          </p:cNvPr>
          <p:cNvSpPr txBox="1"/>
          <p:nvPr/>
        </p:nvSpPr>
        <p:spPr>
          <a:xfrm>
            <a:off x="260667" y="1600200"/>
            <a:ext cx="11670665" cy="2105025"/>
          </a:xfrm>
          <a:prstGeom prst="rect">
            <a:avLst/>
          </a:prstGeom>
        </p:spPr>
        <p:txBody>
          <a:bodyPr vert="horz" wrap="square" lIns="0" tIns="12700" rIns="0" bIns="0" rtlCol="0">
            <a:normAutofit/>
          </a:bodyPr>
          <a:lstStyle/>
          <a:p>
            <a:pPr algn="ctr">
              <a:lnSpc>
                <a:spcPct val="110000"/>
              </a:lnSpc>
              <a:spcBef>
                <a:spcPts val="0"/>
              </a:spcBef>
              <a:spcAft>
                <a:spcPts val="600"/>
              </a:spcAft>
            </a:pPr>
            <a:r>
              <a:rPr sz="2000" b="1" dirty="0">
                <a:solidFill>
                  <a:srgbClr val="C00000"/>
                </a:solidFill>
                <a:latin typeface="Calibri"/>
                <a:cs typeface="Calibri"/>
              </a:rPr>
              <a:t>Unit-IV: PART-B</a:t>
            </a:r>
            <a:endParaRPr sz="2000" dirty="0">
              <a:solidFill>
                <a:srgbClr val="001F5F"/>
              </a:solidFill>
              <a:latin typeface="Calibri"/>
              <a:cs typeface="Calibri"/>
            </a:endParaRPr>
          </a:p>
          <a:p>
            <a:pPr marL="12700" marR="5080" algn="l">
              <a:lnSpc>
                <a:spcPct val="110000"/>
              </a:lnSpc>
              <a:spcBef>
                <a:spcPts val="0"/>
              </a:spcBef>
              <a:spcAft>
                <a:spcPts val="600"/>
              </a:spcAft>
            </a:pPr>
            <a:r>
              <a:rPr sz="2000" b="1" dirty="0">
                <a:solidFill>
                  <a:srgbClr val="C00000"/>
                </a:solidFill>
                <a:latin typeface="Calibri"/>
                <a:cs typeface="Calibri"/>
              </a:rPr>
              <a:t>Exception Handling: </a:t>
            </a:r>
            <a:r>
              <a:rPr sz="2000" b="1" dirty="0">
                <a:solidFill>
                  <a:srgbClr val="001F5F"/>
                </a:solidFill>
                <a:latin typeface="Calibri"/>
                <a:cs typeface="Calibri"/>
              </a:rPr>
              <a:t>Introduction, Hierarchy of Standard Exception Classes, Keywords throws and throw, try, catch, and finally Blocks, Multiple Catch Clauses, Class Throwable, Unchecked Exceptions, Checked Exceptions.</a:t>
            </a:r>
            <a:endParaRPr sz="2000" dirty="0">
              <a:solidFill>
                <a:srgbClr val="001F5F"/>
              </a:solidFill>
              <a:latin typeface="Calibri"/>
              <a:cs typeface="Calibri"/>
            </a:endParaRPr>
          </a:p>
        </p:txBody>
      </p:sp>
    </p:spTree>
    <p:extLst>
      <p:ext uri="{BB962C8B-B14F-4D97-AF65-F5344CB8AC3E}">
        <p14:creationId xmlns:p14="http://schemas.microsoft.com/office/powerpoint/2010/main" val="26413239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CBC5C-7E84-9643-06D0-EF5BDBDF538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F1F0296-8EE6-F7AE-5F4C-B234B89DCDA9}"/>
              </a:ext>
            </a:extLst>
          </p:cNvPr>
          <p:cNvSpPr txBox="1">
            <a:spLocks noGrp="1"/>
          </p:cNvSpPr>
          <p:nvPr>
            <p:ph type="ctrTitle"/>
          </p:nvPr>
        </p:nvSpPr>
        <p:spPr>
          <a:xfrm>
            <a:off x="2514600" y="1524000"/>
            <a:ext cx="10800000" cy="640080"/>
          </a:xfrm>
          <a:prstGeom prst="rect">
            <a:avLst/>
          </a:prstGeom>
        </p:spPr>
        <p:txBody>
          <a:bodyPr vert="horz" wrap="square" rtlCol="0" anchor="ctr"/>
          <a:lstStyle/>
          <a:p>
            <a:pPr marL="345440" algn="l">
              <a:lnSpc>
                <a:spcPct val="100000"/>
              </a:lnSpc>
              <a:spcBef>
                <a:spcPts val="110"/>
              </a:spcBef>
            </a:pPr>
            <a:r>
              <a:rPr sz="2800" b="1" dirty="0">
                <a:solidFill>
                  <a:srgbClr val="001F5F"/>
                </a:solidFill>
                <a:latin typeface="Calibri"/>
                <a:cs typeface="Calibri"/>
              </a:rPr>
              <a:t>Unit-IV: PART-B:Exception Handling</a:t>
            </a:r>
          </a:p>
        </p:txBody>
      </p:sp>
      <p:sp>
        <p:nvSpPr>
          <p:cNvPr id="3" name="object 3">
            <a:extLst>
              <a:ext uri="{FF2B5EF4-FFF2-40B4-BE49-F238E27FC236}">
                <a16:creationId xmlns:a16="http://schemas.microsoft.com/office/drawing/2014/main" id="{6F03C2EA-2C02-6DFB-D3B5-D73EAE48BD32}"/>
              </a:ext>
            </a:extLst>
          </p:cNvPr>
          <p:cNvSpPr txBox="1"/>
          <p:nvPr/>
        </p:nvSpPr>
        <p:spPr>
          <a:xfrm>
            <a:off x="2438400" y="2514600"/>
            <a:ext cx="9828530" cy="391160"/>
          </a:xfrm>
          <a:prstGeom prst="rect">
            <a:avLst/>
          </a:prstGeom>
        </p:spPr>
        <p:txBody>
          <a:bodyPr vert="horz" wrap="square" lIns="0" tIns="12700" rIns="0" bIns="0" rtlCol="0">
            <a:normAutofit/>
          </a:bodyPr>
          <a:lstStyle/>
          <a:p>
            <a:pPr marL="12700">
              <a:lnSpc>
                <a:spcPct val="110000"/>
              </a:lnSpc>
              <a:spcBef>
                <a:spcPts val="0"/>
              </a:spcBef>
              <a:spcAft>
                <a:spcPts val="600"/>
              </a:spcAft>
            </a:pPr>
            <a:r>
              <a:rPr sz="2000" b="1" dirty="0">
                <a:solidFill>
                  <a:srgbClr val="C00000"/>
                </a:solidFill>
                <a:latin typeface="Calibri"/>
                <a:cs typeface="Calibri"/>
              </a:rPr>
              <a:t>Concept-1:</a:t>
            </a:r>
            <a:r>
              <a:rPr sz="2000" b="1" dirty="0">
                <a:solidFill>
                  <a:srgbClr val="001F5F"/>
                </a:solidFill>
                <a:latin typeface="Calibri"/>
                <a:cs typeface="Calibri"/>
              </a:rPr>
              <a:t>Introduction, Hierarchy of Standard Exception Classes</a:t>
            </a:r>
            <a:endParaRPr sz="2000" dirty="0">
              <a:solidFill>
                <a:srgbClr val="001F5F"/>
              </a:solidFill>
              <a:latin typeface="Calibri"/>
              <a:cs typeface="Calibri"/>
            </a:endParaRPr>
          </a:p>
        </p:txBody>
      </p:sp>
    </p:spTree>
    <p:extLst>
      <p:ext uri="{BB962C8B-B14F-4D97-AF65-F5344CB8AC3E}">
        <p14:creationId xmlns:p14="http://schemas.microsoft.com/office/powerpoint/2010/main" val="39854972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EF060CCE-3793-0211-57DF-C881CFCF89DC}"/>
              </a:ext>
            </a:extLst>
          </p:cNvPr>
          <p:cNvSpPr txBox="1"/>
          <p:nvPr/>
        </p:nvSpPr>
        <p:spPr>
          <a:xfrm>
            <a:off x="260705" y="369094"/>
            <a:ext cx="11657330" cy="4936608"/>
          </a:xfrm>
          <a:prstGeom prst="rect">
            <a:avLst/>
          </a:prstGeom>
        </p:spPr>
        <p:txBody>
          <a:bodyPr vert="horz" wrap="square" lIns="0" tIns="164465" rIns="0" bIns="0" rtlCol="0">
            <a:normAutofit/>
          </a:bodyPr>
          <a:lstStyle/>
          <a:p>
            <a:pPr marL="21590" indent="-209550">
              <a:lnSpc>
                <a:spcPct val="110000"/>
              </a:lnSpc>
              <a:spcBef>
                <a:spcPts val="0"/>
              </a:spcBef>
              <a:spcAft>
                <a:spcPts val="600"/>
              </a:spcAft>
              <a:buSzPct val="92500"/>
              <a:buFont typeface="Wingdings"/>
              <a:buChar char=""/>
              <a:tabLst>
                <a:tab pos="222250" algn="l"/>
                <a:tab pos="829310" algn="l"/>
                <a:tab pos="4746625" algn="l"/>
                <a:tab pos="5301615" algn="l"/>
                <a:tab pos="5713095" algn="l"/>
                <a:tab pos="6268085" algn="l"/>
                <a:tab pos="7451090" algn="l"/>
                <a:tab pos="8865870" algn="l"/>
                <a:tab pos="9268460" algn="l"/>
                <a:tab pos="10182860" algn="l"/>
                <a:tab pos="10737850" algn="l"/>
              </a:tabLst>
            </a:pPr>
            <a:r>
              <a:rPr sz="1800" b="1" dirty="0">
                <a:solidFill>
                  <a:srgbClr val="001F5F"/>
                </a:solidFill>
                <a:latin typeface="Calibri"/>
                <a:cs typeface="Calibri"/>
              </a:rPr>
              <a:t>The Exception Handling in Java is one of the powerful mechanism to handle the runtime</a:t>
            </a:r>
            <a:r>
              <a:rPr lang="en-IN" sz="1800" b="1" dirty="0">
                <a:solidFill>
                  <a:srgbClr val="001F5F"/>
                </a:solidFill>
                <a:latin typeface="Calibri"/>
                <a:cs typeface="Calibri"/>
              </a:rPr>
              <a:t> </a:t>
            </a:r>
            <a:r>
              <a:rPr sz="1800" b="1" dirty="0">
                <a:solidFill>
                  <a:srgbClr val="001F5F"/>
                </a:solidFill>
                <a:latin typeface="Calibri"/>
                <a:cs typeface="Calibri"/>
              </a:rPr>
              <a:t>errors so that the normal flow of the application can be maintained.</a:t>
            </a:r>
          </a:p>
          <a:p>
            <a:pPr marL="222885" indent="-210185">
              <a:lnSpc>
                <a:spcPct val="110000"/>
              </a:lnSpc>
              <a:spcBef>
                <a:spcPts val="0"/>
              </a:spcBef>
              <a:spcAft>
                <a:spcPts val="600"/>
              </a:spcAft>
              <a:buSzPct val="92500"/>
              <a:buFont typeface="Wingdings"/>
              <a:buChar char=""/>
              <a:tabLst>
                <a:tab pos="222885" algn="l"/>
              </a:tabLst>
            </a:pPr>
            <a:r>
              <a:rPr sz="1800" b="1" dirty="0">
                <a:solidFill>
                  <a:srgbClr val="001F5F"/>
                </a:solidFill>
                <a:latin typeface="Calibri"/>
                <a:cs typeface="Calibri"/>
              </a:rPr>
              <a:t>If there is any error occurs in a program automatically rest of the code will not be executed &amp;</a:t>
            </a:r>
            <a:r>
              <a:rPr lang="en-IN" sz="1800" b="1" dirty="0">
                <a:solidFill>
                  <a:srgbClr val="001F5F"/>
                </a:solidFill>
                <a:latin typeface="Calibri"/>
                <a:cs typeface="Calibri"/>
              </a:rPr>
              <a:t> </a:t>
            </a:r>
            <a:r>
              <a:rPr sz="1800" b="1" dirty="0">
                <a:solidFill>
                  <a:srgbClr val="001F5F"/>
                </a:solidFill>
                <a:latin typeface="Calibri"/>
                <a:cs typeface="Calibri"/>
              </a:rPr>
              <a:t>the program will be terminated abnormally. i.e., Avoiding abnormal termination of program.</a:t>
            </a:r>
          </a:p>
          <a:p>
            <a:pPr marL="222250" indent="-209550">
              <a:lnSpc>
                <a:spcPct val="110000"/>
              </a:lnSpc>
              <a:spcBef>
                <a:spcPts val="0"/>
              </a:spcBef>
              <a:spcAft>
                <a:spcPts val="600"/>
              </a:spcAft>
              <a:buSzPct val="92500"/>
              <a:buFont typeface="Wingdings"/>
              <a:buChar char=""/>
              <a:tabLst>
                <a:tab pos="222250" algn="l"/>
              </a:tabLst>
            </a:pPr>
            <a:r>
              <a:rPr sz="1800" b="1" dirty="0">
                <a:solidFill>
                  <a:srgbClr val="001F5F"/>
                </a:solidFill>
                <a:latin typeface="Calibri"/>
                <a:cs typeface="Calibri"/>
              </a:rPr>
              <a:t>Actually we are use five keywords</a:t>
            </a:r>
          </a:p>
          <a:p>
            <a:pPr marL="421005" indent="-399415">
              <a:lnSpc>
                <a:spcPct val="110000"/>
              </a:lnSpc>
              <a:spcBef>
                <a:spcPts val="0"/>
              </a:spcBef>
              <a:spcAft>
                <a:spcPts val="600"/>
              </a:spcAft>
              <a:buAutoNum type="romanLcPeriod"/>
              <a:tabLst>
                <a:tab pos="421005" algn="l"/>
              </a:tabLst>
            </a:pPr>
            <a:r>
              <a:rPr sz="1800" b="1" dirty="0">
                <a:solidFill>
                  <a:srgbClr val="001F5F"/>
                </a:solidFill>
                <a:latin typeface="Calibri"/>
                <a:cs typeface="Calibri"/>
              </a:rPr>
              <a:t>Try</a:t>
            </a:r>
          </a:p>
          <a:p>
            <a:pPr marL="421005" indent="-399415">
              <a:lnSpc>
                <a:spcPct val="110000"/>
              </a:lnSpc>
              <a:spcBef>
                <a:spcPts val="0"/>
              </a:spcBef>
              <a:spcAft>
                <a:spcPts val="600"/>
              </a:spcAft>
              <a:buAutoNum type="romanLcPeriod"/>
              <a:tabLst>
                <a:tab pos="421005" algn="l"/>
              </a:tabLst>
            </a:pPr>
            <a:r>
              <a:rPr sz="1800" b="1" dirty="0">
                <a:solidFill>
                  <a:srgbClr val="001F5F"/>
                </a:solidFill>
                <a:latin typeface="Calibri"/>
                <a:cs typeface="Calibri"/>
              </a:rPr>
              <a:t>Catch</a:t>
            </a:r>
          </a:p>
          <a:p>
            <a:pPr marL="419100" indent="-397510">
              <a:lnSpc>
                <a:spcPct val="110000"/>
              </a:lnSpc>
              <a:spcBef>
                <a:spcPts val="0"/>
              </a:spcBef>
              <a:spcAft>
                <a:spcPts val="600"/>
              </a:spcAft>
              <a:buAutoNum type="romanLcPeriod"/>
              <a:tabLst>
                <a:tab pos="419100" algn="l"/>
              </a:tabLst>
            </a:pPr>
            <a:r>
              <a:rPr sz="1800" b="1" dirty="0">
                <a:solidFill>
                  <a:srgbClr val="001F5F"/>
                </a:solidFill>
                <a:latin typeface="Calibri"/>
                <a:cs typeface="Calibri"/>
              </a:rPr>
              <a:t>Throw</a:t>
            </a:r>
          </a:p>
          <a:p>
            <a:pPr marL="421005" indent="-399415">
              <a:lnSpc>
                <a:spcPct val="110000"/>
              </a:lnSpc>
              <a:spcBef>
                <a:spcPts val="0"/>
              </a:spcBef>
              <a:spcAft>
                <a:spcPts val="600"/>
              </a:spcAft>
              <a:buAutoNum type="romanLcPeriod"/>
              <a:tabLst>
                <a:tab pos="421005" algn="l"/>
              </a:tabLst>
            </a:pPr>
            <a:r>
              <a:rPr sz="1800" b="1" dirty="0">
                <a:solidFill>
                  <a:srgbClr val="001F5F"/>
                </a:solidFill>
                <a:latin typeface="Calibri"/>
                <a:cs typeface="Calibri"/>
              </a:rPr>
              <a:t>Throws</a:t>
            </a:r>
          </a:p>
          <a:p>
            <a:pPr marL="421005" indent="-399415">
              <a:lnSpc>
                <a:spcPct val="110000"/>
              </a:lnSpc>
              <a:spcBef>
                <a:spcPts val="0"/>
              </a:spcBef>
              <a:spcAft>
                <a:spcPts val="600"/>
              </a:spcAft>
              <a:buAutoNum type="romanLcPeriod"/>
              <a:tabLst>
                <a:tab pos="421005" algn="l"/>
              </a:tabLst>
            </a:pPr>
            <a:r>
              <a:rPr sz="1800" b="1" dirty="0">
                <a:solidFill>
                  <a:srgbClr val="001F5F"/>
                </a:solidFill>
                <a:latin typeface="Calibri"/>
                <a:cs typeface="Calibri"/>
              </a:rPr>
              <a:t>Finally</a:t>
            </a:r>
          </a:p>
        </p:txBody>
      </p:sp>
    </p:spTree>
    <p:extLst>
      <p:ext uri="{BB962C8B-B14F-4D97-AF65-F5344CB8AC3E}">
        <p14:creationId xmlns:p14="http://schemas.microsoft.com/office/powerpoint/2010/main" val="1775632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9B512-D414-E93C-6496-B729409C1F4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B163C30-B463-EFCB-D97C-E4BBF56533C2}"/>
              </a:ext>
            </a:extLst>
          </p:cNvPr>
          <p:cNvPicPr>
            <a:picLocks noChangeAspect="1"/>
          </p:cNvPicPr>
          <p:nvPr/>
        </p:nvPicPr>
        <p:blipFill>
          <a:blip r:embed="rId2"/>
          <a:stretch>
            <a:fillRect/>
          </a:stretch>
        </p:blipFill>
        <p:spPr>
          <a:xfrm>
            <a:off x="0" y="1392318"/>
            <a:ext cx="12192000" cy="4073364"/>
          </a:xfrm>
          <a:prstGeom prst="rect">
            <a:avLst/>
          </a:prstGeom>
        </p:spPr>
      </p:pic>
    </p:spTree>
    <p:extLst>
      <p:ext uri="{BB962C8B-B14F-4D97-AF65-F5344CB8AC3E}">
        <p14:creationId xmlns:p14="http://schemas.microsoft.com/office/powerpoint/2010/main" val="7881363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28B99-AF15-E523-8257-EA36B1488B7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FC4C550-676C-B1B6-5F5D-21FE35BFABD3}"/>
              </a:ext>
            </a:extLst>
          </p:cNvPr>
          <p:cNvSpPr txBox="1">
            <a:spLocks/>
          </p:cNvSpPr>
          <p:nvPr/>
        </p:nvSpPr>
        <p:spPr>
          <a:xfrm>
            <a:off x="-533400" y="990600"/>
            <a:ext cx="4778375" cy="352019"/>
          </a:xfrm>
          <a:prstGeom prst="rect">
            <a:avLst/>
          </a:prstGeom>
        </p:spPr>
        <p:txBody>
          <a:bodyPr vert="horz" wrap="square" lIns="0" tIns="13335" rIns="0" bIns="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10000"/>
              </a:lnSpc>
              <a:spcBef>
                <a:spcPts val="0"/>
              </a:spcBef>
              <a:spcAft>
                <a:spcPts val="600"/>
              </a:spcAft>
            </a:pPr>
            <a:r>
              <a:rPr lang="en-US" sz="2000" b="1" dirty="0">
                <a:solidFill>
                  <a:srgbClr val="001F5F"/>
                </a:solidFill>
                <a:latin typeface="Calibri"/>
                <a:cs typeface="Calibri"/>
              </a:rPr>
              <a:t>What is Exception in Java?</a:t>
            </a:r>
          </a:p>
        </p:txBody>
      </p:sp>
      <p:sp>
        <p:nvSpPr>
          <p:cNvPr id="3" name="object 3">
            <a:extLst>
              <a:ext uri="{FF2B5EF4-FFF2-40B4-BE49-F238E27FC236}">
                <a16:creationId xmlns:a16="http://schemas.microsoft.com/office/drawing/2014/main" id="{D958E445-B239-61A1-6EA6-687F6A524177}"/>
              </a:ext>
            </a:extLst>
          </p:cNvPr>
          <p:cNvSpPr txBox="1"/>
          <p:nvPr/>
        </p:nvSpPr>
        <p:spPr>
          <a:xfrm>
            <a:off x="485952" y="1566417"/>
            <a:ext cx="11130280" cy="3436325"/>
          </a:xfrm>
          <a:prstGeom prst="rect">
            <a:avLst/>
          </a:prstGeom>
        </p:spPr>
        <p:txBody>
          <a:bodyPr vert="horz" wrap="square" lIns="0" tIns="12700" rIns="0" bIns="0" rtlCol="0">
            <a:normAutofit/>
          </a:bodyPr>
          <a:lstStyle/>
          <a:p>
            <a:pPr marL="12700">
              <a:lnSpc>
                <a:spcPct val="110000"/>
              </a:lnSpc>
              <a:spcBef>
                <a:spcPts val="0"/>
              </a:spcBef>
              <a:spcAft>
                <a:spcPts val="600"/>
              </a:spcAft>
            </a:pPr>
            <a:r>
              <a:rPr sz="1800" b="1" dirty="0">
                <a:solidFill>
                  <a:srgbClr val="001F5F"/>
                </a:solidFill>
                <a:latin typeface="Calibri"/>
                <a:cs typeface="Calibri"/>
              </a:rPr>
              <a:t>Dictionary Meaning: </a:t>
            </a:r>
            <a:r>
              <a:rPr sz="1800" dirty="0">
                <a:solidFill>
                  <a:srgbClr val="001F5F"/>
                </a:solidFill>
                <a:latin typeface="Calibri"/>
                <a:cs typeface="Calibri"/>
              </a:rPr>
              <a:t>Exception is an abnormal condition.</a:t>
            </a:r>
          </a:p>
          <a:p>
            <a:pPr marL="12700" marR="55880">
              <a:lnSpc>
                <a:spcPct val="110000"/>
              </a:lnSpc>
              <a:spcBef>
                <a:spcPts val="0"/>
              </a:spcBef>
              <a:spcAft>
                <a:spcPts val="600"/>
              </a:spcAft>
            </a:pPr>
            <a:r>
              <a:rPr sz="1800" dirty="0">
                <a:solidFill>
                  <a:srgbClr val="001F5F"/>
                </a:solidFill>
                <a:latin typeface="Calibri"/>
                <a:cs typeface="Calibri"/>
              </a:rPr>
              <a:t>In Java, an exception is an event that disrupts the normal flow of the program. It is an object which is thrown at runtime.</a:t>
            </a:r>
          </a:p>
          <a:p>
            <a:pPr>
              <a:lnSpc>
                <a:spcPct val="110000"/>
              </a:lnSpc>
              <a:spcBef>
                <a:spcPts val="0"/>
              </a:spcBef>
              <a:spcAft>
                <a:spcPts val="600"/>
              </a:spcAft>
            </a:pPr>
            <a:endParaRPr sz="1800" dirty="0">
              <a:solidFill>
                <a:srgbClr val="001F5F"/>
              </a:solidFill>
              <a:latin typeface="Calibri"/>
              <a:cs typeface="Calibri"/>
            </a:endParaRPr>
          </a:p>
          <a:p>
            <a:pPr marL="12700">
              <a:lnSpc>
                <a:spcPct val="110000"/>
              </a:lnSpc>
              <a:spcBef>
                <a:spcPts val="0"/>
              </a:spcBef>
              <a:spcAft>
                <a:spcPts val="600"/>
              </a:spcAft>
            </a:pPr>
            <a:r>
              <a:rPr sz="1800" b="1" dirty="0">
                <a:solidFill>
                  <a:srgbClr val="001F5F"/>
                </a:solidFill>
                <a:latin typeface="Calibri"/>
                <a:cs typeface="Calibri"/>
              </a:rPr>
              <a:t>What is Exception Handling?</a:t>
            </a:r>
            <a:endParaRPr sz="1800" dirty="0">
              <a:solidFill>
                <a:srgbClr val="001F5F"/>
              </a:solidFill>
              <a:latin typeface="Calibri"/>
              <a:cs typeface="Calibri"/>
            </a:endParaRPr>
          </a:p>
          <a:p>
            <a:pPr marL="12700">
              <a:lnSpc>
                <a:spcPct val="110000"/>
              </a:lnSpc>
              <a:spcBef>
                <a:spcPts val="0"/>
              </a:spcBef>
              <a:spcAft>
                <a:spcPts val="600"/>
              </a:spcAft>
              <a:tabLst>
                <a:tab pos="1235075" algn="l"/>
                <a:tab pos="2323465" algn="l"/>
                <a:tab pos="2670810" algn="l"/>
                <a:tab pos="2957195" algn="l"/>
                <a:tab pos="4268470" algn="l"/>
                <a:tab pos="4667885" algn="l"/>
                <a:tab pos="5530215" algn="l"/>
                <a:tab pos="6527165" algn="l"/>
                <a:tab pos="7384415" algn="l"/>
                <a:tab pos="8036559" algn="l"/>
                <a:tab pos="8435975" algn="l"/>
              </a:tabLst>
            </a:pPr>
            <a:r>
              <a:rPr sz="1800" dirty="0">
                <a:solidFill>
                  <a:srgbClr val="001F5F"/>
                </a:solidFill>
                <a:latin typeface="Calibri"/>
                <a:cs typeface="Calibri"/>
              </a:rPr>
              <a:t>Exception Handling is a mechanism to handle runtime errors such as ClassNotFoundException,</a:t>
            </a:r>
          </a:p>
          <a:p>
            <a:pPr marL="12700">
              <a:lnSpc>
                <a:spcPct val="110000"/>
              </a:lnSpc>
              <a:spcBef>
                <a:spcPts val="0"/>
              </a:spcBef>
              <a:spcAft>
                <a:spcPts val="600"/>
              </a:spcAft>
            </a:pPr>
            <a:r>
              <a:rPr sz="1800" dirty="0">
                <a:solidFill>
                  <a:srgbClr val="001F5F"/>
                </a:solidFill>
                <a:latin typeface="Calibri"/>
                <a:cs typeface="Calibri"/>
              </a:rPr>
              <a:t>IOException, SQLException, RemoteException, etc.</a:t>
            </a:r>
          </a:p>
        </p:txBody>
      </p:sp>
    </p:spTree>
    <p:extLst>
      <p:ext uri="{BB962C8B-B14F-4D97-AF65-F5344CB8AC3E}">
        <p14:creationId xmlns:p14="http://schemas.microsoft.com/office/powerpoint/2010/main" val="10571835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10800000" cy="640080"/>
          </a:xfrm>
          <a:prstGeom prst="rect">
            <a:avLst/>
          </a:prstGeom>
        </p:spPr>
        <p:txBody>
          <a:bodyPr vert="horz" wrap="square" rtlCol="0" anchor="ctr">
            <a:normAutofit/>
          </a:bodyPr>
          <a:lstStyle/>
          <a:p>
            <a:pPr marL="12700" algn="l">
              <a:lnSpc>
                <a:spcPct val="100000"/>
              </a:lnSpc>
              <a:spcBef>
                <a:spcPts val="100"/>
              </a:spcBef>
            </a:pPr>
            <a:r>
              <a:rPr sz="2800" b="1" dirty="0">
                <a:solidFill>
                  <a:srgbClr val="C00000"/>
                </a:solidFill>
                <a:latin typeface="Calibri"/>
                <a:cs typeface="Calibri"/>
              </a:rPr>
              <a:t>ADVANTAGE OF EXCEPTION HANDLING</a:t>
            </a:r>
          </a:p>
        </p:txBody>
      </p:sp>
      <p:sp>
        <p:nvSpPr>
          <p:cNvPr id="3" name="object 3"/>
          <p:cNvSpPr txBox="1"/>
          <p:nvPr/>
        </p:nvSpPr>
        <p:spPr>
          <a:xfrm>
            <a:off x="334010" y="950000"/>
            <a:ext cx="11523980" cy="5374805"/>
          </a:xfrm>
          <a:prstGeom prst="rect">
            <a:avLst/>
          </a:prstGeom>
        </p:spPr>
        <p:txBody>
          <a:bodyPr vert="horz" wrap="square" lIns="0" tIns="12065" rIns="0" bIns="0" rtlCol="0">
            <a:normAutofit/>
          </a:bodyPr>
          <a:lstStyle/>
          <a:p>
            <a:pPr marL="12700" marR="144780">
              <a:lnSpc>
                <a:spcPct val="110000"/>
              </a:lnSpc>
              <a:spcBef>
                <a:spcPts val="0"/>
              </a:spcBef>
              <a:spcAft>
                <a:spcPts val="600"/>
              </a:spcAft>
            </a:pPr>
            <a:r>
              <a:rPr sz="1800" b="1" dirty="0">
                <a:latin typeface="Calibri"/>
                <a:cs typeface="Calibri"/>
              </a:rPr>
              <a:t>The core advantage of exception handling is to maintain the normal flow of the application. An exception normally disrupts the normal flow of the application; that is why we need to handle exceptions. Let's consider a scenario:</a:t>
            </a:r>
          </a:p>
          <a:p>
            <a:pPr marL="12700"/>
            <a:r>
              <a:rPr sz="1600" b="1" dirty="0">
                <a:latin typeface="Courier New"/>
                <a:cs typeface="Courier New"/>
              </a:rPr>
              <a:t>statement 1;</a:t>
            </a:r>
          </a:p>
          <a:p>
            <a:pPr marL="12700"/>
            <a:r>
              <a:rPr sz="1600" b="1" dirty="0">
                <a:latin typeface="Courier New"/>
                <a:cs typeface="Courier New"/>
              </a:rPr>
              <a:t>statement 2;</a:t>
            </a:r>
          </a:p>
          <a:p>
            <a:pPr marL="12700"/>
            <a:r>
              <a:rPr sz="1600" b="1" dirty="0">
                <a:latin typeface="Courier New"/>
                <a:cs typeface="Courier New"/>
              </a:rPr>
              <a:t>statement 3;</a:t>
            </a:r>
          </a:p>
          <a:p>
            <a:pPr marL="12700"/>
            <a:r>
              <a:rPr sz="1600" b="1" dirty="0">
                <a:latin typeface="Courier New"/>
                <a:cs typeface="Courier New"/>
              </a:rPr>
              <a:t>statement 4;</a:t>
            </a:r>
          </a:p>
          <a:p>
            <a:pPr marL="12700"/>
            <a:r>
              <a:rPr sz="1600" b="1" dirty="0">
                <a:solidFill>
                  <a:srgbClr val="C00000"/>
                </a:solidFill>
                <a:latin typeface="Courier New"/>
                <a:cs typeface="Courier New"/>
              </a:rPr>
              <a:t>statement 5;//exception occurs</a:t>
            </a:r>
          </a:p>
          <a:p>
            <a:pPr marL="12700"/>
            <a:r>
              <a:rPr sz="1600" b="1" dirty="0">
                <a:latin typeface="Courier New"/>
                <a:cs typeface="Courier New"/>
              </a:rPr>
              <a:t>statement 6;</a:t>
            </a:r>
          </a:p>
          <a:p>
            <a:pPr marL="12700"/>
            <a:r>
              <a:rPr sz="1600" b="1" dirty="0">
                <a:latin typeface="Courier New"/>
                <a:cs typeface="Courier New"/>
              </a:rPr>
              <a:t>statement 7;</a:t>
            </a:r>
          </a:p>
          <a:p>
            <a:pPr marL="12700"/>
            <a:r>
              <a:rPr sz="1600" b="1" dirty="0">
                <a:latin typeface="Courier New"/>
                <a:cs typeface="Courier New"/>
              </a:rPr>
              <a:t>statement 8;</a:t>
            </a:r>
          </a:p>
          <a:p>
            <a:pPr marL="12700"/>
            <a:r>
              <a:rPr sz="1600" b="1" dirty="0">
                <a:latin typeface="Courier New"/>
                <a:cs typeface="Courier New"/>
              </a:rPr>
              <a:t>statement 9;</a:t>
            </a:r>
          </a:p>
          <a:p>
            <a:pPr marL="12700"/>
            <a:r>
              <a:rPr sz="1600" b="1" dirty="0">
                <a:latin typeface="Courier New"/>
                <a:cs typeface="Courier New"/>
              </a:rPr>
              <a:t>statement 10;</a:t>
            </a:r>
            <a:endParaRPr lang="en-IN" sz="1600" b="1" dirty="0">
              <a:latin typeface="Courier New"/>
              <a:cs typeface="Courier New"/>
            </a:endParaRPr>
          </a:p>
          <a:p>
            <a:pPr marL="12700"/>
            <a:endParaRPr sz="1600" b="1" dirty="0">
              <a:latin typeface="Courier New"/>
              <a:cs typeface="Courier New"/>
            </a:endParaRPr>
          </a:p>
          <a:p>
            <a:pPr marL="12700">
              <a:lnSpc>
                <a:spcPct val="110000"/>
              </a:lnSpc>
              <a:spcBef>
                <a:spcPts val="0"/>
              </a:spcBef>
              <a:spcAft>
                <a:spcPts val="600"/>
              </a:spcAft>
            </a:pPr>
            <a:r>
              <a:rPr sz="1800" b="1" dirty="0">
                <a:latin typeface="Calibri"/>
                <a:cs typeface="Calibri"/>
              </a:rPr>
              <a:t>Suppose there are 10 statements in a Java program and an exception occurs at statement 5; the rest of</a:t>
            </a:r>
          </a:p>
          <a:p>
            <a:pPr marL="12700">
              <a:lnSpc>
                <a:spcPct val="110000"/>
              </a:lnSpc>
              <a:spcBef>
                <a:spcPts val="0"/>
              </a:spcBef>
              <a:spcAft>
                <a:spcPts val="600"/>
              </a:spcAft>
            </a:pPr>
            <a:r>
              <a:rPr sz="1800" b="1" dirty="0">
                <a:latin typeface="Calibri"/>
                <a:cs typeface="Calibri"/>
              </a:rPr>
              <a:t>the code will not be executed, i.e., statements 6 to 10 will not be executed. However, when we perform</a:t>
            </a:r>
          </a:p>
          <a:p>
            <a:pPr marL="12700" marR="80010">
              <a:lnSpc>
                <a:spcPct val="110000"/>
              </a:lnSpc>
              <a:spcBef>
                <a:spcPts val="0"/>
              </a:spcBef>
              <a:spcAft>
                <a:spcPts val="600"/>
              </a:spcAft>
            </a:pPr>
            <a:r>
              <a:rPr sz="1800" b="1" dirty="0">
                <a:latin typeface="Calibri"/>
                <a:cs typeface="Calibri"/>
              </a:rPr>
              <a:t>exception handling, the rest of the statements will be executed. That is why we use exception handling in </a:t>
            </a:r>
            <a:r>
              <a:rPr sz="1800" b="1" u="sng" dirty="0">
                <a:uFill>
                  <a:solidFill>
                    <a:srgbClr val="0461C1"/>
                  </a:solidFill>
                </a:uFill>
                <a:latin typeface="Calibri"/>
                <a:cs typeface="Calibri"/>
                <a:hlinkClick r:id="rId2">
                  <a:extLst>
                    <a:ext uri="{A12FA001-AC4F-418D-AE19-62706E023703}">
                      <ahyp:hlinkClr xmlns:ahyp="http://schemas.microsoft.com/office/drawing/2018/hyperlinkcolor" val="tx"/>
                    </a:ext>
                  </a:extLst>
                </a:hlinkClick>
              </a:rPr>
              <a:t>Java</a:t>
            </a:r>
            <a:r>
              <a:rPr sz="1800" b="1" dirty="0">
                <a:latin typeface="Calibri"/>
                <a:cs typeface="Calibri"/>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819400" y="1600200"/>
            <a:ext cx="5562600" cy="640080"/>
          </a:xfrm>
          <a:prstGeom prst="rect">
            <a:avLst/>
          </a:prstGeom>
        </p:spPr>
        <p:txBody>
          <a:bodyPr vert="horz" wrap="square" rtlCol="0" anchor="ctr"/>
          <a:lstStyle/>
          <a:p>
            <a:pPr marL="40640" algn="l">
              <a:lnSpc>
                <a:spcPct val="100000"/>
              </a:lnSpc>
              <a:spcBef>
                <a:spcPts val="110"/>
              </a:spcBef>
            </a:pPr>
            <a:r>
              <a:rPr sz="2800" b="1" dirty="0">
                <a:solidFill>
                  <a:srgbClr val="001F5F"/>
                </a:solidFill>
                <a:latin typeface="Calibri"/>
                <a:cs typeface="Calibri"/>
              </a:rPr>
              <a:t>Unit-IV: PART-B:Exception Handling</a:t>
            </a:r>
          </a:p>
        </p:txBody>
      </p:sp>
      <p:sp>
        <p:nvSpPr>
          <p:cNvPr id="3" name="object 3"/>
          <p:cNvSpPr txBox="1"/>
          <p:nvPr/>
        </p:nvSpPr>
        <p:spPr>
          <a:xfrm>
            <a:off x="3124200" y="2514600"/>
            <a:ext cx="4191000" cy="391160"/>
          </a:xfrm>
          <a:prstGeom prst="rect">
            <a:avLst/>
          </a:prstGeom>
        </p:spPr>
        <p:txBody>
          <a:bodyPr vert="horz" wrap="square" lIns="0" tIns="12700" rIns="0" bIns="0" rtlCol="0">
            <a:normAutofit/>
          </a:bodyPr>
          <a:lstStyle/>
          <a:p>
            <a:pPr marL="12700">
              <a:lnSpc>
                <a:spcPct val="110000"/>
              </a:lnSpc>
              <a:spcBef>
                <a:spcPts val="0"/>
              </a:spcBef>
              <a:spcAft>
                <a:spcPts val="600"/>
              </a:spcAft>
            </a:pPr>
            <a:r>
              <a:rPr sz="2000" b="1" dirty="0">
                <a:solidFill>
                  <a:srgbClr val="C00000"/>
                </a:solidFill>
                <a:latin typeface="Calibri"/>
                <a:cs typeface="Calibri"/>
              </a:rPr>
              <a:t>Concept-2:</a:t>
            </a:r>
            <a:r>
              <a:rPr sz="2000" b="1" dirty="0">
                <a:solidFill>
                  <a:srgbClr val="001F5F"/>
                </a:solidFill>
                <a:latin typeface="Calibri"/>
                <a:cs typeface="Calibri"/>
              </a:rPr>
              <a:t>TYPES OF JAVA EXCEPTIONS</a:t>
            </a:r>
            <a:endParaRPr sz="2000" dirty="0">
              <a:solidFill>
                <a:srgbClr val="001F5F"/>
              </a:solidFill>
              <a:latin typeface="Calibri"/>
              <a:cs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97089" y="1600200"/>
            <a:ext cx="11389995" cy="3325495"/>
          </a:xfrm>
          <a:prstGeom prst="rect">
            <a:avLst/>
          </a:prstGeom>
        </p:spPr>
        <p:txBody>
          <a:bodyPr vert="horz" wrap="square" lIns="0" tIns="12700" rIns="0" bIns="0" rtlCol="0">
            <a:normAutofit/>
          </a:bodyPr>
          <a:lstStyle/>
          <a:p>
            <a:pPr marL="356235" indent="-343535">
              <a:lnSpc>
                <a:spcPct val="110000"/>
              </a:lnSpc>
              <a:spcBef>
                <a:spcPts val="0"/>
              </a:spcBef>
              <a:spcAft>
                <a:spcPts val="600"/>
              </a:spcAft>
              <a:buFont typeface="Wingdings"/>
              <a:buChar char=""/>
              <a:tabLst>
                <a:tab pos="356235" algn="l"/>
              </a:tabLst>
            </a:pPr>
            <a:r>
              <a:rPr sz="1800" b="1" dirty="0">
                <a:solidFill>
                  <a:srgbClr val="001F5F"/>
                </a:solidFill>
                <a:latin typeface="Calibri"/>
                <a:cs typeface="Calibri"/>
              </a:rPr>
              <a:t>Exception handling is a mechanism in Java that allows developers to manage</a:t>
            </a:r>
          </a:p>
          <a:p>
            <a:pPr marL="356870">
              <a:lnSpc>
                <a:spcPct val="110000"/>
              </a:lnSpc>
              <a:spcBef>
                <a:spcPts val="0"/>
              </a:spcBef>
              <a:spcAft>
                <a:spcPts val="600"/>
              </a:spcAft>
            </a:pPr>
            <a:r>
              <a:rPr sz="1800" b="1" dirty="0">
                <a:solidFill>
                  <a:srgbClr val="001F5F"/>
                </a:solidFill>
                <a:latin typeface="Calibri"/>
                <a:cs typeface="Calibri"/>
              </a:rPr>
              <a:t>runtime errors and maintain normal application flow.</a:t>
            </a:r>
          </a:p>
          <a:p>
            <a:pPr marL="356235" indent="-343535">
              <a:lnSpc>
                <a:spcPct val="110000"/>
              </a:lnSpc>
              <a:spcBef>
                <a:spcPts val="0"/>
              </a:spcBef>
              <a:spcAft>
                <a:spcPts val="600"/>
              </a:spcAft>
              <a:buFont typeface="Wingdings"/>
              <a:buChar char=""/>
              <a:tabLst>
                <a:tab pos="356235" algn="l"/>
              </a:tabLst>
            </a:pPr>
            <a:r>
              <a:rPr sz="1800" b="1" dirty="0">
                <a:solidFill>
                  <a:srgbClr val="001F5F"/>
                </a:solidFill>
                <a:latin typeface="Calibri"/>
                <a:cs typeface="Calibri"/>
              </a:rPr>
              <a:t>When an error occurs during the execution of a program, an exception object</a:t>
            </a:r>
          </a:p>
          <a:p>
            <a:pPr marL="356870">
              <a:lnSpc>
                <a:spcPct val="110000"/>
              </a:lnSpc>
              <a:spcBef>
                <a:spcPts val="0"/>
              </a:spcBef>
              <a:spcAft>
                <a:spcPts val="600"/>
              </a:spcAft>
            </a:pPr>
            <a:r>
              <a:rPr sz="1800" b="1" dirty="0">
                <a:solidFill>
                  <a:srgbClr val="001F5F"/>
                </a:solidFill>
                <a:latin typeface="Calibri"/>
                <a:cs typeface="Calibri"/>
              </a:rPr>
              <a:t>is created, and Java's runtime environment attempts to handle it.</a:t>
            </a:r>
          </a:p>
          <a:p>
            <a:pPr>
              <a:lnSpc>
                <a:spcPct val="110000"/>
              </a:lnSpc>
              <a:spcBef>
                <a:spcPts val="0"/>
              </a:spcBef>
              <a:spcAft>
                <a:spcPts val="600"/>
              </a:spcAft>
            </a:pPr>
            <a:endParaRPr sz="1800" b="1" dirty="0">
              <a:solidFill>
                <a:srgbClr val="001F5F"/>
              </a:solidFill>
              <a:latin typeface="Calibri"/>
              <a:cs typeface="Calibri"/>
            </a:endParaRPr>
          </a:p>
          <a:p>
            <a:pPr marL="356870" indent="-344170">
              <a:lnSpc>
                <a:spcPct val="110000"/>
              </a:lnSpc>
              <a:spcBef>
                <a:spcPts val="0"/>
              </a:spcBef>
              <a:spcAft>
                <a:spcPts val="600"/>
              </a:spcAft>
              <a:buFont typeface="Wingdings"/>
              <a:buChar char=""/>
              <a:tabLst>
                <a:tab pos="356870" algn="l"/>
              </a:tabLst>
            </a:pPr>
            <a:r>
              <a:rPr sz="1800" b="1" dirty="0">
                <a:solidFill>
                  <a:srgbClr val="001F5F"/>
                </a:solidFill>
                <a:latin typeface="Calibri"/>
                <a:cs typeface="Calibri"/>
              </a:rPr>
              <a:t>If the exception is not handled properly, it can lead to program termination.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528816" y="2761488"/>
            <a:ext cx="2773679" cy="2374392"/>
          </a:xfrm>
          <a:prstGeom prst="rect">
            <a:avLst/>
          </a:prstGeom>
        </p:spPr>
      </p:pic>
      <p:sp>
        <p:nvSpPr>
          <p:cNvPr id="3" name="object 3"/>
          <p:cNvSpPr txBox="1"/>
          <p:nvPr/>
        </p:nvSpPr>
        <p:spPr>
          <a:xfrm>
            <a:off x="338734" y="266506"/>
            <a:ext cx="11056620" cy="3179445"/>
          </a:xfrm>
          <a:prstGeom prst="rect">
            <a:avLst/>
          </a:prstGeom>
        </p:spPr>
        <p:txBody>
          <a:bodyPr vert="horz" wrap="square" lIns="0" tIns="116839" rIns="0" bIns="0" rtlCol="0">
            <a:normAutofit/>
          </a:bodyPr>
          <a:lstStyle/>
          <a:p>
            <a:pPr marL="384175">
              <a:lnSpc>
                <a:spcPct val="110000"/>
              </a:lnSpc>
              <a:spcBef>
                <a:spcPts val="0"/>
              </a:spcBef>
              <a:spcAft>
                <a:spcPts val="600"/>
              </a:spcAft>
            </a:pPr>
            <a:r>
              <a:rPr sz="2000" b="1" dirty="0">
                <a:solidFill>
                  <a:srgbClr val="C00000"/>
                </a:solidFill>
                <a:latin typeface="Calibri"/>
                <a:cs typeface="Calibri"/>
              </a:rPr>
              <a:t>TYPES OF JAVA EXCEPTIONS</a:t>
            </a:r>
            <a:endParaRPr sz="2000" b="1" dirty="0">
              <a:solidFill>
                <a:srgbClr val="001F5F"/>
              </a:solidFill>
              <a:latin typeface="Calibri"/>
              <a:cs typeface="Calibri"/>
            </a:endParaRPr>
          </a:p>
          <a:p>
            <a:pPr marL="472440" lvl="1">
              <a:lnSpc>
                <a:spcPct val="110000"/>
              </a:lnSpc>
              <a:spcAft>
                <a:spcPts val="600"/>
              </a:spcAft>
            </a:pPr>
            <a:r>
              <a:rPr sz="2000" b="1" dirty="0">
                <a:solidFill>
                  <a:srgbClr val="001F5F"/>
                </a:solidFill>
                <a:latin typeface="Calibri"/>
                <a:cs typeface="Calibri"/>
              </a:rPr>
              <a:t>There are mainly two types of exceptions: checked and unchecked. An error is considered as</a:t>
            </a:r>
          </a:p>
          <a:p>
            <a:pPr marL="472440" lvl="1">
              <a:lnSpc>
                <a:spcPct val="110000"/>
              </a:lnSpc>
              <a:spcAft>
                <a:spcPts val="600"/>
              </a:spcAft>
            </a:pPr>
            <a:r>
              <a:rPr sz="2000" b="1" dirty="0">
                <a:solidFill>
                  <a:srgbClr val="001F5F"/>
                </a:solidFill>
                <a:latin typeface="Calibri"/>
                <a:cs typeface="Calibri"/>
              </a:rPr>
              <a:t>the unchecked exception. However, according to Oracle, there are three types of exceptions</a:t>
            </a:r>
          </a:p>
          <a:p>
            <a:pPr marL="472440" lvl="1">
              <a:lnSpc>
                <a:spcPct val="110000"/>
              </a:lnSpc>
              <a:spcAft>
                <a:spcPts val="600"/>
              </a:spcAft>
            </a:pPr>
            <a:r>
              <a:rPr sz="2000" b="1" dirty="0">
                <a:solidFill>
                  <a:srgbClr val="001F5F"/>
                </a:solidFill>
                <a:latin typeface="Calibri"/>
                <a:cs typeface="Calibri"/>
              </a:rPr>
              <a:t>namely:</a:t>
            </a:r>
          </a:p>
          <a:p>
            <a:pPr marL="648970" lvl="1" indent="-180975">
              <a:lnSpc>
                <a:spcPct val="110000"/>
              </a:lnSpc>
              <a:spcAft>
                <a:spcPts val="600"/>
              </a:spcAft>
              <a:buSzPct val="95000"/>
              <a:buAutoNum type="arabicPeriod"/>
              <a:tabLst>
                <a:tab pos="191770" algn="l"/>
              </a:tabLst>
            </a:pPr>
            <a:r>
              <a:rPr sz="2000" b="1" dirty="0">
                <a:latin typeface="Calibri"/>
                <a:cs typeface="Calibri"/>
              </a:rPr>
              <a:t>CHECKED EXCEPTION</a:t>
            </a:r>
          </a:p>
          <a:p>
            <a:pPr marL="691515" lvl="1" indent="-221615">
              <a:lnSpc>
                <a:spcPct val="110000"/>
              </a:lnSpc>
              <a:spcAft>
                <a:spcPts val="600"/>
              </a:spcAft>
              <a:buSzPct val="95000"/>
              <a:buAutoNum type="arabicPeriod"/>
              <a:tabLst>
                <a:tab pos="234315" algn="l"/>
              </a:tabLst>
            </a:pPr>
            <a:r>
              <a:rPr sz="2000" b="1" dirty="0">
                <a:latin typeface="Calibri"/>
                <a:cs typeface="Calibri"/>
              </a:rPr>
              <a:t>UNCHECKED EXCEPTION</a:t>
            </a:r>
          </a:p>
          <a:p>
            <a:pPr marL="691515" lvl="1" indent="-220979">
              <a:lnSpc>
                <a:spcPct val="110000"/>
              </a:lnSpc>
              <a:spcAft>
                <a:spcPts val="600"/>
              </a:spcAft>
              <a:buSzPct val="95000"/>
              <a:buAutoNum type="arabicPeriod"/>
              <a:tabLst>
                <a:tab pos="234315" algn="l"/>
              </a:tabLst>
            </a:pPr>
            <a:r>
              <a:rPr sz="2000" b="1" dirty="0">
                <a:latin typeface="Calibri"/>
                <a:cs typeface="Calibri"/>
              </a:rPr>
              <a:t>ERROR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6722" y="7375"/>
            <a:ext cx="11298555" cy="2431026"/>
          </a:xfrm>
          <a:prstGeom prst="rect">
            <a:avLst/>
          </a:prstGeom>
        </p:spPr>
        <p:txBody>
          <a:bodyPr vert="horz" wrap="square" lIns="0" tIns="213995" rIns="0" bIns="0" rtlCol="0">
            <a:normAutofit/>
          </a:bodyPr>
          <a:lstStyle/>
          <a:p>
            <a:pPr marL="514350" indent="-501650">
              <a:lnSpc>
                <a:spcPct val="110000"/>
              </a:lnSpc>
              <a:spcBef>
                <a:spcPts val="0"/>
              </a:spcBef>
              <a:spcAft>
                <a:spcPts val="600"/>
              </a:spcAft>
              <a:buAutoNum type="arabicParenR"/>
              <a:tabLst>
                <a:tab pos="514350" algn="l"/>
              </a:tabLst>
            </a:pPr>
            <a:r>
              <a:rPr sz="1800" b="1" dirty="0">
                <a:solidFill>
                  <a:srgbClr val="C00000"/>
                </a:solidFill>
                <a:latin typeface="Calibri"/>
                <a:cs typeface="Calibri"/>
              </a:rPr>
              <a:t>Checked Exception</a:t>
            </a:r>
            <a:endParaRPr sz="1800" dirty="0">
              <a:solidFill>
                <a:srgbClr val="C00000"/>
              </a:solidFill>
              <a:latin typeface="Calibri"/>
              <a:cs typeface="Calibri"/>
            </a:endParaRPr>
          </a:p>
          <a:p>
            <a:pPr marL="927100" marR="45085" lvl="2" indent="-457200">
              <a:lnSpc>
                <a:spcPct val="110000"/>
              </a:lnSpc>
              <a:spcAft>
                <a:spcPts val="600"/>
              </a:spcAft>
              <a:buFont typeface="Wingdings"/>
              <a:buChar char=""/>
              <a:tabLst>
                <a:tab pos="469900" algn="l"/>
                <a:tab pos="3533140" algn="l"/>
              </a:tabLst>
            </a:pPr>
            <a:r>
              <a:rPr b="1" dirty="0">
                <a:solidFill>
                  <a:srgbClr val="001F5F"/>
                </a:solidFill>
                <a:latin typeface="Calibri"/>
                <a:cs typeface="Calibri"/>
              </a:rPr>
              <a:t>The Exceptions which are checked by compiler at the time and It is a compile time Exception</a:t>
            </a:r>
            <a:endParaRPr dirty="0">
              <a:solidFill>
                <a:srgbClr val="001F5F"/>
              </a:solidFill>
              <a:latin typeface="Calibri"/>
              <a:cs typeface="Calibri"/>
            </a:endParaRPr>
          </a:p>
          <a:p>
            <a:pPr marL="927100" marR="49530" lvl="2" indent="-457200">
              <a:lnSpc>
                <a:spcPct val="110000"/>
              </a:lnSpc>
              <a:spcAft>
                <a:spcPts val="600"/>
              </a:spcAft>
              <a:buFont typeface="Wingdings"/>
              <a:buChar char=""/>
              <a:tabLst>
                <a:tab pos="469900" algn="l"/>
              </a:tabLst>
            </a:pPr>
            <a:r>
              <a:rPr b="1" dirty="0">
                <a:solidFill>
                  <a:srgbClr val="001F5F"/>
                </a:solidFill>
                <a:latin typeface="Calibri"/>
                <a:cs typeface="Calibri"/>
              </a:rPr>
              <a:t>They will checked at compile time then whatever the errors are occurred those errors are known as checked exceptions.</a:t>
            </a:r>
            <a:endParaRPr dirty="0">
              <a:solidFill>
                <a:srgbClr val="001F5F"/>
              </a:solidFill>
              <a:latin typeface="Calibri"/>
              <a:cs typeface="Calibri"/>
            </a:endParaRPr>
          </a:p>
          <a:p>
            <a:pPr marL="926465" lvl="2" indent="-456565">
              <a:lnSpc>
                <a:spcPct val="110000"/>
              </a:lnSpc>
              <a:spcAft>
                <a:spcPts val="600"/>
              </a:spcAft>
              <a:buFont typeface="Wingdings"/>
              <a:buChar char=""/>
              <a:tabLst>
                <a:tab pos="469265" algn="l"/>
                <a:tab pos="1402715" algn="l"/>
                <a:tab pos="3277235" algn="l"/>
                <a:tab pos="5914390" algn="l"/>
                <a:tab pos="8823325" algn="l"/>
                <a:tab pos="9878060" algn="l"/>
              </a:tabLst>
            </a:pPr>
            <a:r>
              <a:rPr b="1" dirty="0">
                <a:solidFill>
                  <a:srgbClr val="001F5F"/>
                </a:solidFill>
                <a:latin typeface="Calibri"/>
                <a:cs typeface="Calibri"/>
              </a:rPr>
              <a:t>For example, IOException, SQLException, etc. Checked</a:t>
            </a:r>
            <a:endParaRPr dirty="0">
              <a:solidFill>
                <a:srgbClr val="001F5F"/>
              </a:solidFill>
              <a:latin typeface="Calibri"/>
              <a:cs typeface="Calibri"/>
            </a:endParaRPr>
          </a:p>
          <a:p>
            <a:pPr marL="927100" lvl="1">
              <a:lnSpc>
                <a:spcPct val="110000"/>
              </a:lnSpc>
              <a:spcAft>
                <a:spcPts val="600"/>
              </a:spcAft>
            </a:pPr>
            <a:r>
              <a:rPr b="1" dirty="0">
                <a:solidFill>
                  <a:srgbClr val="001F5F"/>
                </a:solidFill>
                <a:latin typeface="Calibri"/>
                <a:cs typeface="Calibri"/>
              </a:rPr>
              <a:t>exceptions are checked at compile-time.</a:t>
            </a:r>
            <a:endParaRPr dirty="0">
              <a:solidFill>
                <a:srgbClr val="001F5F"/>
              </a:solidFill>
              <a:latin typeface="Calibri"/>
              <a:cs typeface="Calibri"/>
            </a:endParaRPr>
          </a:p>
        </p:txBody>
      </p:sp>
      <p:sp>
        <p:nvSpPr>
          <p:cNvPr id="4" name="object 2">
            <a:extLst>
              <a:ext uri="{FF2B5EF4-FFF2-40B4-BE49-F238E27FC236}">
                <a16:creationId xmlns:a16="http://schemas.microsoft.com/office/drawing/2014/main" id="{13F378DB-4165-F9EB-8B71-9645EF61A14C}"/>
              </a:ext>
            </a:extLst>
          </p:cNvPr>
          <p:cNvSpPr txBox="1"/>
          <p:nvPr/>
        </p:nvSpPr>
        <p:spPr>
          <a:xfrm>
            <a:off x="375919" y="2286000"/>
            <a:ext cx="11440160" cy="3797935"/>
          </a:xfrm>
          <a:prstGeom prst="rect">
            <a:avLst/>
          </a:prstGeom>
        </p:spPr>
        <p:txBody>
          <a:bodyPr vert="horz" wrap="square" lIns="0" tIns="189230" rIns="0" bIns="0" rtlCol="0">
            <a:normAutofit/>
          </a:bodyPr>
          <a:lstStyle/>
          <a:p>
            <a:pPr marL="12700">
              <a:lnSpc>
                <a:spcPct val="110000"/>
              </a:lnSpc>
              <a:spcBef>
                <a:spcPts val="0"/>
              </a:spcBef>
              <a:spcAft>
                <a:spcPts val="600"/>
              </a:spcAft>
            </a:pPr>
            <a:r>
              <a:rPr sz="1800" b="1" dirty="0">
                <a:solidFill>
                  <a:srgbClr val="C00000"/>
                </a:solidFill>
                <a:latin typeface="Calibri"/>
                <a:cs typeface="Calibri"/>
              </a:rPr>
              <a:t>2) Unchecked Exception</a:t>
            </a:r>
            <a:endParaRPr sz="1800" dirty="0">
              <a:solidFill>
                <a:srgbClr val="C00000"/>
              </a:solidFill>
              <a:latin typeface="Calibri"/>
              <a:cs typeface="Calibri"/>
            </a:endParaRPr>
          </a:p>
          <a:p>
            <a:pPr marL="813435" lvl="1" indent="-343535">
              <a:lnSpc>
                <a:spcPct val="110000"/>
              </a:lnSpc>
              <a:spcAft>
                <a:spcPts val="600"/>
              </a:spcAft>
              <a:buFont typeface="Wingdings"/>
              <a:buChar char=""/>
              <a:tabLst>
                <a:tab pos="356235" algn="l"/>
                <a:tab pos="2862580" algn="l"/>
              </a:tabLst>
            </a:pPr>
            <a:r>
              <a:rPr dirty="0">
                <a:solidFill>
                  <a:srgbClr val="001F5F"/>
                </a:solidFill>
                <a:latin typeface="Calibri"/>
                <a:cs typeface="Calibri"/>
              </a:rPr>
              <a:t>T</a:t>
            </a:r>
            <a:r>
              <a:rPr b="1" dirty="0">
                <a:solidFill>
                  <a:srgbClr val="001F5F"/>
                </a:solidFill>
                <a:latin typeface="Calibri"/>
                <a:cs typeface="Calibri"/>
              </a:rPr>
              <a:t>he Exceptions which are not checked by compiler at the time</a:t>
            </a:r>
            <a:endParaRPr dirty="0">
              <a:solidFill>
                <a:srgbClr val="001F5F"/>
              </a:solidFill>
              <a:latin typeface="Calibri"/>
              <a:cs typeface="Calibri"/>
            </a:endParaRPr>
          </a:p>
          <a:p>
            <a:pPr marL="814070" marR="5080" lvl="1" indent="-344805">
              <a:lnSpc>
                <a:spcPct val="110000"/>
              </a:lnSpc>
              <a:spcAft>
                <a:spcPts val="600"/>
              </a:spcAft>
              <a:buFont typeface="Wingdings"/>
              <a:buChar char=""/>
              <a:tabLst>
                <a:tab pos="356870" algn="l"/>
                <a:tab pos="2124710" algn="l"/>
                <a:tab pos="3874770" algn="l"/>
                <a:tab pos="4573270" algn="l"/>
                <a:tab pos="5247005" algn="l"/>
                <a:tab pos="6633845" algn="l"/>
                <a:tab pos="7161530" algn="l"/>
                <a:tab pos="9384030" algn="l"/>
                <a:tab pos="10076180" algn="l"/>
                <a:tab pos="10944860" algn="l"/>
              </a:tabLst>
            </a:pPr>
            <a:r>
              <a:rPr b="1" dirty="0">
                <a:solidFill>
                  <a:srgbClr val="001F5F"/>
                </a:solidFill>
                <a:latin typeface="Calibri"/>
                <a:cs typeface="Calibri"/>
              </a:rPr>
              <a:t>Unchecked exceptions are not checked at compile-time, but they are checked at runtime.</a:t>
            </a:r>
            <a:endParaRPr dirty="0">
              <a:solidFill>
                <a:srgbClr val="001F5F"/>
              </a:solidFill>
              <a:latin typeface="Calibri"/>
              <a:cs typeface="Calibri"/>
            </a:endParaRPr>
          </a:p>
          <a:p>
            <a:pPr marL="814070" lvl="1" indent="-344170">
              <a:lnSpc>
                <a:spcPct val="110000"/>
              </a:lnSpc>
              <a:spcAft>
                <a:spcPts val="600"/>
              </a:spcAft>
              <a:buFont typeface="Wingdings"/>
              <a:buChar char=""/>
              <a:tabLst>
                <a:tab pos="356870" algn="l"/>
              </a:tabLst>
            </a:pPr>
            <a:r>
              <a:rPr b="1" dirty="0">
                <a:solidFill>
                  <a:srgbClr val="001F5F"/>
                </a:solidFill>
                <a:latin typeface="Calibri"/>
                <a:cs typeface="Calibri"/>
              </a:rPr>
              <a:t>It is a Run time Exception</a:t>
            </a:r>
            <a:endParaRPr dirty="0">
              <a:solidFill>
                <a:srgbClr val="001F5F"/>
              </a:solidFill>
              <a:latin typeface="Calibri"/>
              <a:cs typeface="Calibri"/>
            </a:endParaRPr>
          </a:p>
          <a:p>
            <a:pPr marL="813435" lvl="1" indent="-343535">
              <a:lnSpc>
                <a:spcPct val="110000"/>
              </a:lnSpc>
              <a:spcAft>
                <a:spcPts val="600"/>
              </a:spcAft>
              <a:buFont typeface="Wingdings"/>
              <a:buChar char=""/>
              <a:tabLst>
                <a:tab pos="356235" algn="l"/>
                <a:tab pos="1856739" algn="l"/>
                <a:tab pos="4167504" algn="l"/>
                <a:tab pos="8283575" algn="l"/>
              </a:tabLst>
            </a:pPr>
            <a:r>
              <a:rPr b="1" dirty="0">
                <a:solidFill>
                  <a:srgbClr val="001F5F"/>
                </a:solidFill>
                <a:latin typeface="Calibri"/>
                <a:cs typeface="Calibri"/>
              </a:rPr>
              <a:t>For example, ArithmeticException, NullPointerException,</a:t>
            </a:r>
            <a:endParaRPr dirty="0">
              <a:solidFill>
                <a:srgbClr val="001F5F"/>
              </a:solidFill>
              <a:latin typeface="Calibri"/>
              <a:cs typeface="Calibri"/>
            </a:endParaRPr>
          </a:p>
          <a:p>
            <a:pPr marL="814070" lvl="1">
              <a:lnSpc>
                <a:spcPct val="110000"/>
              </a:lnSpc>
              <a:spcAft>
                <a:spcPts val="600"/>
              </a:spcAft>
              <a:tabLst>
                <a:tab pos="8975725" algn="l"/>
              </a:tabLst>
            </a:pPr>
            <a:r>
              <a:rPr b="1" dirty="0">
                <a:solidFill>
                  <a:srgbClr val="001F5F"/>
                </a:solidFill>
                <a:latin typeface="Calibri"/>
                <a:cs typeface="Calibri"/>
              </a:rPr>
              <a:t>ArrayIndexOutOfBoundsException, NullFormatException etc.</a:t>
            </a:r>
            <a:endParaRPr dirty="0">
              <a:solidFill>
                <a:srgbClr val="001F5F"/>
              </a:solidFill>
              <a:latin typeface="Calibri"/>
              <a:cs typeface="Calibri"/>
            </a:endParaRPr>
          </a:p>
        </p:txBody>
      </p:sp>
      <p:sp>
        <p:nvSpPr>
          <p:cNvPr id="6" name="object 2">
            <a:extLst>
              <a:ext uri="{FF2B5EF4-FFF2-40B4-BE49-F238E27FC236}">
                <a16:creationId xmlns:a16="http://schemas.microsoft.com/office/drawing/2014/main" id="{24BD7037-8C0E-128D-9447-A2CFD4CBBB53}"/>
              </a:ext>
            </a:extLst>
          </p:cNvPr>
          <p:cNvSpPr txBox="1"/>
          <p:nvPr/>
        </p:nvSpPr>
        <p:spPr>
          <a:xfrm>
            <a:off x="228600" y="4572000"/>
            <a:ext cx="10744200" cy="1665841"/>
          </a:xfrm>
          <a:prstGeom prst="rect">
            <a:avLst/>
          </a:prstGeom>
        </p:spPr>
        <p:txBody>
          <a:bodyPr vert="horz" wrap="square" lIns="0" tIns="229235" rIns="0" bIns="0" rtlCol="0">
            <a:spAutoFit/>
          </a:bodyPr>
          <a:lstStyle/>
          <a:p>
            <a:pPr marL="12700">
              <a:lnSpc>
                <a:spcPct val="110000"/>
              </a:lnSpc>
              <a:spcAft>
                <a:spcPts val="600"/>
              </a:spcAft>
              <a:tabLst>
                <a:tab pos="356235" algn="l"/>
                <a:tab pos="2862580" algn="l"/>
              </a:tabLst>
            </a:pPr>
            <a:r>
              <a:rPr lang="en-IN" b="1" dirty="0">
                <a:solidFill>
                  <a:srgbClr val="C00000"/>
                </a:solidFill>
                <a:latin typeface="Calibri"/>
                <a:cs typeface="Calibri"/>
              </a:rPr>
              <a:t>   </a:t>
            </a:r>
            <a:r>
              <a:rPr b="1" dirty="0">
                <a:solidFill>
                  <a:srgbClr val="C00000"/>
                </a:solidFill>
                <a:latin typeface="Calibri"/>
                <a:cs typeface="Calibri"/>
              </a:rPr>
              <a:t>3) Error</a:t>
            </a:r>
          </a:p>
          <a:p>
            <a:pPr marL="813435" lvl="1" indent="-343535">
              <a:lnSpc>
                <a:spcPct val="110000"/>
              </a:lnSpc>
              <a:spcAft>
                <a:spcPts val="600"/>
              </a:spcAft>
              <a:buFont typeface="Wingdings"/>
              <a:buChar char=""/>
              <a:tabLst>
                <a:tab pos="356235" algn="l"/>
                <a:tab pos="2862580" algn="l"/>
              </a:tabLst>
            </a:pPr>
            <a:r>
              <a:rPr b="1" dirty="0">
                <a:solidFill>
                  <a:srgbClr val="001F5F"/>
                </a:solidFill>
                <a:latin typeface="Calibri"/>
                <a:cs typeface="Calibri"/>
              </a:rPr>
              <a:t>Error is irrecoverable.</a:t>
            </a:r>
          </a:p>
          <a:p>
            <a:pPr marL="813435" lvl="1" indent="-343535">
              <a:lnSpc>
                <a:spcPct val="110000"/>
              </a:lnSpc>
              <a:spcAft>
                <a:spcPts val="600"/>
              </a:spcAft>
              <a:buFont typeface="Wingdings"/>
              <a:buChar char=""/>
              <a:tabLst>
                <a:tab pos="356235" algn="l"/>
                <a:tab pos="2862580" algn="l"/>
              </a:tabLst>
            </a:pPr>
            <a:r>
              <a:rPr lang="en-US" b="1" dirty="0">
                <a:solidFill>
                  <a:srgbClr val="001F5F"/>
                </a:solidFill>
                <a:latin typeface="Calibri"/>
                <a:cs typeface="Calibri"/>
              </a:rPr>
              <a:t>Some example of errors are </a:t>
            </a:r>
            <a:r>
              <a:rPr lang="en-IN" b="1" dirty="0" err="1">
                <a:solidFill>
                  <a:srgbClr val="001F5F"/>
                </a:solidFill>
                <a:latin typeface="Calibri"/>
                <a:cs typeface="Calibri"/>
              </a:rPr>
              <a:t>SyntaxError,OutOfMemoryError</a:t>
            </a:r>
            <a:r>
              <a:rPr lang="en-IN" b="1" dirty="0">
                <a:solidFill>
                  <a:srgbClr val="001F5F"/>
                </a:solidFill>
                <a:latin typeface="Calibri"/>
                <a:cs typeface="Calibri"/>
              </a:rPr>
              <a:t>, </a:t>
            </a:r>
            <a:r>
              <a:rPr lang="en-IN" b="1" dirty="0" err="1">
                <a:solidFill>
                  <a:srgbClr val="001F5F"/>
                </a:solidFill>
                <a:latin typeface="Calibri"/>
                <a:cs typeface="Calibri"/>
              </a:rPr>
              <a:t>VirtualMachineError</a:t>
            </a:r>
            <a:r>
              <a:rPr lang="en-IN" b="1" dirty="0">
                <a:solidFill>
                  <a:srgbClr val="001F5F"/>
                </a:solidFill>
                <a:latin typeface="Calibri"/>
                <a:cs typeface="Calibri"/>
              </a:rPr>
              <a:t>, </a:t>
            </a:r>
            <a:r>
              <a:rPr lang="en-IN" b="1" dirty="0" err="1">
                <a:solidFill>
                  <a:srgbClr val="001F5F"/>
                </a:solidFill>
                <a:latin typeface="Calibri"/>
                <a:cs typeface="Calibri"/>
              </a:rPr>
              <a:t>AssertionError</a:t>
            </a:r>
            <a:r>
              <a:rPr lang="en-IN" b="1" dirty="0">
                <a:solidFill>
                  <a:srgbClr val="001F5F"/>
                </a:solidFill>
                <a:latin typeface="Calibri"/>
                <a:cs typeface="Calibri"/>
              </a:rPr>
              <a:t> etc</a:t>
            </a:r>
          </a:p>
          <a:p>
            <a:pPr marL="356235" indent="-343535">
              <a:lnSpc>
                <a:spcPct val="110000"/>
              </a:lnSpc>
              <a:spcAft>
                <a:spcPts val="600"/>
              </a:spcAft>
              <a:buFont typeface="Wingdings"/>
              <a:buChar char=""/>
              <a:tabLst>
                <a:tab pos="356235" algn="l"/>
                <a:tab pos="2862580" algn="l"/>
              </a:tabLst>
            </a:pPr>
            <a:endParaRPr lang="en-US" dirty="0">
              <a:solidFill>
                <a:srgbClr val="001F5F"/>
              </a:solidFill>
              <a:latin typeface="Calibri"/>
              <a:cs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3124200" y="1631172"/>
            <a:ext cx="5643052" cy="640080"/>
          </a:xfrm>
          <a:prstGeom prst="rect">
            <a:avLst/>
          </a:prstGeom>
        </p:spPr>
        <p:txBody>
          <a:bodyPr vert="horz" wrap="square" rtlCol="0" anchor="ctr"/>
          <a:lstStyle/>
          <a:p>
            <a:pPr marL="40640" algn="l">
              <a:lnSpc>
                <a:spcPct val="100000"/>
              </a:lnSpc>
              <a:spcBef>
                <a:spcPts val="110"/>
              </a:spcBef>
            </a:pPr>
            <a:r>
              <a:rPr sz="2800" b="1" dirty="0">
                <a:solidFill>
                  <a:srgbClr val="001F5F"/>
                </a:solidFill>
                <a:latin typeface="Calibri"/>
                <a:cs typeface="Calibri"/>
              </a:rPr>
              <a:t>Unit-IV: PART-B:Exception Handling</a:t>
            </a:r>
          </a:p>
        </p:txBody>
      </p:sp>
      <p:sp>
        <p:nvSpPr>
          <p:cNvPr id="3" name="object 3"/>
          <p:cNvSpPr txBox="1"/>
          <p:nvPr/>
        </p:nvSpPr>
        <p:spPr>
          <a:xfrm>
            <a:off x="2895600" y="2362200"/>
            <a:ext cx="7602855" cy="391160"/>
          </a:xfrm>
          <a:prstGeom prst="rect">
            <a:avLst/>
          </a:prstGeom>
        </p:spPr>
        <p:txBody>
          <a:bodyPr vert="horz" wrap="square" lIns="0" tIns="12700" rIns="0" bIns="0" rtlCol="0">
            <a:normAutofit/>
          </a:bodyPr>
          <a:lstStyle/>
          <a:p>
            <a:pPr marL="12700">
              <a:lnSpc>
                <a:spcPct val="110000"/>
              </a:lnSpc>
              <a:spcBef>
                <a:spcPts val="0"/>
              </a:spcBef>
              <a:spcAft>
                <a:spcPts val="600"/>
              </a:spcAft>
            </a:pPr>
            <a:r>
              <a:rPr sz="2000" b="1" dirty="0">
                <a:solidFill>
                  <a:srgbClr val="C00000"/>
                </a:solidFill>
                <a:latin typeface="Calibri"/>
                <a:cs typeface="Calibri"/>
              </a:rPr>
              <a:t>Concept-3:</a:t>
            </a:r>
            <a:r>
              <a:rPr sz="2000" b="1" dirty="0">
                <a:solidFill>
                  <a:srgbClr val="001F5F"/>
                </a:solidFill>
                <a:latin typeface="Calibri"/>
                <a:cs typeface="Calibri"/>
              </a:rPr>
              <a:t>COMMON SCENARIOS OF JAVA EXCEPTIONS</a:t>
            </a:r>
            <a:endParaRPr sz="2000" dirty="0">
              <a:solidFill>
                <a:srgbClr val="001F5F"/>
              </a:solidFill>
              <a:latin typeface="Calibri"/>
              <a:cs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22579" y="482600"/>
            <a:ext cx="9815830" cy="1187505"/>
          </a:xfrm>
          <a:prstGeom prst="rect">
            <a:avLst/>
          </a:prstGeom>
        </p:spPr>
        <p:txBody>
          <a:bodyPr vert="horz" wrap="square" lIns="0" tIns="12700" rIns="0" bIns="0" rtlCol="0">
            <a:normAutofit/>
          </a:bodyPr>
          <a:lstStyle/>
          <a:p>
            <a:pPr marL="3046095">
              <a:lnSpc>
                <a:spcPct val="110000"/>
              </a:lnSpc>
              <a:spcBef>
                <a:spcPts val="0"/>
              </a:spcBef>
              <a:spcAft>
                <a:spcPts val="600"/>
              </a:spcAft>
            </a:pPr>
            <a:r>
              <a:rPr sz="2000" b="1" dirty="0">
                <a:solidFill>
                  <a:srgbClr val="C00000"/>
                </a:solidFill>
                <a:latin typeface="Calibri"/>
                <a:cs typeface="Calibri"/>
              </a:rPr>
              <a:t>COMMON SCENARIOS OF JAVA EXCEPTIONS</a:t>
            </a:r>
            <a:endParaRPr sz="2000" b="1" dirty="0">
              <a:solidFill>
                <a:srgbClr val="001F5F"/>
              </a:solidFill>
              <a:latin typeface="Calibri"/>
              <a:cs typeface="Calibri"/>
            </a:endParaRPr>
          </a:p>
          <a:p>
            <a:pPr marL="12700">
              <a:lnSpc>
                <a:spcPct val="110000"/>
              </a:lnSpc>
              <a:spcBef>
                <a:spcPts val="0"/>
              </a:spcBef>
              <a:spcAft>
                <a:spcPts val="600"/>
              </a:spcAft>
            </a:pPr>
            <a:r>
              <a:rPr sz="2000" b="1" dirty="0">
                <a:solidFill>
                  <a:srgbClr val="001F5F"/>
                </a:solidFill>
                <a:latin typeface="Calibri"/>
                <a:cs typeface="Calibri"/>
              </a:rPr>
              <a:t>There are given some scenarios where unchecked exceptions may occur. They are as follows:</a:t>
            </a:r>
          </a:p>
        </p:txBody>
      </p:sp>
      <p:sp>
        <p:nvSpPr>
          <p:cNvPr id="3" name="object 3"/>
          <p:cNvSpPr txBox="1"/>
          <p:nvPr/>
        </p:nvSpPr>
        <p:spPr>
          <a:xfrm>
            <a:off x="322579" y="1676475"/>
            <a:ext cx="11259821" cy="2050561"/>
          </a:xfrm>
          <a:prstGeom prst="rect">
            <a:avLst/>
          </a:prstGeom>
        </p:spPr>
        <p:txBody>
          <a:bodyPr vert="horz" wrap="square" lIns="0" tIns="13970" rIns="0" bIns="0" rtlCol="0">
            <a:normAutofit/>
          </a:bodyPr>
          <a:lstStyle/>
          <a:p>
            <a:pPr marL="12700">
              <a:lnSpc>
                <a:spcPct val="110000"/>
              </a:lnSpc>
              <a:spcBef>
                <a:spcPts val="0"/>
              </a:spcBef>
              <a:spcAft>
                <a:spcPts val="600"/>
              </a:spcAft>
            </a:pPr>
            <a:r>
              <a:rPr sz="2000" b="1" dirty="0">
                <a:solidFill>
                  <a:srgbClr val="C00000"/>
                </a:solidFill>
                <a:latin typeface="Calibri"/>
                <a:cs typeface="Calibri"/>
              </a:rPr>
              <a:t>1) where ArithmeticException occurs</a:t>
            </a:r>
            <a:endParaRPr sz="2000" b="1" dirty="0">
              <a:solidFill>
                <a:srgbClr val="001F5F"/>
              </a:solidFill>
              <a:latin typeface="Calibri"/>
              <a:cs typeface="Calibri"/>
            </a:endParaRPr>
          </a:p>
          <a:p>
            <a:pPr marL="12700">
              <a:lnSpc>
                <a:spcPct val="110000"/>
              </a:lnSpc>
              <a:spcBef>
                <a:spcPts val="0"/>
              </a:spcBef>
              <a:spcAft>
                <a:spcPts val="600"/>
              </a:spcAft>
              <a:tabLst>
                <a:tab pos="853440" algn="l"/>
                <a:tab pos="1762125" algn="l"/>
                <a:tab pos="3219450" algn="l"/>
                <a:tab pos="4268470" algn="l"/>
                <a:tab pos="5960110" algn="l"/>
              </a:tabLst>
            </a:pPr>
            <a:r>
              <a:rPr sz="2000" b="1" dirty="0">
                <a:solidFill>
                  <a:srgbClr val="001F5F"/>
                </a:solidFill>
                <a:latin typeface="Calibri"/>
                <a:cs typeface="Calibri"/>
              </a:rPr>
              <a:t>If</a:t>
            </a:r>
            <a:r>
              <a:rPr lang="en-IN" sz="2000" b="1" dirty="0">
                <a:solidFill>
                  <a:srgbClr val="001F5F"/>
                </a:solidFill>
                <a:latin typeface="Calibri"/>
                <a:cs typeface="Calibri"/>
              </a:rPr>
              <a:t> </a:t>
            </a:r>
            <a:r>
              <a:rPr sz="2000" b="1" dirty="0">
                <a:solidFill>
                  <a:srgbClr val="001F5F"/>
                </a:solidFill>
                <a:latin typeface="Calibri"/>
                <a:cs typeface="Calibri"/>
              </a:rPr>
              <a:t>we divide</a:t>
            </a:r>
            <a:r>
              <a:rPr lang="en-IN" sz="2000" b="1" dirty="0">
                <a:solidFill>
                  <a:srgbClr val="001F5F"/>
                </a:solidFill>
                <a:latin typeface="Calibri"/>
                <a:cs typeface="Calibri"/>
              </a:rPr>
              <a:t> </a:t>
            </a:r>
            <a:r>
              <a:rPr sz="2000" b="1" dirty="0">
                <a:solidFill>
                  <a:srgbClr val="001F5F"/>
                </a:solidFill>
                <a:latin typeface="Calibri"/>
                <a:cs typeface="Calibri"/>
              </a:rPr>
              <a:t>any</a:t>
            </a:r>
            <a:r>
              <a:rPr lang="en-IN" sz="2000" b="1" dirty="0">
                <a:solidFill>
                  <a:srgbClr val="001F5F"/>
                </a:solidFill>
                <a:latin typeface="Calibri"/>
                <a:cs typeface="Calibri"/>
              </a:rPr>
              <a:t> </a:t>
            </a:r>
            <a:r>
              <a:rPr sz="2000" b="1" dirty="0">
                <a:solidFill>
                  <a:srgbClr val="001F5F"/>
                </a:solidFill>
                <a:latin typeface="Calibri"/>
                <a:cs typeface="Calibri"/>
              </a:rPr>
              <a:t>number</a:t>
            </a:r>
            <a:r>
              <a:rPr lang="en-IN" sz="2000" b="1" dirty="0">
                <a:solidFill>
                  <a:srgbClr val="001F5F"/>
                </a:solidFill>
                <a:latin typeface="Calibri"/>
                <a:cs typeface="Calibri"/>
              </a:rPr>
              <a:t> </a:t>
            </a:r>
            <a:r>
              <a:rPr sz="2000" b="1" dirty="0">
                <a:solidFill>
                  <a:srgbClr val="001F5F"/>
                </a:solidFill>
                <a:latin typeface="Calibri"/>
                <a:cs typeface="Calibri"/>
              </a:rPr>
              <a:t>by</a:t>
            </a:r>
            <a:r>
              <a:rPr lang="en-IN" sz="2000" b="1" dirty="0">
                <a:solidFill>
                  <a:srgbClr val="001F5F"/>
                </a:solidFill>
                <a:latin typeface="Calibri"/>
                <a:cs typeface="Calibri"/>
              </a:rPr>
              <a:t> zero , there occurs an</a:t>
            </a:r>
            <a:endParaRPr sz="2000" b="1" dirty="0">
              <a:solidFill>
                <a:srgbClr val="001F5F"/>
              </a:solidFill>
              <a:latin typeface="Calibri"/>
              <a:cs typeface="Calibri"/>
            </a:endParaRPr>
          </a:p>
          <a:p>
            <a:pPr marL="12700">
              <a:lnSpc>
                <a:spcPct val="110000"/>
              </a:lnSpc>
              <a:spcBef>
                <a:spcPts val="0"/>
              </a:spcBef>
              <a:spcAft>
                <a:spcPts val="600"/>
              </a:spcAft>
            </a:pPr>
            <a:r>
              <a:rPr sz="2000" b="1" dirty="0">
                <a:solidFill>
                  <a:srgbClr val="001F5F"/>
                </a:solidFill>
                <a:latin typeface="Calibri"/>
                <a:cs typeface="Calibri"/>
              </a:rPr>
              <a:t>ArithmeticException.</a:t>
            </a:r>
          </a:p>
        </p:txBody>
      </p:sp>
      <p:sp>
        <p:nvSpPr>
          <p:cNvPr id="5" name="object 5"/>
          <p:cNvSpPr txBox="1"/>
          <p:nvPr/>
        </p:nvSpPr>
        <p:spPr>
          <a:xfrm>
            <a:off x="322579" y="3079673"/>
            <a:ext cx="7391400" cy="1307465"/>
          </a:xfrm>
          <a:prstGeom prst="rect">
            <a:avLst/>
          </a:prstGeom>
        </p:spPr>
        <p:txBody>
          <a:bodyPr vert="horz" wrap="none" lIns="0" tIns="13970" rIns="0" bIns="0" rtlCol="0">
            <a:normAutofit/>
          </a:bodyPr>
          <a:lstStyle/>
          <a:p>
            <a:pPr marL="12700"/>
            <a:r>
              <a:rPr sz="1600" b="1" dirty="0">
                <a:solidFill>
                  <a:srgbClr val="001F5F"/>
                </a:solidFill>
                <a:latin typeface="Courier New"/>
                <a:cs typeface="Courier New"/>
              </a:rPr>
              <a:t>int a=</a:t>
            </a:r>
            <a:r>
              <a:rPr sz="1600" b="1" dirty="0">
                <a:solidFill>
                  <a:srgbClr val="C00000"/>
                </a:solidFill>
                <a:latin typeface="Courier New"/>
                <a:cs typeface="Courier New"/>
              </a:rPr>
              <a:t>50</a:t>
            </a:r>
            <a:r>
              <a:rPr sz="1600" b="1" dirty="0">
                <a:solidFill>
                  <a:srgbClr val="001F5F"/>
                </a:solidFill>
                <a:latin typeface="Courier New"/>
                <a:cs typeface="Courier New"/>
              </a:rPr>
              <a:t>/</a:t>
            </a:r>
            <a:r>
              <a:rPr sz="1600" b="1" dirty="0">
                <a:solidFill>
                  <a:srgbClr val="C00000"/>
                </a:solidFill>
                <a:latin typeface="Courier New"/>
                <a:cs typeface="Courier New"/>
              </a:rPr>
              <a:t>0</a:t>
            </a:r>
            <a:r>
              <a:rPr sz="1600" b="1" dirty="0">
                <a:solidFill>
                  <a:srgbClr val="001F5F"/>
                </a:solidFill>
                <a:latin typeface="Courier New"/>
                <a:cs typeface="Courier New"/>
              </a:rPr>
              <a:t>;</a:t>
            </a:r>
          </a:p>
          <a:p>
            <a:pPr marL="12700"/>
            <a:r>
              <a:rPr sz="1600" b="1" dirty="0">
                <a:solidFill>
                  <a:srgbClr val="001F5F"/>
                </a:solidFill>
                <a:latin typeface="Courier New"/>
                <a:cs typeface="Courier New"/>
              </a:rPr>
              <a:t>System.out.println(a);</a:t>
            </a:r>
            <a:r>
              <a:rPr sz="1600" b="1" dirty="0">
                <a:solidFill>
                  <a:srgbClr val="2E7D32"/>
                </a:solidFill>
                <a:latin typeface="Courier New"/>
                <a:cs typeface="Courier New"/>
              </a:rPr>
              <a:t>//ArithmeticException</a:t>
            </a:r>
            <a:endParaRPr sz="1600" b="1" dirty="0">
              <a:solidFill>
                <a:srgbClr val="001F5F"/>
              </a:solidFill>
              <a:latin typeface="Courier New"/>
              <a:cs typeface="Courier New"/>
            </a:endParaRPr>
          </a:p>
        </p:txBody>
      </p:sp>
      <p:sp>
        <p:nvSpPr>
          <p:cNvPr id="6" name="object 2">
            <a:extLst>
              <a:ext uri="{FF2B5EF4-FFF2-40B4-BE49-F238E27FC236}">
                <a16:creationId xmlns:a16="http://schemas.microsoft.com/office/drawing/2014/main" id="{1C481EA6-6FA6-3CA8-15AE-A4C2566005F3}"/>
              </a:ext>
            </a:extLst>
          </p:cNvPr>
          <p:cNvSpPr txBox="1"/>
          <p:nvPr/>
        </p:nvSpPr>
        <p:spPr>
          <a:xfrm>
            <a:off x="322579" y="3806799"/>
            <a:ext cx="11506835" cy="1983537"/>
          </a:xfrm>
          <a:prstGeom prst="rect">
            <a:avLst/>
          </a:prstGeom>
        </p:spPr>
        <p:txBody>
          <a:bodyPr vert="horz" wrap="square" lIns="0" tIns="12700" rIns="0" bIns="0" rtlCol="0">
            <a:normAutofit/>
          </a:bodyPr>
          <a:lstStyle/>
          <a:p>
            <a:pPr marL="12700">
              <a:lnSpc>
                <a:spcPct val="110000"/>
              </a:lnSpc>
              <a:spcBef>
                <a:spcPts val="0"/>
              </a:spcBef>
              <a:spcAft>
                <a:spcPts val="600"/>
              </a:spcAft>
            </a:pPr>
            <a:r>
              <a:rPr sz="2000" b="1" dirty="0">
                <a:solidFill>
                  <a:srgbClr val="C00000"/>
                </a:solidFill>
                <a:latin typeface="Calibri"/>
                <a:cs typeface="Calibri"/>
              </a:rPr>
              <a:t>2) where NullPointerException occurs</a:t>
            </a:r>
            <a:endParaRPr sz="2000" b="1" dirty="0">
              <a:solidFill>
                <a:srgbClr val="001F5F"/>
              </a:solidFill>
              <a:latin typeface="Calibri"/>
              <a:cs typeface="Calibri"/>
            </a:endParaRPr>
          </a:p>
          <a:p>
            <a:pPr marL="12700">
              <a:lnSpc>
                <a:spcPct val="110000"/>
              </a:lnSpc>
              <a:spcBef>
                <a:spcPts val="0"/>
              </a:spcBef>
              <a:spcAft>
                <a:spcPts val="600"/>
              </a:spcAft>
              <a:tabLst>
                <a:tab pos="704215" algn="l"/>
                <a:tab pos="1621790" algn="l"/>
                <a:tab pos="2487930" algn="l"/>
                <a:tab pos="3188970" algn="l"/>
                <a:tab pos="5177155" algn="l"/>
                <a:tab pos="5862955" algn="l"/>
                <a:tab pos="6448425" algn="l"/>
                <a:tab pos="7139940" algn="l"/>
                <a:tab pos="8698230" algn="l"/>
                <a:tab pos="9390380" algn="l"/>
                <a:tab pos="10487660" algn="l"/>
                <a:tab pos="11008995" algn="l"/>
              </a:tabLst>
            </a:pPr>
            <a:r>
              <a:rPr sz="2000" b="1" dirty="0">
                <a:solidFill>
                  <a:srgbClr val="001F5F"/>
                </a:solidFill>
                <a:latin typeface="Calibri"/>
                <a:cs typeface="Calibri"/>
              </a:rPr>
              <a:t>We don’t have any initialization but we are accessing the length of the</a:t>
            </a:r>
            <a:endParaRPr sz="2000" dirty="0">
              <a:solidFill>
                <a:srgbClr val="001F5F"/>
              </a:solidFill>
              <a:latin typeface="Calibri"/>
              <a:cs typeface="Calibri"/>
            </a:endParaRPr>
          </a:p>
          <a:p>
            <a:pPr marL="12700">
              <a:lnSpc>
                <a:spcPct val="110000"/>
              </a:lnSpc>
              <a:spcBef>
                <a:spcPts val="0"/>
              </a:spcBef>
              <a:spcAft>
                <a:spcPts val="600"/>
              </a:spcAft>
            </a:pPr>
            <a:r>
              <a:rPr sz="2000" b="1" dirty="0">
                <a:solidFill>
                  <a:srgbClr val="001F5F"/>
                </a:solidFill>
                <a:latin typeface="Calibri"/>
                <a:cs typeface="Calibri"/>
              </a:rPr>
              <a:t>string</a:t>
            </a:r>
            <a:endParaRPr sz="2000" dirty="0">
              <a:solidFill>
                <a:srgbClr val="001F5F"/>
              </a:solidFill>
              <a:latin typeface="Calibri"/>
              <a:cs typeface="Calibri"/>
            </a:endParaRPr>
          </a:p>
          <a:p>
            <a:pPr marL="12700" marR="4007485"/>
            <a:r>
              <a:rPr sz="1600" b="1" dirty="0">
                <a:solidFill>
                  <a:srgbClr val="001F5F"/>
                </a:solidFill>
                <a:latin typeface="Courier New"/>
                <a:cs typeface="Courier New"/>
              </a:rPr>
              <a:t>String name=null; System.out.println(name.length());</a:t>
            </a:r>
            <a:r>
              <a:rPr sz="1600" b="1" dirty="0">
                <a:solidFill>
                  <a:srgbClr val="2E7D32"/>
                </a:solidFill>
                <a:latin typeface="Courier New"/>
                <a:cs typeface="Courier New"/>
              </a:rPr>
              <a:t>//NullPointerException</a:t>
            </a:r>
            <a:endParaRPr sz="1600" b="1" dirty="0">
              <a:solidFill>
                <a:srgbClr val="001F5F"/>
              </a:solidFill>
              <a:latin typeface="Courier New"/>
              <a:cs typeface="Courier New"/>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10800000" cy="640080"/>
          </a:xfrm>
          <a:prstGeom prst="rect">
            <a:avLst/>
          </a:prstGeom>
        </p:spPr>
        <p:txBody>
          <a:bodyPr vert="horz" wrap="square" rtlCol="0" anchor="ctr">
            <a:normAutofit/>
          </a:bodyPr>
          <a:lstStyle/>
          <a:p>
            <a:pPr marL="12700">
              <a:lnSpc>
                <a:spcPct val="110000"/>
              </a:lnSpc>
              <a:spcBef>
                <a:spcPts val="0"/>
              </a:spcBef>
              <a:spcAft>
                <a:spcPts val="600"/>
              </a:spcAft>
            </a:pPr>
            <a:r>
              <a:rPr sz="2000" b="1" dirty="0">
                <a:solidFill>
                  <a:srgbClr val="C00000"/>
                </a:solidFill>
                <a:latin typeface="Calibri"/>
                <a:ea typeface="+mn-ea"/>
                <a:cs typeface="Calibri"/>
              </a:rPr>
              <a:t>3) where NumberFormatException occurs</a:t>
            </a:r>
          </a:p>
        </p:txBody>
      </p:sp>
      <p:sp>
        <p:nvSpPr>
          <p:cNvPr id="3" name="object 3"/>
          <p:cNvSpPr txBox="1"/>
          <p:nvPr/>
        </p:nvSpPr>
        <p:spPr>
          <a:xfrm>
            <a:off x="713945" y="990897"/>
            <a:ext cx="11510010" cy="2915920"/>
          </a:xfrm>
          <a:prstGeom prst="rect">
            <a:avLst/>
          </a:prstGeom>
        </p:spPr>
        <p:txBody>
          <a:bodyPr vert="horz" wrap="square" lIns="0" tIns="12700" rIns="0" bIns="0" rtlCol="0">
            <a:normAutofit/>
          </a:bodyPr>
          <a:lstStyle/>
          <a:p>
            <a:pPr marL="12700"/>
            <a:r>
              <a:rPr sz="2000" b="1" dirty="0">
                <a:solidFill>
                  <a:srgbClr val="001F5F"/>
                </a:solidFill>
                <a:latin typeface="Calibri" panose="020F0502020204030204" pitchFamily="34" charset="0"/>
                <a:ea typeface="Calibri" panose="020F0502020204030204" pitchFamily="34" charset="0"/>
                <a:cs typeface="Calibri" panose="020F0502020204030204" pitchFamily="34" charset="0"/>
              </a:rPr>
              <a:t>Suppose we have a </a:t>
            </a:r>
            <a:r>
              <a:rPr sz="2000" b="1" u="sng" dirty="0">
                <a:solidFill>
                  <a:srgbClr val="001F5F"/>
                </a:solidFill>
                <a:uFill>
                  <a:solidFill>
                    <a:srgbClr val="0461C1"/>
                  </a:solidFill>
                </a:uFill>
                <a:latin typeface="Calibri" panose="020F0502020204030204" pitchFamily="34" charset="0"/>
                <a:ea typeface="Calibri" panose="020F0502020204030204" pitchFamily="34" charset="0"/>
                <a:cs typeface="Calibri" panose="020F0502020204030204" pitchFamily="34" charset="0"/>
                <a:hlinkClick r:id="rId2"/>
              </a:rPr>
              <a:t>string</a:t>
            </a:r>
            <a:r>
              <a:rPr sz="2000" b="1" dirty="0">
                <a:solidFill>
                  <a:srgbClr val="001F5F"/>
                </a:solidFill>
                <a:latin typeface="Calibri" panose="020F0502020204030204" pitchFamily="34" charset="0"/>
                <a:ea typeface="Calibri" panose="020F0502020204030204" pitchFamily="34" charset="0"/>
                <a:cs typeface="Calibri" panose="020F0502020204030204" pitchFamily="34" charset="0"/>
              </a:rPr>
              <a:t> variable that has characters; it converting this</a:t>
            </a:r>
          </a:p>
          <a:p>
            <a:pPr marL="12700">
              <a:lnSpc>
                <a:spcPct val="110000"/>
              </a:lnSpc>
              <a:spcBef>
                <a:spcPts val="0"/>
              </a:spcBef>
              <a:spcAft>
                <a:spcPts val="600"/>
              </a:spcAft>
            </a:pPr>
            <a:r>
              <a:rPr sz="2000" b="1" dirty="0">
                <a:solidFill>
                  <a:srgbClr val="001F5F"/>
                </a:solidFill>
                <a:latin typeface="Calibri" panose="020F0502020204030204" pitchFamily="34" charset="0"/>
                <a:ea typeface="Calibri" panose="020F0502020204030204" pitchFamily="34" charset="0"/>
                <a:cs typeface="Calibri" panose="020F0502020204030204" pitchFamily="34" charset="0"/>
              </a:rPr>
              <a:t>variable into number or digit will cause NumberFormatException.</a:t>
            </a:r>
          </a:p>
          <a:p>
            <a:pPr>
              <a:lnSpc>
                <a:spcPct val="110000"/>
              </a:lnSpc>
              <a:spcBef>
                <a:spcPts val="0"/>
              </a:spcBef>
              <a:spcAft>
                <a:spcPts val="600"/>
              </a:spcAft>
            </a:pPr>
            <a:endParaRPr sz="2000" dirty="0">
              <a:solidFill>
                <a:srgbClr val="001F5F"/>
              </a:solidFill>
              <a:latin typeface="Calibri"/>
              <a:cs typeface="Calibri"/>
            </a:endParaRPr>
          </a:p>
          <a:p>
            <a:pPr marL="12700"/>
            <a:r>
              <a:rPr sz="1600" dirty="0">
                <a:solidFill>
                  <a:srgbClr val="001F5F"/>
                </a:solidFill>
                <a:latin typeface="Courier New"/>
                <a:cs typeface="Courier New"/>
              </a:rPr>
              <a:t>String s="abc";</a:t>
            </a:r>
          </a:p>
          <a:p>
            <a:pPr marL="12700"/>
            <a:r>
              <a:rPr sz="1600" dirty="0">
                <a:solidFill>
                  <a:srgbClr val="001F5F"/>
                </a:solidFill>
                <a:latin typeface="Courier New"/>
                <a:cs typeface="Courier New"/>
              </a:rPr>
              <a:t>int i=Integer.parseInt(s);</a:t>
            </a:r>
            <a:r>
              <a:rPr sz="1600" dirty="0">
                <a:solidFill>
                  <a:srgbClr val="2E7D32"/>
                </a:solidFill>
                <a:latin typeface="Courier New"/>
                <a:cs typeface="Courier New"/>
              </a:rPr>
              <a:t>//NumberFormatException</a:t>
            </a:r>
            <a:endParaRPr sz="1600" dirty="0">
              <a:solidFill>
                <a:srgbClr val="001F5F"/>
              </a:solidFill>
              <a:latin typeface="Courier New"/>
              <a:cs typeface="Courier New"/>
            </a:endParaRPr>
          </a:p>
        </p:txBody>
      </p:sp>
      <p:sp>
        <p:nvSpPr>
          <p:cNvPr id="4" name="object 3">
            <a:extLst>
              <a:ext uri="{FF2B5EF4-FFF2-40B4-BE49-F238E27FC236}">
                <a16:creationId xmlns:a16="http://schemas.microsoft.com/office/drawing/2014/main" id="{1EC0DA93-A0A0-F831-F11C-176C0F10E33E}"/>
              </a:ext>
            </a:extLst>
          </p:cNvPr>
          <p:cNvSpPr txBox="1">
            <a:spLocks/>
          </p:cNvSpPr>
          <p:nvPr/>
        </p:nvSpPr>
        <p:spPr>
          <a:xfrm>
            <a:off x="533400" y="3065151"/>
            <a:ext cx="10800000" cy="640080"/>
          </a:xfrm>
          <a:prstGeom prst="rect">
            <a:avLst/>
          </a:prstGeom>
        </p:spPr>
        <p:txBody>
          <a:bodyPr vert="horz" wrap="square"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0"/>
              </a:spcBef>
              <a:tabLst>
                <a:tab pos="10350500" algn="l"/>
              </a:tabLst>
            </a:pPr>
            <a:b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sz="2000" b="1" dirty="0">
                <a:solidFill>
                  <a:srgbClr val="001F5F"/>
                </a:solidFill>
                <a:latin typeface="Calibri" panose="020F0502020204030204" pitchFamily="34" charset="0"/>
                <a:ea typeface="Calibri" panose="020F0502020204030204" pitchFamily="34" charset="0"/>
                <a:cs typeface="Calibri" panose="020F0502020204030204" pitchFamily="34" charset="0"/>
              </a:rPr>
              <a:t>When an array exceeds to it's size, the </a:t>
            </a:r>
            <a:r>
              <a:rPr lang="en-US" sz="2000" b="1" dirty="0" err="1">
                <a:solidFill>
                  <a:srgbClr val="001F5F"/>
                </a:solidFill>
                <a:latin typeface="Calibri" panose="020F0502020204030204" pitchFamily="34" charset="0"/>
                <a:ea typeface="Calibri" panose="020F0502020204030204" pitchFamily="34" charset="0"/>
                <a:cs typeface="Calibri" panose="020F0502020204030204" pitchFamily="34" charset="0"/>
              </a:rPr>
              <a:t>ArrayIndexOutOfBoundsException</a:t>
            </a:r>
            <a:r>
              <a:rPr lang="en-US" sz="2000" b="1" dirty="0">
                <a:solidFill>
                  <a:srgbClr val="001F5F"/>
                </a:solidFill>
                <a:latin typeface="Calibri" panose="020F0502020204030204" pitchFamily="34" charset="0"/>
                <a:ea typeface="Calibri" panose="020F0502020204030204" pitchFamily="34" charset="0"/>
                <a:cs typeface="Calibri" panose="020F0502020204030204" pitchFamily="34" charset="0"/>
              </a:rPr>
              <a:t> occurs , There may be other reason to occur </a:t>
            </a:r>
            <a:r>
              <a:rPr lang="en-US" sz="2000" b="1" dirty="0" err="1">
                <a:solidFill>
                  <a:srgbClr val="001F5F"/>
                </a:solidFill>
                <a:latin typeface="Calibri" panose="020F0502020204030204" pitchFamily="34" charset="0"/>
                <a:ea typeface="Calibri" panose="020F0502020204030204" pitchFamily="34" charset="0"/>
                <a:cs typeface="Calibri" panose="020F0502020204030204" pitchFamily="34" charset="0"/>
              </a:rPr>
              <a:t>ArrayIndexOutOf</a:t>
            </a:r>
            <a:r>
              <a:rPr lang="en-US" sz="2000" b="1" dirty="0">
                <a:solidFill>
                  <a:srgbClr val="001F5F"/>
                </a:solidFill>
                <a:latin typeface="Calibri" panose="020F0502020204030204" pitchFamily="34" charset="0"/>
                <a:ea typeface="Calibri" panose="020F0502020204030204" pitchFamily="34" charset="0"/>
                <a:cs typeface="Calibri" panose="020F0502020204030204" pitchFamily="34" charset="0"/>
              </a:rPr>
              <a:t> </a:t>
            </a:r>
            <a:r>
              <a:rPr lang="en-US" sz="2000" b="1" dirty="0" err="1">
                <a:solidFill>
                  <a:srgbClr val="001F5F"/>
                </a:solidFill>
                <a:latin typeface="Calibri" panose="020F0502020204030204" pitchFamily="34" charset="0"/>
                <a:ea typeface="Calibri" panose="020F0502020204030204" pitchFamily="34" charset="0"/>
                <a:cs typeface="Calibri" panose="020F0502020204030204" pitchFamily="34" charset="0"/>
              </a:rPr>
              <a:t>BoundsException</a:t>
            </a:r>
            <a:r>
              <a:rPr lang="en-US" sz="2000" b="1" dirty="0">
                <a:solidFill>
                  <a:srgbClr val="001F5F"/>
                </a:solidFill>
                <a:latin typeface="Calibri" panose="020F0502020204030204" pitchFamily="34" charset="0"/>
                <a:ea typeface="Calibri" panose="020F0502020204030204" pitchFamily="34" charset="0"/>
                <a:cs typeface="Calibri" panose="020F0502020204030204" pitchFamily="34" charset="0"/>
              </a:rPr>
              <a:t>  	</a:t>
            </a:r>
          </a:p>
        </p:txBody>
      </p:sp>
      <p:sp>
        <p:nvSpPr>
          <p:cNvPr id="5" name="object 2">
            <a:extLst>
              <a:ext uri="{FF2B5EF4-FFF2-40B4-BE49-F238E27FC236}">
                <a16:creationId xmlns:a16="http://schemas.microsoft.com/office/drawing/2014/main" id="{3B21395E-4F37-657D-A20F-B9959082085B}"/>
              </a:ext>
            </a:extLst>
          </p:cNvPr>
          <p:cNvSpPr txBox="1"/>
          <p:nvPr/>
        </p:nvSpPr>
        <p:spPr>
          <a:xfrm>
            <a:off x="457200" y="2839260"/>
            <a:ext cx="6175375" cy="329565"/>
          </a:xfrm>
          <a:prstGeom prst="rect">
            <a:avLst/>
          </a:prstGeom>
        </p:spPr>
        <p:txBody>
          <a:bodyPr vert="horz" wrap="square" lIns="0" tIns="12065" rIns="0" bIns="0" rtlCol="0">
            <a:normAutofit lnSpcReduction="10000"/>
          </a:bodyPr>
          <a:lstStyle/>
          <a:p>
            <a:pPr marL="12700">
              <a:lnSpc>
                <a:spcPct val="110000"/>
              </a:lnSpc>
              <a:spcBef>
                <a:spcPts val="0"/>
              </a:spcBef>
              <a:spcAft>
                <a:spcPts val="600"/>
              </a:spcAft>
            </a:pPr>
            <a:r>
              <a:rPr sz="2000" b="1" dirty="0">
                <a:solidFill>
                  <a:srgbClr val="C00000"/>
                </a:solidFill>
                <a:latin typeface="Calibri"/>
                <a:cs typeface="Calibri"/>
              </a:rPr>
              <a:t>4) where ArrayIndexOutOfBoundsException occurs</a:t>
            </a:r>
            <a:endParaRPr sz="2000" b="1" dirty="0">
              <a:solidFill>
                <a:srgbClr val="001F5F"/>
              </a:solidFill>
              <a:latin typeface="Calibri"/>
              <a:cs typeface="Calibri"/>
            </a:endParaRPr>
          </a:p>
        </p:txBody>
      </p:sp>
      <p:sp>
        <p:nvSpPr>
          <p:cNvPr id="6" name="object 4">
            <a:extLst>
              <a:ext uri="{FF2B5EF4-FFF2-40B4-BE49-F238E27FC236}">
                <a16:creationId xmlns:a16="http://schemas.microsoft.com/office/drawing/2014/main" id="{B6A01B4B-0CC8-9FAD-F390-BA02FF34997F}"/>
              </a:ext>
            </a:extLst>
          </p:cNvPr>
          <p:cNvSpPr txBox="1"/>
          <p:nvPr/>
        </p:nvSpPr>
        <p:spPr>
          <a:xfrm>
            <a:off x="609600" y="4103211"/>
            <a:ext cx="7940675" cy="2340128"/>
          </a:xfrm>
          <a:prstGeom prst="rect">
            <a:avLst/>
          </a:prstGeom>
        </p:spPr>
        <p:txBody>
          <a:bodyPr vert="horz" wrap="square" lIns="0" tIns="12700" rIns="0" bIns="0" rtlCol="0">
            <a:normAutofit/>
          </a:bodyPr>
          <a:lstStyle/>
          <a:p>
            <a:pPr marL="13335">
              <a:lnSpc>
                <a:spcPct val="110000"/>
              </a:lnSpc>
              <a:spcBef>
                <a:spcPts val="0"/>
              </a:spcBef>
              <a:spcAft>
                <a:spcPts val="600"/>
              </a:spcAft>
            </a:pPr>
            <a:r>
              <a:rPr sz="2000" dirty="0">
                <a:solidFill>
                  <a:srgbClr val="001F5F"/>
                </a:solidFill>
                <a:latin typeface="Calibri"/>
                <a:cs typeface="Calibri"/>
              </a:rPr>
              <a:t>the following statements.</a:t>
            </a:r>
          </a:p>
          <a:p>
            <a:pPr marL="12700" marR="5220970"/>
            <a:r>
              <a:rPr sz="1600" dirty="0">
                <a:solidFill>
                  <a:srgbClr val="001F5F"/>
                </a:solidFill>
                <a:latin typeface="Courier New"/>
                <a:cs typeface="Courier New"/>
              </a:rPr>
              <a:t>int a[]=new int[5]; a[10]=50;</a:t>
            </a:r>
          </a:p>
          <a:p>
            <a:pPr marL="12700"/>
            <a:r>
              <a:rPr sz="1600" dirty="0">
                <a:solidFill>
                  <a:srgbClr val="001F5F"/>
                </a:solidFill>
                <a:latin typeface="Courier New"/>
                <a:cs typeface="Courier New"/>
              </a:rPr>
              <a:t>System.out.println(a[10]);</a:t>
            </a:r>
            <a:r>
              <a:rPr sz="1600" dirty="0">
                <a:solidFill>
                  <a:srgbClr val="2E7D32"/>
                </a:solidFill>
                <a:latin typeface="Courier New"/>
                <a:cs typeface="Courier New"/>
              </a:rPr>
              <a:t>//</a:t>
            </a:r>
            <a:r>
              <a:rPr sz="1600" dirty="0">
                <a:solidFill>
                  <a:srgbClr val="001F5F"/>
                </a:solidFill>
                <a:latin typeface="Courier New"/>
                <a:cs typeface="Courier New"/>
              </a:rPr>
              <a:t>ArrayIndexOutOfBoundsException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6C58C-D27F-76C7-8377-DF4420B63E1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B00425E-74D5-BE0D-DD31-C4D5C6AFDF36}"/>
              </a:ext>
            </a:extLst>
          </p:cNvPr>
          <p:cNvSpPr txBox="1">
            <a:spLocks noGrp="1"/>
          </p:cNvSpPr>
          <p:nvPr>
            <p:ph type="ctrTitle"/>
          </p:nvPr>
        </p:nvSpPr>
        <p:spPr>
          <a:xfrm>
            <a:off x="2743200" y="1371600"/>
            <a:ext cx="5643052" cy="640080"/>
          </a:xfrm>
          <a:prstGeom prst="rect">
            <a:avLst/>
          </a:prstGeom>
        </p:spPr>
        <p:txBody>
          <a:bodyPr vert="horz" wrap="square" rtlCol="0" anchor="ctr"/>
          <a:lstStyle/>
          <a:p>
            <a:pPr marL="40640" algn="l">
              <a:lnSpc>
                <a:spcPct val="100000"/>
              </a:lnSpc>
              <a:spcBef>
                <a:spcPts val="110"/>
              </a:spcBef>
            </a:pPr>
            <a:r>
              <a:rPr sz="2800" b="1" dirty="0">
                <a:solidFill>
                  <a:srgbClr val="001F5F"/>
                </a:solidFill>
                <a:latin typeface="Calibri"/>
                <a:cs typeface="Calibri"/>
              </a:rPr>
              <a:t>Unit-IV: PART-B:Exception Handling</a:t>
            </a:r>
          </a:p>
        </p:txBody>
      </p:sp>
      <p:sp>
        <p:nvSpPr>
          <p:cNvPr id="3" name="object 3">
            <a:extLst>
              <a:ext uri="{FF2B5EF4-FFF2-40B4-BE49-F238E27FC236}">
                <a16:creationId xmlns:a16="http://schemas.microsoft.com/office/drawing/2014/main" id="{D11A0DD6-A5EC-CBD2-3415-950572203CDD}"/>
              </a:ext>
            </a:extLst>
          </p:cNvPr>
          <p:cNvSpPr txBox="1"/>
          <p:nvPr/>
        </p:nvSpPr>
        <p:spPr>
          <a:xfrm>
            <a:off x="2590800" y="2286000"/>
            <a:ext cx="7602855" cy="391160"/>
          </a:xfrm>
          <a:prstGeom prst="rect">
            <a:avLst/>
          </a:prstGeom>
        </p:spPr>
        <p:txBody>
          <a:bodyPr vert="horz" wrap="square" lIns="0" tIns="12700" rIns="0" bIns="0" rtlCol="0">
            <a:normAutofit/>
          </a:bodyPr>
          <a:lstStyle/>
          <a:p>
            <a:pPr marL="12700">
              <a:lnSpc>
                <a:spcPct val="110000"/>
              </a:lnSpc>
              <a:spcBef>
                <a:spcPts val="0"/>
              </a:spcBef>
              <a:spcAft>
                <a:spcPts val="600"/>
              </a:spcAft>
            </a:pPr>
            <a:r>
              <a:rPr sz="2000" b="1" dirty="0">
                <a:solidFill>
                  <a:srgbClr val="C00000"/>
                </a:solidFill>
                <a:latin typeface="Calibri"/>
                <a:cs typeface="Calibri"/>
              </a:rPr>
              <a:t>Concept-3:</a:t>
            </a:r>
            <a:r>
              <a:rPr lang="en-US" sz="2000" b="1" dirty="0">
                <a:solidFill>
                  <a:srgbClr val="001F5F"/>
                </a:solidFill>
                <a:latin typeface="Calibri"/>
                <a:cs typeface="Calibri"/>
              </a:rPr>
              <a:t> Keywords throws and throw, try, catch, and finally Blocks</a:t>
            </a:r>
            <a:endParaRPr sz="2000" dirty="0">
              <a:solidFill>
                <a:srgbClr val="001F5F"/>
              </a:solidFill>
              <a:latin typeface="Calibri"/>
              <a:cs typeface="Calibri"/>
            </a:endParaRPr>
          </a:p>
        </p:txBody>
      </p:sp>
    </p:spTree>
    <p:extLst>
      <p:ext uri="{BB962C8B-B14F-4D97-AF65-F5344CB8AC3E}">
        <p14:creationId xmlns:p14="http://schemas.microsoft.com/office/powerpoint/2010/main" val="4134144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2826442808"/>
              </p:ext>
            </p:extLst>
          </p:nvPr>
        </p:nvGraphicFramePr>
        <p:xfrm>
          <a:off x="695325" y="914400"/>
          <a:ext cx="10801350" cy="4819014"/>
        </p:xfrm>
        <a:graphic>
          <a:graphicData uri="http://schemas.openxmlformats.org/drawingml/2006/table">
            <a:tbl>
              <a:tblPr firstRow="1" bandRow="1">
                <a:tableStyleId>{2D5ABB26-0587-4C30-8999-92F81FD0307C}</a:tableStyleId>
              </a:tblPr>
              <a:tblGrid>
                <a:gridCol w="1347470">
                  <a:extLst>
                    <a:ext uri="{9D8B030D-6E8A-4147-A177-3AD203B41FA5}">
                      <a16:colId xmlns:a16="http://schemas.microsoft.com/office/drawing/2014/main" val="20000"/>
                    </a:ext>
                  </a:extLst>
                </a:gridCol>
                <a:gridCol w="9453880">
                  <a:extLst>
                    <a:ext uri="{9D8B030D-6E8A-4147-A177-3AD203B41FA5}">
                      <a16:colId xmlns:a16="http://schemas.microsoft.com/office/drawing/2014/main" val="20001"/>
                    </a:ext>
                  </a:extLst>
                </a:gridCol>
              </a:tblGrid>
              <a:tr h="460375">
                <a:tc>
                  <a:txBody>
                    <a:bodyPr/>
                    <a:lstStyle/>
                    <a:p>
                      <a:pPr algn="ctr">
                        <a:lnSpc>
                          <a:spcPct val="100000"/>
                        </a:lnSpc>
                        <a:spcBef>
                          <a:spcPts val="470"/>
                        </a:spcBef>
                      </a:pPr>
                      <a:r>
                        <a:rPr sz="2000" b="1" dirty="0">
                          <a:solidFill>
                            <a:schemeClr val="tx1"/>
                          </a:solidFill>
                          <a:latin typeface="Calibri"/>
                          <a:cs typeface="Calibri"/>
                        </a:rPr>
                        <a:t>Keyword</a:t>
                      </a:r>
                      <a:endParaRPr sz="2000">
                        <a:solidFill>
                          <a:schemeClr val="tx1"/>
                        </a:solidFill>
                        <a:latin typeface="Calibri"/>
                        <a:cs typeface="Calibri"/>
                      </a:endParaRPr>
                    </a:p>
                  </a:txBody>
                  <a:tcPr marL="0" marR="0" marT="59690" marB="0">
                    <a:lnL w="6350">
                      <a:solidFill>
                        <a:srgbClr val="A3A3A3"/>
                      </a:solidFill>
                      <a:prstDash val="solid"/>
                    </a:lnL>
                    <a:lnR w="6350">
                      <a:solidFill>
                        <a:srgbClr val="A3A3A3"/>
                      </a:solidFill>
                      <a:prstDash val="solid"/>
                    </a:lnR>
                    <a:solidFill>
                      <a:srgbClr val="A6A6A6"/>
                    </a:solidFill>
                  </a:tcPr>
                </a:tc>
                <a:tc>
                  <a:txBody>
                    <a:bodyPr/>
                    <a:lstStyle/>
                    <a:p>
                      <a:pPr marL="4445" algn="ctr">
                        <a:lnSpc>
                          <a:spcPct val="100000"/>
                        </a:lnSpc>
                        <a:spcBef>
                          <a:spcPts val="470"/>
                        </a:spcBef>
                      </a:pPr>
                      <a:r>
                        <a:rPr sz="2000" b="1" dirty="0">
                          <a:solidFill>
                            <a:schemeClr val="tx1"/>
                          </a:solidFill>
                          <a:latin typeface="Calibri"/>
                          <a:cs typeface="Calibri"/>
                        </a:rPr>
                        <a:t>Description</a:t>
                      </a:r>
                      <a:endParaRPr sz="2000">
                        <a:solidFill>
                          <a:schemeClr val="tx1"/>
                        </a:solidFill>
                        <a:latin typeface="Calibri"/>
                        <a:cs typeface="Calibri"/>
                      </a:endParaRPr>
                    </a:p>
                  </a:txBody>
                  <a:tcPr marL="0" marR="0" marT="59690" marB="0">
                    <a:lnL w="6350">
                      <a:solidFill>
                        <a:srgbClr val="A3A3A3"/>
                      </a:solidFill>
                      <a:prstDash val="solid"/>
                    </a:lnL>
                    <a:lnR w="6350">
                      <a:solidFill>
                        <a:srgbClr val="A3A3A3"/>
                      </a:solidFill>
                      <a:prstDash val="solid"/>
                    </a:lnR>
                    <a:solidFill>
                      <a:srgbClr val="A6A6A6"/>
                    </a:solidFill>
                  </a:tcPr>
                </a:tc>
                <a:extLst>
                  <a:ext uri="{0D108BD9-81ED-4DB2-BD59-A6C34878D82A}">
                    <a16:rowId xmlns:a16="http://schemas.microsoft.com/office/drawing/2014/main" val="10000"/>
                  </a:ext>
                </a:extLst>
              </a:tr>
              <a:tr h="1014730">
                <a:tc>
                  <a:txBody>
                    <a:bodyPr/>
                    <a:lstStyle/>
                    <a:p>
                      <a:pPr marL="2540" algn="ctr">
                        <a:lnSpc>
                          <a:spcPct val="100000"/>
                        </a:lnSpc>
                        <a:spcBef>
                          <a:spcPts val="305"/>
                        </a:spcBef>
                      </a:pPr>
                      <a:r>
                        <a:rPr sz="2000" b="1" dirty="0">
                          <a:solidFill>
                            <a:schemeClr val="tx1"/>
                          </a:solidFill>
                          <a:latin typeface="Calibri"/>
                          <a:cs typeface="Calibri"/>
                        </a:rPr>
                        <a:t>try</a:t>
                      </a:r>
                      <a:endParaRPr sz="2000">
                        <a:solidFill>
                          <a:schemeClr val="tx1"/>
                        </a:solidFill>
                        <a:latin typeface="Calibri"/>
                        <a:cs typeface="Calibri"/>
                      </a:endParaRPr>
                    </a:p>
                  </a:txBody>
                  <a:tcPr marL="0" marR="0" marT="38735" marB="0">
                    <a:lnL w="6350">
                      <a:solidFill>
                        <a:srgbClr val="A3A3A3"/>
                      </a:solidFill>
                      <a:prstDash val="solid"/>
                    </a:lnL>
                    <a:lnR w="6350">
                      <a:solidFill>
                        <a:srgbClr val="A3A3A3"/>
                      </a:solidFill>
                      <a:prstDash val="solid"/>
                    </a:lnR>
                    <a:lnB w="6350">
                      <a:solidFill>
                        <a:srgbClr val="A3A3A3"/>
                      </a:solidFill>
                      <a:prstDash val="solid"/>
                    </a:lnB>
                  </a:tcPr>
                </a:tc>
                <a:tc>
                  <a:txBody>
                    <a:bodyPr/>
                    <a:lstStyle/>
                    <a:p>
                      <a:pPr marL="30480" marR="332105" algn="l">
                        <a:lnSpc>
                          <a:spcPct val="100000"/>
                        </a:lnSpc>
                        <a:spcBef>
                          <a:spcPts val="305"/>
                        </a:spcBef>
                      </a:pPr>
                      <a:r>
                        <a:rPr sz="2000" b="1" dirty="0">
                          <a:solidFill>
                            <a:schemeClr val="tx1"/>
                          </a:solidFill>
                          <a:latin typeface="Calibri"/>
                          <a:cs typeface="Calibri"/>
                        </a:rPr>
                        <a:t>The "try" keyword is used to specify a block where we should place an exception code. It means we can't use try block alone. The try block must be followed by either catch or finally.</a:t>
                      </a:r>
                      <a:endParaRPr sz="2000" dirty="0">
                        <a:solidFill>
                          <a:schemeClr val="tx1"/>
                        </a:solidFill>
                        <a:latin typeface="Calibri"/>
                        <a:cs typeface="Calibri"/>
                      </a:endParaRPr>
                    </a:p>
                  </a:txBody>
                  <a:tcPr marL="0" marR="0" marT="38735" marB="0">
                    <a:lnL w="6350">
                      <a:solidFill>
                        <a:srgbClr val="A3A3A3"/>
                      </a:solidFill>
                      <a:prstDash val="solid"/>
                    </a:lnL>
                    <a:lnR w="6350">
                      <a:solidFill>
                        <a:srgbClr val="A3A3A3"/>
                      </a:solidFill>
                      <a:prstDash val="solid"/>
                    </a:lnR>
                    <a:lnB w="6350">
                      <a:solidFill>
                        <a:srgbClr val="A3A3A3"/>
                      </a:solidFill>
                      <a:prstDash val="solid"/>
                    </a:lnB>
                  </a:tcPr>
                </a:tc>
                <a:extLst>
                  <a:ext uri="{0D108BD9-81ED-4DB2-BD59-A6C34878D82A}">
                    <a16:rowId xmlns:a16="http://schemas.microsoft.com/office/drawing/2014/main" val="10001"/>
                  </a:ext>
                </a:extLst>
              </a:tr>
              <a:tr h="1017269">
                <a:tc>
                  <a:txBody>
                    <a:bodyPr/>
                    <a:lstStyle/>
                    <a:p>
                      <a:pPr marL="1905" algn="ctr">
                        <a:lnSpc>
                          <a:spcPct val="100000"/>
                        </a:lnSpc>
                        <a:spcBef>
                          <a:spcPts val="340"/>
                        </a:spcBef>
                      </a:pPr>
                      <a:r>
                        <a:rPr sz="2000" b="1" dirty="0">
                          <a:solidFill>
                            <a:schemeClr val="tx1"/>
                          </a:solidFill>
                          <a:latin typeface="Calibri"/>
                          <a:cs typeface="Calibri"/>
                        </a:rPr>
                        <a:t>catch</a:t>
                      </a:r>
                      <a:endParaRPr sz="2000">
                        <a:solidFill>
                          <a:schemeClr val="tx1"/>
                        </a:solidFill>
                        <a:latin typeface="Calibri"/>
                        <a:cs typeface="Calibri"/>
                      </a:endParaRPr>
                    </a:p>
                  </a:txBody>
                  <a:tcPr marL="0" marR="0" marT="43180" marB="0">
                    <a:lnL w="6350">
                      <a:solidFill>
                        <a:srgbClr val="A3A3A3"/>
                      </a:solidFill>
                      <a:prstDash val="solid"/>
                    </a:lnL>
                    <a:lnR w="6350">
                      <a:solidFill>
                        <a:srgbClr val="A3A3A3"/>
                      </a:solidFill>
                      <a:prstDash val="solid"/>
                    </a:lnR>
                    <a:lnT w="6350">
                      <a:solidFill>
                        <a:srgbClr val="A3A3A3"/>
                      </a:solidFill>
                      <a:prstDash val="solid"/>
                    </a:lnT>
                    <a:lnB w="6350">
                      <a:solidFill>
                        <a:srgbClr val="A3A3A3"/>
                      </a:solidFill>
                      <a:prstDash val="solid"/>
                    </a:lnB>
                  </a:tcPr>
                </a:tc>
                <a:tc>
                  <a:txBody>
                    <a:bodyPr/>
                    <a:lstStyle/>
                    <a:p>
                      <a:pPr marL="30480" marR="468630" algn="l">
                        <a:lnSpc>
                          <a:spcPct val="100000"/>
                        </a:lnSpc>
                        <a:spcBef>
                          <a:spcPts val="340"/>
                        </a:spcBef>
                      </a:pPr>
                      <a:r>
                        <a:rPr sz="2000" b="1" dirty="0">
                          <a:solidFill>
                            <a:schemeClr val="tx1"/>
                          </a:solidFill>
                          <a:latin typeface="Calibri"/>
                          <a:cs typeface="Calibri"/>
                        </a:rPr>
                        <a:t>The "catch" block is used to handle the exception. It must be preceded by try block which means we can't use catch block alone. It can be followed by finally block later.</a:t>
                      </a:r>
                      <a:endParaRPr sz="2000">
                        <a:solidFill>
                          <a:schemeClr val="tx1"/>
                        </a:solidFill>
                        <a:latin typeface="Calibri"/>
                        <a:cs typeface="Calibri"/>
                      </a:endParaRPr>
                    </a:p>
                  </a:txBody>
                  <a:tcPr marL="0" marR="0" marT="43180" marB="0">
                    <a:lnL w="6350">
                      <a:solidFill>
                        <a:srgbClr val="A3A3A3"/>
                      </a:solidFill>
                      <a:prstDash val="solid"/>
                    </a:lnL>
                    <a:lnR w="6350">
                      <a:solidFill>
                        <a:srgbClr val="A3A3A3"/>
                      </a:solidFill>
                      <a:prstDash val="solid"/>
                    </a:lnR>
                    <a:lnT w="6350">
                      <a:solidFill>
                        <a:srgbClr val="A3A3A3"/>
                      </a:solidFill>
                      <a:prstDash val="solid"/>
                    </a:lnT>
                    <a:lnB w="6350">
                      <a:solidFill>
                        <a:srgbClr val="A3A3A3"/>
                      </a:solidFill>
                      <a:prstDash val="solid"/>
                    </a:lnB>
                  </a:tcPr>
                </a:tc>
                <a:extLst>
                  <a:ext uri="{0D108BD9-81ED-4DB2-BD59-A6C34878D82A}">
                    <a16:rowId xmlns:a16="http://schemas.microsoft.com/office/drawing/2014/main" val="10002"/>
                  </a:ext>
                </a:extLst>
              </a:tr>
              <a:tr h="701040">
                <a:tc>
                  <a:txBody>
                    <a:bodyPr/>
                    <a:lstStyle/>
                    <a:p>
                      <a:pPr marL="2540" algn="ctr">
                        <a:lnSpc>
                          <a:spcPct val="100000"/>
                        </a:lnSpc>
                        <a:spcBef>
                          <a:spcPts val="350"/>
                        </a:spcBef>
                      </a:pPr>
                      <a:r>
                        <a:rPr sz="2000" b="1" dirty="0">
                          <a:solidFill>
                            <a:schemeClr val="tx1"/>
                          </a:solidFill>
                          <a:latin typeface="Calibri"/>
                          <a:cs typeface="Calibri"/>
                        </a:rPr>
                        <a:t>finally</a:t>
                      </a:r>
                      <a:endParaRPr sz="2000">
                        <a:solidFill>
                          <a:schemeClr val="tx1"/>
                        </a:solidFill>
                        <a:latin typeface="Calibri"/>
                        <a:cs typeface="Calibri"/>
                      </a:endParaRPr>
                    </a:p>
                  </a:txBody>
                  <a:tcPr marL="0" marR="0" marT="44450" marB="0">
                    <a:lnL w="6350">
                      <a:solidFill>
                        <a:srgbClr val="A3A3A3"/>
                      </a:solidFill>
                      <a:prstDash val="solid"/>
                    </a:lnL>
                    <a:lnR w="6350">
                      <a:solidFill>
                        <a:srgbClr val="A3A3A3"/>
                      </a:solidFill>
                      <a:prstDash val="solid"/>
                    </a:lnR>
                    <a:lnT w="6350">
                      <a:solidFill>
                        <a:srgbClr val="A3A3A3"/>
                      </a:solidFill>
                      <a:prstDash val="solid"/>
                    </a:lnT>
                    <a:lnB w="6350">
                      <a:solidFill>
                        <a:srgbClr val="A3A3A3"/>
                      </a:solidFill>
                      <a:prstDash val="solid"/>
                    </a:lnB>
                  </a:tcPr>
                </a:tc>
                <a:tc>
                  <a:txBody>
                    <a:bodyPr/>
                    <a:lstStyle/>
                    <a:p>
                      <a:pPr marL="30480">
                        <a:lnSpc>
                          <a:spcPct val="100000"/>
                        </a:lnSpc>
                        <a:spcBef>
                          <a:spcPts val="350"/>
                        </a:spcBef>
                      </a:pPr>
                      <a:r>
                        <a:rPr sz="2000" b="1" dirty="0">
                          <a:solidFill>
                            <a:schemeClr val="tx1"/>
                          </a:solidFill>
                          <a:latin typeface="Calibri"/>
                          <a:cs typeface="Calibri"/>
                        </a:rPr>
                        <a:t>The "finally" block is used to execute the necessary code of the program. It is</a:t>
                      </a:r>
                      <a:endParaRPr sz="2000">
                        <a:solidFill>
                          <a:schemeClr val="tx1"/>
                        </a:solidFill>
                        <a:latin typeface="Calibri"/>
                        <a:cs typeface="Calibri"/>
                      </a:endParaRPr>
                    </a:p>
                    <a:p>
                      <a:pPr marL="30480">
                        <a:lnSpc>
                          <a:spcPct val="100000"/>
                        </a:lnSpc>
                      </a:pPr>
                      <a:r>
                        <a:rPr sz="2000" b="1" dirty="0">
                          <a:solidFill>
                            <a:schemeClr val="tx1"/>
                          </a:solidFill>
                          <a:latin typeface="Calibri"/>
                          <a:cs typeface="Calibri"/>
                        </a:rPr>
                        <a:t>executed whether an exception is handled or not.</a:t>
                      </a:r>
                      <a:endParaRPr sz="2000">
                        <a:solidFill>
                          <a:schemeClr val="tx1"/>
                        </a:solidFill>
                        <a:latin typeface="Calibri"/>
                        <a:cs typeface="Calibri"/>
                      </a:endParaRPr>
                    </a:p>
                  </a:txBody>
                  <a:tcPr marL="0" marR="0" marT="44450" marB="0">
                    <a:lnL w="6350">
                      <a:solidFill>
                        <a:srgbClr val="A3A3A3"/>
                      </a:solidFill>
                      <a:prstDash val="solid"/>
                    </a:lnL>
                    <a:lnR w="6350">
                      <a:solidFill>
                        <a:srgbClr val="A3A3A3"/>
                      </a:solidFill>
                      <a:prstDash val="solid"/>
                    </a:lnR>
                    <a:lnT w="6350">
                      <a:solidFill>
                        <a:srgbClr val="A3A3A3"/>
                      </a:solidFill>
                      <a:prstDash val="solid"/>
                    </a:lnT>
                    <a:lnB w="6350">
                      <a:solidFill>
                        <a:srgbClr val="A3A3A3"/>
                      </a:solidFill>
                      <a:prstDash val="solid"/>
                    </a:lnB>
                  </a:tcPr>
                </a:tc>
                <a:extLst>
                  <a:ext uri="{0D108BD9-81ED-4DB2-BD59-A6C34878D82A}">
                    <a16:rowId xmlns:a16="http://schemas.microsoft.com/office/drawing/2014/main" val="10003"/>
                  </a:ext>
                </a:extLst>
              </a:tr>
              <a:tr h="603250">
                <a:tc>
                  <a:txBody>
                    <a:bodyPr/>
                    <a:lstStyle/>
                    <a:p>
                      <a:pPr marL="2540" algn="ctr">
                        <a:lnSpc>
                          <a:spcPct val="100000"/>
                        </a:lnSpc>
                        <a:spcBef>
                          <a:spcPts val="350"/>
                        </a:spcBef>
                      </a:pPr>
                      <a:r>
                        <a:rPr sz="2000" b="1" dirty="0">
                          <a:solidFill>
                            <a:schemeClr val="tx1"/>
                          </a:solidFill>
                          <a:latin typeface="Calibri"/>
                          <a:cs typeface="Calibri"/>
                        </a:rPr>
                        <a:t>throw</a:t>
                      </a:r>
                      <a:endParaRPr sz="2000">
                        <a:solidFill>
                          <a:schemeClr val="tx1"/>
                        </a:solidFill>
                        <a:latin typeface="Calibri"/>
                        <a:cs typeface="Calibri"/>
                      </a:endParaRPr>
                    </a:p>
                  </a:txBody>
                  <a:tcPr marL="0" marR="0" marT="44450" marB="0">
                    <a:lnL w="6350">
                      <a:solidFill>
                        <a:srgbClr val="A3A3A3"/>
                      </a:solidFill>
                      <a:prstDash val="solid"/>
                    </a:lnL>
                    <a:lnR w="6350">
                      <a:solidFill>
                        <a:srgbClr val="A3A3A3"/>
                      </a:solidFill>
                      <a:prstDash val="solid"/>
                    </a:lnR>
                    <a:lnT w="6350">
                      <a:solidFill>
                        <a:srgbClr val="A3A3A3"/>
                      </a:solidFill>
                      <a:prstDash val="solid"/>
                    </a:lnT>
                    <a:lnB w="6350">
                      <a:solidFill>
                        <a:srgbClr val="A3A3A3"/>
                      </a:solidFill>
                      <a:prstDash val="solid"/>
                    </a:lnB>
                  </a:tcPr>
                </a:tc>
                <a:tc>
                  <a:txBody>
                    <a:bodyPr/>
                    <a:lstStyle/>
                    <a:p>
                      <a:pPr marL="30480">
                        <a:lnSpc>
                          <a:spcPct val="100000"/>
                        </a:lnSpc>
                        <a:spcBef>
                          <a:spcPts val="350"/>
                        </a:spcBef>
                      </a:pPr>
                      <a:r>
                        <a:rPr sz="2000" b="1" dirty="0">
                          <a:solidFill>
                            <a:schemeClr val="tx1"/>
                          </a:solidFill>
                          <a:latin typeface="Calibri"/>
                          <a:cs typeface="Calibri"/>
                        </a:rPr>
                        <a:t>The "throw" keyword is used to throw an exception.</a:t>
                      </a:r>
                      <a:endParaRPr sz="2000">
                        <a:solidFill>
                          <a:schemeClr val="tx1"/>
                        </a:solidFill>
                        <a:latin typeface="Calibri"/>
                        <a:cs typeface="Calibri"/>
                      </a:endParaRPr>
                    </a:p>
                  </a:txBody>
                  <a:tcPr marL="0" marR="0" marT="44450" marB="0">
                    <a:lnL w="6350">
                      <a:solidFill>
                        <a:srgbClr val="A3A3A3"/>
                      </a:solidFill>
                      <a:prstDash val="solid"/>
                    </a:lnL>
                    <a:lnR w="6350">
                      <a:solidFill>
                        <a:srgbClr val="A3A3A3"/>
                      </a:solidFill>
                      <a:prstDash val="solid"/>
                    </a:lnR>
                    <a:lnT w="6350">
                      <a:solidFill>
                        <a:srgbClr val="A3A3A3"/>
                      </a:solidFill>
                      <a:prstDash val="solid"/>
                    </a:lnT>
                    <a:lnB w="6350">
                      <a:solidFill>
                        <a:srgbClr val="A3A3A3"/>
                      </a:solidFill>
                      <a:prstDash val="solid"/>
                    </a:lnB>
                  </a:tcPr>
                </a:tc>
                <a:extLst>
                  <a:ext uri="{0D108BD9-81ED-4DB2-BD59-A6C34878D82A}">
                    <a16:rowId xmlns:a16="http://schemas.microsoft.com/office/drawing/2014/main" val="10004"/>
                  </a:ext>
                </a:extLst>
              </a:tr>
              <a:tr h="1022350">
                <a:tc>
                  <a:txBody>
                    <a:bodyPr/>
                    <a:lstStyle/>
                    <a:p>
                      <a:pPr algn="ctr">
                        <a:lnSpc>
                          <a:spcPct val="100000"/>
                        </a:lnSpc>
                        <a:spcBef>
                          <a:spcPts val="355"/>
                        </a:spcBef>
                      </a:pPr>
                      <a:r>
                        <a:rPr sz="2000" b="1" dirty="0">
                          <a:solidFill>
                            <a:schemeClr val="tx1"/>
                          </a:solidFill>
                          <a:latin typeface="Calibri"/>
                          <a:cs typeface="Calibri"/>
                        </a:rPr>
                        <a:t>throws</a:t>
                      </a:r>
                      <a:endParaRPr sz="2000">
                        <a:solidFill>
                          <a:schemeClr val="tx1"/>
                        </a:solidFill>
                        <a:latin typeface="Calibri"/>
                        <a:cs typeface="Calibri"/>
                      </a:endParaRPr>
                    </a:p>
                  </a:txBody>
                  <a:tcPr marL="0" marR="0" marT="45085" marB="0">
                    <a:lnL w="6350">
                      <a:solidFill>
                        <a:srgbClr val="A3A3A3"/>
                      </a:solidFill>
                      <a:prstDash val="solid"/>
                    </a:lnL>
                    <a:lnR w="6350">
                      <a:solidFill>
                        <a:srgbClr val="A3A3A3"/>
                      </a:solidFill>
                      <a:prstDash val="solid"/>
                    </a:lnR>
                    <a:lnT w="6350">
                      <a:solidFill>
                        <a:srgbClr val="A3A3A3"/>
                      </a:solidFill>
                      <a:prstDash val="solid"/>
                    </a:lnT>
                    <a:lnB w="6350">
                      <a:solidFill>
                        <a:srgbClr val="A3A3A3"/>
                      </a:solidFill>
                      <a:prstDash val="solid"/>
                    </a:lnB>
                  </a:tcPr>
                </a:tc>
                <a:tc>
                  <a:txBody>
                    <a:bodyPr/>
                    <a:lstStyle/>
                    <a:p>
                      <a:pPr marL="30480" marR="109220">
                        <a:lnSpc>
                          <a:spcPct val="100000"/>
                        </a:lnSpc>
                        <a:spcBef>
                          <a:spcPts val="355"/>
                        </a:spcBef>
                      </a:pPr>
                      <a:r>
                        <a:rPr sz="2000" b="1" dirty="0">
                          <a:solidFill>
                            <a:schemeClr val="tx1"/>
                          </a:solidFill>
                          <a:latin typeface="Calibri"/>
                          <a:cs typeface="Calibri"/>
                        </a:rPr>
                        <a:t>The "throws" keyword is used to declare exceptions. It specifies that there may occur an exception in the method. It doesn't throw an exception. It is always used with method signature.</a:t>
                      </a:r>
                      <a:endParaRPr sz="2000" dirty="0">
                        <a:solidFill>
                          <a:schemeClr val="tx1"/>
                        </a:solidFill>
                        <a:latin typeface="Calibri"/>
                        <a:cs typeface="Calibri"/>
                      </a:endParaRPr>
                    </a:p>
                  </a:txBody>
                  <a:tcPr marL="0" marR="0" marT="45085" marB="0">
                    <a:lnL w="6350">
                      <a:solidFill>
                        <a:srgbClr val="A3A3A3"/>
                      </a:solidFill>
                      <a:prstDash val="solid"/>
                    </a:lnL>
                    <a:lnR w="6350">
                      <a:solidFill>
                        <a:srgbClr val="A3A3A3"/>
                      </a:solidFill>
                      <a:prstDash val="solid"/>
                    </a:lnR>
                    <a:lnT w="6350">
                      <a:solidFill>
                        <a:srgbClr val="A3A3A3"/>
                      </a:solidFill>
                      <a:prstDash val="solid"/>
                    </a:lnT>
                    <a:lnB w="6350">
                      <a:solidFill>
                        <a:srgbClr val="A3A3A3"/>
                      </a:solidFill>
                      <a:prstDash val="soli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5690" y="185318"/>
            <a:ext cx="10800000" cy="640080"/>
          </a:xfrm>
          <a:prstGeom prst="rect">
            <a:avLst/>
          </a:prstGeom>
        </p:spPr>
        <p:txBody>
          <a:bodyPr vert="horz" wrap="square" rtlCol="0" anchor="ctr"/>
          <a:lstStyle/>
          <a:p>
            <a:pPr marL="12700" algn="l">
              <a:lnSpc>
                <a:spcPct val="100000"/>
              </a:lnSpc>
              <a:spcBef>
                <a:spcPts val="100"/>
              </a:spcBef>
            </a:pPr>
            <a:r>
              <a:rPr sz="2800" b="1" dirty="0">
                <a:solidFill>
                  <a:srgbClr val="C00000"/>
                </a:solidFill>
                <a:latin typeface="Calibri"/>
                <a:cs typeface="Calibri"/>
              </a:rPr>
              <a:t>TRY BLOCK</a:t>
            </a:r>
          </a:p>
        </p:txBody>
      </p:sp>
      <p:sp>
        <p:nvSpPr>
          <p:cNvPr id="3" name="object 3"/>
          <p:cNvSpPr txBox="1"/>
          <p:nvPr/>
        </p:nvSpPr>
        <p:spPr>
          <a:xfrm>
            <a:off x="545690" y="793443"/>
            <a:ext cx="11826240" cy="5064125"/>
          </a:xfrm>
          <a:prstGeom prst="rect">
            <a:avLst/>
          </a:prstGeom>
        </p:spPr>
        <p:txBody>
          <a:bodyPr vert="horz" wrap="square" lIns="0" tIns="164465" rIns="0" bIns="0" rtlCol="0">
            <a:normAutofit/>
          </a:bodyPr>
          <a:lstStyle/>
          <a:p>
            <a:pPr marL="216535" indent="-205104">
              <a:lnSpc>
                <a:spcPct val="110000"/>
              </a:lnSpc>
              <a:spcBef>
                <a:spcPts val="0"/>
              </a:spcBef>
              <a:spcAft>
                <a:spcPts val="600"/>
              </a:spcAft>
              <a:buSzPct val="95000"/>
              <a:buFont typeface="Wingdings"/>
              <a:buChar char=""/>
              <a:tabLst>
                <a:tab pos="216535" algn="l"/>
              </a:tabLst>
            </a:pPr>
            <a:r>
              <a:rPr sz="2000" b="1" dirty="0">
                <a:latin typeface="Calibri"/>
                <a:cs typeface="Calibri"/>
              </a:rPr>
              <a:t>If an exception occurs at the particular statement in the try block, the rest of the block code will</a:t>
            </a:r>
          </a:p>
          <a:p>
            <a:pPr marL="15240">
              <a:lnSpc>
                <a:spcPct val="110000"/>
              </a:lnSpc>
              <a:spcBef>
                <a:spcPts val="0"/>
              </a:spcBef>
              <a:spcAft>
                <a:spcPts val="600"/>
              </a:spcAft>
            </a:pPr>
            <a:r>
              <a:rPr sz="2000" b="1" dirty="0">
                <a:latin typeface="Calibri"/>
                <a:cs typeface="Calibri"/>
              </a:rPr>
              <a:t>not execute.</a:t>
            </a:r>
          </a:p>
          <a:p>
            <a:pPr marL="215900" indent="-204470">
              <a:lnSpc>
                <a:spcPct val="110000"/>
              </a:lnSpc>
              <a:spcBef>
                <a:spcPts val="0"/>
              </a:spcBef>
              <a:spcAft>
                <a:spcPts val="600"/>
              </a:spcAft>
              <a:buSzPct val="95000"/>
              <a:buFont typeface="Wingdings"/>
              <a:buChar char=""/>
              <a:tabLst>
                <a:tab pos="215900" algn="l"/>
              </a:tabLst>
            </a:pPr>
            <a:r>
              <a:rPr sz="2000" b="1" dirty="0">
                <a:latin typeface="Calibri"/>
                <a:cs typeface="Calibri"/>
              </a:rPr>
              <a:t>Java try block must be followed by either catch or finally block.</a:t>
            </a:r>
          </a:p>
          <a:p>
            <a:pPr marL="15240" marR="4262755" indent="-4445">
              <a:lnSpc>
                <a:spcPct val="110000"/>
              </a:lnSpc>
              <a:spcBef>
                <a:spcPts val="0"/>
              </a:spcBef>
              <a:spcAft>
                <a:spcPts val="600"/>
              </a:spcAft>
              <a:buSzPct val="95000"/>
              <a:buFont typeface="Wingdings"/>
              <a:buChar char=""/>
              <a:tabLst>
                <a:tab pos="15240" algn="l"/>
                <a:tab pos="215900" algn="l"/>
              </a:tabLst>
            </a:pPr>
            <a:r>
              <a:rPr sz="2000" b="1" dirty="0">
                <a:latin typeface="Calibri"/>
                <a:cs typeface="Calibri"/>
              </a:rPr>
              <a:t> We have to write code in which we are excepting exception Syntax of try block:</a:t>
            </a:r>
          </a:p>
          <a:p>
            <a:pPr marL="15240"/>
            <a:endParaRPr lang="en-IN" sz="1600" dirty="0">
              <a:latin typeface="Courier New"/>
              <a:cs typeface="Courier New"/>
            </a:endParaRPr>
          </a:p>
          <a:p>
            <a:pPr marL="12700">
              <a:lnSpc>
                <a:spcPct val="110000"/>
              </a:lnSpc>
              <a:spcBef>
                <a:spcPts val="0"/>
              </a:spcBef>
              <a:spcAft>
                <a:spcPts val="600"/>
              </a:spcAft>
            </a:pPr>
            <a:r>
              <a:rPr lang="en-US" sz="2000" b="1" dirty="0">
                <a:solidFill>
                  <a:srgbClr val="C00000"/>
                </a:solidFill>
                <a:latin typeface="Calibri"/>
                <a:cs typeface="Calibri"/>
              </a:rPr>
              <a:t>Syntax:</a:t>
            </a:r>
            <a:endParaRPr lang="en-US" sz="2000" dirty="0">
              <a:solidFill>
                <a:srgbClr val="001F5F"/>
              </a:solidFill>
              <a:latin typeface="Calibri"/>
              <a:cs typeface="Calibri"/>
            </a:endParaRPr>
          </a:p>
          <a:p>
            <a:pPr marL="12700"/>
            <a:r>
              <a:rPr lang="en-US" sz="1600" b="1" dirty="0">
                <a:solidFill>
                  <a:srgbClr val="001F5F"/>
                </a:solidFill>
                <a:latin typeface="Courier New"/>
                <a:cs typeface="Courier New"/>
              </a:rPr>
              <a:t>try</a:t>
            </a:r>
          </a:p>
          <a:p>
            <a:pPr marL="12700"/>
            <a:r>
              <a:rPr lang="en-US" sz="1600" b="1" dirty="0">
                <a:solidFill>
                  <a:srgbClr val="001F5F"/>
                </a:solidFill>
                <a:latin typeface="Courier New"/>
                <a:cs typeface="Courier New"/>
              </a:rPr>
              <a:t>{</a:t>
            </a:r>
          </a:p>
          <a:p>
            <a:pPr marL="12700"/>
            <a:r>
              <a:rPr lang="en-US" sz="1600" b="1" dirty="0">
                <a:solidFill>
                  <a:srgbClr val="001F5F"/>
                </a:solidFill>
                <a:latin typeface="Courier New"/>
                <a:cs typeface="Courier New"/>
              </a:rPr>
              <a:t>Statements;</a:t>
            </a:r>
          </a:p>
          <a:p>
            <a:pPr marL="12700"/>
            <a:r>
              <a:rPr lang="en-US" sz="1600" b="1" dirty="0">
                <a:solidFill>
                  <a:srgbClr val="001F5F"/>
                </a:solidFill>
                <a:latin typeface="Courier New"/>
                <a:cs typeface="Courier New"/>
              </a:rPr>
              <a:t>}</a:t>
            </a:r>
          </a:p>
          <a:p>
            <a:pPr marL="12700"/>
            <a:r>
              <a:rPr lang="en-US" sz="1600" b="1" dirty="0">
                <a:solidFill>
                  <a:srgbClr val="001F5F"/>
                </a:solidFill>
                <a:latin typeface="Courier New"/>
                <a:cs typeface="Courier New"/>
              </a:rPr>
              <a:t>catch(</a:t>
            </a:r>
            <a:r>
              <a:rPr lang="en-US" sz="1600" b="1" dirty="0" err="1">
                <a:solidFill>
                  <a:srgbClr val="001F5F"/>
                </a:solidFill>
                <a:latin typeface="Courier New"/>
                <a:cs typeface="Courier New"/>
              </a:rPr>
              <a:t>Exceptionname</a:t>
            </a:r>
            <a:endParaRPr lang="en-US" sz="1600" b="1" dirty="0">
              <a:solidFill>
                <a:srgbClr val="001F5F"/>
              </a:solidFill>
              <a:latin typeface="Courier New"/>
              <a:cs typeface="Courier New"/>
            </a:endParaRPr>
          </a:p>
          <a:p>
            <a:pPr marL="12700"/>
            <a:r>
              <a:rPr lang="en-US" sz="1600" b="1" dirty="0">
                <a:solidFill>
                  <a:srgbClr val="001F5F"/>
                </a:solidFill>
                <a:latin typeface="Courier New"/>
                <a:cs typeface="Courier New"/>
              </a:rPr>
              <a:t>{</a:t>
            </a:r>
          </a:p>
          <a:p>
            <a:pPr marL="12700"/>
            <a:r>
              <a:rPr lang="en-US" sz="1600" b="1" dirty="0">
                <a:solidFill>
                  <a:srgbClr val="001F5F"/>
                </a:solidFill>
                <a:latin typeface="Courier New"/>
                <a:cs typeface="Courier New"/>
              </a:rPr>
              <a:t>Statements;</a:t>
            </a:r>
          </a:p>
          <a:p>
            <a:pPr marL="12700"/>
            <a:r>
              <a:rPr lang="en-US" sz="1600" b="1" dirty="0">
                <a:solidFill>
                  <a:srgbClr val="001F5F"/>
                </a:solidFill>
                <a:latin typeface="Courier New"/>
                <a:cs typeface="Courier New"/>
              </a:rPr>
              <a:t>}</a:t>
            </a:r>
          </a:p>
          <a:p>
            <a:pPr marL="12700"/>
            <a:r>
              <a:rPr lang="en-US" sz="1600" b="1" dirty="0">
                <a:solidFill>
                  <a:srgbClr val="001F5F"/>
                </a:solidFill>
                <a:latin typeface="Courier New"/>
                <a:cs typeface="Courier New"/>
              </a:rPr>
              <a:t>}</a:t>
            </a:r>
          </a:p>
          <a:p>
            <a:pPr marL="15240"/>
            <a:endParaRPr sz="1600" dirty="0">
              <a:latin typeface="Courier New"/>
              <a:cs typeface="Courier New"/>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10800000" cy="640080"/>
          </a:xfrm>
          <a:prstGeom prst="rect">
            <a:avLst/>
          </a:prstGeom>
        </p:spPr>
        <p:txBody>
          <a:bodyPr vert="horz" wrap="square" rtlCol="0" anchor="ctr"/>
          <a:lstStyle/>
          <a:p>
            <a:pPr marL="12700" algn="l">
              <a:lnSpc>
                <a:spcPct val="100000"/>
              </a:lnSpc>
              <a:spcBef>
                <a:spcPts val="100"/>
              </a:spcBef>
            </a:pPr>
            <a:r>
              <a:rPr sz="2800" b="1" dirty="0">
                <a:solidFill>
                  <a:srgbClr val="C00000"/>
                </a:solidFill>
                <a:latin typeface="Calibri"/>
                <a:cs typeface="Calibri"/>
              </a:rPr>
              <a:t>CATCH BLOCK</a:t>
            </a:r>
          </a:p>
        </p:txBody>
      </p:sp>
      <p:sp>
        <p:nvSpPr>
          <p:cNvPr id="3" name="object 3"/>
          <p:cNvSpPr txBox="1"/>
          <p:nvPr/>
        </p:nvSpPr>
        <p:spPr>
          <a:xfrm>
            <a:off x="391622" y="656007"/>
            <a:ext cx="9279255" cy="1142365"/>
          </a:xfrm>
          <a:prstGeom prst="rect">
            <a:avLst/>
          </a:prstGeom>
        </p:spPr>
        <p:txBody>
          <a:bodyPr vert="horz" wrap="square" lIns="0" tIns="140970" rIns="0" bIns="0" rtlCol="0">
            <a:normAutofit fontScale="92500" lnSpcReduction="20000"/>
          </a:bodyPr>
          <a:lstStyle/>
          <a:p>
            <a:pPr marL="176530" indent="-163830">
              <a:lnSpc>
                <a:spcPct val="110000"/>
              </a:lnSpc>
              <a:spcBef>
                <a:spcPts val="0"/>
              </a:spcBef>
              <a:spcAft>
                <a:spcPts val="600"/>
              </a:spcAft>
              <a:buSzPct val="93750"/>
              <a:buFont typeface="Wingdings"/>
              <a:buChar char=""/>
              <a:tabLst>
                <a:tab pos="176530" algn="l"/>
              </a:tabLst>
            </a:pPr>
            <a:r>
              <a:rPr sz="2000" b="1" dirty="0">
                <a:latin typeface="Calibri"/>
                <a:cs typeface="Calibri"/>
              </a:rPr>
              <a:t>What ever the exceptions raised in try block those exceptions will be handle in catch block</a:t>
            </a:r>
            <a:endParaRPr sz="2000" dirty="0">
              <a:latin typeface="Calibri"/>
              <a:cs typeface="Calibri"/>
            </a:endParaRPr>
          </a:p>
          <a:p>
            <a:pPr marL="176530" indent="-163830">
              <a:lnSpc>
                <a:spcPct val="110000"/>
              </a:lnSpc>
              <a:spcBef>
                <a:spcPts val="0"/>
              </a:spcBef>
              <a:spcAft>
                <a:spcPts val="600"/>
              </a:spcAft>
              <a:buSzPct val="93750"/>
              <a:buFont typeface="Wingdings"/>
              <a:buChar char=""/>
              <a:tabLst>
                <a:tab pos="176530" algn="l"/>
              </a:tabLst>
            </a:pPr>
            <a:r>
              <a:rPr sz="2000" b="1" dirty="0">
                <a:latin typeface="Calibri"/>
                <a:cs typeface="Calibri"/>
              </a:rPr>
              <a:t>Without try block we should not write the catch block</a:t>
            </a:r>
            <a:endParaRPr sz="2000" dirty="0">
              <a:latin typeface="Calibri"/>
              <a:cs typeface="Calibri"/>
            </a:endParaRPr>
          </a:p>
          <a:p>
            <a:pPr marL="176530" indent="-163830">
              <a:lnSpc>
                <a:spcPct val="110000"/>
              </a:lnSpc>
              <a:spcBef>
                <a:spcPts val="0"/>
              </a:spcBef>
              <a:spcAft>
                <a:spcPts val="600"/>
              </a:spcAft>
              <a:buSzPct val="93750"/>
              <a:buFont typeface="Wingdings"/>
              <a:buChar char=""/>
              <a:tabLst>
                <a:tab pos="176530" algn="l"/>
              </a:tabLst>
            </a:pPr>
            <a:r>
              <a:rPr sz="2000" b="1" dirty="0">
                <a:latin typeface="Calibri"/>
                <a:cs typeface="Calibri"/>
              </a:rPr>
              <a:t>Without catch block we should not write try block</a:t>
            </a:r>
            <a:endParaRPr sz="2000" dirty="0">
              <a:latin typeface="Calibri"/>
              <a:cs typeface="Calibri"/>
            </a:endParaRPr>
          </a:p>
        </p:txBody>
      </p:sp>
      <p:pic>
        <p:nvPicPr>
          <p:cNvPr id="4" name="object 4"/>
          <p:cNvPicPr/>
          <p:nvPr/>
        </p:nvPicPr>
        <p:blipFill>
          <a:blip r:embed="rId2" cstate="print"/>
          <a:stretch>
            <a:fillRect/>
          </a:stretch>
        </p:blipFill>
        <p:spPr>
          <a:xfrm>
            <a:off x="5348550" y="1798372"/>
            <a:ext cx="6451828" cy="4371608"/>
          </a:xfrm>
          <a:prstGeom prst="rect">
            <a:avLst/>
          </a:prstGeom>
        </p:spPr>
      </p:pic>
      <p:sp>
        <p:nvSpPr>
          <p:cNvPr id="5" name="object 5"/>
          <p:cNvSpPr txBox="1"/>
          <p:nvPr/>
        </p:nvSpPr>
        <p:spPr>
          <a:xfrm>
            <a:off x="391622" y="2945445"/>
            <a:ext cx="3670300" cy="1247140"/>
          </a:xfrm>
          <a:prstGeom prst="rect">
            <a:avLst/>
          </a:prstGeom>
        </p:spPr>
        <p:txBody>
          <a:bodyPr vert="horz" wrap="square" lIns="0" tIns="13970" rIns="0" bIns="0" rtlCol="0">
            <a:normAutofit fontScale="85000" lnSpcReduction="20000"/>
          </a:bodyPr>
          <a:lstStyle/>
          <a:p>
            <a:pPr marL="12700" marR="5080" algn="l">
              <a:lnSpc>
                <a:spcPct val="110000"/>
              </a:lnSpc>
              <a:spcBef>
                <a:spcPts val="0"/>
              </a:spcBef>
              <a:spcAft>
                <a:spcPts val="600"/>
              </a:spcAft>
            </a:pPr>
            <a:r>
              <a:rPr sz="2000" b="1" dirty="0">
                <a:latin typeface="Calibri"/>
                <a:cs typeface="Calibri"/>
              </a:rPr>
              <a:t>The JVM firstly checks whether the exception is handled or not. If exception is not handled, JVM provides a default exception handler that performs the following tasks:</a:t>
            </a:r>
            <a:endParaRPr sz="2000" dirty="0">
              <a:latin typeface="Calibri"/>
              <a:cs typeface="Calibri"/>
            </a:endParaRPr>
          </a:p>
        </p:txBody>
      </p:sp>
      <p:grpSp>
        <p:nvGrpSpPr>
          <p:cNvPr id="6" name="object 6"/>
          <p:cNvGrpSpPr/>
          <p:nvPr/>
        </p:nvGrpSpPr>
        <p:grpSpPr>
          <a:xfrm rot="21061591">
            <a:off x="3944400" y="3486310"/>
            <a:ext cx="1143444" cy="314835"/>
            <a:chOff x="5791200" y="3419855"/>
            <a:chExt cx="1033144" cy="128270"/>
          </a:xfrm>
        </p:grpSpPr>
        <p:pic>
          <p:nvPicPr>
            <p:cNvPr id="7" name="object 7"/>
            <p:cNvPicPr/>
            <p:nvPr/>
          </p:nvPicPr>
          <p:blipFill>
            <a:blip r:embed="rId3" cstate="print"/>
            <a:stretch>
              <a:fillRect/>
            </a:stretch>
          </p:blipFill>
          <p:spPr>
            <a:xfrm>
              <a:off x="6725158" y="3444366"/>
              <a:ext cx="99187" cy="103378"/>
            </a:xfrm>
            <a:prstGeom prst="rect">
              <a:avLst/>
            </a:prstGeom>
          </p:spPr>
        </p:pic>
        <p:sp>
          <p:nvSpPr>
            <p:cNvPr id="8" name="object 8"/>
            <p:cNvSpPr/>
            <p:nvPr/>
          </p:nvSpPr>
          <p:spPr>
            <a:xfrm>
              <a:off x="5791200" y="3419855"/>
              <a:ext cx="1021080" cy="86360"/>
            </a:xfrm>
            <a:custGeom>
              <a:avLst/>
              <a:gdLst/>
              <a:ahLst/>
              <a:cxnLst/>
              <a:rect l="l" t="t" r="r" b="b"/>
              <a:pathLst>
                <a:path w="1021079" h="86360">
                  <a:moveTo>
                    <a:pt x="1020953" y="75438"/>
                  </a:moveTo>
                  <a:lnTo>
                    <a:pt x="997585" y="73660"/>
                  </a:lnTo>
                  <a:lnTo>
                    <a:pt x="1016" y="0"/>
                  </a:lnTo>
                  <a:lnTo>
                    <a:pt x="0" y="12700"/>
                  </a:lnTo>
                  <a:lnTo>
                    <a:pt x="996569" y="86360"/>
                  </a:lnTo>
                  <a:lnTo>
                    <a:pt x="1007999" y="80899"/>
                  </a:lnTo>
                  <a:lnTo>
                    <a:pt x="1017778" y="76073"/>
                  </a:lnTo>
                  <a:lnTo>
                    <a:pt x="1020953" y="76073"/>
                  </a:lnTo>
                  <a:lnTo>
                    <a:pt x="1020953" y="75438"/>
                  </a:lnTo>
                  <a:close/>
                </a:path>
              </a:pathLst>
            </a:custGeom>
            <a:solidFill>
              <a:srgbClr val="000000"/>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10" name="object 10"/>
          <p:cNvSpPr txBox="1"/>
          <p:nvPr/>
        </p:nvSpPr>
        <p:spPr>
          <a:xfrm>
            <a:off x="1568322" y="6586799"/>
            <a:ext cx="3014980" cy="189796"/>
          </a:xfrm>
          <a:prstGeom prst="rect">
            <a:avLst/>
          </a:prstGeom>
        </p:spPr>
        <p:txBody>
          <a:bodyPr vert="horz" wrap="square" lIns="0" tIns="5080" rIns="0" bIns="0" rtlCol="0">
            <a:spAutoFit/>
          </a:bodyPr>
          <a:lstStyle/>
          <a:p>
            <a:pPr marL="12700">
              <a:lnSpc>
                <a:spcPct val="100000"/>
              </a:lnSpc>
              <a:spcBef>
                <a:spcPts val="40"/>
              </a:spcBef>
            </a:pPr>
            <a:r>
              <a:rPr sz="1200" b="1" dirty="0">
                <a:solidFill>
                  <a:srgbClr val="6B7280"/>
                </a:solidFill>
                <a:latin typeface="Calibri"/>
                <a:cs typeface="Calibri"/>
              </a:rPr>
              <a:t>Fig:Internal Working of Java try-catch block</a:t>
            </a:r>
            <a:endParaRPr sz="1200">
              <a:solidFill>
                <a:srgbClr val="6B7280"/>
              </a:solidFill>
              <a:latin typeface="Calibri"/>
              <a:cs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10800000" cy="640080"/>
          </a:xfrm>
          <a:prstGeom prst="rect">
            <a:avLst/>
          </a:prstGeom>
        </p:spPr>
        <p:txBody>
          <a:bodyPr vert="horz" wrap="square" rtlCol="0" anchor="ctr"/>
          <a:lstStyle/>
          <a:p>
            <a:pPr marL="731520" algn="l">
              <a:lnSpc>
                <a:spcPct val="100000"/>
              </a:lnSpc>
              <a:spcBef>
                <a:spcPts val="1305"/>
              </a:spcBef>
            </a:pPr>
            <a:r>
              <a:rPr sz="2800" b="1" dirty="0">
                <a:solidFill>
                  <a:srgbClr val="C00000"/>
                </a:solidFill>
                <a:latin typeface="Calibri"/>
                <a:cs typeface="Calibri"/>
              </a:rPr>
              <a:t>PROBLEM WITHOUT EXCEPTION HANDLING</a:t>
            </a:r>
          </a:p>
        </p:txBody>
      </p:sp>
      <p:sp>
        <p:nvSpPr>
          <p:cNvPr id="3" name="object 3"/>
          <p:cNvSpPr txBox="1"/>
          <p:nvPr/>
        </p:nvSpPr>
        <p:spPr>
          <a:xfrm>
            <a:off x="1219200" y="1120996"/>
            <a:ext cx="8047228" cy="5077672"/>
          </a:xfrm>
          <a:prstGeom prst="rect">
            <a:avLst/>
          </a:prstGeom>
        </p:spPr>
        <p:txBody>
          <a:bodyPr vert="horz" wrap="none" lIns="0" tIns="164465" rIns="0" bIns="0" rtlCol="0">
            <a:normAutofit/>
          </a:bodyPr>
          <a:lstStyle/>
          <a:p>
            <a:pPr marL="12700"/>
            <a:r>
              <a:rPr lang="en-IN" sz="1600" b="1" dirty="0">
                <a:solidFill>
                  <a:srgbClr val="001F5F"/>
                </a:solidFill>
                <a:latin typeface="Courier New"/>
                <a:cs typeface="Courier New"/>
              </a:rPr>
              <a:t>public class </a:t>
            </a:r>
            <a:r>
              <a:rPr lang="en-IN" sz="1600" b="1" dirty="0" err="1">
                <a:solidFill>
                  <a:srgbClr val="001F5F"/>
                </a:solidFill>
                <a:latin typeface="Courier New"/>
                <a:cs typeface="Courier New"/>
              </a:rPr>
              <a:t>WithoutException</a:t>
            </a:r>
            <a:r>
              <a:rPr sz="1600" b="1" dirty="0">
                <a:solidFill>
                  <a:srgbClr val="001F5F"/>
                </a:solidFill>
                <a:latin typeface="Courier New"/>
                <a:cs typeface="Courier New"/>
              </a:rPr>
              <a:t>{</a:t>
            </a:r>
          </a:p>
          <a:p>
            <a:pPr marL="12700"/>
            <a:r>
              <a:rPr sz="1600" b="1" dirty="0">
                <a:solidFill>
                  <a:srgbClr val="001F5F"/>
                </a:solidFill>
                <a:latin typeface="Courier New"/>
                <a:cs typeface="Courier New"/>
              </a:rPr>
              <a:t>public static void main(String args[])</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Scanner sc=new Scanner(System.in);</a:t>
            </a:r>
          </a:p>
          <a:p>
            <a:pPr marL="12700"/>
            <a:r>
              <a:rPr sz="1600" b="1" dirty="0">
                <a:solidFill>
                  <a:srgbClr val="001F5F"/>
                </a:solidFill>
                <a:latin typeface="Courier New"/>
                <a:cs typeface="Courier New"/>
              </a:rPr>
              <a:t>System.out.println("Enter your num number:");</a:t>
            </a:r>
          </a:p>
          <a:p>
            <a:pPr marL="12700" marR="42545"/>
            <a:r>
              <a:rPr sz="1600" b="1" dirty="0">
                <a:solidFill>
                  <a:srgbClr val="001F5F"/>
                </a:solidFill>
                <a:latin typeface="Courier New"/>
                <a:cs typeface="Courier New"/>
              </a:rPr>
              <a:t>int num=sc.nextInt(); </a:t>
            </a:r>
            <a:endParaRPr lang="en-IN" sz="1600" b="1" dirty="0">
              <a:solidFill>
                <a:srgbClr val="001F5F"/>
              </a:solidFill>
              <a:latin typeface="Courier New"/>
              <a:cs typeface="Courier New"/>
            </a:endParaRPr>
          </a:p>
          <a:p>
            <a:pPr marL="12700" marR="42545"/>
            <a:r>
              <a:rPr sz="1600" b="1" dirty="0" err="1">
                <a:solidFill>
                  <a:srgbClr val="001F5F"/>
                </a:solidFill>
                <a:latin typeface="Courier New"/>
                <a:cs typeface="Courier New"/>
              </a:rPr>
              <a:t>System.out.println</a:t>
            </a:r>
            <a:r>
              <a:rPr sz="1600" b="1" dirty="0">
                <a:solidFill>
                  <a:srgbClr val="001F5F"/>
                </a:solidFill>
                <a:latin typeface="Courier New"/>
                <a:cs typeface="Courier New"/>
              </a:rPr>
              <a:t>("Enter your den number:");</a:t>
            </a:r>
          </a:p>
          <a:p>
            <a:pPr marL="12700"/>
            <a:r>
              <a:rPr sz="1600" b="1" dirty="0">
                <a:solidFill>
                  <a:srgbClr val="001F5F"/>
                </a:solidFill>
                <a:latin typeface="Courier New"/>
                <a:cs typeface="Courier New"/>
              </a:rPr>
              <a:t>int den=sc.nextInt();</a:t>
            </a:r>
          </a:p>
          <a:p>
            <a:pPr marL="12700" marR="3038475"/>
            <a:r>
              <a:rPr sz="1600" b="1" dirty="0">
                <a:solidFill>
                  <a:srgbClr val="001F5F"/>
                </a:solidFill>
                <a:latin typeface="Courier New"/>
                <a:cs typeface="Courier New"/>
              </a:rPr>
              <a:t>int a=num/den; </a:t>
            </a:r>
            <a:endParaRPr lang="en-IN" sz="1600" b="1" dirty="0">
              <a:solidFill>
                <a:srgbClr val="001F5F"/>
              </a:solidFill>
              <a:latin typeface="Courier New"/>
              <a:cs typeface="Courier New"/>
            </a:endParaRPr>
          </a:p>
          <a:p>
            <a:pPr marL="12700" marR="3038475"/>
            <a:r>
              <a:rPr sz="1600" b="1" dirty="0" err="1">
                <a:solidFill>
                  <a:srgbClr val="001F5F"/>
                </a:solidFill>
                <a:latin typeface="Courier New"/>
                <a:cs typeface="Courier New"/>
              </a:rPr>
              <a:t>System.out.println</a:t>
            </a:r>
            <a:r>
              <a:rPr sz="1600" b="1" dirty="0">
                <a:solidFill>
                  <a:srgbClr val="001F5F"/>
                </a:solidFill>
                <a:latin typeface="Courier New"/>
                <a:cs typeface="Courier New"/>
              </a:rPr>
              <a:t>(a);</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pic>
        <p:nvPicPr>
          <p:cNvPr id="5" name="object 2">
            <a:extLst>
              <a:ext uri="{FF2B5EF4-FFF2-40B4-BE49-F238E27FC236}">
                <a16:creationId xmlns:a16="http://schemas.microsoft.com/office/drawing/2014/main" id="{75324875-B724-D43C-8C44-896C80C785C5}"/>
              </a:ext>
            </a:extLst>
          </p:cNvPr>
          <p:cNvPicPr/>
          <p:nvPr/>
        </p:nvPicPr>
        <p:blipFill>
          <a:blip r:embed="rId2" cstate="print"/>
          <a:stretch>
            <a:fillRect/>
          </a:stretch>
        </p:blipFill>
        <p:spPr>
          <a:xfrm>
            <a:off x="2743200" y="4572000"/>
            <a:ext cx="9067800" cy="17526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457200" y="228600"/>
            <a:ext cx="10800000" cy="640080"/>
          </a:xfrm>
          <a:prstGeom prst="rect">
            <a:avLst/>
          </a:prstGeom>
        </p:spPr>
        <p:txBody>
          <a:bodyPr vert="horz" wrap="square" rtlCol="0" anchor="ctr"/>
          <a:lstStyle/>
          <a:p>
            <a:pPr algn="l">
              <a:lnSpc>
                <a:spcPct val="100000"/>
              </a:lnSpc>
              <a:spcBef>
                <a:spcPts val="100"/>
              </a:spcBef>
            </a:pPr>
            <a:r>
              <a:rPr sz="2800" dirty="0">
                <a:solidFill>
                  <a:srgbClr val="C00000"/>
                </a:solidFill>
                <a:latin typeface="Calibri"/>
                <a:cs typeface="Calibri"/>
              </a:rPr>
              <a:t>PROBLEM WITH EXCEPTION HANDLING</a:t>
            </a:r>
          </a:p>
        </p:txBody>
      </p:sp>
      <p:sp>
        <p:nvSpPr>
          <p:cNvPr id="2" name="object 2"/>
          <p:cNvSpPr txBox="1"/>
          <p:nvPr/>
        </p:nvSpPr>
        <p:spPr>
          <a:xfrm>
            <a:off x="1371600" y="932794"/>
            <a:ext cx="4086860" cy="3072130"/>
          </a:xfrm>
          <a:prstGeom prst="rect">
            <a:avLst/>
          </a:prstGeom>
        </p:spPr>
        <p:txBody>
          <a:bodyPr vert="horz" wrap="none" lIns="0" tIns="12700" rIns="0" bIns="0" rtlCol="0">
            <a:normAutofit/>
          </a:bodyPr>
          <a:lstStyle/>
          <a:p>
            <a:pPr marL="12700"/>
            <a:r>
              <a:rPr sz="1600" b="1" dirty="0">
                <a:solidFill>
                  <a:srgbClr val="001F5F"/>
                </a:solidFill>
                <a:latin typeface="Courier New"/>
                <a:cs typeface="Courier New"/>
              </a:rPr>
              <a:t>import java.util.*;</a:t>
            </a:r>
          </a:p>
          <a:p>
            <a:pPr marL="12700"/>
            <a:r>
              <a:rPr sz="1600" b="1" dirty="0">
                <a:solidFill>
                  <a:srgbClr val="001F5F"/>
                </a:solidFill>
                <a:latin typeface="Courier New"/>
                <a:cs typeface="Courier New"/>
              </a:rPr>
              <a:t>class WithtrycatchException</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public static void main(String args[])</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Scanner sc=new Scanner(System.in);</a:t>
            </a:r>
          </a:p>
        </p:txBody>
      </p:sp>
      <p:sp>
        <p:nvSpPr>
          <p:cNvPr id="3" name="object 3"/>
          <p:cNvSpPr txBox="1"/>
          <p:nvPr/>
        </p:nvSpPr>
        <p:spPr>
          <a:xfrm>
            <a:off x="1347019" y="2922437"/>
            <a:ext cx="5161280" cy="1318895"/>
          </a:xfrm>
          <a:prstGeom prst="rect">
            <a:avLst/>
          </a:prstGeom>
        </p:spPr>
        <p:txBody>
          <a:bodyPr vert="horz" wrap="none" lIns="0" tIns="12700" rIns="0" bIns="0" rtlCol="0">
            <a:normAutofit/>
          </a:bodyPr>
          <a:lstStyle/>
          <a:p>
            <a:pPr marL="12700"/>
            <a:r>
              <a:rPr sz="1600" b="1" dirty="0">
                <a:solidFill>
                  <a:srgbClr val="001F5F"/>
                </a:solidFill>
                <a:latin typeface="Courier New"/>
                <a:cs typeface="Courier New"/>
              </a:rPr>
              <a:t>int num=sc.nextInt();</a:t>
            </a:r>
          </a:p>
          <a:p>
            <a:pPr marL="12700"/>
            <a:r>
              <a:rPr sz="1600" b="1" dirty="0">
                <a:solidFill>
                  <a:srgbClr val="001F5F"/>
                </a:solidFill>
                <a:latin typeface="Courier New"/>
                <a:cs typeface="Courier New"/>
              </a:rPr>
              <a:t>System.out.println("Enter your den number:");</a:t>
            </a:r>
          </a:p>
          <a:p>
            <a:pPr marL="12700"/>
            <a:r>
              <a:rPr sz="1600" b="1" dirty="0">
                <a:solidFill>
                  <a:srgbClr val="001F5F"/>
                </a:solidFill>
                <a:latin typeface="Courier New"/>
                <a:cs typeface="Courier New"/>
              </a:rPr>
              <a:t>int den=sc.nextInt();</a:t>
            </a:r>
          </a:p>
        </p:txBody>
      </p:sp>
      <p:sp>
        <p:nvSpPr>
          <p:cNvPr id="4" name="object 4"/>
          <p:cNvSpPr txBox="1"/>
          <p:nvPr/>
        </p:nvSpPr>
        <p:spPr>
          <a:xfrm>
            <a:off x="1269715" y="2468859"/>
            <a:ext cx="5434330" cy="654685"/>
          </a:xfrm>
          <a:prstGeom prst="rect">
            <a:avLst/>
          </a:prstGeom>
        </p:spPr>
        <p:txBody>
          <a:bodyPr vert="horz" wrap="none" lIns="0" tIns="52705" rIns="0" bIns="0" rtlCol="0">
            <a:normAutofit/>
          </a:bodyPr>
          <a:lstStyle/>
          <a:p>
            <a:pPr marL="38100"/>
            <a:r>
              <a:rPr sz="1600" b="1" dirty="0">
                <a:solidFill>
                  <a:srgbClr val="001F5F"/>
                </a:solidFill>
                <a:latin typeface="Courier New"/>
                <a:cs typeface="Courier New"/>
              </a:rPr>
              <a:t>System.out.println("Enter your num number:"); </a:t>
            </a:r>
            <a:r>
              <a:rPr sz="1600" b="1" baseline="20061" dirty="0">
                <a:solidFill>
                  <a:srgbClr val="001F5F"/>
                </a:solidFill>
                <a:latin typeface="Courier New"/>
                <a:cs typeface="Courier New"/>
              </a:rPr>
              <a:t>}</a:t>
            </a:r>
          </a:p>
          <a:p>
            <a:pPr marR="30480" algn="r"/>
            <a:r>
              <a:rPr sz="1600" b="1" dirty="0">
                <a:solidFill>
                  <a:srgbClr val="001F5F"/>
                </a:solidFill>
                <a:latin typeface="Courier New"/>
                <a:cs typeface="Courier New"/>
              </a:rPr>
              <a:t>}</a:t>
            </a:r>
          </a:p>
        </p:txBody>
      </p:sp>
      <p:sp>
        <p:nvSpPr>
          <p:cNvPr id="5" name="object 5"/>
          <p:cNvSpPr txBox="1"/>
          <p:nvPr/>
        </p:nvSpPr>
        <p:spPr>
          <a:xfrm>
            <a:off x="1347018" y="3577122"/>
            <a:ext cx="7949381" cy="3341370"/>
          </a:xfrm>
          <a:prstGeom prst="rect">
            <a:avLst/>
          </a:prstGeom>
        </p:spPr>
        <p:txBody>
          <a:bodyPr vert="horz" wrap="none" lIns="0" tIns="153670" rIns="0" bIns="0" rtlCol="0">
            <a:normAutofit/>
          </a:bodyPr>
          <a:lstStyle/>
          <a:p>
            <a:pPr marL="12700"/>
            <a:r>
              <a:rPr sz="1600" b="1" dirty="0">
                <a:solidFill>
                  <a:srgbClr val="001F5F"/>
                </a:solidFill>
                <a:latin typeface="Courier New"/>
                <a:cs typeface="Courier New"/>
              </a:rPr>
              <a:t>try</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int a=num/den;</a:t>
            </a:r>
          </a:p>
          <a:p>
            <a:pPr marL="12700"/>
            <a:r>
              <a:rPr sz="1600" b="1" dirty="0">
                <a:solidFill>
                  <a:srgbClr val="001F5F"/>
                </a:solidFill>
                <a:latin typeface="Courier New"/>
                <a:cs typeface="Courier New"/>
              </a:rPr>
              <a:t>System.out.println(a);</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catch(ArithmeticException e)</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System.out.println("WELCOME TO CATCH");</a:t>
            </a:r>
            <a:endParaRPr lang="en-IN" sz="1600" b="1" dirty="0">
              <a:solidFill>
                <a:srgbClr val="001F5F"/>
              </a:solidFill>
              <a:latin typeface="Courier New"/>
              <a:cs typeface="Courier New"/>
            </a:endParaRPr>
          </a:p>
          <a:p>
            <a:pPr marL="12700"/>
            <a:r>
              <a:rPr lang="en-IN" sz="1600" b="1" dirty="0">
                <a:solidFill>
                  <a:srgbClr val="001F5F"/>
                </a:solidFill>
                <a:latin typeface="Courier New"/>
                <a:cs typeface="Courier New"/>
              </a:rPr>
              <a:t>}</a:t>
            </a:r>
          </a:p>
          <a:p>
            <a:pPr marL="12700"/>
            <a:r>
              <a:rPr lang="en-IN" sz="1600" b="1" dirty="0">
                <a:solidFill>
                  <a:srgbClr val="001F5F"/>
                </a:solidFill>
                <a:latin typeface="Courier New"/>
                <a:cs typeface="Courier New"/>
              </a:rPr>
              <a:t>}</a:t>
            </a:r>
          </a:p>
          <a:p>
            <a:pPr marL="12700"/>
            <a:r>
              <a:rPr lang="en-IN" sz="1600" b="1" dirty="0">
                <a:solidFill>
                  <a:srgbClr val="001F5F"/>
                </a:solidFill>
                <a:latin typeface="Courier New"/>
                <a:cs typeface="Courier New"/>
              </a:rPr>
              <a:t>}</a:t>
            </a:r>
            <a:endParaRPr sz="1600" b="1" dirty="0">
              <a:solidFill>
                <a:srgbClr val="001F5F"/>
              </a:solidFill>
              <a:latin typeface="Courier New"/>
              <a:cs typeface="Courier New"/>
            </a:endParaRPr>
          </a:p>
        </p:txBody>
      </p:sp>
      <p:pic>
        <p:nvPicPr>
          <p:cNvPr id="9" name="object 2">
            <a:extLst>
              <a:ext uri="{FF2B5EF4-FFF2-40B4-BE49-F238E27FC236}">
                <a16:creationId xmlns:a16="http://schemas.microsoft.com/office/drawing/2014/main" id="{7EE609B9-705F-D9E0-DF0D-32966DCCA039}"/>
              </a:ext>
            </a:extLst>
          </p:cNvPr>
          <p:cNvPicPr/>
          <p:nvPr/>
        </p:nvPicPr>
        <p:blipFill>
          <a:blip r:embed="rId2" cstate="print"/>
          <a:stretch>
            <a:fillRect/>
          </a:stretch>
        </p:blipFill>
        <p:spPr>
          <a:xfrm>
            <a:off x="6832608" y="1362456"/>
            <a:ext cx="4424592" cy="480974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854835" y="1005586"/>
            <a:ext cx="4512945" cy="380873"/>
          </a:xfrm>
          <a:prstGeom prst="rect">
            <a:avLst/>
          </a:prstGeom>
        </p:spPr>
        <p:txBody>
          <a:bodyPr vert="horz" wrap="none" lIns="0" tIns="11430" rIns="0" bIns="0" rtlCol="0">
            <a:normAutofit/>
          </a:bodyPr>
          <a:lstStyle/>
          <a:p>
            <a:pPr marL="12700"/>
            <a:r>
              <a:rPr sz="1600" b="1" dirty="0">
                <a:solidFill>
                  <a:srgbClr val="001F5F"/>
                </a:solidFill>
                <a:latin typeface="Courier New"/>
                <a:cs typeface="Courier New"/>
              </a:rPr>
              <a:t>class WithoutboundException</a:t>
            </a:r>
          </a:p>
        </p:txBody>
      </p:sp>
      <p:sp>
        <p:nvSpPr>
          <p:cNvPr id="4" name="object 4"/>
          <p:cNvSpPr txBox="1"/>
          <p:nvPr/>
        </p:nvSpPr>
        <p:spPr>
          <a:xfrm>
            <a:off x="1854835" y="1462277"/>
            <a:ext cx="5410200" cy="4928870"/>
          </a:xfrm>
          <a:prstGeom prst="rect">
            <a:avLst/>
          </a:prstGeom>
        </p:spPr>
        <p:txBody>
          <a:bodyPr vert="horz" wrap="none" lIns="0" tIns="189865" rIns="0" bIns="0" rtlCol="0">
            <a:normAutofit/>
          </a:bodyPr>
          <a:lstStyle/>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public static void main(String args[])</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int a[]=new int[10];</a:t>
            </a:r>
          </a:p>
          <a:p>
            <a:pPr marL="12700"/>
            <a:r>
              <a:rPr sz="1600" b="1" dirty="0">
                <a:solidFill>
                  <a:srgbClr val="001F5F"/>
                </a:solidFill>
                <a:latin typeface="Courier New"/>
                <a:cs typeface="Courier New"/>
              </a:rPr>
              <a:t>a[10]=100;</a:t>
            </a:r>
          </a:p>
          <a:p>
            <a:pPr marL="12700"/>
            <a:r>
              <a:rPr sz="1600" b="1" dirty="0">
                <a:solidFill>
                  <a:srgbClr val="001F5F"/>
                </a:solidFill>
                <a:latin typeface="Courier New"/>
                <a:cs typeface="Courier New"/>
              </a:rPr>
              <a:t>System.out.println(a);</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pic>
        <p:nvPicPr>
          <p:cNvPr id="5" name="object 5"/>
          <p:cNvPicPr/>
          <p:nvPr/>
        </p:nvPicPr>
        <p:blipFill>
          <a:blip r:embed="rId2" cstate="print"/>
          <a:stretch>
            <a:fillRect/>
          </a:stretch>
        </p:blipFill>
        <p:spPr>
          <a:xfrm>
            <a:off x="1825338" y="4222538"/>
            <a:ext cx="4642103" cy="1210056"/>
          </a:xfrm>
          <a:prstGeom prst="rect">
            <a:avLst/>
          </a:prstGeom>
        </p:spPr>
      </p:pic>
      <p:sp>
        <p:nvSpPr>
          <p:cNvPr id="6" name="object 6"/>
          <p:cNvSpPr txBox="1"/>
          <p:nvPr/>
        </p:nvSpPr>
        <p:spPr>
          <a:xfrm>
            <a:off x="1854835" y="466853"/>
            <a:ext cx="7898765" cy="380872"/>
          </a:xfrm>
          <a:prstGeom prst="rect">
            <a:avLst/>
          </a:prstGeom>
        </p:spPr>
        <p:txBody>
          <a:bodyPr vert="horz" wrap="square" lIns="0" tIns="12700" rIns="0" bIns="0" rtlCol="0">
            <a:noAutofit/>
          </a:bodyPr>
          <a:lstStyle/>
          <a:p>
            <a:pPr marL="12700">
              <a:lnSpc>
                <a:spcPct val="120000"/>
              </a:lnSpc>
              <a:spcBef>
                <a:spcPts val="100"/>
              </a:spcBef>
              <a:spcAft>
                <a:spcPts val="600"/>
              </a:spcAft>
            </a:pPr>
            <a:r>
              <a:rPr sz="2400" b="1" dirty="0">
                <a:solidFill>
                  <a:srgbClr val="C00000"/>
                </a:solidFill>
                <a:latin typeface="Calibri"/>
                <a:ea typeface="+mj-ea"/>
                <a:cs typeface="Calibri"/>
              </a:rPr>
              <a:t>PROBLEM WITHOUT EXCEPTION HANDLING</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82572" y="384708"/>
            <a:ext cx="5989828" cy="388722"/>
          </a:xfrm>
          <a:prstGeom prst="rect">
            <a:avLst/>
          </a:prstGeom>
        </p:spPr>
        <p:txBody>
          <a:bodyPr vert="horz" wrap="square" lIns="0" tIns="12700" rIns="0" bIns="0" rtlCol="0">
            <a:noAutofit/>
          </a:bodyPr>
          <a:lstStyle/>
          <a:p>
            <a:pPr marL="12700">
              <a:lnSpc>
                <a:spcPct val="110000"/>
              </a:lnSpc>
              <a:spcBef>
                <a:spcPts val="0"/>
              </a:spcBef>
              <a:spcAft>
                <a:spcPts val="600"/>
              </a:spcAft>
            </a:pPr>
            <a:r>
              <a:rPr sz="2800" b="1" dirty="0">
                <a:solidFill>
                  <a:srgbClr val="C00000"/>
                </a:solidFill>
                <a:latin typeface="Calibri"/>
                <a:cs typeface="Calibri"/>
              </a:rPr>
              <a:t>PROBLEM WITH EXCEPTION HANDLING</a:t>
            </a:r>
            <a:endParaRPr sz="2800" b="1" dirty="0">
              <a:solidFill>
                <a:srgbClr val="001F5F"/>
              </a:solidFill>
              <a:latin typeface="Calibri"/>
              <a:cs typeface="Calibri"/>
            </a:endParaRPr>
          </a:p>
        </p:txBody>
      </p:sp>
      <p:sp>
        <p:nvSpPr>
          <p:cNvPr id="3" name="object 3"/>
          <p:cNvSpPr txBox="1">
            <a:spLocks noGrp="1"/>
          </p:cNvSpPr>
          <p:nvPr>
            <p:ph type="title"/>
          </p:nvPr>
        </p:nvSpPr>
        <p:spPr>
          <a:xfrm>
            <a:off x="1782572" y="773430"/>
            <a:ext cx="3178810" cy="634365"/>
          </a:xfrm>
          <a:prstGeom prst="rect">
            <a:avLst/>
          </a:prstGeom>
        </p:spPr>
        <p:txBody>
          <a:bodyPr vert="horz" wrap="none" lIns="0" tIns="11430" rIns="0" bIns="0" rtlCol="0">
            <a:normAutofit/>
          </a:bodyPr>
          <a:lstStyle/>
          <a:p>
            <a:pPr marL="12700"/>
            <a:r>
              <a:rPr sz="1600" b="1" dirty="0">
                <a:solidFill>
                  <a:srgbClr val="001F5F"/>
                </a:solidFill>
                <a:latin typeface="Courier New"/>
                <a:cs typeface="Courier New"/>
              </a:rPr>
              <a:t>class WithboundException</a:t>
            </a:r>
          </a:p>
          <a:p>
            <a:pPr marL="12700"/>
            <a:r>
              <a:rPr sz="1600" b="1" dirty="0">
                <a:solidFill>
                  <a:srgbClr val="001F5F"/>
                </a:solidFill>
                <a:latin typeface="Courier New"/>
                <a:cs typeface="Courier New"/>
              </a:rPr>
              <a:t>{</a:t>
            </a:r>
          </a:p>
        </p:txBody>
      </p:sp>
      <p:sp>
        <p:nvSpPr>
          <p:cNvPr id="4" name="object 4"/>
          <p:cNvSpPr txBox="1"/>
          <p:nvPr/>
        </p:nvSpPr>
        <p:spPr>
          <a:xfrm>
            <a:off x="1782572" y="1382979"/>
            <a:ext cx="7024370" cy="4293870"/>
          </a:xfrm>
          <a:prstGeom prst="rect">
            <a:avLst/>
          </a:prstGeom>
        </p:spPr>
        <p:txBody>
          <a:bodyPr vert="horz" wrap="none" lIns="0" tIns="12065" rIns="0" bIns="0" rtlCol="0">
            <a:normAutofit/>
          </a:bodyPr>
          <a:lstStyle/>
          <a:p>
            <a:pPr marL="12700"/>
            <a:r>
              <a:rPr sz="1600" b="1" dirty="0">
                <a:solidFill>
                  <a:srgbClr val="001F5F"/>
                </a:solidFill>
                <a:latin typeface="Courier New"/>
                <a:cs typeface="Courier New"/>
              </a:rPr>
              <a:t>public static void main(String args[])</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try</a:t>
            </a:r>
          </a:p>
          <a:p>
            <a:pPr marL="12700"/>
            <a:r>
              <a:rPr sz="1600" b="1" dirty="0">
                <a:solidFill>
                  <a:srgbClr val="001F5F"/>
                </a:solidFill>
                <a:latin typeface="Courier New"/>
                <a:cs typeface="Courier New"/>
              </a:rPr>
              <a:t>{</a:t>
            </a:r>
          </a:p>
          <a:p>
            <a:pPr marL="12700" marR="4607560"/>
            <a:r>
              <a:rPr sz="1600" b="1" dirty="0">
                <a:solidFill>
                  <a:srgbClr val="001F5F"/>
                </a:solidFill>
                <a:latin typeface="Courier New"/>
                <a:cs typeface="Courier New"/>
              </a:rPr>
              <a:t>int a[]=new int[10]; a[10]=100;</a:t>
            </a:r>
          </a:p>
          <a:p>
            <a:pPr marL="12700"/>
            <a:r>
              <a:rPr sz="1600" b="1" dirty="0">
                <a:solidFill>
                  <a:srgbClr val="001F5F"/>
                </a:solidFill>
                <a:latin typeface="Courier New"/>
                <a:cs typeface="Courier New"/>
              </a:rPr>
              <a:t>System.out.println(a);</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catch(ArrayIndexOutOfBoundsException x)</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System.out.println("Welcome to ArrayBound Exception");</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pic>
        <p:nvPicPr>
          <p:cNvPr id="5" name="object 5"/>
          <p:cNvPicPr/>
          <p:nvPr/>
        </p:nvPicPr>
        <p:blipFill>
          <a:blip r:embed="rId2" cstate="print"/>
          <a:stretch>
            <a:fillRect/>
          </a:stretch>
        </p:blipFill>
        <p:spPr>
          <a:xfrm>
            <a:off x="2819400" y="4724400"/>
            <a:ext cx="4629911" cy="1085088"/>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98726" y="817879"/>
            <a:ext cx="3634104" cy="391160"/>
          </a:xfrm>
          <a:prstGeom prst="rect">
            <a:avLst/>
          </a:prstGeom>
        </p:spPr>
        <p:txBody>
          <a:bodyPr vert="horz" wrap="none" lIns="0" tIns="12700" rIns="0" bIns="0" rtlCol="0">
            <a:normAutofit/>
          </a:bodyPr>
          <a:lstStyle/>
          <a:p>
            <a:pPr marL="12700"/>
            <a:r>
              <a:rPr sz="1600" b="1" dirty="0">
                <a:solidFill>
                  <a:srgbClr val="001F5F"/>
                </a:solidFill>
                <a:latin typeface="Courier New"/>
                <a:cs typeface="Courier New"/>
              </a:rPr>
              <a:t>class WithoutNullpointer</a:t>
            </a:r>
          </a:p>
        </p:txBody>
      </p:sp>
      <p:sp>
        <p:nvSpPr>
          <p:cNvPr id="3" name="object 3"/>
          <p:cNvSpPr txBox="1"/>
          <p:nvPr/>
        </p:nvSpPr>
        <p:spPr>
          <a:xfrm>
            <a:off x="1998726" y="1190177"/>
            <a:ext cx="5413375" cy="3840479"/>
          </a:xfrm>
          <a:prstGeom prst="rect">
            <a:avLst/>
          </a:prstGeom>
        </p:spPr>
        <p:txBody>
          <a:bodyPr vert="horz" wrap="none" lIns="0" tIns="189230" rIns="0" bIns="0" rtlCol="0">
            <a:normAutofit/>
          </a:bodyPr>
          <a:lstStyle/>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public static void main(String args[])</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String name=null;</a:t>
            </a:r>
          </a:p>
          <a:p>
            <a:pPr marL="12700"/>
            <a:r>
              <a:rPr sz="1600" b="1" dirty="0">
                <a:solidFill>
                  <a:srgbClr val="001F5F"/>
                </a:solidFill>
                <a:latin typeface="Courier New"/>
                <a:cs typeface="Courier New"/>
              </a:rPr>
              <a:t>System.out.println(name.length());</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sp>
        <p:nvSpPr>
          <p:cNvPr id="4" name="object 4"/>
          <p:cNvSpPr txBox="1"/>
          <p:nvPr/>
        </p:nvSpPr>
        <p:spPr>
          <a:xfrm>
            <a:off x="1983978" y="332010"/>
            <a:ext cx="6779022" cy="734790"/>
          </a:xfrm>
          <a:prstGeom prst="rect">
            <a:avLst/>
          </a:prstGeom>
        </p:spPr>
        <p:txBody>
          <a:bodyPr vert="horz" wrap="square" lIns="0" tIns="12700" rIns="0" bIns="0" rtlCol="0">
            <a:noAutofit/>
          </a:bodyPr>
          <a:lstStyle/>
          <a:p>
            <a:pPr marL="12700">
              <a:lnSpc>
                <a:spcPct val="110000"/>
              </a:lnSpc>
              <a:spcBef>
                <a:spcPts val="0"/>
              </a:spcBef>
              <a:spcAft>
                <a:spcPts val="600"/>
              </a:spcAft>
            </a:pPr>
            <a:r>
              <a:rPr sz="2800" b="1" dirty="0">
                <a:solidFill>
                  <a:srgbClr val="C00000"/>
                </a:solidFill>
                <a:latin typeface="Calibri"/>
                <a:cs typeface="Calibri"/>
              </a:rPr>
              <a:t>PROBLEM WITHOUT EXCEPTION HANDLING</a:t>
            </a:r>
            <a:endParaRPr sz="2800" dirty="0">
              <a:solidFill>
                <a:srgbClr val="001F5F"/>
              </a:solidFill>
              <a:latin typeface="Calibri"/>
              <a:cs typeface="Calibri"/>
            </a:endParaRPr>
          </a:p>
        </p:txBody>
      </p:sp>
      <p:pic>
        <p:nvPicPr>
          <p:cNvPr id="5" name="object 5"/>
          <p:cNvPicPr/>
          <p:nvPr/>
        </p:nvPicPr>
        <p:blipFill>
          <a:blip r:embed="rId2" cstate="print"/>
          <a:stretch>
            <a:fillRect/>
          </a:stretch>
        </p:blipFill>
        <p:spPr>
          <a:xfrm>
            <a:off x="4038600" y="3139913"/>
            <a:ext cx="7211568" cy="1228344"/>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752600" y="166366"/>
            <a:ext cx="6781800" cy="568506"/>
          </a:xfrm>
          <a:prstGeom prst="rect">
            <a:avLst/>
          </a:prstGeom>
        </p:spPr>
        <p:txBody>
          <a:bodyPr vert="horz" wrap="square" lIns="0" tIns="12700" rIns="0" bIns="0" rtlCol="0">
            <a:noAutofit/>
          </a:bodyPr>
          <a:lstStyle/>
          <a:p>
            <a:pPr marL="12700">
              <a:lnSpc>
                <a:spcPct val="110000"/>
              </a:lnSpc>
              <a:spcBef>
                <a:spcPts val="0"/>
              </a:spcBef>
              <a:spcAft>
                <a:spcPts val="600"/>
              </a:spcAft>
            </a:pPr>
            <a:r>
              <a:rPr sz="2800" b="1" dirty="0">
                <a:solidFill>
                  <a:srgbClr val="C00000"/>
                </a:solidFill>
                <a:latin typeface="Calibri"/>
                <a:cs typeface="Calibri"/>
              </a:rPr>
              <a:t>PROBLEM WITH EXCEPTION HANDLING</a:t>
            </a:r>
            <a:endParaRPr sz="2800" dirty="0">
              <a:solidFill>
                <a:srgbClr val="001F5F"/>
              </a:solidFill>
              <a:latin typeface="Calibri"/>
              <a:cs typeface="Calibri"/>
            </a:endParaRPr>
          </a:p>
        </p:txBody>
      </p:sp>
      <p:sp>
        <p:nvSpPr>
          <p:cNvPr id="4" name="object 4"/>
          <p:cNvSpPr txBox="1">
            <a:spLocks noGrp="1"/>
          </p:cNvSpPr>
          <p:nvPr>
            <p:ph type="title"/>
          </p:nvPr>
        </p:nvSpPr>
        <p:spPr>
          <a:xfrm>
            <a:off x="1913890" y="867967"/>
            <a:ext cx="3078480" cy="329565"/>
          </a:xfrm>
          <a:prstGeom prst="rect">
            <a:avLst/>
          </a:prstGeom>
        </p:spPr>
        <p:txBody>
          <a:bodyPr vert="horz" wrap="none" lIns="0" tIns="11430" rIns="0" bIns="0" rtlCol="0">
            <a:normAutofit/>
          </a:bodyPr>
          <a:lstStyle/>
          <a:p>
            <a:pPr marL="12700"/>
            <a:r>
              <a:rPr sz="1600" b="1" dirty="0">
                <a:solidFill>
                  <a:srgbClr val="001F5F"/>
                </a:solidFill>
                <a:latin typeface="Courier New"/>
                <a:cs typeface="Courier New"/>
              </a:rPr>
              <a:t>class WithNullpointerExc</a:t>
            </a:r>
          </a:p>
        </p:txBody>
      </p:sp>
      <p:sp>
        <p:nvSpPr>
          <p:cNvPr id="5" name="object 5"/>
          <p:cNvSpPr txBox="1"/>
          <p:nvPr/>
        </p:nvSpPr>
        <p:spPr>
          <a:xfrm>
            <a:off x="1854835" y="1164279"/>
            <a:ext cx="6924040" cy="5514975"/>
          </a:xfrm>
          <a:prstGeom prst="rect">
            <a:avLst/>
          </a:prstGeom>
        </p:spPr>
        <p:txBody>
          <a:bodyPr vert="horz" wrap="none" lIns="0" tIns="165735" rIns="0" bIns="0" rtlCol="0">
            <a:normAutofit/>
          </a:bodyPr>
          <a:lstStyle/>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public static void main(String args[])</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try</a:t>
            </a:r>
          </a:p>
          <a:p>
            <a:pPr marL="12700"/>
            <a:r>
              <a:rPr sz="1600" b="1" dirty="0">
                <a:solidFill>
                  <a:srgbClr val="001F5F"/>
                </a:solidFill>
                <a:latin typeface="Courier New"/>
                <a:cs typeface="Courier New"/>
              </a:rPr>
              <a:t>{</a:t>
            </a:r>
          </a:p>
          <a:p>
            <a:pPr marL="12700" marR="2702560"/>
            <a:r>
              <a:rPr sz="1600" b="1" dirty="0">
                <a:solidFill>
                  <a:srgbClr val="001F5F"/>
                </a:solidFill>
                <a:latin typeface="Courier New"/>
                <a:cs typeface="Courier New"/>
              </a:rPr>
              <a:t>String name=null; System.out.println(name.length());</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catch(NullPointerException e)</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System.out.println("Welcome to Nullpointer exception");</a:t>
            </a:r>
          </a:p>
          <a:p>
            <a:pPr marL="12700"/>
            <a:r>
              <a:rPr sz="1600" b="1" dirty="0">
                <a:solidFill>
                  <a:srgbClr val="001F5F"/>
                </a:solidFill>
                <a:latin typeface="Courier New"/>
                <a:cs typeface="Courier New"/>
              </a:rPr>
              <a:t>}</a:t>
            </a:r>
          </a:p>
        </p:txBody>
      </p:sp>
      <p:sp>
        <p:nvSpPr>
          <p:cNvPr id="6" name="object 6"/>
          <p:cNvSpPr txBox="1"/>
          <p:nvPr/>
        </p:nvSpPr>
        <p:spPr>
          <a:xfrm>
            <a:off x="1854835" y="6380784"/>
            <a:ext cx="118110" cy="329565"/>
          </a:xfrm>
          <a:prstGeom prst="rect">
            <a:avLst/>
          </a:prstGeom>
        </p:spPr>
        <p:txBody>
          <a:bodyPr vert="horz" wrap="none" lIns="0" tIns="11430" rIns="0" bIns="0" rtlCol="0">
            <a:normAutofit/>
          </a:bodyPr>
          <a:lstStyle/>
          <a:p>
            <a:pPr marL="12700"/>
            <a:r>
              <a:rPr sz="1600" dirty="0">
                <a:solidFill>
                  <a:srgbClr val="001F5F"/>
                </a:solidFill>
                <a:latin typeface="Courier New"/>
                <a:cs typeface="Courier New"/>
              </a:rPr>
              <a:t>}</a:t>
            </a:r>
            <a:endParaRPr sz="1600">
              <a:solidFill>
                <a:srgbClr val="001F5F"/>
              </a:solidFill>
              <a:latin typeface="Courier New"/>
              <a:cs typeface="Courier New"/>
            </a:endParaRPr>
          </a:p>
        </p:txBody>
      </p:sp>
      <p:pic>
        <p:nvPicPr>
          <p:cNvPr id="7" name="object 7"/>
          <p:cNvPicPr/>
          <p:nvPr/>
        </p:nvPicPr>
        <p:blipFill>
          <a:blip r:embed="rId2" cstate="print"/>
          <a:stretch>
            <a:fillRect/>
          </a:stretch>
        </p:blipFill>
        <p:spPr>
          <a:xfrm>
            <a:off x="1832753" y="4419600"/>
            <a:ext cx="4562855" cy="1039368"/>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70861" y="1122933"/>
            <a:ext cx="3508375" cy="329565"/>
          </a:xfrm>
          <a:prstGeom prst="rect">
            <a:avLst/>
          </a:prstGeom>
        </p:spPr>
        <p:txBody>
          <a:bodyPr vert="horz" wrap="none" lIns="0" tIns="11430" rIns="0" bIns="0" rtlCol="0">
            <a:normAutofit/>
          </a:bodyPr>
          <a:lstStyle/>
          <a:p>
            <a:pPr marL="12700"/>
            <a:r>
              <a:rPr sz="1600" b="1" dirty="0">
                <a:solidFill>
                  <a:srgbClr val="001F5F"/>
                </a:solidFill>
                <a:latin typeface="Courier New"/>
                <a:cs typeface="Courier New"/>
              </a:rPr>
              <a:t>class WithoutNumberFormat</a:t>
            </a:r>
          </a:p>
        </p:txBody>
      </p:sp>
      <p:sp>
        <p:nvSpPr>
          <p:cNvPr id="3" name="object 3"/>
          <p:cNvSpPr txBox="1"/>
          <p:nvPr/>
        </p:nvSpPr>
        <p:spPr>
          <a:xfrm>
            <a:off x="2070861" y="1427639"/>
            <a:ext cx="4549775" cy="3684270"/>
          </a:xfrm>
          <a:prstGeom prst="rect">
            <a:avLst/>
          </a:prstGeom>
        </p:spPr>
        <p:txBody>
          <a:bodyPr vert="horz" wrap="none" lIns="0" tIns="164465" rIns="0" bIns="0" rtlCol="0">
            <a:normAutofit/>
          </a:bodyPr>
          <a:lstStyle/>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public static void main(String args[])</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String name="WELCOME TO AIML";</a:t>
            </a:r>
          </a:p>
          <a:p>
            <a:pPr marL="12700"/>
            <a:r>
              <a:rPr sz="1600" b="1" dirty="0">
                <a:solidFill>
                  <a:srgbClr val="001F5F"/>
                </a:solidFill>
                <a:latin typeface="Courier New"/>
                <a:cs typeface="Courier New"/>
              </a:rPr>
              <a:t>int number=Integer.parseInt(name);</a:t>
            </a:r>
          </a:p>
          <a:p>
            <a:pPr marL="12700"/>
            <a:r>
              <a:rPr sz="1600" b="1" dirty="0">
                <a:solidFill>
                  <a:srgbClr val="001F5F"/>
                </a:solidFill>
                <a:latin typeface="Courier New"/>
                <a:cs typeface="Courier New"/>
              </a:rPr>
              <a:t>System.out.println(number);</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sp>
        <p:nvSpPr>
          <p:cNvPr id="4" name="object 4"/>
          <p:cNvSpPr txBox="1"/>
          <p:nvPr/>
        </p:nvSpPr>
        <p:spPr>
          <a:xfrm>
            <a:off x="2075777" y="406050"/>
            <a:ext cx="6611023" cy="604426"/>
          </a:xfrm>
          <a:prstGeom prst="rect">
            <a:avLst/>
          </a:prstGeom>
        </p:spPr>
        <p:txBody>
          <a:bodyPr vert="horz" wrap="square" lIns="0" tIns="12700" rIns="0" bIns="0" rtlCol="0">
            <a:noAutofit/>
          </a:bodyPr>
          <a:lstStyle/>
          <a:p>
            <a:pPr marL="12700">
              <a:lnSpc>
                <a:spcPct val="110000"/>
              </a:lnSpc>
              <a:spcBef>
                <a:spcPts val="0"/>
              </a:spcBef>
              <a:spcAft>
                <a:spcPts val="600"/>
              </a:spcAft>
            </a:pPr>
            <a:r>
              <a:rPr sz="2800" b="1" cap="small" dirty="0">
                <a:solidFill>
                  <a:srgbClr val="C00000"/>
                </a:solidFill>
                <a:latin typeface="Calibri"/>
                <a:cs typeface="Calibri"/>
              </a:rPr>
              <a:t>PROBLEM WITHOUT EXCEPTION HANDLING</a:t>
            </a:r>
            <a:endParaRPr sz="2800" cap="small" dirty="0">
              <a:solidFill>
                <a:srgbClr val="001F5F"/>
              </a:solidFill>
              <a:latin typeface="Calibri"/>
              <a:cs typeface="Calibri"/>
            </a:endParaRPr>
          </a:p>
        </p:txBody>
      </p:sp>
      <p:pic>
        <p:nvPicPr>
          <p:cNvPr id="5" name="object 5"/>
          <p:cNvPicPr/>
          <p:nvPr/>
        </p:nvPicPr>
        <p:blipFill>
          <a:blip r:embed="rId2" cstate="print"/>
          <a:stretch>
            <a:fillRect/>
          </a:stretch>
        </p:blipFill>
        <p:spPr>
          <a:xfrm>
            <a:off x="1685544" y="4038600"/>
            <a:ext cx="8820912" cy="1490472"/>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04566" y="868680"/>
            <a:ext cx="6782434" cy="6240780"/>
          </a:xfrm>
          <a:prstGeom prst="rect">
            <a:avLst/>
          </a:prstGeom>
        </p:spPr>
        <p:txBody>
          <a:bodyPr vert="horz" wrap="none" lIns="0" tIns="153035" rIns="0" bIns="0" rtlCol="0">
            <a:normAutofit/>
          </a:bodyPr>
          <a:lstStyle/>
          <a:p>
            <a:pPr marL="12700"/>
            <a:r>
              <a:rPr sz="1600" b="1" dirty="0">
                <a:solidFill>
                  <a:srgbClr val="001F5F"/>
                </a:solidFill>
                <a:latin typeface="Courier New"/>
                <a:cs typeface="Courier New"/>
              </a:rPr>
              <a:t>class WithNumberFormatExc</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public static void main(String args[])</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try</a:t>
            </a:r>
          </a:p>
          <a:p>
            <a:pPr marL="12700"/>
            <a:r>
              <a:rPr sz="1600" b="1" dirty="0">
                <a:solidFill>
                  <a:srgbClr val="001F5F"/>
                </a:solidFill>
                <a:latin typeface="Courier New"/>
                <a:cs typeface="Courier New"/>
              </a:rPr>
              <a:t>{</a:t>
            </a:r>
          </a:p>
          <a:p>
            <a:pPr marL="12700" marR="2681605"/>
            <a:r>
              <a:rPr sz="1600" b="1" dirty="0">
                <a:solidFill>
                  <a:srgbClr val="001F5F"/>
                </a:solidFill>
                <a:latin typeface="Courier New"/>
                <a:cs typeface="Courier New"/>
              </a:rPr>
              <a:t>String name="WELCOME TO </a:t>
            </a:r>
            <a:r>
              <a:rPr lang="en-IN" sz="1600" b="1" dirty="0">
                <a:solidFill>
                  <a:srgbClr val="001F5F"/>
                </a:solidFill>
                <a:latin typeface="Courier New"/>
                <a:cs typeface="Courier New"/>
              </a:rPr>
              <a:t>RCE</a:t>
            </a:r>
            <a:r>
              <a:rPr sz="1600" b="1" dirty="0">
                <a:solidFill>
                  <a:srgbClr val="001F5F"/>
                </a:solidFill>
                <a:latin typeface="Courier New"/>
                <a:cs typeface="Courier New"/>
              </a:rPr>
              <a:t>"; </a:t>
            </a:r>
            <a:endParaRPr lang="en-IN" sz="1600" b="1" dirty="0">
              <a:solidFill>
                <a:srgbClr val="001F5F"/>
              </a:solidFill>
              <a:latin typeface="Courier New"/>
              <a:cs typeface="Courier New"/>
            </a:endParaRPr>
          </a:p>
          <a:p>
            <a:pPr marL="12700" marR="2681605"/>
            <a:r>
              <a:rPr sz="1600" b="1" dirty="0">
                <a:solidFill>
                  <a:srgbClr val="001F5F"/>
                </a:solidFill>
                <a:latin typeface="Courier New"/>
                <a:cs typeface="Courier New"/>
              </a:rPr>
              <a:t>int ans=Integer.parseInt(name); </a:t>
            </a:r>
            <a:endParaRPr lang="en-IN" sz="1600" b="1" dirty="0">
              <a:solidFill>
                <a:srgbClr val="001F5F"/>
              </a:solidFill>
              <a:latin typeface="Courier New"/>
              <a:cs typeface="Courier New"/>
            </a:endParaRPr>
          </a:p>
          <a:p>
            <a:pPr marL="12700" marR="2681605"/>
            <a:r>
              <a:rPr sz="1600" b="1" dirty="0" err="1">
                <a:solidFill>
                  <a:srgbClr val="001F5F"/>
                </a:solidFill>
                <a:latin typeface="Courier New"/>
                <a:cs typeface="Courier New"/>
              </a:rPr>
              <a:t>System.out.println</a:t>
            </a:r>
            <a:r>
              <a:rPr sz="1600" b="1" dirty="0">
                <a:solidFill>
                  <a:srgbClr val="001F5F"/>
                </a:solidFill>
                <a:latin typeface="Courier New"/>
                <a:cs typeface="Courier New"/>
              </a:rPr>
              <a:t>(ans);</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catch(NumberFormatException z)</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System.out.println("Welcome to Number Format Exception");</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sp>
        <p:nvSpPr>
          <p:cNvPr id="3" name="object 3"/>
          <p:cNvSpPr txBox="1">
            <a:spLocks noGrp="1"/>
          </p:cNvSpPr>
          <p:nvPr>
            <p:ph type="title"/>
          </p:nvPr>
        </p:nvSpPr>
        <p:spPr>
          <a:xfrm>
            <a:off x="838200" y="221226"/>
            <a:ext cx="10800000" cy="640080"/>
          </a:xfrm>
          <a:prstGeom prst="rect">
            <a:avLst/>
          </a:prstGeom>
        </p:spPr>
        <p:txBody>
          <a:bodyPr vert="horz" wrap="square" rtlCol="0" anchor="ctr">
            <a:normAutofit/>
          </a:bodyPr>
          <a:lstStyle/>
          <a:p>
            <a:pPr marL="12700" algn="l">
              <a:lnSpc>
                <a:spcPct val="100000"/>
              </a:lnSpc>
              <a:spcBef>
                <a:spcPts val="100"/>
              </a:spcBef>
            </a:pPr>
            <a:r>
              <a:rPr sz="2800" b="1" dirty="0">
                <a:solidFill>
                  <a:srgbClr val="C00000"/>
                </a:solidFill>
                <a:latin typeface="Calibri"/>
                <a:cs typeface="Calibri"/>
              </a:rPr>
              <a:t>P</a:t>
            </a:r>
            <a:r>
              <a:rPr lang="en-IN" sz="2800" b="1" dirty="0" err="1">
                <a:solidFill>
                  <a:srgbClr val="C00000"/>
                </a:solidFill>
                <a:latin typeface="Calibri"/>
                <a:cs typeface="Calibri"/>
              </a:rPr>
              <a:t>roblem</a:t>
            </a:r>
            <a:r>
              <a:rPr lang="en-IN" sz="2800" b="1" dirty="0">
                <a:solidFill>
                  <a:srgbClr val="C00000"/>
                </a:solidFill>
                <a:latin typeface="Calibri"/>
                <a:cs typeface="Calibri"/>
              </a:rPr>
              <a:t> with Exception Handling</a:t>
            </a:r>
            <a:endParaRPr sz="2800" b="1" dirty="0">
              <a:solidFill>
                <a:srgbClr val="C00000"/>
              </a:solidFill>
              <a:latin typeface="Calibri"/>
              <a:cs typeface="Calibri"/>
            </a:endParaRPr>
          </a:p>
        </p:txBody>
      </p:sp>
      <p:pic>
        <p:nvPicPr>
          <p:cNvPr id="4" name="object 4"/>
          <p:cNvPicPr/>
          <p:nvPr/>
        </p:nvPicPr>
        <p:blipFill>
          <a:blip r:embed="rId2" cstate="print"/>
          <a:stretch>
            <a:fillRect/>
          </a:stretch>
        </p:blipFill>
        <p:spPr>
          <a:xfrm>
            <a:off x="6781800" y="4648200"/>
            <a:ext cx="4745735" cy="1124712"/>
          </a:xfrm>
          <a:prstGeom prst="rect">
            <a:avLst/>
          </a:prstGeom>
        </p:spPr>
      </p:pic>
      <p:sp>
        <p:nvSpPr>
          <p:cNvPr id="7" name="object 7"/>
          <p:cNvSpPr txBox="1"/>
          <p:nvPr/>
        </p:nvSpPr>
        <p:spPr>
          <a:xfrm>
            <a:off x="1710689" y="6587580"/>
            <a:ext cx="109220" cy="344170"/>
          </a:xfrm>
          <a:prstGeom prst="rect">
            <a:avLst/>
          </a:prstGeom>
        </p:spPr>
        <p:txBody>
          <a:bodyPr vert="horz" wrap="none" lIns="0" tIns="35560" rIns="0" bIns="0" rtlCol="0">
            <a:normAutofit/>
          </a:bodyPr>
          <a:lstStyle/>
          <a:p>
            <a:pPr marL="12700"/>
            <a:r>
              <a:rPr sz="1600" dirty="0">
                <a:solidFill>
                  <a:srgbClr val="001F5F"/>
                </a:solidFill>
                <a:latin typeface="Courier New"/>
                <a:cs typeface="Courier New"/>
              </a:rPr>
              <a:t>}</a:t>
            </a:r>
            <a:endParaRPr sz="1600">
              <a:solidFill>
                <a:srgbClr val="001F5F"/>
              </a:solidFill>
              <a:latin typeface="Courier New"/>
              <a:cs typeface="Courier New"/>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2452" y="502920"/>
            <a:ext cx="10800000" cy="640080"/>
          </a:xfrm>
          <a:prstGeom prst="rect">
            <a:avLst/>
          </a:prstGeom>
        </p:spPr>
        <p:txBody>
          <a:bodyPr vert="horz" wrap="square" rtlCol="0" anchor="ctr"/>
          <a:lstStyle/>
          <a:p>
            <a:pPr marL="12700" algn="l">
              <a:lnSpc>
                <a:spcPct val="100000"/>
              </a:lnSpc>
              <a:spcBef>
                <a:spcPts val="110"/>
              </a:spcBef>
            </a:pPr>
            <a:r>
              <a:rPr lang="en-IN" sz="2800" b="1" dirty="0">
                <a:solidFill>
                  <a:srgbClr val="C00000"/>
                </a:solidFill>
                <a:latin typeface="Calibri"/>
                <a:cs typeface="Calibri"/>
              </a:rPr>
              <a:t>Finally Block</a:t>
            </a:r>
            <a:endParaRPr sz="2800" b="1" dirty="0">
              <a:solidFill>
                <a:srgbClr val="C00000"/>
              </a:solidFill>
              <a:latin typeface="Calibri"/>
              <a:cs typeface="Calibri"/>
            </a:endParaRPr>
          </a:p>
        </p:txBody>
      </p:sp>
      <p:sp>
        <p:nvSpPr>
          <p:cNvPr id="3" name="object 3"/>
          <p:cNvSpPr txBox="1"/>
          <p:nvPr/>
        </p:nvSpPr>
        <p:spPr>
          <a:xfrm>
            <a:off x="442452" y="990600"/>
            <a:ext cx="10946765" cy="3052118"/>
          </a:xfrm>
          <a:prstGeom prst="rect">
            <a:avLst/>
          </a:prstGeom>
        </p:spPr>
        <p:txBody>
          <a:bodyPr vert="horz" wrap="square" lIns="0" tIns="12700" rIns="0" bIns="0" rtlCol="0">
            <a:normAutofit/>
          </a:bodyPr>
          <a:lstStyle/>
          <a:p>
            <a:pPr marL="15240" marR="5080" algn="l">
              <a:lnSpc>
                <a:spcPct val="110000"/>
              </a:lnSpc>
              <a:spcBef>
                <a:spcPts val="0"/>
              </a:spcBef>
              <a:spcAft>
                <a:spcPts val="600"/>
              </a:spcAft>
            </a:pPr>
            <a:r>
              <a:rPr sz="1800" b="1" dirty="0">
                <a:latin typeface="Calibri"/>
                <a:cs typeface="Calibri"/>
              </a:rPr>
              <a:t>Java finally block is always executed whether an exception is handled or not. Therefore, it contains all the necessary statements that need to be printed regardless of the exception occurs or not.</a:t>
            </a:r>
          </a:p>
          <a:p>
            <a:pPr marL="240665" indent="-227965">
              <a:lnSpc>
                <a:spcPct val="110000"/>
              </a:lnSpc>
              <a:spcBef>
                <a:spcPts val="0"/>
              </a:spcBef>
              <a:spcAft>
                <a:spcPts val="600"/>
              </a:spcAft>
              <a:buSzPct val="95000"/>
              <a:buFont typeface="Wingdings"/>
              <a:buChar char=""/>
              <a:tabLst>
                <a:tab pos="240665" algn="l"/>
              </a:tabLst>
            </a:pPr>
            <a:r>
              <a:rPr sz="1800" b="1" dirty="0">
                <a:latin typeface="Calibri"/>
                <a:cs typeface="Calibri"/>
              </a:rPr>
              <a:t>The finally block follows the try-catch block.</a:t>
            </a:r>
          </a:p>
          <a:p>
            <a:pPr marL="240029" indent="-226695">
              <a:lnSpc>
                <a:spcPct val="110000"/>
              </a:lnSpc>
              <a:spcBef>
                <a:spcPts val="0"/>
              </a:spcBef>
              <a:spcAft>
                <a:spcPts val="600"/>
              </a:spcAft>
              <a:buSzPct val="95000"/>
              <a:buFont typeface="Wingdings"/>
              <a:buChar char=""/>
              <a:tabLst>
                <a:tab pos="240029" algn="l"/>
              </a:tabLst>
            </a:pPr>
            <a:r>
              <a:rPr sz="1800" b="1" dirty="0">
                <a:latin typeface="Calibri"/>
                <a:cs typeface="Calibri"/>
              </a:rPr>
              <a:t>Java finally block is always executed whether exception is handled or not.</a:t>
            </a:r>
          </a:p>
          <a:p>
            <a:pPr marL="240029" indent="-226695">
              <a:lnSpc>
                <a:spcPct val="110000"/>
              </a:lnSpc>
              <a:spcBef>
                <a:spcPts val="0"/>
              </a:spcBef>
              <a:spcAft>
                <a:spcPts val="600"/>
              </a:spcAft>
              <a:buSzPct val="95000"/>
              <a:buFont typeface="Wingdings"/>
              <a:buChar char=""/>
              <a:tabLst>
                <a:tab pos="240029" algn="l"/>
              </a:tabLst>
            </a:pPr>
            <a:r>
              <a:rPr sz="1800" b="1" dirty="0">
                <a:latin typeface="Calibri"/>
                <a:cs typeface="Calibri"/>
              </a:rPr>
              <a:t>Java finally block must be followed by try or catch block.</a:t>
            </a:r>
          </a:p>
        </p:txBody>
      </p:sp>
      <p:sp>
        <p:nvSpPr>
          <p:cNvPr id="5" name="TextBox 4">
            <a:extLst>
              <a:ext uri="{FF2B5EF4-FFF2-40B4-BE49-F238E27FC236}">
                <a16:creationId xmlns:a16="http://schemas.microsoft.com/office/drawing/2014/main" id="{595767FC-C676-62B8-B957-5CB06AD86A49}"/>
              </a:ext>
            </a:extLst>
          </p:cNvPr>
          <p:cNvSpPr txBox="1"/>
          <p:nvPr/>
        </p:nvSpPr>
        <p:spPr>
          <a:xfrm>
            <a:off x="442452" y="3124200"/>
            <a:ext cx="6096000" cy="3293209"/>
          </a:xfrm>
          <a:prstGeom prst="rect">
            <a:avLst/>
          </a:prstGeom>
          <a:noFill/>
        </p:spPr>
        <p:txBody>
          <a:bodyPr wrap="square">
            <a:spAutoFit/>
          </a:bodyPr>
          <a:lstStyle/>
          <a:p>
            <a:pPr marL="12700"/>
            <a:r>
              <a:rPr lang="en-US" sz="1600" b="1" dirty="0">
                <a:solidFill>
                  <a:srgbClr val="FF0000"/>
                </a:solidFill>
                <a:latin typeface="Courier New"/>
                <a:cs typeface="Courier New"/>
              </a:rPr>
              <a:t>Syntax</a:t>
            </a:r>
          </a:p>
          <a:p>
            <a:pPr marL="12700"/>
            <a:r>
              <a:rPr lang="en-US" sz="1600" b="1" dirty="0">
                <a:solidFill>
                  <a:srgbClr val="001F5F"/>
                </a:solidFill>
                <a:latin typeface="Courier New"/>
                <a:cs typeface="Courier New"/>
              </a:rPr>
              <a:t>try</a:t>
            </a:r>
          </a:p>
          <a:p>
            <a:pPr marL="12700"/>
            <a:r>
              <a:rPr lang="en-US" sz="1600" b="1" dirty="0">
                <a:solidFill>
                  <a:srgbClr val="001F5F"/>
                </a:solidFill>
                <a:latin typeface="Courier New"/>
                <a:cs typeface="Courier New"/>
              </a:rPr>
              <a:t>{</a:t>
            </a:r>
          </a:p>
          <a:p>
            <a:pPr marL="12700"/>
            <a:r>
              <a:rPr lang="en-US" sz="1600" b="1" dirty="0">
                <a:solidFill>
                  <a:srgbClr val="001F5F"/>
                </a:solidFill>
                <a:latin typeface="Courier New"/>
                <a:cs typeface="Courier New"/>
              </a:rPr>
              <a:t>Statements;</a:t>
            </a:r>
          </a:p>
          <a:p>
            <a:pPr marL="12700"/>
            <a:r>
              <a:rPr lang="en-US" sz="1600" b="1" dirty="0">
                <a:solidFill>
                  <a:srgbClr val="001F5F"/>
                </a:solidFill>
                <a:latin typeface="Courier New"/>
                <a:cs typeface="Courier New"/>
              </a:rPr>
              <a:t>}</a:t>
            </a:r>
          </a:p>
          <a:p>
            <a:pPr marL="12700"/>
            <a:r>
              <a:rPr lang="en-US" sz="1600" b="1" dirty="0">
                <a:solidFill>
                  <a:srgbClr val="001F5F"/>
                </a:solidFill>
                <a:latin typeface="Courier New"/>
                <a:cs typeface="Courier New"/>
              </a:rPr>
              <a:t>catch(</a:t>
            </a:r>
            <a:r>
              <a:rPr lang="en-US" sz="1600" b="1" dirty="0" err="1">
                <a:solidFill>
                  <a:srgbClr val="001F5F"/>
                </a:solidFill>
                <a:latin typeface="Courier New"/>
                <a:cs typeface="Courier New"/>
              </a:rPr>
              <a:t>Exceptionname</a:t>
            </a:r>
            <a:endParaRPr lang="en-US" sz="1600" b="1" dirty="0">
              <a:solidFill>
                <a:srgbClr val="001F5F"/>
              </a:solidFill>
              <a:latin typeface="Courier New"/>
              <a:cs typeface="Courier New"/>
            </a:endParaRPr>
          </a:p>
          <a:p>
            <a:pPr marL="12700"/>
            <a:r>
              <a:rPr lang="en-US" sz="1600" b="1" dirty="0">
                <a:solidFill>
                  <a:srgbClr val="001F5F"/>
                </a:solidFill>
                <a:latin typeface="Courier New"/>
                <a:cs typeface="Courier New"/>
              </a:rPr>
              <a:t>{</a:t>
            </a:r>
          </a:p>
          <a:p>
            <a:pPr marL="12700"/>
            <a:r>
              <a:rPr lang="en-US" sz="1600" b="1" dirty="0">
                <a:solidFill>
                  <a:srgbClr val="001F5F"/>
                </a:solidFill>
                <a:latin typeface="Courier New"/>
                <a:cs typeface="Courier New"/>
              </a:rPr>
              <a:t>Statements;</a:t>
            </a:r>
          </a:p>
          <a:p>
            <a:pPr marL="12700"/>
            <a:r>
              <a:rPr lang="en-US" sz="1600" b="1" dirty="0">
                <a:solidFill>
                  <a:srgbClr val="001F5F"/>
                </a:solidFill>
                <a:latin typeface="Courier New"/>
                <a:cs typeface="Courier New"/>
              </a:rPr>
              <a:t>}</a:t>
            </a:r>
          </a:p>
          <a:p>
            <a:pPr marL="12700"/>
            <a:r>
              <a:rPr lang="en-US" sz="1600" b="1" dirty="0">
                <a:solidFill>
                  <a:srgbClr val="001F5F"/>
                </a:solidFill>
                <a:latin typeface="Courier New"/>
                <a:cs typeface="Courier New"/>
              </a:rPr>
              <a:t>finally</a:t>
            </a:r>
          </a:p>
          <a:p>
            <a:pPr marL="12700"/>
            <a:r>
              <a:rPr lang="en-US" sz="1600" b="1" dirty="0">
                <a:solidFill>
                  <a:srgbClr val="001F5F"/>
                </a:solidFill>
                <a:latin typeface="Courier New"/>
                <a:cs typeface="Courier New"/>
              </a:rPr>
              <a:t>{</a:t>
            </a:r>
          </a:p>
          <a:p>
            <a:pPr marL="12700"/>
            <a:r>
              <a:rPr lang="en-US" sz="1600" b="1" dirty="0">
                <a:solidFill>
                  <a:srgbClr val="001F5F"/>
                </a:solidFill>
                <a:latin typeface="Courier New"/>
                <a:cs typeface="Courier New"/>
              </a:rPr>
              <a:t>Statements;</a:t>
            </a:r>
          </a:p>
          <a:p>
            <a:pPr marL="12700"/>
            <a:r>
              <a:rPr lang="en-US" sz="1600" b="1" dirty="0">
                <a:solidFill>
                  <a:srgbClr val="001F5F"/>
                </a:solidFill>
                <a:latin typeface="Courier New"/>
                <a:cs typeface="Courier New"/>
              </a:rPr>
              <a:t>}</a:t>
            </a:r>
          </a:p>
        </p:txBody>
      </p:sp>
      <p:pic>
        <p:nvPicPr>
          <p:cNvPr id="6" name="object 2">
            <a:extLst>
              <a:ext uri="{FF2B5EF4-FFF2-40B4-BE49-F238E27FC236}">
                <a16:creationId xmlns:a16="http://schemas.microsoft.com/office/drawing/2014/main" id="{48F4FBB8-5B5D-CC48-F443-39D6BE6D4E8C}"/>
              </a:ext>
            </a:extLst>
          </p:cNvPr>
          <p:cNvPicPr/>
          <p:nvPr/>
        </p:nvPicPr>
        <p:blipFill>
          <a:blip r:embed="rId2" cstate="print"/>
          <a:stretch>
            <a:fillRect/>
          </a:stretch>
        </p:blipFill>
        <p:spPr>
          <a:xfrm>
            <a:off x="6132871" y="2286000"/>
            <a:ext cx="5562600" cy="43434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0200" y="144043"/>
            <a:ext cx="10800000" cy="640080"/>
          </a:xfrm>
          <a:prstGeom prst="rect">
            <a:avLst/>
          </a:prstGeom>
        </p:spPr>
        <p:txBody>
          <a:bodyPr vert="horz" wrap="square" rtlCol="0" anchor="ctr">
            <a:normAutofit/>
          </a:bodyPr>
          <a:lstStyle/>
          <a:p>
            <a:pPr marL="12700" algn="l">
              <a:lnSpc>
                <a:spcPct val="100000"/>
              </a:lnSpc>
              <a:spcBef>
                <a:spcPts val="95"/>
              </a:spcBef>
            </a:pPr>
            <a:r>
              <a:rPr sz="2000" b="1" dirty="0">
                <a:solidFill>
                  <a:srgbClr val="C00000"/>
                </a:solidFill>
                <a:latin typeface="Calibri"/>
                <a:cs typeface="Calibri"/>
              </a:rPr>
              <a:t>Case 1: When an exception does not occur</a:t>
            </a:r>
          </a:p>
        </p:txBody>
      </p:sp>
      <p:sp>
        <p:nvSpPr>
          <p:cNvPr id="3" name="object 3"/>
          <p:cNvSpPr txBox="1"/>
          <p:nvPr/>
        </p:nvSpPr>
        <p:spPr>
          <a:xfrm>
            <a:off x="1782884" y="762000"/>
            <a:ext cx="6945630" cy="4419600"/>
          </a:xfrm>
          <a:prstGeom prst="rect">
            <a:avLst/>
          </a:prstGeom>
        </p:spPr>
        <p:txBody>
          <a:bodyPr vert="horz" wrap="none" lIns="0" tIns="11430" rIns="0" bIns="0" rtlCol="0">
            <a:normAutofit/>
          </a:bodyPr>
          <a:lstStyle/>
          <a:p>
            <a:pPr marL="12700"/>
            <a:r>
              <a:rPr sz="1600" b="1" dirty="0">
                <a:solidFill>
                  <a:srgbClr val="001F5F"/>
                </a:solidFill>
                <a:latin typeface="Courier New"/>
                <a:cs typeface="Courier New"/>
              </a:rPr>
              <a:t>class WithfinallyException</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public static void main(String args[])</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try</a:t>
            </a:r>
          </a:p>
          <a:p>
            <a:pPr marL="12700"/>
            <a:r>
              <a:rPr sz="1600" b="1" dirty="0">
                <a:solidFill>
                  <a:srgbClr val="001F5F"/>
                </a:solidFill>
                <a:latin typeface="Courier New"/>
                <a:cs typeface="Courier New"/>
              </a:rPr>
              <a:t>{</a:t>
            </a:r>
          </a:p>
          <a:p>
            <a:pPr marL="12700" marR="4221480"/>
            <a:r>
              <a:rPr sz="1600" b="1" dirty="0">
                <a:solidFill>
                  <a:srgbClr val="001F5F"/>
                </a:solidFill>
                <a:latin typeface="Courier New"/>
                <a:cs typeface="Courier New"/>
              </a:rPr>
              <a:t>int a=100/4; System.out.println(a);</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catch(ArithmeticException e)</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System.out.println("Exception Handled by catch block");</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finally</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System.out.println("Finally Reached");</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pic>
        <p:nvPicPr>
          <p:cNvPr id="4" name="object 4"/>
          <p:cNvPicPr/>
          <p:nvPr/>
        </p:nvPicPr>
        <p:blipFill>
          <a:blip r:embed="rId2" cstate="print"/>
          <a:stretch>
            <a:fillRect/>
          </a:stretch>
        </p:blipFill>
        <p:spPr>
          <a:xfrm>
            <a:off x="2438400" y="5176241"/>
            <a:ext cx="4724400" cy="1246632"/>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03375" y="8077"/>
            <a:ext cx="8142605" cy="4944924"/>
          </a:xfrm>
          <a:prstGeom prst="rect">
            <a:avLst/>
          </a:prstGeom>
        </p:spPr>
        <p:txBody>
          <a:bodyPr vert="horz" wrap="none" lIns="0" tIns="12700" rIns="0" bIns="0" rtlCol="0">
            <a:normAutofit lnSpcReduction="10000"/>
          </a:bodyPr>
          <a:lstStyle/>
          <a:p>
            <a:pPr marL="317500">
              <a:lnSpc>
                <a:spcPct val="110000"/>
              </a:lnSpc>
              <a:spcBef>
                <a:spcPts val="0"/>
              </a:spcBef>
              <a:spcAft>
                <a:spcPts val="600"/>
              </a:spcAft>
            </a:pPr>
            <a:r>
              <a:rPr sz="2000" b="1" dirty="0">
                <a:solidFill>
                  <a:srgbClr val="C00000"/>
                </a:solidFill>
                <a:latin typeface="Calibri"/>
                <a:cs typeface="Calibri"/>
              </a:rPr>
              <a:t>Case 2: When an exception occurr but not handled by the catch block</a:t>
            </a:r>
            <a:endParaRPr sz="2000" b="1" dirty="0">
              <a:solidFill>
                <a:srgbClr val="001F5F"/>
              </a:solidFill>
              <a:latin typeface="Calibri"/>
              <a:cs typeface="Calibri"/>
            </a:endParaRPr>
          </a:p>
          <a:p>
            <a:pPr marL="12700"/>
            <a:r>
              <a:rPr sz="1600" b="1" dirty="0">
                <a:solidFill>
                  <a:srgbClr val="001F5F"/>
                </a:solidFill>
                <a:latin typeface="Courier New"/>
                <a:cs typeface="Courier New"/>
              </a:rPr>
              <a:t>class WithoutException</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public static void main(String args[])</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try</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int a=100/0;</a:t>
            </a:r>
          </a:p>
          <a:p>
            <a:pPr marL="12700"/>
            <a:r>
              <a:rPr sz="1600" b="1" dirty="0">
                <a:solidFill>
                  <a:srgbClr val="001F5F"/>
                </a:solidFill>
                <a:latin typeface="Courier New"/>
                <a:cs typeface="Courier New"/>
              </a:rPr>
              <a:t>System.out.println(a);</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catch(NullPointerException e)</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System.out.println("Exception Handled by catch block");</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finally</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System.out.println("Finally Reached");</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pic>
        <p:nvPicPr>
          <p:cNvPr id="3" name="object 3"/>
          <p:cNvPicPr/>
          <p:nvPr/>
        </p:nvPicPr>
        <p:blipFill>
          <a:blip r:embed="rId2" cstate="print"/>
          <a:stretch>
            <a:fillRect/>
          </a:stretch>
        </p:blipFill>
        <p:spPr>
          <a:xfrm>
            <a:off x="2446020" y="4953000"/>
            <a:ext cx="5852160" cy="1517903"/>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77416" y="76996"/>
            <a:ext cx="8491220" cy="5028404"/>
          </a:xfrm>
          <a:prstGeom prst="rect">
            <a:avLst/>
          </a:prstGeom>
        </p:spPr>
        <p:txBody>
          <a:bodyPr vert="horz" wrap="none" lIns="0" tIns="60960" rIns="0" bIns="0" rtlCol="0">
            <a:normAutofit lnSpcReduction="10000"/>
          </a:bodyPr>
          <a:lstStyle/>
          <a:p>
            <a:pPr marL="12700">
              <a:lnSpc>
                <a:spcPct val="110000"/>
              </a:lnSpc>
              <a:spcBef>
                <a:spcPts val="0"/>
              </a:spcBef>
              <a:spcAft>
                <a:spcPts val="600"/>
              </a:spcAft>
            </a:pPr>
            <a:r>
              <a:rPr sz="2000" b="1" dirty="0">
                <a:solidFill>
                  <a:srgbClr val="C00000"/>
                </a:solidFill>
                <a:latin typeface="Calibri"/>
                <a:cs typeface="Calibri"/>
              </a:rPr>
              <a:t>Case 3: When an exception occurs and is handled by the catch block</a:t>
            </a:r>
            <a:endParaRPr sz="2000" dirty="0">
              <a:solidFill>
                <a:srgbClr val="001F5F"/>
              </a:solidFill>
              <a:latin typeface="Calibri"/>
              <a:cs typeface="Calibri"/>
            </a:endParaRPr>
          </a:p>
          <a:p>
            <a:pPr marL="301625"/>
            <a:r>
              <a:rPr sz="1600" b="1" dirty="0">
                <a:solidFill>
                  <a:srgbClr val="001F5F"/>
                </a:solidFill>
                <a:latin typeface="Courier New"/>
                <a:cs typeface="Courier New"/>
              </a:rPr>
              <a:t>class WithfinallyException</a:t>
            </a:r>
          </a:p>
          <a:p>
            <a:pPr marL="301625"/>
            <a:r>
              <a:rPr sz="1600" b="1" dirty="0">
                <a:solidFill>
                  <a:srgbClr val="001F5F"/>
                </a:solidFill>
                <a:latin typeface="Courier New"/>
                <a:cs typeface="Courier New"/>
              </a:rPr>
              <a:t>{</a:t>
            </a:r>
          </a:p>
          <a:p>
            <a:pPr marL="301625"/>
            <a:r>
              <a:rPr sz="1600" b="1" dirty="0">
                <a:solidFill>
                  <a:srgbClr val="001F5F"/>
                </a:solidFill>
                <a:latin typeface="Courier New"/>
                <a:cs typeface="Courier New"/>
              </a:rPr>
              <a:t>public static void main(String args[])</a:t>
            </a:r>
          </a:p>
          <a:p>
            <a:pPr marL="301625"/>
            <a:r>
              <a:rPr sz="1600" b="1" dirty="0">
                <a:solidFill>
                  <a:srgbClr val="001F5F"/>
                </a:solidFill>
                <a:latin typeface="Courier New"/>
                <a:cs typeface="Courier New"/>
              </a:rPr>
              <a:t>{</a:t>
            </a:r>
          </a:p>
          <a:p>
            <a:pPr marL="301625"/>
            <a:r>
              <a:rPr sz="1600" b="1" dirty="0">
                <a:solidFill>
                  <a:srgbClr val="001F5F"/>
                </a:solidFill>
                <a:latin typeface="Courier New"/>
                <a:cs typeface="Courier New"/>
              </a:rPr>
              <a:t>try</a:t>
            </a:r>
          </a:p>
          <a:p>
            <a:pPr marL="301625"/>
            <a:r>
              <a:rPr sz="1600" b="1" dirty="0">
                <a:solidFill>
                  <a:srgbClr val="001F5F"/>
                </a:solidFill>
                <a:latin typeface="Courier New"/>
                <a:cs typeface="Courier New"/>
              </a:rPr>
              <a:t>{</a:t>
            </a:r>
          </a:p>
          <a:p>
            <a:pPr marL="301625"/>
            <a:r>
              <a:rPr sz="1600" b="1" dirty="0">
                <a:solidFill>
                  <a:srgbClr val="001F5F"/>
                </a:solidFill>
                <a:latin typeface="Courier New"/>
                <a:cs typeface="Courier New"/>
              </a:rPr>
              <a:t>int a=100/0;</a:t>
            </a:r>
          </a:p>
          <a:p>
            <a:pPr marL="301625"/>
            <a:r>
              <a:rPr sz="1600" b="1" dirty="0">
                <a:solidFill>
                  <a:srgbClr val="001F5F"/>
                </a:solidFill>
                <a:latin typeface="Courier New"/>
                <a:cs typeface="Courier New"/>
              </a:rPr>
              <a:t>System.out.println(a);</a:t>
            </a:r>
          </a:p>
          <a:p>
            <a:pPr marL="301625"/>
            <a:r>
              <a:rPr sz="1600" b="1" dirty="0">
                <a:solidFill>
                  <a:srgbClr val="001F5F"/>
                </a:solidFill>
                <a:latin typeface="Courier New"/>
                <a:cs typeface="Courier New"/>
              </a:rPr>
              <a:t>}</a:t>
            </a:r>
          </a:p>
          <a:p>
            <a:pPr marL="301625"/>
            <a:r>
              <a:rPr sz="1600" b="1" dirty="0">
                <a:solidFill>
                  <a:srgbClr val="001F5F"/>
                </a:solidFill>
                <a:latin typeface="Courier New"/>
                <a:cs typeface="Courier New"/>
              </a:rPr>
              <a:t>catch(ArithmeticException e)</a:t>
            </a:r>
          </a:p>
          <a:p>
            <a:pPr marL="301625"/>
            <a:r>
              <a:rPr sz="1600" b="1" dirty="0">
                <a:solidFill>
                  <a:srgbClr val="001F5F"/>
                </a:solidFill>
                <a:latin typeface="Courier New"/>
                <a:cs typeface="Courier New"/>
              </a:rPr>
              <a:t>{</a:t>
            </a:r>
          </a:p>
          <a:p>
            <a:pPr marL="301625"/>
            <a:r>
              <a:rPr sz="1600" b="1" dirty="0">
                <a:solidFill>
                  <a:srgbClr val="001F5F"/>
                </a:solidFill>
                <a:latin typeface="Courier New"/>
                <a:cs typeface="Courier New"/>
              </a:rPr>
              <a:t>System.out.println("Exception Handled by catch block");</a:t>
            </a:r>
          </a:p>
          <a:p>
            <a:pPr marL="301625"/>
            <a:r>
              <a:rPr sz="1600" b="1" dirty="0">
                <a:solidFill>
                  <a:srgbClr val="001F5F"/>
                </a:solidFill>
                <a:latin typeface="Courier New"/>
                <a:cs typeface="Courier New"/>
              </a:rPr>
              <a:t>}</a:t>
            </a:r>
          </a:p>
          <a:p>
            <a:pPr marL="301625"/>
            <a:r>
              <a:rPr sz="1600" b="1" dirty="0">
                <a:solidFill>
                  <a:srgbClr val="001F5F"/>
                </a:solidFill>
                <a:latin typeface="Courier New"/>
                <a:cs typeface="Courier New"/>
              </a:rPr>
              <a:t>finally</a:t>
            </a:r>
          </a:p>
          <a:p>
            <a:pPr marL="301625"/>
            <a:r>
              <a:rPr sz="1600" b="1" dirty="0">
                <a:solidFill>
                  <a:srgbClr val="001F5F"/>
                </a:solidFill>
                <a:latin typeface="Courier New"/>
                <a:cs typeface="Courier New"/>
              </a:rPr>
              <a:t>{</a:t>
            </a:r>
          </a:p>
          <a:p>
            <a:pPr marL="301625"/>
            <a:r>
              <a:rPr sz="1600" b="1" dirty="0">
                <a:solidFill>
                  <a:srgbClr val="001F5F"/>
                </a:solidFill>
                <a:latin typeface="Courier New"/>
                <a:cs typeface="Courier New"/>
              </a:rPr>
              <a:t>System.out.println("Finally Reached");</a:t>
            </a:r>
          </a:p>
          <a:p>
            <a:pPr marL="301625"/>
            <a:r>
              <a:rPr sz="1600" b="1" dirty="0">
                <a:solidFill>
                  <a:srgbClr val="001F5F"/>
                </a:solidFill>
                <a:latin typeface="Courier New"/>
                <a:cs typeface="Courier New"/>
              </a:rPr>
              <a:t>}</a:t>
            </a:r>
          </a:p>
          <a:p>
            <a:pPr marL="301625"/>
            <a:r>
              <a:rPr sz="1600" b="1" dirty="0">
                <a:solidFill>
                  <a:srgbClr val="001F5F"/>
                </a:solidFill>
                <a:latin typeface="Courier New"/>
                <a:cs typeface="Courier New"/>
              </a:rPr>
              <a:t>}</a:t>
            </a:r>
          </a:p>
          <a:p>
            <a:pPr marL="301625"/>
            <a:r>
              <a:rPr sz="1600" b="1" dirty="0">
                <a:solidFill>
                  <a:srgbClr val="001F5F"/>
                </a:solidFill>
                <a:latin typeface="Courier New"/>
                <a:cs typeface="Courier New"/>
              </a:rPr>
              <a:t>}</a:t>
            </a:r>
          </a:p>
        </p:txBody>
      </p:sp>
      <p:pic>
        <p:nvPicPr>
          <p:cNvPr id="3" name="object 3"/>
          <p:cNvPicPr/>
          <p:nvPr/>
        </p:nvPicPr>
        <p:blipFill>
          <a:blip r:embed="rId2" cstate="print"/>
          <a:stretch>
            <a:fillRect/>
          </a:stretch>
        </p:blipFill>
        <p:spPr>
          <a:xfrm>
            <a:off x="2023364" y="4953000"/>
            <a:ext cx="4992624" cy="1246632"/>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306906"/>
            <a:ext cx="10800000" cy="640080"/>
          </a:xfrm>
          <a:prstGeom prst="rect">
            <a:avLst/>
          </a:prstGeom>
        </p:spPr>
        <p:txBody>
          <a:bodyPr vert="horz" wrap="square" rtlCol="0" anchor="ctr"/>
          <a:lstStyle/>
          <a:p>
            <a:pPr marL="1416685" algn="l">
              <a:lnSpc>
                <a:spcPct val="100000"/>
              </a:lnSpc>
              <a:spcBef>
                <a:spcPts val="110"/>
              </a:spcBef>
            </a:pPr>
            <a:r>
              <a:rPr sz="2800" b="1" dirty="0">
                <a:solidFill>
                  <a:srgbClr val="C00000"/>
                </a:solidFill>
                <a:latin typeface="Calibri"/>
                <a:cs typeface="Calibri"/>
              </a:rPr>
              <a:t>Throw block</a:t>
            </a:r>
          </a:p>
        </p:txBody>
      </p:sp>
      <p:sp>
        <p:nvSpPr>
          <p:cNvPr id="3" name="object 3"/>
          <p:cNvSpPr txBox="1"/>
          <p:nvPr/>
        </p:nvSpPr>
        <p:spPr>
          <a:xfrm>
            <a:off x="381000" y="1003857"/>
            <a:ext cx="10554970" cy="1397000"/>
          </a:xfrm>
          <a:prstGeom prst="rect">
            <a:avLst/>
          </a:prstGeom>
        </p:spPr>
        <p:txBody>
          <a:bodyPr vert="horz" wrap="square" lIns="0" tIns="164465" rIns="0" bIns="0" rtlCol="0">
            <a:normAutofit/>
          </a:bodyPr>
          <a:lstStyle/>
          <a:p>
            <a:pPr marL="222885" indent="-210185">
              <a:lnSpc>
                <a:spcPct val="110000"/>
              </a:lnSpc>
              <a:spcBef>
                <a:spcPts val="0"/>
              </a:spcBef>
              <a:spcAft>
                <a:spcPts val="600"/>
              </a:spcAft>
              <a:buSzPct val="92500"/>
              <a:buFont typeface="Wingdings"/>
              <a:buChar char=""/>
              <a:tabLst>
                <a:tab pos="222885" algn="l"/>
              </a:tabLst>
            </a:pPr>
            <a:r>
              <a:rPr sz="2000" b="1" dirty="0">
                <a:latin typeface="Calibri"/>
                <a:cs typeface="Calibri"/>
              </a:rPr>
              <a:t>It is used to Throwing our own Exceptions</a:t>
            </a:r>
          </a:p>
          <a:p>
            <a:pPr marL="222250" indent="-209550">
              <a:lnSpc>
                <a:spcPct val="110000"/>
              </a:lnSpc>
              <a:spcBef>
                <a:spcPts val="0"/>
              </a:spcBef>
              <a:spcAft>
                <a:spcPts val="600"/>
              </a:spcAft>
              <a:buSzPct val="92500"/>
              <a:buFont typeface="Wingdings"/>
              <a:buChar char=""/>
              <a:tabLst>
                <a:tab pos="222250" algn="l"/>
              </a:tabLst>
            </a:pPr>
            <a:r>
              <a:rPr sz="2000" b="1" dirty="0">
                <a:latin typeface="Calibri"/>
                <a:cs typeface="Calibri"/>
              </a:rPr>
              <a:t>It is a keyword Used to create an our exception and through it explicitly to catch block</a:t>
            </a:r>
          </a:p>
          <a:p>
            <a:pPr marL="222250" indent="-209550">
              <a:lnSpc>
                <a:spcPct val="110000"/>
              </a:lnSpc>
              <a:spcBef>
                <a:spcPts val="0"/>
              </a:spcBef>
              <a:spcAft>
                <a:spcPts val="600"/>
              </a:spcAft>
              <a:buSzPct val="92500"/>
              <a:buFont typeface="Wingdings"/>
              <a:buChar char=""/>
              <a:tabLst>
                <a:tab pos="222250" algn="l"/>
              </a:tabLst>
            </a:pPr>
            <a:r>
              <a:rPr sz="2000" b="1" dirty="0">
                <a:latin typeface="Calibri"/>
                <a:cs typeface="Calibri"/>
              </a:rPr>
              <a:t>Throw our own exception using throw keyword</a:t>
            </a:r>
          </a:p>
        </p:txBody>
      </p:sp>
      <p:sp>
        <p:nvSpPr>
          <p:cNvPr id="4" name="object 4"/>
          <p:cNvSpPr txBox="1"/>
          <p:nvPr/>
        </p:nvSpPr>
        <p:spPr>
          <a:xfrm>
            <a:off x="482904" y="2312828"/>
            <a:ext cx="5817235" cy="2769235"/>
          </a:xfrm>
          <a:prstGeom prst="rect">
            <a:avLst/>
          </a:prstGeom>
        </p:spPr>
        <p:txBody>
          <a:bodyPr vert="horz" wrap="square" lIns="0" tIns="164465" rIns="0" bIns="0" rtlCol="0">
            <a:normAutofit/>
          </a:bodyPr>
          <a:lstStyle/>
          <a:p>
            <a:pPr marL="216535" indent="-205104">
              <a:lnSpc>
                <a:spcPct val="110000"/>
              </a:lnSpc>
              <a:spcBef>
                <a:spcPts val="0"/>
              </a:spcBef>
              <a:spcAft>
                <a:spcPts val="600"/>
              </a:spcAft>
              <a:buSzPct val="95000"/>
              <a:buFont typeface="Wingdings"/>
              <a:buChar char=""/>
              <a:tabLst>
                <a:tab pos="216535" algn="l"/>
                <a:tab pos="908685" algn="l"/>
                <a:tab pos="1643380" algn="l"/>
                <a:tab pos="2134235" algn="l"/>
                <a:tab pos="3512185" algn="l"/>
                <a:tab pos="4375150" algn="l"/>
              </a:tabLst>
            </a:pPr>
            <a:r>
              <a:rPr sz="2000" b="1" dirty="0">
                <a:latin typeface="Calibri"/>
                <a:cs typeface="Calibri"/>
              </a:rPr>
              <a:t>The flow of execution stops immediately</a:t>
            </a:r>
            <a:endParaRPr sz="2000" dirty="0">
              <a:latin typeface="Calibri"/>
              <a:cs typeface="Calibri"/>
            </a:endParaRPr>
          </a:p>
          <a:p>
            <a:pPr marL="15240">
              <a:lnSpc>
                <a:spcPct val="110000"/>
              </a:lnSpc>
              <a:spcBef>
                <a:spcPts val="0"/>
              </a:spcBef>
              <a:spcAft>
                <a:spcPts val="600"/>
              </a:spcAft>
            </a:pPr>
            <a:r>
              <a:rPr sz="2000" b="1" dirty="0">
                <a:latin typeface="Calibri"/>
                <a:cs typeface="Calibri"/>
              </a:rPr>
              <a:t>subsequence statements are not executed</a:t>
            </a:r>
            <a:endParaRPr sz="2000" dirty="0">
              <a:latin typeface="Calibri"/>
              <a:cs typeface="Calibri"/>
            </a:endParaRPr>
          </a:p>
          <a:p>
            <a:pPr marL="216535" indent="-205104">
              <a:lnSpc>
                <a:spcPct val="110000"/>
              </a:lnSpc>
              <a:spcBef>
                <a:spcPts val="0"/>
              </a:spcBef>
              <a:spcAft>
                <a:spcPts val="600"/>
              </a:spcAft>
              <a:buSzPct val="95000"/>
              <a:buFont typeface="Wingdings"/>
              <a:buChar char=""/>
              <a:tabLst>
                <a:tab pos="216535" algn="l"/>
              </a:tabLst>
            </a:pPr>
            <a:r>
              <a:rPr sz="2000" b="1" dirty="0">
                <a:solidFill>
                  <a:srgbClr val="FF0000"/>
                </a:solidFill>
                <a:latin typeface="Calibri"/>
                <a:cs typeface="Calibri"/>
              </a:rPr>
              <a:t>Syntax</a:t>
            </a:r>
            <a:endParaRPr sz="2000" dirty="0">
              <a:solidFill>
                <a:srgbClr val="FF0000"/>
              </a:solidFill>
              <a:latin typeface="Calibri"/>
              <a:cs typeface="Calibri"/>
            </a:endParaRPr>
          </a:p>
          <a:p>
            <a:pPr marL="472440"/>
            <a:r>
              <a:rPr sz="1600" b="1" dirty="0">
                <a:latin typeface="Courier New"/>
                <a:cs typeface="Courier New"/>
              </a:rPr>
              <a:t>throw new </a:t>
            </a:r>
            <a:r>
              <a:rPr sz="1600" b="1" dirty="0" err="1">
                <a:latin typeface="Courier New"/>
                <a:cs typeface="Courier New"/>
              </a:rPr>
              <a:t>exceptiontype</a:t>
            </a:r>
            <a:r>
              <a:rPr sz="1600" b="1" dirty="0">
                <a:latin typeface="Courier New"/>
                <a:cs typeface="Courier New"/>
              </a:rPr>
              <a:t>();</a:t>
            </a:r>
          </a:p>
        </p:txBody>
      </p:sp>
      <p:sp>
        <p:nvSpPr>
          <p:cNvPr id="5" name="object 5"/>
          <p:cNvSpPr txBox="1"/>
          <p:nvPr/>
        </p:nvSpPr>
        <p:spPr>
          <a:xfrm>
            <a:off x="5100320" y="2514600"/>
            <a:ext cx="5110480" cy="329565"/>
          </a:xfrm>
          <a:prstGeom prst="rect">
            <a:avLst/>
          </a:prstGeom>
        </p:spPr>
        <p:txBody>
          <a:bodyPr vert="horz" wrap="square" lIns="0" tIns="11430" rIns="0" bIns="0" rtlCol="0">
            <a:normAutofit lnSpcReduction="10000"/>
          </a:bodyPr>
          <a:lstStyle/>
          <a:p>
            <a:pPr marL="12700">
              <a:lnSpc>
                <a:spcPct val="110000"/>
              </a:lnSpc>
              <a:spcBef>
                <a:spcPts val="0"/>
              </a:spcBef>
              <a:spcAft>
                <a:spcPts val="600"/>
              </a:spcAft>
              <a:tabLst>
                <a:tab pos="893444" algn="l"/>
                <a:tab pos="1527810" algn="l"/>
                <a:tab pos="2451100" algn="l"/>
                <a:tab pos="4039870" algn="l"/>
                <a:tab pos="4692015" algn="l"/>
              </a:tabLst>
            </a:pPr>
            <a:r>
              <a:rPr sz="2000" b="1" dirty="0">
                <a:latin typeface="Calibri"/>
                <a:cs typeface="Calibri"/>
              </a:rPr>
              <a:t>after the throw statements and any</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7A0512A2-CCB8-66AD-C539-02E45CC7B363}"/>
              </a:ext>
            </a:extLst>
          </p:cNvPr>
          <p:cNvSpPr>
            <a:spLocks noGrp="1"/>
          </p:cNvSpPr>
          <p:nvPr/>
        </p:nvSpPr>
        <p:spPr>
          <a:xfrm>
            <a:off x="582561" y="495300"/>
            <a:ext cx="10382250" cy="571500"/>
          </a:xfrm>
          <a:prstGeom prst="rect">
            <a:avLst/>
          </a:prstGeom>
          <a:noFill/>
          <a:ln w="0">
            <a:noFill/>
          </a:ln>
        </p:spPr>
        <p:txBody>
          <a:bodyPr anchor="ctr">
            <a:normAutofit fontScale="95454"/>
          </a:bodyPr>
          <a:lstStyle/>
          <a:p>
            <a:pPr algn="l">
              <a:defRPr sz="3300" b="1">
                <a:solidFill>
                  <a:srgbClr val="102A56"/>
                </a:solidFill>
                <a:latin typeface="Arial"/>
                <a:ea typeface="Arial"/>
                <a:cs typeface="Arial"/>
              </a:defRPr>
            </a:pPr>
            <a:r>
              <a:rPr sz="3300" b="1" dirty="0">
                <a:solidFill>
                  <a:srgbClr val="FF0000"/>
                </a:solidFill>
                <a:latin typeface="Arial"/>
                <a:ea typeface="Arial"/>
                <a:cs typeface="Arial"/>
              </a:rPr>
              <a:t>The throw statement</a:t>
            </a:r>
          </a:p>
        </p:txBody>
      </p:sp>
      <p:sp>
        <p:nvSpPr>
          <p:cNvPr id="77" name="Rectangle 76">
            <a:extLst>
              <a:ext uri="{FF2B5EF4-FFF2-40B4-BE49-F238E27FC236}">
                <a16:creationId xmlns:a16="http://schemas.microsoft.com/office/drawing/2014/main" id="{7793385E-A1C7-4ABD-727A-94C49414CE7A}"/>
              </a:ext>
            </a:extLst>
          </p:cNvPr>
          <p:cNvSpPr>
            <a:spLocks noGrp="1"/>
          </p:cNvSpPr>
          <p:nvPr/>
        </p:nvSpPr>
        <p:spPr>
          <a:xfrm>
            <a:off x="601611" y="1085850"/>
            <a:ext cx="10477500" cy="342900"/>
          </a:xfrm>
          <a:prstGeom prst="rect">
            <a:avLst/>
          </a:prstGeom>
          <a:noFill/>
          <a:ln w="0">
            <a:noFill/>
          </a:ln>
        </p:spPr>
        <p:txBody>
          <a:bodyPr anchor="ctr">
            <a:normAutofit fontScale="95652"/>
          </a:bodyPr>
          <a:lstStyle/>
          <a:p>
            <a:pPr algn="l">
              <a:defRPr sz="1725" b="0">
                <a:solidFill>
                  <a:srgbClr val="51647C"/>
                </a:solidFill>
                <a:latin typeface="Arial"/>
                <a:ea typeface="Arial"/>
                <a:cs typeface="Arial"/>
              </a:defRPr>
            </a:pPr>
            <a:r>
              <a:rPr sz="1725" b="0">
                <a:solidFill>
                  <a:srgbClr val="51647C"/>
                </a:solidFill>
                <a:latin typeface="Arial"/>
                <a:ea typeface="Arial"/>
                <a:cs typeface="Arial"/>
              </a:rPr>
              <a:t>Use throw to raise an exception at a specific point in your code.</a:t>
            </a:r>
          </a:p>
        </p:txBody>
      </p:sp>
      <p:sp>
        <p:nvSpPr>
          <p:cNvPr id="79" name="Rectangle 78">
            <a:extLst>
              <a:ext uri="{FF2B5EF4-FFF2-40B4-BE49-F238E27FC236}">
                <a16:creationId xmlns:a16="http://schemas.microsoft.com/office/drawing/2014/main" id="{0A243D34-B7A1-FBE1-454F-DB86F3F1F6AE}"/>
              </a:ext>
            </a:extLst>
          </p:cNvPr>
          <p:cNvSpPr>
            <a:spLocks noGrp="1"/>
          </p:cNvSpPr>
          <p:nvPr/>
        </p:nvSpPr>
        <p:spPr>
          <a:xfrm>
            <a:off x="582561" y="1600200"/>
            <a:ext cx="10972800" cy="19050"/>
          </a:xfrm>
          <a:prstGeom prst="rect">
            <a:avLst/>
          </a:prstGeom>
          <a:solidFill>
            <a:srgbClr val="D7E0EA"/>
          </a:solidFill>
          <a:ln w="0">
            <a:noFill/>
          </a:ln>
        </p:spPr>
        <p:txBody>
          <a:bodyPr/>
          <a:lstStyle/>
          <a:p>
            <a:endParaRPr lang="en-IN"/>
          </a:p>
        </p:txBody>
      </p:sp>
      <p:sp>
        <p:nvSpPr>
          <p:cNvPr id="81" name="Rectangle 80">
            <a:extLst>
              <a:ext uri="{FF2B5EF4-FFF2-40B4-BE49-F238E27FC236}">
                <a16:creationId xmlns:a16="http://schemas.microsoft.com/office/drawing/2014/main" id="{DB25503A-B2DD-A846-C7F0-AF04A013FB93}"/>
              </a:ext>
            </a:extLst>
          </p:cNvPr>
          <p:cNvSpPr>
            <a:spLocks noGrp="1"/>
          </p:cNvSpPr>
          <p:nvPr/>
        </p:nvSpPr>
        <p:spPr>
          <a:xfrm>
            <a:off x="620661" y="1828800"/>
            <a:ext cx="2381250" cy="247650"/>
          </a:xfrm>
          <a:prstGeom prst="rect">
            <a:avLst/>
          </a:prstGeom>
          <a:noFill/>
          <a:ln w="0">
            <a:noFill/>
          </a:ln>
        </p:spPr>
        <p:txBody>
          <a:bodyPr anchor="ctr">
            <a:normAutofit fontScale="92917" lnSpcReduction="10000"/>
          </a:bodyPr>
          <a:lstStyle/>
          <a:p>
            <a:pPr algn="l">
              <a:defRPr sz="1200" b="1">
                <a:solidFill>
                  <a:srgbClr val="147D7A"/>
                </a:solidFill>
                <a:latin typeface="Arial"/>
                <a:ea typeface="Arial"/>
                <a:cs typeface="Arial"/>
              </a:defRPr>
            </a:pPr>
            <a:r>
              <a:rPr sz="1200" b="1">
                <a:solidFill>
                  <a:srgbClr val="147D7A"/>
                </a:solidFill>
                <a:latin typeface="Arial"/>
                <a:ea typeface="Arial"/>
                <a:cs typeface="Arial"/>
              </a:rPr>
              <a:t>SYNTAX</a:t>
            </a:r>
          </a:p>
        </p:txBody>
      </p:sp>
      <p:sp>
        <p:nvSpPr>
          <p:cNvPr id="83" name="Rectangle: Rounded Corners 82">
            <a:extLst>
              <a:ext uri="{FF2B5EF4-FFF2-40B4-BE49-F238E27FC236}">
                <a16:creationId xmlns:a16="http://schemas.microsoft.com/office/drawing/2014/main" id="{2DCE0945-CD10-38E8-7804-71ECEFB420C0}"/>
              </a:ext>
            </a:extLst>
          </p:cNvPr>
          <p:cNvSpPr>
            <a:spLocks noGrp="1"/>
          </p:cNvSpPr>
          <p:nvPr/>
        </p:nvSpPr>
        <p:spPr>
          <a:xfrm>
            <a:off x="582561" y="2200275"/>
            <a:ext cx="4933950" cy="971550"/>
          </a:xfrm>
          <a:prstGeom prst="roundRect">
            <a:avLst>
              <a:gd name="adj" fmla="val 7843"/>
            </a:avLst>
          </a:prstGeom>
          <a:solidFill>
            <a:srgbClr val="14243A"/>
          </a:solidFill>
          <a:ln w="0">
            <a:noFill/>
          </a:ln>
        </p:spPr>
        <p:txBody>
          <a:bodyPr/>
          <a:lstStyle/>
          <a:p>
            <a:endParaRPr lang="en-IN"/>
          </a:p>
        </p:txBody>
      </p:sp>
      <p:sp>
        <p:nvSpPr>
          <p:cNvPr id="85" name="Rectangle 84">
            <a:extLst>
              <a:ext uri="{FF2B5EF4-FFF2-40B4-BE49-F238E27FC236}">
                <a16:creationId xmlns:a16="http://schemas.microsoft.com/office/drawing/2014/main" id="{E3BA513E-1F4B-2345-2360-E9A4A437B2E1}"/>
              </a:ext>
            </a:extLst>
          </p:cNvPr>
          <p:cNvSpPr>
            <a:spLocks noGrp="1"/>
          </p:cNvSpPr>
          <p:nvPr/>
        </p:nvSpPr>
        <p:spPr>
          <a:xfrm>
            <a:off x="811161" y="2333625"/>
            <a:ext cx="4476750" cy="723900"/>
          </a:xfrm>
          <a:prstGeom prst="rect">
            <a:avLst/>
          </a:prstGeom>
          <a:noFill/>
          <a:ln w="0">
            <a:noFill/>
          </a:ln>
        </p:spPr>
        <p:txBody>
          <a:bodyPr anchor="ctr">
            <a:normAutofit fontScale="92989"/>
          </a:bodyPr>
          <a:lstStyle/>
          <a:p>
            <a:pPr algn="l">
              <a:defRPr sz="1650" b="0">
                <a:solidFill>
                  <a:srgbClr val="F3F7FC"/>
                </a:solidFill>
                <a:latin typeface="Consolas"/>
                <a:ea typeface="Consolas"/>
                <a:cs typeface="Consolas"/>
              </a:defRPr>
            </a:pPr>
            <a:r>
              <a:rPr sz="1650" b="0">
                <a:solidFill>
                  <a:srgbClr val="F3F7FC"/>
                </a:solidFill>
                <a:latin typeface="Consolas"/>
                <a:ea typeface="Consolas"/>
                <a:cs typeface="Consolas"/>
              </a:rPr>
              <a:t>throw new IllegalArgumentException("Invalid age");</a:t>
            </a:r>
          </a:p>
        </p:txBody>
      </p:sp>
      <p:sp>
        <p:nvSpPr>
          <p:cNvPr id="87" name="Rectangle 86">
            <a:extLst>
              <a:ext uri="{FF2B5EF4-FFF2-40B4-BE49-F238E27FC236}">
                <a16:creationId xmlns:a16="http://schemas.microsoft.com/office/drawing/2014/main" id="{8D4E9DC4-D8A8-3D3C-5F9A-2E3F2EDB8222}"/>
              </a:ext>
            </a:extLst>
          </p:cNvPr>
          <p:cNvSpPr>
            <a:spLocks noGrp="1"/>
          </p:cNvSpPr>
          <p:nvPr/>
        </p:nvSpPr>
        <p:spPr>
          <a:xfrm>
            <a:off x="620661" y="3409950"/>
            <a:ext cx="4476750" cy="323850"/>
          </a:xfrm>
          <a:prstGeom prst="rect">
            <a:avLst/>
          </a:prstGeom>
          <a:noFill/>
          <a:ln w="0">
            <a:noFill/>
          </a:ln>
        </p:spPr>
        <p:txBody>
          <a:bodyPr anchor="ctr">
            <a:normAutofit fontScale="88833" lnSpcReduction="20000"/>
          </a:bodyPr>
          <a:lstStyle/>
          <a:p>
            <a:pPr algn="l">
              <a:defRPr sz="1875" b="1">
                <a:solidFill>
                  <a:srgbClr val="102A56"/>
                </a:solidFill>
                <a:latin typeface="Arial"/>
                <a:ea typeface="Arial"/>
                <a:cs typeface="Arial"/>
              </a:defRPr>
            </a:pPr>
            <a:r>
              <a:rPr sz="1875" b="1">
                <a:solidFill>
                  <a:srgbClr val="102A56"/>
                </a:solidFill>
                <a:latin typeface="Arial"/>
                <a:ea typeface="Arial"/>
                <a:cs typeface="Arial"/>
              </a:rPr>
              <a:t>Read the statement</a:t>
            </a:r>
          </a:p>
        </p:txBody>
      </p:sp>
      <p:sp>
        <p:nvSpPr>
          <p:cNvPr id="89" name="Rectangle 88">
            <a:extLst>
              <a:ext uri="{FF2B5EF4-FFF2-40B4-BE49-F238E27FC236}">
                <a16:creationId xmlns:a16="http://schemas.microsoft.com/office/drawing/2014/main" id="{C0D2AD48-FAF0-869C-AB41-26D1C81C0743}"/>
              </a:ext>
            </a:extLst>
          </p:cNvPr>
          <p:cNvSpPr>
            <a:spLocks noGrp="1"/>
          </p:cNvSpPr>
          <p:nvPr/>
        </p:nvSpPr>
        <p:spPr>
          <a:xfrm>
            <a:off x="620661" y="3895725"/>
            <a:ext cx="1066800" cy="276225"/>
          </a:xfrm>
          <a:prstGeom prst="rect">
            <a:avLst/>
          </a:prstGeom>
          <a:noFill/>
          <a:ln w="0">
            <a:noFill/>
          </a:ln>
        </p:spPr>
        <p:txBody>
          <a:bodyPr anchor="ctr">
            <a:normAutofit fontScale="80985" lnSpcReduction="10000"/>
          </a:bodyPr>
          <a:lstStyle/>
          <a:p>
            <a:pPr algn="l">
              <a:defRPr sz="1650" b="1">
                <a:solidFill>
                  <a:srgbClr val="147D7A"/>
                </a:solidFill>
                <a:latin typeface="Consolas"/>
                <a:ea typeface="Consolas"/>
                <a:cs typeface="Consolas"/>
              </a:defRPr>
            </a:pPr>
            <a:r>
              <a:rPr sz="1650" b="1">
                <a:solidFill>
                  <a:srgbClr val="147D7A"/>
                </a:solidFill>
                <a:latin typeface="Consolas"/>
                <a:ea typeface="Consolas"/>
                <a:cs typeface="Consolas"/>
              </a:rPr>
              <a:t>throw</a:t>
            </a:r>
          </a:p>
        </p:txBody>
      </p:sp>
      <p:sp>
        <p:nvSpPr>
          <p:cNvPr id="91" name="Rectangle 90">
            <a:extLst>
              <a:ext uri="{FF2B5EF4-FFF2-40B4-BE49-F238E27FC236}">
                <a16:creationId xmlns:a16="http://schemas.microsoft.com/office/drawing/2014/main" id="{E58E7C5F-4FAA-3FAD-7B44-D9B362C3848C}"/>
              </a:ext>
            </a:extLst>
          </p:cNvPr>
          <p:cNvSpPr>
            <a:spLocks noGrp="1"/>
          </p:cNvSpPr>
          <p:nvPr/>
        </p:nvSpPr>
        <p:spPr>
          <a:xfrm>
            <a:off x="1668411" y="3895725"/>
            <a:ext cx="3695700" cy="276225"/>
          </a:xfrm>
          <a:prstGeom prst="rect">
            <a:avLst/>
          </a:prstGeom>
          <a:noFill/>
          <a:ln w="0">
            <a:noFill/>
          </a:ln>
        </p:spPr>
        <p:txBody>
          <a:bodyPr anchor="ctr">
            <a:normAutofit fontScale="91984" lnSpcReduction="20000"/>
          </a:bodyPr>
          <a:lstStyle/>
          <a:p>
            <a:pPr algn="l">
              <a:defRPr sz="1575" b="0">
                <a:solidFill>
                  <a:srgbClr val="172B45"/>
                </a:solidFill>
                <a:latin typeface="Arial"/>
                <a:ea typeface="Arial"/>
                <a:cs typeface="Arial"/>
              </a:defRPr>
            </a:pPr>
            <a:r>
              <a:rPr sz="1575" b="0" dirty="0">
                <a:solidFill>
                  <a:srgbClr val="172B45"/>
                </a:solidFill>
                <a:latin typeface="Arial"/>
                <a:ea typeface="Arial"/>
                <a:cs typeface="Arial"/>
              </a:rPr>
              <a:t>starts the throw operation</a:t>
            </a:r>
          </a:p>
        </p:txBody>
      </p:sp>
      <p:sp>
        <p:nvSpPr>
          <p:cNvPr id="93" name="Rectangle 92">
            <a:extLst>
              <a:ext uri="{FF2B5EF4-FFF2-40B4-BE49-F238E27FC236}">
                <a16:creationId xmlns:a16="http://schemas.microsoft.com/office/drawing/2014/main" id="{AA06FC5A-B0A1-FC2F-C3A0-B71D0CFD56CD}"/>
              </a:ext>
            </a:extLst>
          </p:cNvPr>
          <p:cNvSpPr>
            <a:spLocks noGrp="1"/>
          </p:cNvSpPr>
          <p:nvPr/>
        </p:nvSpPr>
        <p:spPr>
          <a:xfrm>
            <a:off x="620661" y="4248150"/>
            <a:ext cx="4714875" cy="9525"/>
          </a:xfrm>
          <a:prstGeom prst="rect">
            <a:avLst/>
          </a:prstGeom>
          <a:solidFill>
            <a:srgbClr val="D7E0EA"/>
          </a:solidFill>
          <a:ln w="0">
            <a:noFill/>
          </a:ln>
        </p:spPr>
        <p:txBody>
          <a:bodyPr/>
          <a:lstStyle/>
          <a:p>
            <a:endParaRPr lang="en-IN"/>
          </a:p>
        </p:txBody>
      </p:sp>
      <p:sp>
        <p:nvSpPr>
          <p:cNvPr id="95" name="Rectangle 94">
            <a:extLst>
              <a:ext uri="{FF2B5EF4-FFF2-40B4-BE49-F238E27FC236}">
                <a16:creationId xmlns:a16="http://schemas.microsoft.com/office/drawing/2014/main" id="{55CAB449-A475-58D9-8448-86EB4A3C117D}"/>
              </a:ext>
            </a:extLst>
          </p:cNvPr>
          <p:cNvSpPr>
            <a:spLocks noGrp="1"/>
          </p:cNvSpPr>
          <p:nvPr/>
        </p:nvSpPr>
        <p:spPr>
          <a:xfrm>
            <a:off x="620661" y="4400550"/>
            <a:ext cx="4667250" cy="285750"/>
          </a:xfrm>
          <a:prstGeom prst="rect">
            <a:avLst/>
          </a:prstGeom>
          <a:noFill/>
          <a:ln w="0">
            <a:noFill/>
          </a:ln>
        </p:spPr>
        <p:txBody>
          <a:bodyPr anchor="ctr">
            <a:normAutofit fontScale="92500" lnSpcReduction="10000"/>
          </a:bodyPr>
          <a:lstStyle/>
          <a:p>
            <a:pPr algn="l">
              <a:defRPr sz="1500" b="1">
                <a:solidFill>
                  <a:srgbClr val="285E91"/>
                </a:solidFill>
                <a:latin typeface="Consolas"/>
                <a:ea typeface="Consolas"/>
                <a:cs typeface="Consolas"/>
              </a:defRPr>
            </a:pPr>
            <a:r>
              <a:rPr sz="1500" b="1">
                <a:solidFill>
                  <a:srgbClr val="285E91"/>
                </a:solidFill>
                <a:latin typeface="Consolas"/>
                <a:ea typeface="Consolas"/>
                <a:cs typeface="Consolas"/>
              </a:rPr>
              <a:t>new IllegalArgumentException(...)</a:t>
            </a:r>
          </a:p>
        </p:txBody>
      </p:sp>
      <p:sp>
        <p:nvSpPr>
          <p:cNvPr id="97" name="Rectangle 96">
            <a:extLst>
              <a:ext uri="{FF2B5EF4-FFF2-40B4-BE49-F238E27FC236}">
                <a16:creationId xmlns:a16="http://schemas.microsoft.com/office/drawing/2014/main" id="{E4A3F6C8-EE73-1241-62B1-7C5C337D4B42}"/>
              </a:ext>
            </a:extLst>
          </p:cNvPr>
          <p:cNvSpPr>
            <a:spLocks noGrp="1"/>
          </p:cNvSpPr>
          <p:nvPr/>
        </p:nvSpPr>
        <p:spPr>
          <a:xfrm>
            <a:off x="620661" y="4743450"/>
            <a:ext cx="4667250" cy="361950"/>
          </a:xfrm>
          <a:prstGeom prst="rect">
            <a:avLst/>
          </a:prstGeom>
          <a:noFill/>
          <a:ln w="0">
            <a:noFill/>
          </a:ln>
        </p:spPr>
        <p:txBody>
          <a:bodyPr anchor="ctr">
            <a:normAutofit/>
          </a:bodyPr>
          <a:lstStyle/>
          <a:p>
            <a:pPr algn="l">
              <a:defRPr sz="1425" b="0">
                <a:solidFill>
                  <a:srgbClr val="51647C"/>
                </a:solidFill>
                <a:latin typeface="Arial"/>
                <a:ea typeface="Arial"/>
                <a:cs typeface="Arial"/>
              </a:defRPr>
            </a:pPr>
            <a:r>
              <a:rPr sz="1425" b="0">
                <a:solidFill>
                  <a:srgbClr val="51647C"/>
                </a:solidFill>
                <a:latin typeface="Arial"/>
                <a:ea typeface="Arial"/>
                <a:cs typeface="Arial"/>
              </a:rPr>
              <a:t>Creates the object; its message adds context.</a:t>
            </a:r>
          </a:p>
        </p:txBody>
      </p:sp>
      <p:sp>
        <p:nvSpPr>
          <p:cNvPr id="99" name="Rectangle 98">
            <a:extLst>
              <a:ext uri="{FF2B5EF4-FFF2-40B4-BE49-F238E27FC236}">
                <a16:creationId xmlns:a16="http://schemas.microsoft.com/office/drawing/2014/main" id="{D1367471-B8B3-2B4E-77D3-A3E2D1A6EB7C}"/>
              </a:ext>
            </a:extLst>
          </p:cNvPr>
          <p:cNvSpPr>
            <a:spLocks noGrp="1"/>
          </p:cNvSpPr>
          <p:nvPr/>
        </p:nvSpPr>
        <p:spPr>
          <a:xfrm>
            <a:off x="6011811" y="1828800"/>
            <a:ext cx="4953000" cy="247650"/>
          </a:xfrm>
          <a:prstGeom prst="rect">
            <a:avLst/>
          </a:prstGeom>
          <a:noFill/>
          <a:ln w="0">
            <a:noFill/>
          </a:ln>
        </p:spPr>
        <p:txBody>
          <a:bodyPr anchor="ctr">
            <a:normAutofit fontScale="92917" lnSpcReduction="10000"/>
          </a:bodyPr>
          <a:lstStyle/>
          <a:p>
            <a:pPr algn="l">
              <a:defRPr sz="1200" b="1">
                <a:solidFill>
                  <a:srgbClr val="147D7A"/>
                </a:solidFill>
                <a:latin typeface="Arial"/>
                <a:ea typeface="Arial"/>
                <a:cs typeface="Arial"/>
              </a:defRPr>
            </a:pPr>
            <a:r>
              <a:rPr sz="1200" b="1">
                <a:solidFill>
                  <a:srgbClr val="147D7A"/>
                </a:solidFill>
                <a:latin typeface="Arial"/>
                <a:ea typeface="Arial"/>
                <a:cs typeface="Arial"/>
              </a:rPr>
              <a:t>EXAMPLE: VALIDATE AGE</a:t>
            </a:r>
          </a:p>
        </p:txBody>
      </p:sp>
      <p:sp>
        <p:nvSpPr>
          <p:cNvPr id="101" name="Rectangle: Rounded Corners 100">
            <a:extLst>
              <a:ext uri="{FF2B5EF4-FFF2-40B4-BE49-F238E27FC236}">
                <a16:creationId xmlns:a16="http://schemas.microsoft.com/office/drawing/2014/main" id="{9159FA55-83B5-3E7E-0BD6-D694FD520E90}"/>
              </a:ext>
            </a:extLst>
          </p:cNvPr>
          <p:cNvSpPr>
            <a:spLocks noGrp="1"/>
          </p:cNvSpPr>
          <p:nvPr/>
        </p:nvSpPr>
        <p:spPr>
          <a:xfrm>
            <a:off x="5973711" y="2200275"/>
            <a:ext cx="5581650" cy="1704975"/>
          </a:xfrm>
          <a:prstGeom prst="roundRect">
            <a:avLst>
              <a:gd name="adj" fmla="val 4469"/>
            </a:avLst>
          </a:prstGeom>
          <a:solidFill>
            <a:srgbClr val="14243A"/>
          </a:solidFill>
          <a:ln w="0">
            <a:noFill/>
          </a:ln>
        </p:spPr>
        <p:txBody>
          <a:bodyPr/>
          <a:lstStyle/>
          <a:p>
            <a:endParaRPr lang="en-IN"/>
          </a:p>
        </p:txBody>
      </p:sp>
      <p:sp>
        <p:nvSpPr>
          <p:cNvPr id="103" name="Rectangle 102">
            <a:extLst>
              <a:ext uri="{FF2B5EF4-FFF2-40B4-BE49-F238E27FC236}">
                <a16:creationId xmlns:a16="http://schemas.microsoft.com/office/drawing/2014/main" id="{C4D4B6BF-40E3-63E5-9CE1-931EC9B24978}"/>
              </a:ext>
            </a:extLst>
          </p:cNvPr>
          <p:cNvSpPr>
            <a:spLocks noGrp="1"/>
          </p:cNvSpPr>
          <p:nvPr/>
        </p:nvSpPr>
        <p:spPr>
          <a:xfrm>
            <a:off x="6202311" y="2343150"/>
            <a:ext cx="5124450" cy="1428750"/>
          </a:xfrm>
          <a:prstGeom prst="rect">
            <a:avLst/>
          </a:prstGeom>
          <a:noFill/>
          <a:ln w="0">
            <a:noFill/>
          </a:ln>
        </p:spPr>
        <p:txBody>
          <a:bodyPr anchor="ctr">
            <a:normAutofit/>
          </a:bodyPr>
          <a:lstStyle/>
          <a:p>
            <a:pPr algn="l">
              <a:defRPr sz="1500" b="0">
                <a:solidFill>
                  <a:srgbClr val="F3F7FC"/>
                </a:solidFill>
                <a:latin typeface="Consolas"/>
                <a:ea typeface="Consolas"/>
                <a:cs typeface="Consolas"/>
              </a:defRPr>
            </a:pPr>
            <a:r>
              <a:rPr sz="1500" b="0">
                <a:solidFill>
                  <a:srgbClr val="F3F7FC"/>
                </a:solidFill>
                <a:latin typeface="Consolas"/>
                <a:ea typeface="Consolas"/>
                <a:cs typeface="Consolas"/>
              </a:rPr>
              <a:t>if (age &lt; 18) {</a:t>
            </a:r>
          </a:p>
          <a:p>
            <a:pPr algn="l">
              <a:defRPr sz="1500" b="0">
                <a:solidFill>
                  <a:srgbClr val="F3F7FC"/>
                </a:solidFill>
                <a:latin typeface="Consolas"/>
                <a:ea typeface="Consolas"/>
                <a:cs typeface="Consolas"/>
              </a:defRPr>
            </a:pPr>
            <a:r>
              <a:rPr sz="1500" b="0">
                <a:solidFill>
                  <a:srgbClr val="F3F7FC"/>
                </a:solidFill>
                <a:latin typeface="Consolas"/>
                <a:ea typeface="Consolas"/>
                <a:cs typeface="Consolas"/>
              </a:rPr>
              <a:t>    throw new IllegalArgumentException(</a:t>
            </a:r>
          </a:p>
          <a:p>
            <a:pPr algn="l">
              <a:defRPr sz="1500" b="0">
                <a:solidFill>
                  <a:srgbClr val="F3F7FC"/>
                </a:solidFill>
                <a:latin typeface="Consolas"/>
                <a:ea typeface="Consolas"/>
                <a:cs typeface="Consolas"/>
              </a:defRPr>
            </a:pPr>
            <a:r>
              <a:rPr sz="1500" b="0">
                <a:solidFill>
                  <a:srgbClr val="F3F7FC"/>
                </a:solidFill>
                <a:latin typeface="Consolas"/>
                <a:ea typeface="Consolas"/>
                <a:cs typeface="Consolas"/>
              </a:rPr>
              <a:t>        "Age must be 18 or older");</a:t>
            </a:r>
          </a:p>
          <a:p>
            <a:pPr algn="l">
              <a:defRPr sz="1500" b="0">
                <a:solidFill>
                  <a:srgbClr val="F3F7FC"/>
                </a:solidFill>
                <a:latin typeface="Consolas"/>
                <a:ea typeface="Consolas"/>
                <a:cs typeface="Consolas"/>
              </a:defRPr>
            </a:pPr>
            <a:r>
              <a:rPr sz="1500" b="0">
                <a:solidFill>
                  <a:srgbClr val="F3F7FC"/>
                </a:solidFill>
                <a:latin typeface="Consolas"/>
                <a:ea typeface="Consolas"/>
                <a:cs typeface="Consolas"/>
              </a:rPr>
              <a:t>}</a:t>
            </a:r>
          </a:p>
        </p:txBody>
      </p:sp>
      <p:sp>
        <p:nvSpPr>
          <p:cNvPr id="105" name="Rectangle 104">
            <a:extLst>
              <a:ext uri="{FF2B5EF4-FFF2-40B4-BE49-F238E27FC236}">
                <a16:creationId xmlns:a16="http://schemas.microsoft.com/office/drawing/2014/main" id="{2CF95481-AA8B-9D92-2115-34A945E88D09}"/>
              </a:ext>
            </a:extLst>
          </p:cNvPr>
          <p:cNvSpPr>
            <a:spLocks noGrp="1"/>
          </p:cNvSpPr>
          <p:nvPr/>
        </p:nvSpPr>
        <p:spPr>
          <a:xfrm>
            <a:off x="6011811" y="4067175"/>
            <a:ext cx="5381625" cy="438150"/>
          </a:xfrm>
          <a:prstGeom prst="rect">
            <a:avLst/>
          </a:prstGeom>
          <a:noFill/>
          <a:ln w="0">
            <a:noFill/>
          </a:ln>
        </p:spPr>
        <p:txBody>
          <a:bodyPr anchor="ctr">
            <a:normAutofit/>
          </a:bodyPr>
          <a:lstStyle/>
          <a:p>
            <a:pPr algn="l">
              <a:defRPr sz="1425" b="1">
                <a:solidFill>
                  <a:srgbClr val="172B45"/>
                </a:solidFill>
                <a:latin typeface="Arial"/>
                <a:ea typeface="Arial"/>
                <a:cs typeface="Arial"/>
              </a:defRPr>
            </a:pPr>
            <a:r>
              <a:rPr sz="1425" b="1">
                <a:solidFill>
                  <a:srgbClr val="172B45"/>
                </a:solidFill>
                <a:latin typeface="Arial"/>
                <a:ea typeface="Arial"/>
                <a:cs typeface="Arial"/>
              </a:rPr>
              <a:t>The condition is true → Java raises the exception.</a:t>
            </a:r>
          </a:p>
        </p:txBody>
      </p:sp>
      <p:sp>
        <p:nvSpPr>
          <p:cNvPr id="107" name="Rectangle 106">
            <a:extLst>
              <a:ext uri="{FF2B5EF4-FFF2-40B4-BE49-F238E27FC236}">
                <a16:creationId xmlns:a16="http://schemas.microsoft.com/office/drawing/2014/main" id="{555E877A-4A82-D2F3-48C6-A66EBA6A173F}"/>
              </a:ext>
            </a:extLst>
          </p:cNvPr>
          <p:cNvSpPr>
            <a:spLocks noGrp="1"/>
          </p:cNvSpPr>
          <p:nvPr/>
        </p:nvSpPr>
        <p:spPr>
          <a:xfrm>
            <a:off x="582561" y="5133975"/>
            <a:ext cx="10972800" cy="19050"/>
          </a:xfrm>
          <a:prstGeom prst="rect">
            <a:avLst/>
          </a:prstGeom>
          <a:solidFill>
            <a:srgbClr val="D7E0EA"/>
          </a:solidFill>
          <a:ln w="0">
            <a:noFill/>
          </a:ln>
        </p:spPr>
        <p:txBody>
          <a:bodyPr/>
          <a:lstStyle/>
          <a:p>
            <a:endParaRPr lang="en-IN"/>
          </a:p>
        </p:txBody>
      </p:sp>
      <p:sp>
        <p:nvSpPr>
          <p:cNvPr id="109" name="Rectangle 108">
            <a:extLst>
              <a:ext uri="{FF2B5EF4-FFF2-40B4-BE49-F238E27FC236}">
                <a16:creationId xmlns:a16="http://schemas.microsoft.com/office/drawing/2014/main" id="{5A9E9A00-0A53-A108-20A6-18F22D51FDC5}"/>
              </a:ext>
            </a:extLst>
          </p:cNvPr>
          <p:cNvSpPr>
            <a:spLocks noGrp="1"/>
          </p:cNvSpPr>
          <p:nvPr/>
        </p:nvSpPr>
        <p:spPr>
          <a:xfrm>
            <a:off x="620661" y="5286375"/>
            <a:ext cx="3333750" cy="257175"/>
          </a:xfrm>
          <a:prstGeom prst="rect">
            <a:avLst/>
          </a:prstGeom>
          <a:noFill/>
          <a:ln w="0">
            <a:noFill/>
          </a:ln>
        </p:spPr>
        <p:txBody>
          <a:bodyPr anchor="ctr">
            <a:normAutofit fontScale="90625" lnSpcReduction="10000"/>
          </a:bodyPr>
          <a:lstStyle/>
          <a:p>
            <a:pPr algn="l">
              <a:defRPr sz="1200" b="1">
                <a:solidFill>
                  <a:srgbClr val="147D7A"/>
                </a:solidFill>
                <a:latin typeface="Arial"/>
                <a:ea typeface="Arial"/>
                <a:cs typeface="Arial"/>
              </a:defRPr>
            </a:pPr>
            <a:r>
              <a:rPr sz="1200" b="1">
                <a:solidFill>
                  <a:srgbClr val="147D7A"/>
                </a:solidFill>
                <a:latin typeface="Arial"/>
                <a:ea typeface="Arial"/>
                <a:cs typeface="Arial"/>
              </a:rPr>
              <a:t>WHAT HAPPENS NEXT?</a:t>
            </a:r>
          </a:p>
        </p:txBody>
      </p:sp>
      <p:sp>
        <p:nvSpPr>
          <p:cNvPr id="111" name="Oval 110">
            <a:extLst>
              <a:ext uri="{FF2B5EF4-FFF2-40B4-BE49-F238E27FC236}">
                <a16:creationId xmlns:a16="http://schemas.microsoft.com/office/drawing/2014/main" id="{66E8B0D6-C65C-2612-8681-C137CA9C7B0C}"/>
              </a:ext>
            </a:extLst>
          </p:cNvPr>
          <p:cNvSpPr>
            <a:spLocks noGrp="1"/>
          </p:cNvSpPr>
          <p:nvPr/>
        </p:nvSpPr>
        <p:spPr>
          <a:xfrm>
            <a:off x="620661" y="5629275"/>
            <a:ext cx="323850" cy="323850"/>
          </a:xfrm>
          <a:prstGeom prst="ellipse">
            <a:avLst/>
          </a:prstGeom>
          <a:solidFill>
            <a:srgbClr val="102A56"/>
          </a:solidFill>
          <a:ln w="0">
            <a:noFill/>
          </a:ln>
        </p:spPr>
        <p:txBody>
          <a:bodyPr/>
          <a:lstStyle/>
          <a:p>
            <a:endParaRPr lang="en-IN"/>
          </a:p>
        </p:txBody>
      </p:sp>
      <p:sp>
        <p:nvSpPr>
          <p:cNvPr id="113" name="Rectangle 112">
            <a:extLst>
              <a:ext uri="{FF2B5EF4-FFF2-40B4-BE49-F238E27FC236}">
                <a16:creationId xmlns:a16="http://schemas.microsoft.com/office/drawing/2014/main" id="{67B9CBDF-2A05-CB21-4F42-0F7E0AC815AC}"/>
              </a:ext>
            </a:extLst>
          </p:cNvPr>
          <p:cNvSpPr>
            <a:spLocks noGrp="1"/>
          </p:cNvSpPr>
          <p:nvPr/>
        </p:nvSpPr>
        <p:spPr>
          <a:xfrm>
            <a:off x="620661" y="5638800"/>
            <a:ext cx="323850" cy="295275"/>
          </a:xfrm>
          <a:prstGeom prst="rect">
            <a:avLst/>
          </a:prstGeom>
          <a:noFill/>
          <a:ln w="0">
            <a:noFill/>
          </a:ln>
        </p:spPr>
        <p:txBody>
          <a:bodyPr anchor="ctr">
            <a:normAutofit/>
          </a:bodyPr>
          <a:lstStyle/>
          <a:p>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115" name="Rectangle 114">
            <a:extLst>
              <a:ext uri="{FF2B5EF4-FFF2-40B4-BE49-F238E27FC236}">
                <a16:creationId xmlns:a16="http://schemas.microsoft.com/office/drawing/2014/main" id="{CF0CF97F-7BF8-27D6-399E-7124F527E951}"/>
              </a:ext>
            </a:extLst>
          </p:cNvPr>
          <p:cNvSpPr>
            <a:spLocks noGrp="1"/>
          </p:cNvSpPr>
          <p:nvPr/>
        </p:nvSpPr>
        <p:spPr>
          <a:xfrm>
            <a:off x="1068336" y="5581650"/>
            <a:ext cx="3048000" cy="266700"/>
          </a:xfrm>
          <a:prstGeom prst="rect">
            <a:avLst/>
          </a:prstGeom>
          <a:noFill/>
          <a:ln w="0">
            <a:noFill/>
          </a:ln>
        </p:spPr>
        <p:txBody>
          <a:bodyPr anchor="ctr">
            <a:normAutofit fontScale="88202" lnSpcReduction="20000"/>
          </a:bodyPr>
          <a:lstStyle/>
          <a:p>
            <a:pPr algn="l">
              <a:defRPr sz="1425" b="1">
                <a:solidFill>
                  <a:srgbClr val="102A56"/>
                </a:solidFill>
                <a:latin typeface="Arial"/>
                <a:ea typeface="Arial"/>
                <a:cs typeface="Arial"/>
              </a:defRPr>
            </a:pPr>
            <a:r>
              <a:rPr sz="1425" b="1">
                <a:solidFill>
                  <a:srgbClr val="102A56"/>
                </a:solidFill>
                <a:latin typeface="Arial"/>
                <a:ea typeface="Arial"/>
                <a:cs typeface="Arial"/>
              </a:rPr>
              <a:t>Execution stops here</a:t>
            </a:r>
          </a:p>
        </p:txBody>
      </p:sp>
      <p:sp>
        <p:nvSpPr>
          <p:cNvPr id="117" name="Rectangle 116">
            <a:extLst>
              <a:ext uri="{FF2B5EF4-FFF2-40B4-BE49-F238E27FC236}">
                <a16:creationId xmlns:a16="http://schemas.microsoft.com/office/drawing/2014/main" id="{53A56B2D-6BDD-1B51-2CDF-CE0CC8B91544}"/>
              </a:ext>
            </a:extLst>
          </p:cNvPr>
          <p:cNvSpPr>
            <a:spLocks noGrp="1"/>
          </p:cNvSpPr>
          <p:nvPr/>
        </p:nvSpPr>
        <p:spPr>
          <a:xfrm>
            <a:off x="1068336" y="5857875"/>
            <a:ext cx="3105150" cy="400050"/>
          </a:xfrm>
          <a:prstGeom prst="rect">
            <a:avLst/>
          </a:prstGeom>
          <a:noFill/>
          <a:ln w="0">
            <a:noFill/>
          </a:ln>
        </p:spPr>
        <p:txBody>
          <a:bodyPr anchor="ctr">
            <a:normAutofit/>
          </a:bodyPr>
          <a:lstStyle/>
          <a:p>
            <a:pPr algn="l">
              <a:defRPr sz="1200" b="0">
                <a:solidFill>
                  <a:srgbClr val="51647C"/>
                </a:solidFill>
                <a:latin typeface="Arial"/>
                <a:ea typeface="Arial"/>
                <a:cs typeface="Arial"/>
              </a:defRPr>
            </a:pPr>
            <a:r>
              <a:rPr sz="1200" b="0">
                <a:solidFill>
                  <a:srgbClr val="51647C"/>
                </a:solidFill>
                <a:latin typeface="Arial"/>
                <a:ea typeface="Arial"/>
                <a:cs typeface="Arial"/>
              </a:rPr>
              <a:t>Statements after throw are skipped.</a:t>
            </a:r>
          </a:p>
        </p:txBody>
      </p:sp>
      <p:sp>
        <p:nvSpPr>
          <p:cNvPr id="119" name="Oval 118">
            <a:extLst>
              <a:ext uri="{FF2B5EF4-FFF2-40B4-BE49-F238E27FC236}">
                <a16:creationId xmlns:a16="http://schemas.microsoft.com/office/drawing/2014/main" id="{C1396519-BEEF-6116-E27E-A86EE27CF3C9}"/>
              </a:ext>
            </a:extLst>
          </p:cNvPr>
          <p:cNvSpPr>
            <a:spLocks noGrp="1"/>
          </p:cNvSpPr>
          <p:nvPr/>
        </p:nvSpPr>
        <p:spPr>
          <a:xfrm>
            <a:off x="4306836" y="5629275"/>
            <a:ext cx="323850" cy="323850"/>
          </a:xfrm>
          <a:prstGeom prst="ellipse">
            <a:avLst/>
          </a:prstGeom>
          <a:solidFill>
            <a:srgbClr val="147D7A"/>
          </a:solidFill>
          <a:ln w="0">
            <a:noFill/>
          </a:ln>
        </p:spPr>
        <p:txBody>
          <a:bodyPr/>
          <a:lstStyle/>
          <a:p>
            <a:endParaRPr lang="en-IN"/>
          </a:p>
        </p:txBody>
      </p:sp>
      <p:sp>
        <p:nvSpPr>
          <p:cNvPr id="121" name="Rectangle 120">
            <a:extLst>
              <a:ext uri="{FF2B5EF4-FFF2-40B4-BE49-F238E27FC236}">
                <a16:creationId xmlns:a16="http://schemas.microsoft.com/office/drawing/2014/main" id="{6865B924-2C4E-C471-BD67-218451ACC4C0}"/>
              </a:ext>
            </a:extLst>
          </p:cNvPr>
          <p:cNvSpPr>
            <a:spLocks noGrp="1"/>
          </p:cNvSpPr>
          <p:nvPr/>
        </p:nvSpPr>
        <p:spPr>
          <a:xfrm>
            <a:off x="4306836" y="5638800"/>
            <a:ext cx="323850" cy="295275"/>
          </a:xfrm>
          <a:prstGeom prst="rect">
            <a:avLst/>
          </a:prstGeom>
          <a:noFill/>
          <a:ln w="0">
            <a:noFill/>
          </a:ln>
        </p:spPr>
        <p:txBody>
          <a:bodyPr anchor="ctr">
            <a:normAutofit/>
          </a:bodyPr>
          <a:lstStyle/>
          <a:p>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123" name="Rectangle 122">
            <a:extLst>
              <a:ext uri="{FF2B5EF4-FFF2-40B4-BE49-F238E27FC236}">
                <a16:creationId xmlns:a16="http://schemas.microsoft.com/office/drawing/2014/main" id="{0A972518-B2C4-6D16-6810-9FFDD80A14FF}"/>
              </a:ext>
            </a:extLst>
          </p:cNvPr>
          <p:cNvSpPr>
            <a:spLocks noGrp="1"/>
          </p:cNvSpPr>
          <p:nvPr/>
        </p:nvSpPr>
        <p:spPr>
          <a:xfrm>
            <a:off x="4754511" y="5581650"/>
            <a:ext cx="3048000" cy="266700"/>
          </a:xfrm>
          <a:prstGeom prst="rect">
            <a:avLst/>
          </a:prstGeom>
          <a:noFill/>
          <a:ln w="0">
            <a:noFill/>
          </a:ln>
        </p:spPr>
        <p:txBody>
          <a:bodyPr anchor="ctr">
            <a:normAutofit fontScale="88202" lnSpcReduction="20000"/>
          </a:bodyPr>
          <a:lstStyle/>
          <a:p>
            <a:pPr algn="l">
              <a:defRPr sz="1425" b="1">
                <a:solidFill>
                  <a:srgbClr val="102A56"/>
                </a:solidFill>
                <a:latin typeface="Arial"/>
                <a:ea typeface="Arial"/>
                <a:cs typeface="Arial"/>
              </a:defRPr>
            </a:pPr>
            <a:r>
              <a:rPr sz="1425" b="1">
                <a:solidFill>
                  <a:srgbClr val="102A56"/>
                </a:solidFill>
                <a:latin typeface="Arial"/>
                <a:ea typeface="Arial"/>
                <a:cs typeface="Arial"/>
              </a:rPr>
              <a:t>Java looks for catch</a:t>
            </a:r>
          </a:p>
        </p:txBody>
      </p:sp>
      <p:sp>
        <p:nvSpPr>
          <p:cNvPr id="125" name="Rectangle 124">
            <a:extLst>
              <a:ext uri="{FF2B5EF4-FFF2-40B4-BE49-F238E27FC236}">
                <a16:creationId xmlns:a16="http://schemas.microsoft.com/office/drawing/2014/main" id="{B0B3BFD3-4DD9-0E81-57CC-BE98CAF209E5}"/>
              </a:ext>
            </a:extLst>
          </p:cNvPr>
          <p:cNvSpPr>
            <a:spLocks noGrp="1"/>
          </p:cNvSpPr>
          <p:nvPr/>
        </p:nvSpPr>
        <p:spPr>
          <a:xfrm>
            <a:off x="4754511" y="5857875"/>
            <a:ext cx="3105150" cy="400050"/>
          </a:xfrm>
          <a:prstGeom prst="rect">
            <a:avLst/>
          </a:prstGeom>
          <a:noFill/>
          <a:ln w="0">
            <a:noFill/>
          </a:ln>
        </p:spPr>
        <p:txBody>
          <a:bodyPr anchor="ctr">
            <a:normAutofit/>
          </a:bodyPr>
          <a:lstStyle/>
          <a:p>
            <a:pPr algn="l">
              <a:defRPr sz="1200" b="0">
                <a:solidFill>
                  <a:srgbClr val="51647C"/>
                </a:solidFill>
                <a:latin typeface="Arial"/>
                <a:ea typeface="Arial"/>
                <a:cs typeface="Arial"/>
              </a:defRPr>
            </a:pPr>
            <a:r>
              <a:rPr sz="1200" b="0">
                <a:solidFill>
                  <a:srgbClr val="51647C"/>
                </a:solidFill>
                <a:latin typeface="Arial"/>
                <a:ea typeface="Arial"/>
                <a:cs typeface="Arial"/>
              </a:rPr>
              <a:t>The nearest matching catch can handle it.</a:t>
            </a:r>
          </a:p>
        </p:txBody>
      </p:sp>
      <p:sp>
        <p:nvSpPr>
          <p:cNvPr id="127" name="Oval 126">
            <a:extLst>
              <a:ext uri="{FF2B5EF4-FFF2-40B4-BE49-F238E27FC236}">
                <a16:creationId xmlns:a16="http://schemas.microsoft.com/office/drawing/2014/main" id="{B65471B2-191A-5F4A-DBBD-EE6B4B9837C6}"/>
              </a:ext>
            </a:extLst>
          </p:cNvPr>
          <p:cNvSpPr>
            <a:spLocks noGrp="1"/>
          </p:cNvSpPr>
          <p:nvPr/>
        </p:nvSpPr>
        <p:spPr>
          <a:xfrm>
            <a:off x="7993011" y="5629275"/>
            <a:ext cx="323850" cy="323850"/>
          </a:xfrm>
          <a:prstGeom prst="ellipse">
            <a:avLst/>
          </a:prstGeom>
          <a:solidFill>
            <a:srgbClr val="102A56"/>
          </a:solidFill>
          <a:ln w="0">
            <a:noFill/>
          </a:ln>
        </p:spPr>
        <p:txBody>
          <a:bodyPr/>
          <a:lstStyle/>
          <a:p>
            <a:endParaRPr lang="en-IN"/>
          </a:p>
        </p:txBody>
      </p:sp>
      <p:sp>
        <p:nvSpPr>
          <p:cNvPr id="129" name="Rectangle 128">
            <a:extLst>
              <a:ext uri="{FF2B5EF4-FFF2-40B4-BE49-F238E27FC236}">
                <a16:creationId xmlns:a16="http://schemas.microsoft.com/office/drawing/2014/main" id="{66F6DB93-5B40-296F-4F89-6BC6522BAFE9}"/>
              </a:ext>
            </a:extLst>
          </p:cNvPr>
          <p:cNvSpPr>
            <a:spLocks noGrp="1"/>
          </p:cNvSpPr>
          <p:nvPr/>
        </p:nvSpPr>
        <p:spPr>
          <a:xfrm>
            <a:off x="7993011" y="5638800"/>
            <a:ext cx="323850" cy="295275"/>
          </a:xfrm>
          <a:prstGeom prst="rect">
            <a:avLst/>
          </a:prstGeom>
          <a:noFill/>
          <a:ln w="0">
            <a:noFill/>
          </a:ln>
        </p:spPr>
        <p:txBody>
          <a:bodyPr anchor="ctr">
            <a:normAutofit/>
          </a:bodyPr>
          <a:lstStyle/>
          <a:p>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131" name="Rectangle 130">
            <a:extLst>
              <a:ext uri="{FF2B5EF4-FFF2-40B4-BE49-F238E27FC236}">
                <a16:creationId xmlns:a16="http://schemas.microsoft.com/office/drawing/2014/main" id="{7F02316A-6C00-7425-B826-259F3086ACF0}"/>
              </a:ext>
            </a:extLst>
          </p:cNvPr>
          <p:cNvSpPr>
            <a:spLocks noGrp="1"/>
          </p:cNvSpPr>
          <p:nvPr/>
        </p:nvSpPr>
        <p:spPr>
          <a:xfrm>
            <a:off x="8440686" y="5581650"/>
            <a:ext cx="3048000" cy="266700"/>
          </a:xfrm>
          <a:prstGeom prst="rect">
            <a:avLst/>
          </a:prstGeom>
          <a:noFill/>
          <a:ln w="0">
            <a:noFill/>
          </a:ln>
        </p:spPr>
        <p:txBody>
          <a:bodyPr anchor="ctr">
            <a:normAutofit fontScale="88202" lnSpcReduction="20000"/>
          </a:bodyPr>
          <a:lstStyle/>
          <a:p>
            <a:pPr algn="l">
              <a:defRPr sz="1425" b="1">
                <a:solidFill>
                  <a:srgbClr val="102A56"/>
                </a:solidFill>
                <a:latin typeface="Arial"/>
                <a:ea typeface="Arial"/>
                <a:cs typeface="Arial"/>
              </a:defRPr>
            </a:pPr>
            <a:r>
              <a:rPr sz="1425" b="1">
                <a:solidFill>
                  <a:srgbClr val="102A56"/>
                </a:solidFill>
                <a:latin typeface="Arial"/>
                <a:ea typeface="Arial"/>
                <a:cs typeface="Arial"/>
              </a:rPr>
              <a:t>Otherwise, it propagates</a:t>
            </a:r>
          </a:p>
        </p:txBody>
      </p:sp>
      <p:sp>
        <p:nvSpPr>
          <p:cNvPr id="133" name="Rectangle 132">
            <a:extLst>
              <a:ext uri="{FF2B5EF4-FFF2-40B4-BE49-F238E27FC236}">
                <a16:creationId xmlns:a16="http://schemas.microsoft.com/office/drawing/2014/main" id="{2E27B14F-B4B2-A604-CAB7-CB63D0D4C076}"/>
              </a:ext>
            </a:extLst>
          </p:cNvPr>
          <p:cNvSpPr>
            <a:spLocks noGrp="1"/>
          </p:cNvSpPr>
          <p:nvPr/>
        </p:nvSpPr>
        <p:spPr>
          <a:xfrm>
            <a:off x="8440686" y="5857875"/>
            <a:ext cx="3105150" cy="400050"/>
          </a:xfrm>
          <a:prstGeom prst="rect">
            <a:avLst/>
          </a:prstGeom>
          <a:noFill/>
          <a:ln w="0">
            <a:noFill/>
          </a:ln>
        </p:spPr>
        <p:txBody>
          <a:bodyPr anchor="ctr">
            <a:normAutofit/>
          </a:bodyPr>
          <a:lstStyle/>
          <a:p>
            <a:pPr algn="l">
              <a:defRPr sz="1200" b="0">
                <a:solidFill>
                  <a:srgbClr val="51647C"/>
                </a:solidFill>
                <a:latin typeface="Arial"/>
                <a:ea typeface="Arial"/>
                <a:cs typeface="Arial"/>
              </a:defRPr>
            </a:pPr>
            <a:r>
              <a:rPr sz="1200" b="0">
                <a:solidFill>
                  <a:srgbClr val="51647C"/>
                </a:solidFill>
                <a:latin typeface="Arial"/>
                <a:ea typeface="Arial"/>
                <a:cs typeface="Arial"/>
              </a:rPr>
              <a:t>The caller gets the exception.</a:t>
            </a:r>
          </a:p>
        </p:txBody>
      </p:sp>
      <p:sp>
        <p:nvSpPr>
          <p:cNvPr id="135" name="Rectangle 134">
            <a:extLst>
              <a:ext uri="{FF2B5EF4-FFF2-40B4-BE49-F238E27FC236}">
                <a16:creationId xmlns:a16="http://schemas.microsoft.com/office/drawing/2014/main" id="{49CB9B9F-ED99-0F26-71A4-0CA3B4249AF2}"/>
              </a:ext>
            </a:extLst>
          </p:cNvPr>
          <p:cNvSpPr>
            <a:spLocks noGrp="1"/>
          </p:cNvSpPr>
          <p:nvPr/>
        </p:nvSpPr>
        <p:spPr>
          <a:xfrm>
            <a:off x="620661" y="6334125"/>
            <a:ext cx="10906125" cy="238125"/>
          </a:xfrm>
          <a:prstGeom prst="rect">
            <a:avLst/>
          </a:prstGeom>
          <a:noFill/>
          <a:ln w="0">
            <a:noFill/>
          </a:ln>
        </p:spPr>
        <p:txBody>
          <a:bodyPr anchor="ctr">
            <a:normAutofit fontScale="87708" lnSpcReduction="20000"/>
          </a:bodyPr>
          <a:lstStyle/>
          <a:p>
            <a:pPr algn="l">
              <a:defRPr sz="1200" b="1">
                <a:solidFill>
                  <a:srgbClr val="285E91"/>
                </a:solidFill>
                <a:latin typeface="Arial"/>
                <a:ea typeface="Arial"/>
                <a:cs typeface="Arial"/>
              </a:defRPr>
            </a:pPr>
            <a:r>
              <a:rPr sz="1200" b="1">
                <a:solidFill>
                  <a:srgbClr val="285E91"/>
                </a:solidFill>
                <a:latin typeface="Arial"/>
                <a:ea typeface="Arial"/>
                <a:cs typeface="Arial"/>
              </a:rPr>
              <a:t>Remember: throw raises an exception; throws declares possible exceptions in a method header.</a:t>
            </a:r>
          </a:p>
        </p:txBody>
      </p:sp>
    </p:spTree>
    <p:extLst>
      <p:ext uri="{BB962C8B-B14F-4D97-AF65-F5344CB8AC3E}">
        <p14:creationId xmlns:p14="http://schemas.microsoft.com/office/powerpoint/2010/main" val="35861673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13B57CB-554D-4E68-5887-BF59E5E43B87}"/>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32346357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8580309" y="1752600"/>
            <a:ext cx="3206115" cy="986790"/>
          </a:xfrm>
          <a:prstGeom prst="rect">
            <a:avLst/>
          </a:prstGeom>
        </p:spPr>
        <p:txBody>
          <a:bodyPr vert="horz" wrap="square" lIns="0" tIns="13335" rIns="0" bIns="0" rtlCol="0">
            <a:normAutofit fontScale="92500"/>
          </a:bodyPr>
          <a:lstStyle/>
          <a:p>
            <a:pPr marL="12700" marR="5080" algn="l">
              <a:lnSpc>
                <a:spcPct val="110000"/>
              </a:lnSpc>
              <a:spcBef>
                <a:spcPts val="0"/>
              </a:spcBef>
              <a:spcAft>
                <a:spcPts val="600"/>
              </a:spcAft>
            </a:pPr>
            <a:r>
              <a:rPr sz="2000" dirty="0">
                <a:solidFill>
                  <a:srgbClr val="C00000"/>
                </a:solidFill>
                <a:latin typeface="Calibri"/>
                <a:cs typeface="Calibri"/>
              </a:rPr>
              <a:t>Note:It is a keyword Used to create an our exception and throw it explicitly to catch block</a:t>
            </a:r>
            <a:endParaRPr sz="2000" dirty="0">
              <a:solidFill>
                <a:srgbClr val="001F5F"/>
              </a:solidFill>
              <a:latin typeface="Calibri"/>
              <a:cs typeface="Calibri"/>
            </a:endParaRPr>
          </a:p>
        </p:txBody>
      </p:sp>
      <p:sp>
        <p:nvSpPr>
          <p:cNvPr id="3" name="object 3"/>
          <p:cNvSpPr txBox="1">
            <a:spLocks noGrp="1"/>
          </p:cNvSpPr>
          <p:nvPr>
            <p:ph type="title"/>
          </p:nvPr>
        </p:nvSpPr>
        <p:spPr>
          <a:xfrm>
            <a:off x="1684782" y="111074"/>
            <a:ext cx="3261995" cy="329565"/>
          </a:xfrm>
          <a:prstGeom prst="rect">
            <a:avLst/>
          </a:prstGeom>
        </p:spPr>
        <p:txBody>
          <a:bodyPr vert="horz" wrap="none" lIns="0" tIns="12065" rIns="0" bIns="0" rtlCol="0">
            <a:normAutofit/>
          </a:bodyPr>
          <a:lstStyle/>
          <a:p>
            <a:pPr marL="12700"/>
            <a:r>
              <a:rPr sz="1600" b="1" dirty="0">
                <a:solidFill>
                  <a:srgbClr val="001F5F"/>
                </a:solidFill>
                <a:latin typeface="Courier New"/>
                <a:cs typeface="Courier New"/>
              </a:rPr>
              <a:t>class ThrowBlockException</a:t>
            </a:r>
          </a:p>
        </p:txBody>
      </p:sp>
      <p:sp>
        <p:nvSpPr>
          <p:cNvPr id="4" name="object 4"/>
          <p:cNvSpPr txBox="1"/>
          <p:nvPr/>
        </p:nvSpPr>
        <p:spPr>
          <a:xfrm>
            <a:off x="1684782" y="415702"/>
            <a:ext cx="6316218" cy="6013826"/>
          </a:xfrm>
          <a:prstGeom prst="rect">
            <a:avLst/>
          </a:prstGeom>
        </p:spPr>
        <p:txBody>
          <a:bodyPr vert="horz" wrap="none" lIns="0" tIns="164465" rIns="0" bIns="0" rtlCol="0">
            <a:normAutofit/>
          </a:bodyPr>
          <a:lstStyle/>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public static void main(String args[])</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try</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throw new ArithmeticException();</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catch(ArithmeticException e)</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System.out.println("Exception</a:t>
            </a:r>
            <a:r>
              <a:rPr lang="en-GB" sz="1600" b="1" dirty="0">
                <a:solidFill>
                  <a:srgbClr val="001F5F"/>
                </a:solidFill>
                <a:latin typeface="Courier New"/>
                <a:cs typeface="Courier New"/>
              </a:rPr>
              <a:t> </a:t>
            </a:r>
            <a:r>
              <a:rPr sz="1600" b="1" dirty="0" err="1">
                <a:solidFill>
                  <a:srgbClr val="001F5F"/>
                </a:solidFill>
                <a:latin typeface="Courier New"/>
                <a:cs typeface="Courier New"/>
              </a:rPr>
              <a:t>handeled</a:t>
            </a:r>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pic>
        <p:nvPicPr>
          <p:cNvPr id="5" name="object 5"/>
          <p:cNvPicPr/>
          <p:nvPr/>
        </p:nvPicPr>
        <p:blipFill>
          <a:blip r:embed="rId2" cstate="print"/>
          <a:stretch>
            <a:fillRect/>
          </a:stretch>
        </p:blipFill>
        <p:spPr>
          <a:xfrm>
            <a:off x="1652827" y="4191000"/>
            <a:ext cx="4736591" cy="102108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84">
            <a:extLst>
              <a:ext uri="{FF2B5EF4-FFF2-40B4-BE49-F238E27FC236}">
                <a16:creationId xmlns:a16="http://schemas.microsoft.com/office/drawing/2014/main" id="{1C065CA0-B039-A83F-C5AF-3E50E1A84D39}"/>
              </a:ext>
            </a:extLst>
          </p:cNvPr>
          <p:cNvSpPr>
            <a:spLocks noGrp="1"/>
          </p:cNvSpPr>
          <p:nvPr/>
        </p:nvSpPr>
        <p:spPr>
          <a:xfrm>
            <a:off x="457200" y="228600"/>
            <a:ext cx="10382250" cy="571500"/>
          </a:xfrm>
          <a:prstGeom prst="rect">
            <a:avLst/>
          </a:prstGeom>
          <a:noFill/>
          <a:ln w="0">
            <a:noFill/>
          </a:ln>
        </p:spPr>
        <p:txBody>
          <a:bodyPr anchor="ctr">
            <a:normAutofit fontScale="95454"/>
          </a:bodyPr>
          <a:lstStyle/>
          <a:p>
            <a:pPr algn="l">
              <a:defRPr sz="3300" b="1">
                <a:solidFill>
                  <a:srgbClr val="102A56"/>
                </a:solidFill>
                <a:latin typeface="Arial"/>
                <a:ea typeface="Arial"/>
                <a:cs typeface="Arial"/>
              </a:defRPr>
            </a:pPr>
            <a:r>
              <a:rPr sz="3300" b="1" dirty="0">
                <a:solidFill>
                  <a:srgbClr val="FF0000"/>
                </a:solidFill>
                <a:latin typeface="Arial"/>
                <a:ea typeface="Arial"/>
                <a:cs typeface="Arial"/>
              </a:rPr>
              <a:t>The throws clause</a:t>
            </a:r>
          </a:p>
        </p:txBody>
      </p:sp>
      <p:sp>
        <p:nvSpPr>
          <p:cNvPr id="87" name="Rectangle 86">
            <a:extLst>
              <a:ext uri="{FF2B5EF4-FFF2-40B4-BE49-F238E27FC236}">
                <a16:creationId xmlns:a16="http://schemas.microsoft.com/office/drawing/2014/main" id="{040854E8-278A-6117-55DA-78A5FDD10FE8}"/>
              </a:ext>
            </a:extLst>
          </p:cNvPr>
          <p:cNvSpPr>
            <a:spLocks noGrp="1"/>
          </p:cNvSpPr>
          <p:nvPr/>
        </p:nvSpPr>
        <p:spPr>
          <a:xfrm>
            <a:off x="476250" y="847725"/>
            <a:ext cx="10477500" cy="342900"/>
          </a:xfrm>
          <a:prstGeom prst="rect">
            <a:avLst/>
          </a:prstGeom>
          <a:noFill/>
          <a:ln w="0">
            <a:noFill/>
          </a:ln>
        </p:spPr>
        <p:txBody>
          <a:bodyPr anchor="ctr">
            <a:normAutofit fontScale="95652"/>
          </a:bodyPr>
          <a:lstStyle/>
          <a:p>
            <a:pPr algn="l">
              <a:defRPr sz="1725" b="0">
                <a:solidFill>
                  <a:srgbClr val="51647C"/>
                </a:solidFill>
                <a:latin typeface="Arial"/>
                <a:ea typeface="Arial"/>
                <a:cs typeface="Arial"/>
              </a:defRPr>
            </a:pPr>
            <a:r>
              <a:rPr sz="1725" b="0">
                <a:solidFill>
                  <a:srgbClr val="51647C"/>
                </a:solidFill>
                <a:latin typeface="Arial"/>
                <a:ea typeface="Arial"/>
                <a:cs typeface="Arial"/>
              </a:rPr>
              <a:t>Declare exceptions a method may pass to its caller.</a:t>
            </a:r>
          </a:p>
        </p:txBody>
      </p:sp>
      <p:sp>
        <p:nvSpPr>
          <p:cNvPr id="89" name="Rectangle 88">
            <a:extLst>
              <a:ext uri="{FF2B5EF4-FFF2-40B4-BE49-F238E27FC236}">
                <a16:creationId xmlns:a16="http://schemas.microsoft.com/office/drawing/2014/main" id="{5B4F8655-6D81-C97B-20E2-197F511F80D9}"/>
              </a:ext>
            </a:extLst>
          </p:cNvPr>
          <p:cNvSpPr>
            <a:spLocks noGrp="1"/>
          </p:cNvSpPr>
          <p:nvPr/>
        </p:nvSpPr>
        <p:spPr>
          <a:xfrm>
            <a:off x="457200" y="1362075"/>
            <a:ext cx="10972800" cy="19050"/>
          </a:xfrm>
          <a:prstGeom prst="rect">
            <a:avLst/>
          </a:prstGeom>
          <a:solidFill>
            <a:srgbClr val="D7E0EA"/>
          </a:solidFill>
          <a:ln w="0">
            <a:noFill/>
          </a:ln>
        </p:spPr>
        <p:txBody>
          <a:bodyPr/>
          <a:lstStyle/>
          <a:p>
            <a:endParaRPr lang="en-IN"/>
          </a:p>
        </p:txBody>
      </p:sp>
      <p:sp>
        <p:nvSpPr>
          <p:cNvPr id="91" name="Rectangle 90">
            <a:extLst>
              <a:ext uri="{FF2B5EF4-FFF2-40B4-BE49-F238E27FC236}">
                <a16:creationId xmlns:a16="http://schemas.microsoft.com/office/drawing/2014/main" id="{0ACC0341-1EDF-A95A-E5D2-3155A1408CAC}"/>
              </a:ext>
            </a:extLst>
          </p:cNvPr>
          <p:cNvSpPr>
            <a:spLocks noGrp="1"/>
          </p:cNvSpPr>
          <p:nvPr/>
        </p:nvSpPr>
        <p:spPr>
          <a:xfrm>
            <a:off x="495300" y="1590675"/>
            <a:ext cx="4381500" cy="247650"/>
          </a:xfrm>
          <a:prstGeom prst="rect">
            <a:avLst/>
          </a:prstGeom>
          <a:noFill/>
          <a:ln w="0">
            <a:noFill/>
          </a:ln>
        </p:spPr>
        <p:txBody>
          <a:bodyPr anchor="ctr">
            <a:normAutofit fontScale="92917" lnSpcReduction="10000"/>
          </a:bodyPr>
          <a:lstStyle/>
          <a:p>
            <a:pPr algn="l">
              <a:defRPr sz="1200" b="1">
                <a:solidFill>
                  <a:srgbClr val="147D7A"/>
                </a:solidFill>
                <a:latin typeface="Arial"/>
                <a:ea typeface="Arial"/>
                <a:cs typeface="Arial"/>
              </a:defRPr>
            </a:pPr>
            <a:r>
              <a:rPr sz="1200" b="1">
                <a:solidFill>
                  <a:srgbClr val="147D7A"/>
                </a:solidFill>
                <a:latin typeface="Arial"/>
                <a:ea typeface="Arial"/>
                <a:cs typeface="Arial"/>
              </a:rPr>
              <a:t>METHOD DECLARATION</a:t>
            </a:r>
          </a:p>
        </p:txBody>
      </p:sp>
      <p:sp>
        <p:nvSpPr>
          <p:cNvPr id="93" name="Rectangle: Rounded Corners 92">
            <a:extLst>
              <a:ext uri="{FF2B5EF4-FFF2-40B4-BE49-F238E27FC236}">
                <a16:creationId xmlns:a16="http://schemas.microsoft.com/office/drawing/2014/main" id="{C8A8E535-0AED-CF92-8648-C6D02C3868E7}"/>
              </a:ext>
            </a:extLst>
          </p:cNvPr>
          <p:cNvSpPr>
            <a:spLocks noGrp="1"/>
          </p:cNvSpPr>
          <p:nvPr/>
        </p:nvSpPr>
        <p:spPr>
          <a:xfrm>
            <a:off x="457200" y="1962150"/>
            <a:ext cx="4933950" cy="971550"/>
          </a:xfrm>
          <a:prstGeom prst="roundRect">
            <a:avLst>
              <a:gd name="adj" fmla="val 7843"/>
            </a:avLst>
          </a:prstGeom>
          <a:solidFill>
            <a:srgbClr val="14243A"/>
          </a:solidFill>
          <a:ln w="0">
            <a:noFill/>
          </a:ln>
        </p:spPr>
        <p:txBody>
          <a:bodyPr/>
          <a:lstStyle/>
          <a:p>
            <a:endParaRPr lang="en-IN"/>
          </a:p>
        </p:txBody>
      </p:sp>
      <p:sp>
        <p:nvSpPr>
          <p:cNvPr id="95" name="Rectangle 94">
            <a:extLst>
              <a:ext uri="{FF2B5EF4-FFF2-40B4-BE49-F238E27FC236}">
                <a16:creationId xmlns:a16="http://schemas.microsoft.com/office/drawing/2014/main" id="{A34C66C2-9E94-95F4-A6F2-59E965B37392}"/>
              </a:ext>
            </a:extLst>
          </p:cNvPr>
          <p:cNvSpPr>
            <a:spLocks noGrp="1"/>
          </p:cNvSpPr>
          <p:nvPr/>
        </p:nvSpPr>
        <p:spPr>
          <a:xfrm>
            <a:off x="685800" y="2095500"/>
            <a:ext cx="4476750" cy="723900"/>
          </a:xfrm>
          <a:prstGeom prst="rect">
            <a:avLst/>
          </a:prstGeom>
          <a:noFill/>
          <a:ln w="0">
            <a:noFill/>
          </a:ln>
        </p:spPr>
        <p:txBody>
          <a:bodyPr anchor="ctr">
            <a:normAutofit/>
          </a:bodyPr>
          <a:lstStyle/>
          <a:p>
            <a:pPr algn="l">
              <a:defRPr sz="1650" b="0">
                <a:solidFill>
                  <a:srgbClr val="F3F7FC"/>
                </a:solidFill>
                <a:latin typeface="Consolas"/>
                <a:ea typeface="Consolas"/>
                <a:cs typeface="Consolas"/>
              </a:defRPr>
            </a:pPr>
            <a:r>
              <a:rPr sz="1650" b="0">
                <a:solidFill>
                  <a:srgbClr val="F3F7FC"/>
                </a:solidFill>
                <a:latin typeface="Consolas"/>
                <a:ea typeface="Consolas"/>
                <a:cs typeface="Consolas"/>
              </a:rPr>
              <a:t>returnType methodName()</a:t>
            </a:r>
          </a:p>
          <a:p>
            <a:pPr algn="l">
              <a:defRPr sz="1650" b="0">
                <a:solidFill>
                  <a:srgbClr val="F3F7FC"/>
                </a:solidFill>
                <a:latin typeface="Consolas"/>
                <a:ea typeface="Consolas"/>
                <a:cs typeface="Consolas"/>
              </a:defRPr>
            </a:pPr>
            <a:r>
              <a:rPr sz="1650" b="0">
                <a:solidFill>
                  <a:srgbClr val="F3F7FC"/>
                </a:solidFill>
                <a:latin typeface="Consolas"/>
                <a:ea typeface="Consolas"/>
                <a:cs typeface="Consolas"/>
              </a:rPr>
              <a:t>    throws ExceptionType { ... }</a:t>
            </a:r>
          </a:p>
        </p:txBody>
      </p:sp>
      <p:sp>
        <p:nvSpPr>
          <p:cNvPr id="97" name="Rectangle 96">
            <a:extLst>
              <a:ext uri="{FF2B5EF4-FFF2-40B4-BE49-F238E27FC236}">
                <a16:creationId xmlns:a16="http://schemas.microsoft.com/office/drawing/2014/main" id="{8E055038-D32A-DE49-78E5-BD7C8941888B}"/>
              </a:ext>
            </a:extLst>
          </p:cNvPr>
          <p:cNvSpPr>
            <a:spLocks noGrp="1"/>
          </p:cNvSpPr>
          <p:nvPr/>
        </p:nvSpPr>
        <p:spPr>
          <a:xfrm>
            <a:off x="495300" y="3171825"/>
            <a:ext cx="4572000" cy="323850"/>
          </a:xfrm>
          <a:prstGeom prst="rect">
            <a:avLst/>
          </a:prstGeom>
          <a:noFill/>
          <a:ln w="0">
            <a:noFill/>
          </a:ln>
        </p:spPr>
        <p:txBody>
          <a:bodyPr anchor="ctr">
            <a:normAutofit fontScale="88833" lnSpcReduction="20000"/>
          </a:bodyPr>
          <a:lstStyle/>
          <a:p>
            <a:pPr algn="l">
              <a:defRPr sz="1875" b="1">
                <a:solidFill>
                  <a:srgbClr val="102A56"/>
                </a:solidFill>
                <a:latin typeface="Arial"/>
                <a:ea typeface="Arial"/>
                <a:cs typeface="Arial"/>
              </a:defRPr>
            </a:pPr>
            <a:r>
              <a:rPr sz="1875" b="1">
                <a:solidFill>
                  <a:srgbClr val="102A56"/>
                </a:solidFill>
                <a:latin typeface="Arial"/>
                <a:ea typeface="Arial"/>
                <a:cs typeface="Arial"/>
              </a:rPr>
              <a:t>What does throws tell us?</a:t>
            </a:r>
          </a:p>
        </p:txBody>
      </p:sp>
      <p:sp>
        <p:nvSpPr>
          <p:cNvPr id="99" name="Rectangle 98">
            <a:extLst>
              <a:ext uri="{FF2B5EF4-FFF2-40B4-BE49-F238E27FC236}">
                <a16:creationId xmlns:a16="http://schemas.microsoft.com/office/drawing/2014/main" id="{1703DDC5-0C26-2AF7-6204-469BD283BD20}"/>
              </a:ext>
            </a:extLst>
          </p:cNvPr>
          <p:cNvSpPr>
            <a:spLocks noGrp="1"/>
          </p:cNvSpPr>
          <p:nvPr/>
        </p:nvSpPr>
        <p:spPr>
          <a:xfrm>
            <a:off x="495300" y="3657600"/>
            <a:ext cx="1028700" cy="276225"/>
          </a:xfrm>
          <a:prstGeom prst="rect">
            <a:avLst/>
          </a:prstGeom>
          <a:noFill/>
          <a:ln w="0">
            <a:noFill/>
          </a:ln>
        </p:spPr>
        <p:txBody>
          <a:bodyPr anchor="ctr">
            <a:normAutofit fontScale="80985" lnSpcReduction="10000"/>
          </a:bodyPr>
          <a:lstStyle/>
          <a:p>
            <a:pPr algn="l">
              <a:defRPr sz="1650" b="1">
                <a:solidFill>
                  <a:srgbClr val="147D7A"/>
                </a:solidFill>
                <a:latin typeface="Consolas"/>
                <a:ea typeface="Consolas"/>
                <a:cs typeface="Consolas"/>
              </a:defRPr>
            </a:pPr>
            <a:r>
              <a:rPr sz="1650" b="1">
                <a:solidFill>
                  <a:srgbClr val="147D7A"/>
                </a:solidFill>
                <a:latin typeface="Consolas"/>
                <a:ea typeface="Consolas"/>
                <a:cs typeface="Consolas"/>
              </a:rPr>
              <a:t>throws</a:t>
            </a:r>
          </a:p>
        </p:txBody>
      </p:sp>
      <p:sp>
        <p:nvSpPr>
          <p:cNvPr id="101" name="Rectangle 100">
            <a:extLst>
              <a:ext uri="{FF2B5EF4-FFF2-40B4-BE49-F238E27FC236}">
                <a16:creationId xmlns:a16="http://schemas.microsoft.com/office/drawing/2014/main" id="{1A94DD92-591D-46BD-EA36-F3D0897149C8}"/>
              </a:ext>
            </a:extLst>
          </p:cNvPr>
          <p:cNvSpPr>
            <a:spLocks noGrp="1"/>
          </p:cNvSpPr>
          <p:nvPr/>
        </p:nvSpPr>
        <p:spPr>
          <a:xfrm>
            <a:off x="1543050" y="3657600"/>
            <a:ext cx="3695700" cy="438150"/>
          </a:xfrm>
          <a:prstGeom prst="rect">
            <a:avLst/>
          </a:prstGeom>
          <a:noFill/>
          <a:ln w="0">
            <a:noFill/>
          </a:ln>
        </p:spPr>
        <p:txBody>
          <a:bodyPr anchor="ctr">
            <a:normAutofit/>
          </a:bodyPr>
          <a:lstStyle/>
          <a:p>
            <a:pPr algn="l">
              <a:defRPr sz="1425" b="0">
                <a:solidFill>
                  <a:srgbClr val="172B45"/>
                </a:solidFill>
                <a:latin typeface="Arial"/>
                <a:ea typeface="Arial"/>
                <a:cs typeface="Arial"/>
              </a:defRPr>
            </a:pPr>
            <a:r>
              <a:rPr sz="1425" b="0">
                <a:solidFill>
                  <a:srgbClr val="172B45"/>
                </a:solidFill>
                <a:latin typeface="Arial"/>
                <a:ea typeface="Arial"/>
                <a:cs typeface="Arial"/>
              </a:rPr>
              <a:t>lists exception types in the method header</a:t>
            </a:r>
          </a:p>
        </p:txBody>
      </p:sp>
      <p:sp>
        <p:nvSpPr>
          <p:cNvPr id="103" name="Rectangle 102">
            <a:extLst>
              <a:ext uri="{FF2B5EF4-FFF2-40B4-BE49-F238E27FC236}">
                <a16:creationId xmlns:a16="http://schemas.microsoft.com/office/drawing/2014/main" id="{62155331-E93D-6E6D-EE29-6444EE06BF64}"/>
              </a:ext>
            </a:extLst>
          </p:cNvPr>
          <p:cNvSpPr>
            <a:spLocks noGrp="1"/>
          </p:cNvSpPr>
          <p:nvPr/>
        </p:nvSpPr>
        <p:spPr>
          <a:xfrm>
            <a:off x="495300" y="4162425"/>
            <a:ext cx="4714875" cy="9525"/>
          </a:xfrm>
          <a:prstGeom prst="rect">
            <a:avLst/>
          </a:prstGeom>
          <a:solidFill>
            <a:srgbClr val="D7E0EA"/>
          </a:solidFill>
          <a:ln w="0">
            <a:noFill/>
          </a:ln>
        </p:spPr>
        <p:txBody>
          <a:bodyPr/>
          <a:lstStyle/>
          <a:p>
            <a:endParaRPr lang="en-IN"/>
          </a:p>
        </p:txBody>
      </p:sp>
      <p:sp>
        <p:nvSpPr>
          <p:cNvPr id="105" name="Rectangle 104">
            <a:extLst>
              <a:ext uri="{FF2B5EF4-FFF2-40B4-BE49-F238E27FC236}">
                <a16:creationId xmlns:a16="http://schemas.microsoft.com/office/drawing/2014/main" id="{5952AD95-C828-D3C0-E2E8-EA3633BFEE3A}"/>
              </a:ext>
            </a:extLst>
          </p:cNvPr>
          <p:cNvSpPr>
            <a:spLocks noGrp="1"/>
          </p:cNvSpPr>
          <p:nvPr/>
        </p:nvSpPr>
        <p:spPr>
          <a:xfrm>
            <a:off x="495300" y="4314825"/>
            <a:ext cx="4667250" cy="285750"/>
          </a:xfrm>
          <a:prstGeom prst="rect">
            <a:avLst/>
          </a:prstGeom>
          <a:noFill/>
          <a:ln w="0">
            <a:noFill/>
          </a:ln>
        </p:spPr>
        <p:txBody>
          <a:bodyPr anchor="ctr">
            <a:normAutofit fontScale="92500" lnSpcReduction="10000"/>
          </a:bodyPr>
          <a:lstStyle/>
          <a:p>
            <a:pPr algn="l">
              <a:defRPr sz="1500" b="1">
                <a:solidFill>
                  <a:srgbClr val="285E91"/>
                </a:solidFill>
                <a:latin typeface="Arial"/>
                <a:ea typeface="Arial"/>
                <a:cs typeface="Arial"/>
              </a:defRPr>
            </a:pPr>
            <a:r>
              <a:rPr sz="1500" b="1">
                <a:solidFill>
                  <a:srgbClr val="285E91"/>
                </a:solidFill>
                <a:latin typeface="Arial"/>
                <a:ea typeface="Arial"/>
                <a:cs typeface="Arial"/>
              </a:rPr>
              <a:t>It declares a possibility</a:t>
            </a:r>
          </a:p>
        </p:txBody>
      </p:sp>
      <p:sp>
        <p:nvSpPr>
          <p:cNvPr id="107" name="Rectangle 106">
            <a:extLst>
              <a:ext uri="{FF2B5EF4-FFF2-40B4-BE49-F238E27FC236}">
                <a16:creationId xmlns:a16="http://schemas.microsoft.com/office/drawing/2014/main" id="{7A218FD1-C438-90F6-C835-5E2E1448B155}"/>
              </a:ext>
            </a:extLst>
          </p:cNvPr>
          <p:cNvSpPr>
            <a:spLocks noGrp="1"/>
          </p:cNvSpPr>
          <p:nvPr/>
        </p:nvSpPr>
        <p:spPr>
          <a:xfrm>
            <a:off x="495300" y="4619625"/>
            <a:ext cx="4667250" cy="257175"/>
          </a:xfrm>
          <a:prstGeom prst="rect">
            <a:avLst/>
          </a:prstGeom>
          <a:noFill/>
          <a:ln w="0">
            <a:noFill/>
          </a:ln>
        </p:spPr>
        <p:txBody>
          <a:bodyPr anchor="ctr">
            <a:normAutofit fontScale="91316" lnSpcReduction="20000"/>
          </a:bodyPr>
          <a:lstStyle/>
          <a:p>
            <a:pPr algn="l">
              <a:defRPr sz="1425" b="0">
                <a:solidFill>
                  <a:srgbClr val="51647C"/>
                </a:solidFill>
                <a:latin typeface="Arial"/>
                <a:ea typeface="Arial"/>
                <a:cs typeface="Arial"/>
              </a:defRPr>
            </a:pPr>
            <a:r>
              <a:rPr sz="1425" b="0">
                <a:solidFill>
                  <a:srgbClr val="51647C"/>
                </a:solidFill>
                <a:latin typeface="Arial"/>
                <a:ea typeface="Arial"/>
                <a:cs typeface="Arial"/>
              </a:rPr>
              <a:t>It does not throw by itself.</a:t>
            </a:r>
          </a:p>
        </p:txBody>
      </p:sp>
      <p:sp>
        <p:nvSpPr>
          <p:cNvPr id="109" name="Rectangle 108">
            <a:extLst>
              <a:ext uri="{FF2B5EF4-FFF2-40B4-BE49-F238E27FC236}">
                <a16:creationId xmlns:a16="http://schemas.microsoft.com/office/drawing/2014/main" id="{A21781C5-6CCA-9C56-7B16-3324D2C4F080}"/>
              </a:ext>
            </a:extLst>
          </p:cNvPr>
          <p:cNvSpPr>
            <a:spLocks noGrp="1"/>
          </p:cNvSpPr>
          <p:nvPr/>
        </p:nvSpPr>
        <p:spPr>
          <a:xfrm>
            <a:off x="5886450" y="1590675"/>
            <a:ext cx="5334000" cy="247650"/>
          </a:xfrm>
          <a:prstGeom prst="rect">
            <a:avLst/>
          </a:prstGeom>
          <a:noFill/>
          <a:ln w="0">
            <a:noFill/>
          </a:ln>
        </p:spPr>
        <p:txBody>
          <a:bodyPr anchor="ctr">
            <a:normAutofit fontScale="92917" lnSpcReduction="10000"/>
          </a:bodyPr>
          <a:lstStyle/>
          <a:p>
            <a:pPr algn="l">
              <a:defRPr sz="1200" b="1">
                <a:solidFill>
                  <a:srgbClr val="147D7A"/>
                </a:solidFill>
                <a:latin typeface="Arial"/>
                <a:ea typeface="Arial"/>
                <a:cs typeface="Arial"/>
              </a:defRPr>
            </a:pPr>
            <a:r>
              <a:rPr sz="1200" b="1">
                <a:solidFill>
                  <a:srgbClr val="147D7A"/>
                </a:solidFill>
                <a:latin typeface="Arial"/>
                <a:ea typeface="Arial"/>
                <a:cs typeface="Arial"/>
              </a:rPr>
              <a:t>EXAMPLE: A METHOD THAT MAY FAIL</a:t>
            </a:r>
          </a:p>
        </p:txBody>
      </p:sp>
      <p:sp>
        <p:nvSpPr>
          <p:cNvPr id="111" name="Rectangle: Rounded Corners 110">
            <a:extLst>
              <a:ext uri="{FF2B5EF4-FFF2-40B4-BE49-F238E27FC236}">
                <a16:creationId xmlns:a16="http://schemas.microsoft.com/office/drawing/2014/main" id="{4F9041A3-F4B7-3851-8A6D-21D5E47E222A}"/>
              </a:ext>
            </a:extLst>
          </p:cNvPr>
          <p:cNvSpPr>
            <a:spLocks noGrp="1"/>
          </p:cNvSpPr>
          <p:nvPr/>
        </p:nvSpPr>
        <p:spPr>
          <a:xfrm>
            <a:off x="5848350" y="1962150"/>
            <a:ext cx="5581650" cy="1704975"/>
          </a:xfrm>
          <a:prstGeom prst="roundRect">
            <a:avLst>
              <a:gd name="adj" fmla="val 4469"/>
            </a:avLst>
          </a:prstGeom>
          <a:solidFill>
            <a:srgbClr val="14243A"/>
          </a:solidFill>
          <a:ln w="0">
            <a:noFill/>
          </a:ln>
        </p:spPr>
        <p:txBody>
          <a:bodyPr/>
          <a:lstStyle/>
          <a:p>
            <a:endParaRPr lang="en-IN"/>
          </a:p>
        </p:txBody>
      </p:sp>
      <p:sp>
        <p:nvSpPr>
          <p:cNvPr id="113" name="Rectangle 112">
            <a:extLst>
              <a:ext uri="{FF2B5EF4-FFF2-40B4-BE49-F238E27FC236}">
                <a16:creationId xmlns:a16="http://schemas.microsoft.com/office/drawing/2014/main" id="{137DFDFA-CE39-DEB1-017D-9595ABAFFD56}"/>
              </a:ext>
            </a:extLst>
          </p:cNvPr>
          <p:cNvSpPr>
            <a:spLocks noGrp="1"/>
          </p:cNvSpPr>
          <p:nvPr/>
        </p:nvSpPr>
        <p:spPr>
          <a:xfrm>
            <a:off x="6076950" y="2095500"/>
            <a:ext cx="5124450" cy="1447800"/>
          </a:xfrm>
          <a:prstGeom prst="rect">
            <a:avLst/>
          </a:prstGeom>
          <a:noFill/>
          <a:ln w="0">
            <a:noFill/>
          </a:ln>
        </p:spPr>
        <p:txBody>
          <a:bodyPr anchor="ctr">
            <a:normAutofit/>
          </a:bodyPr>
          <a:lstStyle/>
          <a:p>
            <a:pPr algn="l">
              <a:defRPr sz="1425" b="0">
                <a:solidFill>
                  <a:srgbClr val="F3F7FC"/>
                </a:solidFill>
                <a:latin typeface="Consolas"/>
                <a:ea typeface="Consolas"/>
                <a:cs typeface="Consolas"/>
              </a:defRPr>
            </a:pPr>
            <a:r>
              <a:rPr sz="1425" b="0">
                <a:solidFill>
                  <a:srgbClr val="F3F7FC"/>
                </a:solidFill>
                <a:latin typeface="Consolas"/>
                <a:ea typeface="Consolas"/>
                <a:cs typeface="Consolas"/>
              </a:rPr>
              <a:t>static String readFile() throws IOException {</a:t>
            </a:r>
          </a:p>
          <a:p>
            <a:pPr algn="l">
              <a:defRPr sz="1425" b="0">
                <a:solidFill>
                  <a:srgbClr val="F3F7FC"/>
                </a:solidFill>
                <a:latin typeface="Consolas"/>
                <a:ea typeface="Consolas"/>
                <a:cs typeface="Consolas"/>
              </a:defRPr>
            </a:pPr>
            <a:r>
              <a:rPr sz="1425" b="0">
                <a:solidFill>
                  <a:srgbClr val="F3F7FC"/>
                </a:solidFill>
                <a:latin typeface="Consolas"/>
                <a:ea typeface="Consolas"/>
                <a:cs typeface="Consolas"/>
              </a:rPr>
              <a:t>    return Files.readString(</a:t>
            </a:r>
          </a:p>
          <a:p>
            <a:pPr algn="l">
              <a:defRPr sz="1425" b="0">
                <a:solidFill>
                  <a:srgbClr val="F3F7FC"/>
                </a:solidFill>
                <a:latin typeface="Consolas"/>
                <a:ea typeface="Consolas"/>
                <a:cs typeface="Consolas"/>
              </a:defRPr>
            </a:pPr>
            <a:r>
              <a:rPr sz="1425" b="0">
                <a:solidFill>
                  <a:srgbClr val="F3F7FC"/>
                </a:solidFill>
                <a:latin typeface="Consolas"/>
                <a:ea typeface="Consolas"/>
                <a:cs typeface="Consolas"/>
              </a:rPr>
              <a:t>        Path.of("notes.txt"));</a:t>
            </a:r>
          </a:p>
          <a:p>
            <a:pPr algn="l">
              <a:defRPr sz="1425" b="0">
                <a:solidFill>
                  <a:srgbClr val="F3F7FC"/>
                </a:solidFill>
                <a:latin typeface="Consolas"/>
                <a:ea typeface="Consolas"/>
                <a:cs typeface="Consolas"/>
              </a:defRPr>
            </a:pPr>
            <a:r>
              <a:rPr sz="1425" b="0">
                <a:solidFill>
                  <a:srgbClr val="F3F7FC"/>
                </a:solidFill>
                <a:latin typeface="Consolas"/>
                <a:ea typeface="Consolas"/>
                <a:cs typeface="Consolas"/>
              </a:rPr>
              <a:t>}</a:t>
            </a:r>
          </a:p>
        </p:txBody>
      </p:sp>
      <p:sp>
        <p:nvSpPr>
          <p:cNvPr id="115" name="Rectangle 114">
            <a:extLst>
              <a:ext uri="{FF2B5EF4-FFF2-40B4-BE49-F238E27FC236}">
                <a16:creationId xmlns:a16="http://schemas.microsoft.com/office/drawing/2014/main" id="{D2B36724-B060-E6B2-8281-E6E15877A926}"/>
              </a:ext>
            </a:extLst>
          </p:cNvPr>
          <p:cNvSpPr>
            <a:spLocks noGrp="1"/>
          </p:cNvSpPr>
          <p:nvPr/>
        </p:nvSpPr>
        <p:spPr>
          <a:xfrm>
            <a:off x="5886450" y="3790950"/>
            <a:ext cx="5381625" cy="523875"/>
          </a:xfrm>
          <a:prstGeom prst="rect">
            <a:avLst/>
          </a:prstGeom>
          <a:noFill/>
          <a:ln w="0">
            <a:noFill/>
          </a:ln>
        </p:spPr>
        <p:txBody>
          <a:bodyPr anchor="ctr">
            <a:normAutofit/>
          </a:bodyPr>
          <a:lstStyle/>
          <a:p>
            <a:pPr algn="l">
              <a:defRPr sz="1350" b="1">
                <a:solidFill>
                  <a:srgbClr val="172B45"/>
                </a:solidFill>
                <a:latin typeface="Arial"/>
                <a:ea typeface="Arial"/>
                <a:cs typeface="Arial"/>
              </a:defRPr>
            </a:pPr>
            <a:r>
              <a:rPr sz="1350" b="1">
                <a:solidFill>
                  <a:srgbClr val="172B45"/>
                </a:solidFill>
                <a:latin typeface="Arial"/>
                <a:ea typeface="Arial"/>
                <a:cs typeface="Arial"/>
              </a:rPr>
              <a:t>IOException is checked: the caller must catch it or declare it too.</a:t>
            </a:r>
          </a:p>
        </p:txBody>
      </p:sp>
      <p:sp>
        <p:nvSpPr>
          <p:cNvPr id="117" name="Rectangle 116">
            <a:extLst>
              <a:ext uri="{FF2B5EF4-FFF2-40B4-BE49-F238E27FC236}">
                <a16:creationId xmlns:a16="http://schemas.microsoft.com/office/drawing/2014/main" id="{A7D56926-B543-560A-0FC8-02FDA374421C}"/>
              </a:ext>
            </a:extLst>
          </p:cNvPr>
          <p:cNvSpPr>
            <a:spLocks noGrp="1"/>
          </p:cNvSpPr>
          <p:nvPr/>
        </p:nvSpPr>
        <p:spPr>
          <a:xfrm>
            <a:off x="457200" y="4895850"/>
            <a:ext cx="10972800" cy="19050"/>
          </a:xfrm>
          <a:prstGeom prst="rect">
            <a:avLst/>
          </a:prstGeom>
          <a:solidFill>
            <a:srgbClr val="D7E0EA"/>
          </a:solidFill>
          <a:ln w="0">
            <a:noFill/>
          </a:ln>
        </p:spPr>
        <p:txBody>
          <a:bodyPr/>
          <a:lstStyle/>
          <a:p>
            <a:endParaRPr lang="en-IN"/>
          </a:p>
        </p:txBody>
      </p:sp>
      <p:sp>
        <p:nvSpPr>
          <p:cNvPr id="119" name="Rectangle 118">
            <a:extLst>
              <a:ext uri="{FF2B5EF4-FFF2-40B4-BE49-F238E27FC236}">
                <a16:creationId xmlns:a16="http://schemas.microsoft.com/office/drawing/2014/main" id="{AAD494A0-BE49-0FB2-878A-971214C1B3A0}"/>
              </a:ext>
            </a:extLst>
          </p:cNvPr>
          <p:cNvSpPr>
            <a:spLocks noGrp="1"/>
          </p:cNvSpPr>
          <p:nvPr/>
        </p:nvSpPr>
        <p:spPr>
          <a:xfrm>
            <a:off x="495300" y="5048250"/>
            <a:ext cx="3714750" cy="257175"/>
          </a:xfrm>
          <a:prstGeom prst="rect">
            <a:avLst/>
          </a:prstGeom>
          <a:noFill/>
          <a:ln w="0">
            <a:noFill/>
          </a:ln>
        </p:spPr>
        <p:txBody>
          <a:bodyPr anchor="ctr">
            <a:normAutofit fontScale="90625" lnSpcReduction="10000"/>
          </a:bodyPr>
          <a:lstStyle/>
          <a:p>
            <a:pPr algn="l">
              <a:defRPr sz="1200" b="1">
                <a:solidFill>
                  <a:srgbClr val="147D7A"/>
                </a:solidFill>
                <a:latin typeface="Arial"/>
                <a:ea typeface="Arial"/>
                <a:cs typeface="Arial"/>
              </a:defRPr>
            </a:pPr>
            <a:r>
              <a:rPr sz="1200" b="1">
                <a:solidFill>
                  <a:srgbClr val="147D7A"/>
                </a:solidFill>
                <a:latin typeface="Arial"/>
                <a:ea typeface="Arial"/>
                <a:cs typeface="Arial"/>
              </a:rPr>
              <a:t>FOLLOW THE EXCEPTION</a:t>
            </a:r>
          </a:p>
        </p:txBody>
      </p:sp>
      <p:sp>
        <p:nvSpPr>
          <p:cNvPr id="121" name="Oval 120">
            <a:extLst>
              <a:ext uri="{FF2B5EF4-FFF2-40B4-BE49-F238E27FC236}">
                <a16:creationId xmlns:a16="http://schemas.microsoft.com/office/drawing/2014/main" id="{C0697817-51D8-9D88-28F9-C349F4EFC570}"/>
              </a:ext>
            </a:extLst>
          </p:cNvPr>
          <p:cNvSpPr>
            <a:spLocks noGrp="1"/>
          </p:cNvSpPr>
          <p:nvPr/>
        </p:nvSpPr>
        <p:spPr>
          <a:xfrm>
            <a:off x="495300" y="5391150"/>
            <a:ext cx="323850" cy="323850"/>
          </a:xfrm>
          <a:prstGeom prst="ellipse">
            <a:avLst/>
          </a:prstGeom>
          <a:solidFill>
            <a:srgbClr val="102A56"/>
          </a:solidFill>
          <a:ln w="0">
            <a:noFill/>
          </a:ln>
        </p:spPr>
        <p:txBody>
          <a:bodyPr/>
          <a:lstStyle/>
          <a:p>
            <a:endParaRPr lang="en-IN"/>
          </a:p>
        </p:txBody>
      </p:sp>
      <p:sp>
        <p:nvSpPr>
          <p:cNvPr id="123" name="Rectangle 122">
            <a:extLst>
              <a:ext uri="{FF2B5EF4-FFF2-40B4-BE49-F238E27FC236}">
                <a16:creationId xmlns:a16="http://schemas.microsoft.com/office/drawing/2014/main" id="{3A48447C-50BE-1F0C-9C32-35270FC444B5}"/>
              </a:ext>
            </a:extLst>
          </p:cNvPr>
          <p:cNvSpPr>
            <a:spLocks noGrp="1"/>
          </p:cNvSpPr>
          <p:nvPr/>
        </p:nvSpPr>
        <p:spPr>
          <a:xfrm>
            <a:off x="495300" y="5400675"/>
            <a:ext cx="323850" cy="295275"/>
          </a:xfrm>
          <a:prstGeom prst="rect">
            <a:avLst/>
          </a:prstGeom>
          <a:noFill/>
          <a:ln w="0">
            <a:noFill/>
          </a:ln>
        </p:spPr>
        <p:txBody>
          <a:bodyPr anchor="ctr">
            <a:normAutofit/>
          </a:bodyPr>
          <a:lstStyle/>
          <a:p>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125" name="Rectangle 124">
            <a:extLst>
              <a:ext uri="{FF2B5EF4-FFF2-40B4-BE49-F238E27FC236}">
                <a16:creationId xmlns:a16="http://schemas.microsoft.com/office/drawing/2014/main" id="{3D91FCEF-E229-1DF7-805D-B90194CE93F5}"/>
              </a:ext>
            </a:extLst>
          </p:cNvPr>
          <p:cNvSpPr>
            <a:spLocks noGrp="1"/>
          </p:cNvSpPr>
          <p:nvPr/>
        </p:nvSpPr>
        <p:spPr>
          <a:xfrm>
            <a:off x="942975" y="5343525"/>
            <a:ext cx="3048000" cy="266700"/>
          </a:xfrm>
          <a:prstGeom prst="rect">
            <a:avLst/>
          </a:prstGeom>
          <a:noFill/>
          <a:ln w="0">
            <a:noFill/>
          </a:ln>
        </p:spPr>
        <p:txBody>
          <a:bodyPr anchor="ctr">
            <a:normAutofit fontScale="88202" lnSpcReduction="20000"/>
          </a:bodyPr>
          <a:lstStyle/>
          <a:p>
            <a:pPr algn="l">
              <a:defRPr sz="1425" b="1">
                <a:solidFill>
                  <a:srgbClr val="102A56"/>
                </a:solidFill>
                <a:latin typeface="Arial"/>
                <a:ea typeface="Arial"/>
                <a:cs typeface="Arial"/>
              </a:defRPr>
            </a:pPr>
            <a:r>
              <a:rPr sz="1425" b="1">
                <a:solidFill>
                  <a:srgbClr val="102A56"/>
                </a:solidFill>
                <a:latin typeface="Arial"/>
                <a:ea typeface="Arial"/>
                <a:cs typeface="Arial"/>
              </a:rPr>
              <a:t>Method declares it</a:t>
            </a:r>
          </a:p>
        </p:txBody>
      </p:sp>
      <p:sp>
        <p:nvSpPr>
          <p:cNvPr id="127" name="Rectangle 126">
            <a:extLst>
              <a:ext uri="{FF2B5EF4-FFF2-40B4-BE49-F238E27FC236}">
                <a16:creationId xmlns:a16="http://schemas.microsoft.com/office/drawing/2014/main" id="{E138FD81-BF87-58DD-A5F2-5C6621A481D3}"/>
              </a:ext>
            </a:extLst>
          </p:cNvPr>
          <p:cNvSpPr>
            <a:spLocks noGrp="1"/>
          </p:cNvSpPr>
          <p:nvPr/>
        </p:nvSpPr>
        <p:spPr>
          <a:xfrm>
            <a:off x="942975" y="5619750"/>
            <a:ext cx="3105150" cy="400050"/>
          </a:xfrm>
          <a:prstGeom prst="rect">
            <a:avLst/>
          </a:prstGeom>
          <a:noFill/>
          <a:ln w="0">
            <a:noFill/>
          </a:ln>
        </p:spPr>
        <p:txBody>
          <a:bodyPr anchor="ctr">
            <a:normAutofit/>
          </a:bodyPr>
          <a:lstStyle/>
          <a:p>
            <a:pPr algn="l">
              <a:defRPr sz="1200" b="0">
                <a:solidFill>
                  <a:srgbClr val="51647C"/>
                </a:solidFill>
                <a:latin typeface="Arial"/>
                <a:ea typeface="Arial"/>
                <a:cs typeface="Arial"/>
              </a:defRPr>
            </a:pPr>
            <a:r>
              <a:rPr sz="1200" b="0">
                <a:solidFill>
                  <a:srgbClr val="51647C"/>
                </a:solidFill>
                <a:latin typeface="Arial"/>
                <a:ea typeface="Arial"/>
                <a:cs typeface="Arial"/>
              </a:rPr>
              <a:t>The method may pass this type out.</a:t>
            </a:r>
          </a:p>
        </p:txBody>
      </p:sp>
      <p:sp>
        <p:nvSpPr>
          <p:cNvPr id="129" name="Oval 128">
            <a:extLst>
              <a:ext uri="{FF2B5EF4-FFF2-40B4-BE49-F238E27FC236}">
                <a16:creationId xmlns:a16="http://schemas.microsoft.com/office/drawing/2014/main" id="{73B5E90A-59E1-2BCC-1755-6224E17B8F44}"/>
              </a:ext>
            </a:extLst>
          </p:cNvPr>
          <p:cNvSpPr>
            <a:spLocks noGrp="1"/>
          </p:cNvSpPr>
          <p:nvPr/>
        </p:nvSpPr>
        <p:spPr>
          <a:xfrm>
            <a:off x="4181475" y="5391150"/>
            <a:ext cx="323850" cy="323850"/>
          </a:xfrm>
          <a:prstGeom prst="ellipse">
            <a:avLst/>
          </a:prstGeom>
          <a:solidFill>
            <a:srgbClr val="147D7A"/>
          </a:solidFill>
          <a:ln w="0">
            <a:noFill/>
          </a:ln>
        </p:spPr>
        <p:txBody>
          <a:bodyPr/>
          <a:lstStyle/>
          <a:p>
            <a:endParaRPr lang="en-IN"/>
          </a:p>
        </p:txBody>
      </p:sp>
      <p:sp>
        <p:nvSpPr>
          <p:cNvPr id="131" name="Rectangle 130">
            <a:extLst>
              <a:ext uri="{FF2B5EF4-FFF2-40B4-BE49-F238E27FC236}">
                <a16:creationId xmlns:a16="http://schemas.microsoft.com/office/drawing/2014/main" id="{048E2378-D134-9601-94D3-1893F4C6150E}"/>
              </a:ext>
            </a:extLst>
          </p:cNvPr>
          <p:cNvSpPr>
            <a:spLocks noGrp="1"/>
          </p:cNvSpPr>
          <p:nvPr/>
        </p:nvSpPr>
        <p:spPr>
          <a:xfrm>
            <a:off x="4181475" y="5400675"/>
            <a:ext cx="323850" cy="295275"/>
          </a:xfrm>
          <a:prstGeom prst="rect">
            <a:avLst/>
          </a:prstGeom>
          <a:noFill/>
          <a:ln w="0">
            <a:noFill/>
          </a:ln>
        </p:spPr>
        <p:txBody>
          <a:bodyPr anchor="ctr">
            <a:normAutofit/>
          </a:bodyPr>
          <a:lstStyle/>
          <a:p>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133" name="Rectangle 132">
            <a:extLst>
              <a:ext uri="{FF2B5EF4-FFF2-40B4-BE49-F238E27FC236}">
                <a16:creationId xmlns:a16="http://schemas.microsoft.com/office/drawing/2014/main" id="{3A320CD1-E59A-FAAD-6C28-4340E04D4E59}"/>
              </a:ext>
            </a:extLst>
          </p:cNvPr>
          <p:cNvSpPr>
            <a:spLocks noGrp="1"/>
          </p:cNvSpPr>
          <p:nvPr/>
        </p:nvSpPr>
        <p:spPr>
          <a:xfrm>
            <a:off x="4629150" y="5343525"/>
            <a:ext cx="3048000" cy="266700"/>
          </a:xfrm>
          <a:prstGeom prst="rect">
            <a:avLst/>
          </a:prstGeom>
          <a:noFill/>
          <a:ln w="0">
            <a:noFill/>
          </a:ln>
        </p:spPr>
        <p:txBody>
          <a:bodyPr anchor="ctr">
            <a:normAutofit fontScale="88202" lnSpcReduction="20000"/>
          </a:bodyPr>
          <a:lstStyle/>
          <a:p>
            <a:pPr algn="l">
              <a:defRPr sz="1425" b="1">
                <a:solidFill>
                  <a:srgbClr val="102A56"/>
                </a:solidFill>
                <a:latin typeface="Arial"/>
                <a:ea typeface="Arial"/>
                <a:cs typeface="Arial"/>
              </a:defRPr>
            </a:pPr>
            <a:r>
              <a:rPr sz="1425" b="1">
                <a:solidFill>
                  <a:srgbClr val="102A56"/>
                </a:solidFill>
                <a:latin typeface="Arial"/>
                <a:ea typeface="Arial"/>
                <a:cs typeface="Arial"/>
              </a:rPr>
              <a:t>Exception reaches caller</a:t>
            </a:r>
          </a:p>
        </p:txBody>
      </p:sp>
      <p:sp>
        <p:nvSpPr>
          <p:cNvPr id="135" name="Rectangle 134">
            <a:extLst>
              <a:ext uri="{FF2B5EF4-FFF2-40B4-BE49-F238E27FC236}">
                <a16:creationId xmlns:a16="http://schemas.microsoft.com/office/drawing/2014/main" id="{AF31F3A8-AEB8-4EC1-9486-520BAC1E1AE2}"/>
              </a:ext>
            </a:extLst>
          </p:cNvPr>
          <p:cNvSpPr>
            <a:spLocks noGrp="1"/>
          </p:cNvSpPr>
          <p:nvPr/>
        </p:nvSpPr>
        <p:spPr>
          <a:xfrm>
            <a:off x="4629150" y="5619750"/>
            <a:ext cx="3105150" cy="400050"/>
          </a:xfrm>
          <a:prstGeom prst="rect">
            <a:avLst/>
          </a:prstGeom>
          <a:noFill/>
          <a:ln w="0">
            <a:noFill/>
          </a:ln>
        </p:spPr>
        <p:txBody>
          <a:bodyPr anchor="ctr">
            <a:normAutofit/>
          </a:bodyPr>
          <a:lstStyle/>
          <a:p>
            <a:pPr algn="l">
              <a:defRPr sz="1200" b="0">
                <a:solidFill>
                  <a:srgbClr val="51647C"/>
                </a:solidFill>
                <a:latin typeface="Arial"/>
                <a:ea typeface="Arial"/>
                <a:cs typeface="Arial"/>
              </a:defRPr>
            </a:pPr>
            <a:r>
              <a:rPr sz="1200" b="0">
                <a:solidFill>
                  <a:srgbClr val="51647C"/>
                </a:solidFill>
                <a:latin typeface="Arial"/>
                <a:ea typeface="Arial"/>
                <a:cs typeface="Arial"/>
              </a:rPr>
              <a:t>If not caught inside the method.</a:t>
            </a:r>
          </a:p>
        </p:txBody>
      </p:sp>
      <p:sp>
        <p:nvSpPr>
          <p:cNvPr id="137" name="Oval 136">
            <a:extLst>
              <a:ext uri="{FF2B5EF4-FFF2-40B4-BE49-F238E27FC236}">
                <a16:creationId xmlns:a16="http://schemas.microsoft.com/office/drawing/2014/main" id="{E8589E0A-F726-1893-2FE0-03BB64C1BF85}"/>
              </a:ext>
            </a:extLst>
          </p:cNvPr>
          <p:cNvSpPr>
            <a:spLocks noGrp="1"/>
          </p:cNvSpPr>
          <p:nvPr/>
        </p:nvSpPr>
        <p:spPr>
          <a:xfrm>
            <a:off x="7867650" y="5391150"/>
            <a:ext cx="323850" cy="323850"/>
          </a:xfrm>
          <a:prstGeom prst="ellipse">
            <a:avLst/>
          </a:prstGeom>
          <a:solidFill>
            <a:srgbClr val="102A56"/>
          </a:solidFill>
          <a:ln w="0">
            <a:noFill/>
          </a:ln>
        </p:spPr>
        <p:txBody>
          <a:bodyPr/>
          <a:lstStyle/>
          <a:p>
            <a:endParaRPr lang="en-IN"/>
          </a:p>
        </p:txBody>
      </p:sp>
      <p:sp>
        <p:nvSpPr>
          <p:cNvPr id="139" name="Rectangle 138">
            <a:extLst>
              <a:ext uri="{FF2B5EF4-FFF2-40B4-BE49-F238E27FC236}">
                <a16:creationId xmlns:a16="http://schemas.microsoft.com/office/drawing/2014/main" id="{D379C0B9-37B4-91E9-51BF-C878FD2B771F}"/>
              </a:ext>
            </a:extLst>
          </p:cNvPr>
          <p:cNvSpPr>
            <a:spLocks noGrp="1"/>
          </p:cNvSpPr>
          <p:nvPr/>
        </p:nvSpPr>
        <p:spPr>
          <a:xfrm>
            <a:off x="7867650" y="5400675"/>
            <a:ext cx="323850" cy="295275"/>
          </a:xfrm>
          <a:prstGeom prst="rect">
            <a:avLst/>
          </a:prstGeom>
          <a:noFill/>
          <a:ln w="0">
            <a:noFill/>
          </a:ln>
        </p:spPr>
        <p:txBody>
          <a:bodyPr anchor="ctr">
            <a:normAutofit/>
          </a:bodyPr>
          <a:lstStyle/>
          <a:p>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141" name="Rectangle 140">
            <a:extLst>
              <a:ext uri="{FF2B5EF4-FFF2-40B4-BE49-F238E27FC236}">
                <a16:creationId xmlns:a16="http://schemas.microsoft.com/office/drawing/2014/main" id="{A851F433-B6B8-E043-A190-794B3BAD3FEC}"/>
              </a:ext>
            </a:extLst>
          </p:cNvPr>
          <p:cNvSpPr>
            <a:spLocks noGrp="1"/>
          </p:cNvSpPr>
          <p:nvPr/>
        </p:nvSpPr>
        <p:spPr>
          <a:xfrm>
            <a:off x="8315325" y="5343525"/>
            <a:ext cx="3048000" cy="266700"/>
          </a:xfrm>
          <a:prstGeom prst="rect">
            <a:avLst/>
          </a:prstGeom>
          <a:noFill/>
          <a:ln w="0">
            <a:noFill/>
          </a:ln>
        </p:spPr>
        <p:txBody>
          <a:bodyPr anchor="ctr">
            <a:normAutofit fontScale="88202" lnSpcReduction="20000"/>
          </a:bodyPr>
          <a:lstStyle/>
          <a:p>
            <a:pPr algn="l">
              <a:defRPr sz="1425" b="1">
                <a:solidFill>
                  <a:srgbClr val="102A56"/>
                </a:solidFill>
                <a:latin typeface="Arial"/>
                <a:ea typeface="Arial"/>
                <a:cs typeface="Arial"/>
              </a:defRPr>
            </a:pPr>
            <a:r>
              <a:rPr sz="1425" b="1">
                <a:solidFill>
                  <a:srgbClr val="102A56"/>
                </a:solidFill>
                <a:latin typeface="Arial"/>
                <a:ea typeface="Arial"/>
                <a:cs typeface="Arial"/>
              </a:rPr>
              <a:t>Caller handles or declares</a:t>
            </a:r>
          </a:p>
        </p:txBody>
      </p:sp>
      <p:sp>
        <p:nvSpPr>
          <p:cNvPr id="143" name="Rectangle 142">
            <a:extLst>
              <a:ext uri="{FF2B5EF4-FFF2-40B4-BE49-F238E27FC236}">
                <a16:creationId xmlns:a16="http://schemas.microsoft.com/office/drawing/2014/main" id="{FFAEC1A0-E76C-9FF1-040F-C117A140B4E4}"/>
              </a:ext>
            </a:extLst>
          </p:cNvPr>
          <p:cNvSpPr>
            <a:spLocks noGrp="1"/>
          </p:cNvSpPr>
          <p:nvPr/>
        </p:nvSpPr>
        <p:spPr>
          <a:xfrm>
            <a:off x="8315325" y="5619750"/>
            <a:ext cx="3105150" cy="400050"/>
          </a:xfrm>
          <a:prstGeom prst="rect">
            <a:avLst/>
          </a:prstGeom>
          <a:noFill/>
          <a:ln w="0">
            <a:noFill/>
          </a:ln>
        </p:spPr>
        <p:txBody>
          <a:bodyPr anchor="ctr">
            <a:normAutofit/>
          </a:bodyPr>
          <a:lstStyle/>
          <a:p>
            <a:pPr algn="l">
              <a:defRPr sz="1200" b="0">
                <a:solidFill>
                  <a:srgbClr val="51647C"/>
                </a:solidFill>
                <a:latin typeface="Arial"/>
                <a:ea typeface="Arial"/>
                <a:cs typeface="Arial"/>
              </a:defRPr>
            </a:pPr>
            <a:r>
              <a:rPr sz="1200" b="0">
                <a:solidFill>
                  <a:srgbClr val="51647C"/>
                </a:solidFill>
                <a:latin typeface="Arial"/>
                <a:ea typeface="Arial"/>
                <a:cs typeface="Arial"/>
              </a:rPr>
              <a:t>Catch it, or add its own throws.</a:t>
            </a:r>
          </a:p>
        </p:txBody>
      </p:sp>
      <p:sp>
        <p:nvSpPr>
          <p:cNvPr id="145" name="Rectangle 144">
            <a:extLst>
              <a:ext uri="{FF2B5EF4-FFF2-40B4-BE49-F238E27FC236}">
                <a16:creationId xmlns:a16="http://schemas.microsoft.com/office/drawing/2014/main" id="{C4EFC742-BACE-E109-502C-02CD9B242024}"/>
              </a:ext>
            </a:extLst>
          </p:cNvPr>
          <p:cNvSpPr>
            <a:spLocks noGrp="1"/>
          </p:cNvSpPr>
          <p:nvPr/>
        </p:nvSpPr>
        <p:spPr>
          <a:xfrm>
            <a:off x="495300" y="6096000"/>
            <a:ext cx="10906125" cy="238125"/>
          </a:xfrm>
          <a:prstGeom prst="rect">
            <a:avLst/>
          </a:prstGeom>
          <a:noFill/>
          <a:ln w="0">
            <a:noFill/>
          </a:ln>
        </p:spPr>
        <p:txBody>
          <a:bodyPr anchor="ctr">
            <a:normAutofit fontScale="87708" lnSpcReduction="20000"/>
          </a:bodyPr>
          <a:lstStyle/>
          <a:p>
            <a:pPr algn="l">
              <a:defRPr sz="1200" b="1">
                <a:solidFill>
                  <a:srgbClr val="285E91"/>
                </a:solidFill>
                <a:latin typeface="Arial"/>
                <a:ea typeface="Arial"/>
                <a:cs typeface="Arial"/>
              </a:defRPr>
            </a:pPr>
            <a:r>
              <a:rPr sz="1200" b="1">
                <a:solidFill>
                  <a:srgbClr val="285E91"/>
                </a:solidFill>
                <a:latin typeface="Arial"/>
                <a:ea typeface="Arial"/>
                <a:cs typeface="Arial"/>
              </a:rPr>
              <a:t>Remember: throws declares exceptions in a method header; throw raises one in the method body.</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2CF59FC-79D9-4752-9301-55B360F35AE3}"/>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13004370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15186" y="124155"/>
            <a:ext cx="6415405" cy="5818505"/>
          </a:xfrm>
          <a:prstGeom prst="rect">
            <a:avLst/>
          </a:prstGeom>
        </p:spPr>
        <p:txBody>
          <a:bodyPr vert="horz" wrap="none" lIns="0" tIns="12065" rIns="0" bIns="0" rtlCol="0">
            <a:normAutofit/>
          </a:bodyPr>
          <a:lstStyle/>
          <a:p>
            <a:pPr marL="12700"/>
            <a:r>
              <a:rPr sz="1600" b="1" dirty="0">
                <a:solidFill>
                  <a:srgbClr val="001F5F"/>
                </a:solidFill>
                <a:latin typeface="Courier New"/>
                <a:cs typeface="Courier New"/>
              </a:rPr>
              <a:t>class ThrowsBlockException</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static void </a:t>
            </a:r>
            <a:r>
              <a:rPr lang="en-GB" sz="1600" b="1" dirty="0" err="1">
                <a:solidFill>
                  <a:srgbClr val="001F5F"/>
                </a:solidFill>
                <a:latin typeface="Courier New"/>
                <a:cs typeface="Courier New"/>
              </a:rPr>
              <a:t>rce</a:t>
            </a:r>
            <a:r>
              <a:rPr sz="1600" b="1" dirty="0">
                <a:solidFill>
                  <a:srgbClr val="001F5F"/>
                </a:solidFill>
                <a:latin typeface="Courier New"/>
                <a:cs typeface="Courier New"/>
              </a:rPr>
              <a:t>() throws ArithmeticException</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int a=10/0;</a:t>
            </a:r>
          </a:p>
          <a:p>
            <a:pPr marL="12700"/>
            <a:r>
              <a:rPr sz="1600" b="1" dirty="0">
                <a:solidFill>
                  <a:srgbClr val="001F5F"/>
                </a:solidFill>
                <a:latin typeface="Courier New"/>
                <a:cs typeface="Courier New"/>
              </a:rPr>
              <a:t>System.out.println(a);</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public static void main(String args[])</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try</a:t>
            </a:r>
          </a:p>
          <a:p>
            <a:pPr marL="12700"/>
            <a:r>
              <a:rPr sz="1600" b="1" dirty="0">
                <a:solidFill>
                  <a:srgbClr val="001F5F"/>
                </a:solidFill>
                <a:latin typeface="Courier New"/>
                <a:cs typeface="Courier New"/>
              </a:rPr>
              <a:t>{</a:t>
            </a:r>
          </a:p>
          <a:p>
            <a:pPr marL="12700"/>
            <a:r>
              <a:rPr lang="en-GB" sz="1600" b="1" dirty="0" err="1">
                <a:solidFill>
                  <a:srgbClr val="001F5F"/>
                </a:solidFill>
                <a:latin typeface="Courier New"/>
                <a:cs typeface="Courier New"/>
              </a:rPr>
              <a:t>rce</a:t>
            </a:r>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catch(ArithmeticException e)</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System.out.println("Arithmetic Exception handled");</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pic>
        <p:nvPicPr>
          <p:cNvPr id="3" name="object 3"/>
          <p:cNvPicPr/>
          <p:nvPr/>
        </p:nvPicPr>
        <p:blipFill>
          <a:blip r:embed="rId2" cstate="print"/>
          <a:stretch>
            <a:fillRect/>
          </a:stretch>
        </p:blipFill>
        <p:spPr>
          <a:xfrm>
            <a:off x="1644683" y="4885004"/>
            <a:ext cx="4770120" cy="1057656"/>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125217" y="3676269"/>
            <a:ext cx="125095" cy="299720"/>
          </a:xfrm>
          <a:prstGeom prst="rect">
            <a:avLst/>
          </a:prstGeom>
        </p:spPr>
        <p:txBody>
          <a:bodyPr vert="horz" wrap="square" lIns="0" tIns="12700" rIns="0" bIns="0" rtlCol="0">
            <a:normAutofit fontScale="92500" lnSpcReduction="20000"/>
          </a:bodyPr>
          <a:lstStyle/>
          <a:p>
            <a:pPr marL="12700">
              <a:lnSpc>
                <a:spcPct val="110000"/>
              </a:lnSpc>
              <a:spcBef>
                <a:spcPts val="0"/>
              </a:spcBef>
              <a:spcAft>
                <a:spcPts val="600"/>
              </a:spcAft>
            </a:pPr>
            <a:r>
              <a:rPr sz="2000" b="1" dirty="0">
                <a:solidFill>
                  <a:srgbClr val="001F5F"/>
                </a:solidFill>
                <a:latin typeface="Calibri"/>
                <a:cs typeface="Calibri"/>
              </a:rPr>
              <a:t>,</a:t>
            </a:r>
            <a:endParaRPr sz="2000">
              <a:solidFill>
                <a:srgbClr val="001F5F"/>
              </a:solidFill>
              <a:latin typeface="Calibri"/>
              <a:cs typeface="Calibri"/>
            </a:endParaRPr>
          </a:p>
        </p:txBody>
      </p:sp>
      <p:sp>
        <p:nvSpPr>
          <p:cNvPr id="4" name="object 2">
            <a:extLst>
              <a:ext uri="{FF2B5EF4-FFF2-40B4-BE49-F238E27FC236}">
                <a16:creationId xmlns:a16="http://schemas.microsoft.com/office/drawing/2014/main" id="{BEAF598A-EAF0-16F6-0591-4BF74FEB7935}"/>
              </a:ext>
            </a:extLst>
          </p:cNvPr>
          <p:cNvSpPr txBox="1">
            <a:spLocks noGrp="1"/>
          </p:cNvSpPr>
          <p:nvPr>
            <p:ph type="ctrTitle"/>
          </p:nvPr>
        </p:nvSpPr>
        <p:spPr>
          <a:xfrm>
            <a:off x="2952135" y="2209800"/>
            <a:ext cx="5643052" cy="640080"/>
          </a:xfrm>
          <a:prstGeom prst="rect">
            <a:avLst/>
          </a:prstGeom>
        </p:spPr>
        <p:txBody>
          <a:bodyPr vert="horz" wrap="square" rtlCol="0" anchor="ctr"/>
          <a:lstStyle/>
          <a:p>
            <a:pPr marL="40640" algn="l">
              <a:lnSpc>
                <a:spcPct val="100000"/>
              </a:lnSpc>
              <a:spcBef>
                <a:spcPts val="110"/>
              </a:spcBef>
            </a:pPr>
            <a:r>
              <a:rPr sz="2800" b="1" dirty="0">
                <a:solidFill>
                  <a:srgbClr val="001F5F"/>
                </a:solidFill>
                <a:latin typeface="Calibri"/>
                <a:cs typeface="Calibri"/>
              </a:rPr>
              <a:t>Unit-IV: PART-B:Exception Handling</a:t>
            </a:r>
          </a:p>
        </p:txBody>
      </p:sp>
      <p:sp>
        <p:nvSpPr>
          <p:cNvPr id="5" name="object 3">
            <a:extLst>
              <a:ext uri="{FF2B5EF4-FFF2-40B4-BE49-F238E27FC236}">
                <a16:creationId xmlns:a16="http://schemas.microsoft.com/office/drawing/2014/main" id="{BBC1E201-FBFA-F284-5CD6-17A650D9D26D}"/>
              </a:ext>
            </a:extLst>
          </p:cNvPr>
          <p:cNvSpPr txBox="1"/>
          <p:nvPr/>
        </p:nvSpPr>
        <p:spPr>
          <a:xfrm>
            <a:off x="2986548" y="2849880"/>
            <a:ext cx="7602855" cy="391160"/>
          </a:xfrm>
          <a:prstGeom prst="rect">
            <a:avLst/>
          </a:prstGeom>
        </p:spPr>
        <p:txBody>
          <a:bodyPr vert="horz" wrap="square" lIns="0" tIns="12700" rIns="0" bIns="0" rtlCol="0">
            <a:normAutofit/>
          </a:bodyPr>
          <a:lstStyle/>
          <a:p>
            <a:pPr marL="12700">
              <a:lnSpc>
                <a:spcPct val="110000"/>
              </a:lnSpc>
              <a:spcBef>
                <a:spcPts val="0"/>
              </a:spcBef>
              <a:spcAft>
                <a:spcPts val="600"/>
              </a:spcAft>
            </a:pPr>
            <a:r>
              <a:rPr sz="2000" b="1" dirty="0">
                <a:solidFill>
                  <a:srgbClr val="C00000"/>
                </a:solidFill>
                <a:latin typeface="Calibri"/>
                <a:cs typeface="Calibri"/>
              </a:rPr>
              <a:t>Concept-</a:t>
            </a:r>
            <a:r>
              <a:rPr lang="en-IN" sz="2000" b="1" dirty="0">
                <a:solidFill>
                  <a:srgbClr val="C00000"/>
                </a:solidFill>
                <a:latin typeface="Calibri"/>
                <a:cs typeface="Calibri"/>
              </a:rPr>
              <a:t>5</a:t>
            </a:r>
            <a:r>
              <a:rPr sz="2000" b="1" dirty="0">
                <a:solidFill>
                  <a:srgbClr val="C00000"/>
                </a:solidFill>
                <a:latin typeface="Calibri"/>
                <a:cs typeface="Calibri"/>
              </a:rPr>
              <a:t>:</a:t>
            </a:r>
            <a:r>
              <a:rPr lang="en-IN" sz="2000" b="1" dirty="0">
                <a:solidFill>
                  <a:srgbClr val="001F5F"/>
                </a:solidFill>
                <a:latin typeface="Calibri"/>
                <a:cs typeface="Calibri"/>
              </a:rPr>
              <a:t> Multiple Catch Clauses</a:t>
            </a:r>
            <a:endParaRPr sz="2000" dirty="0">
              <a:solidFill>
                <a:srgbClr val="001F5F"/>
              </a:solidFill>
              <a:latin typeface="Calibri"/>
              <a:cs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47800" y="1"/>
            <a:ext cx="9033511" cy="5410200"/>
          </a:xfrm>
          <a:prstGeom prst="rect">
            <a:avLst/>
          </a:prstGeom>
        </p:spPr>
        <p:txBody>
          <a:bodyPr vert="horz" wrap="none" lIns="0" tIns="12700" rIns="0" bIns="0" rtlCol="0">
            <a:normAutofit lnSpcReduction="10000"/>
          </a:bodyPr>
          <a:lstStyle/>
          <a:p>
            <a:pPr marL="12700"/>
            <a:r>
              <a:rPr sz="1600" b="1" dirty="0">
                <a:solidFill>
                  <a:srgbClr val="001F5F"/>
                </a:solidFill>
                <a:latin typeface="Courier New"/>
                <a:cs typeface="Courier New"/>
              </a:rPr>
              <a:t>class MultiCatchClauses</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public static void main(String args[])</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try</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int a=100/0;</a:t>
            </a:r>
          </a:p>
          <a:p>
            <a:pPr marL="12700"/>
            <a:r>
              <a:rPr sz="1600" b="1" dirty="0">
                <a:solidFill>
                  <a:srgbClr val="001F5F"/>
                </a:solidFill>
                <a:latin typeface="Courier New"/>
                <a:cs typeface="Courier New"/>
              </a:rPr>
              <a:t>System.out.println(a);</a:t>
            </a:r>
          </a:p>
          <a:p>
            <a:pPr marL="12700"/>
            <a:r>
              <a:rPr sz="1600" b="1" dirty="0">
                <a:solidFill>
                  <a:srgbClr val="001F5F"/>
                </a:solidFill>
                <a:latin typeface="Courier New"/>
                <a:cs typeface="Courier New"/>
              </a:rPr>
              <a:t>}</a:t>
            </a:r>
          </a:p>
          <a:p>
            <a:pPr marL="12700"/>
            <a:r>
              <a:rPr sz="1600" b="1" dirty="0">
                <a:solidFill>
                  <a:srgbClr val="C00000"/>
                </a:solidFill>
                <a:latin typeface="Courier New"/>
                <a:cs typeface="Courier New"/>
              </a:rPr>
              <a:t>catch(ArithmeticException e)</a:t>
            </a:r>
            <a:endParaRPr sz="1600" b="1" dirty="0">
              <a:solidFill>
                <a:srgbClr val="001F5F"/>
              </a:solidFill>
              <a:latin typeface="Courier New"/>
              <a:cs typeface="Courier New"/>
            </a:endParaRPr>
          </a:p>
          <a:p>
            <a:pPr marL="12700"/>
            <a:r>
              <a:rPr sz="1600" b="1" dirty="0">
                <a:solidFill>
                  <a:srgbClr val="C00000"/>
                </a:solidFill>
                <a:latin typeface="Courier New"/>
                <a:cs typeface="Courier New"/>
              </a:rPr>
              <a:t>{</a:t>
            </a:r>
            <a:endParaRPr sz="1600" b="1" dirty="0">
              <a:solidFill>
                <a:srgbClr val="001F5F"/>
              </a:solidFill>
              <a:latin typeface="Courier New"/>
              <a:cs typeface="Courier New"/>
            </a:endParaRPr>
          </a:p>
          <a:p>
            <a:pPr marL="12700"/>
            <a:r>
              <a:rPr sz="1600" b="1" dirty="0">
                <a:solidFill>
                  <a:srgbClr val="C00000"/>
                </a:solidFill>
                <a:latin typeface="Courier New"/>
                <a:cs typeface="Courier New"/>
              </a:rPr>
              <a:t>System.out.println("Exception Handled by Airth catch block:"+ e);</a:t>
            </a:r>
            <a:endParaRPr sz="1600" b="1" dirty="0">
              <a:solidFill>
                <a:srgbClr val="001F5F"/>
              </a:solidFill>
              <a:latin typeface="Courier New"/>
              <a:cs typeface="Courier New"/>
            </a:endParaRPr>
          </a:p>
          <a:p>
            <a:pPr marL="12700"/>
            <a:r>
              <a:rPr sz="1600" b="1" dirty="0">
                <a:solidFill>
                  <a:srgbClr val="C00000"/>
                </a:solidFill>
                <a:latin typeface="Courier New"/>
                <a:cs typeface="Courier New"/>
              </a:rPr>
              <a:t>}</a:t>
            </a:r>
            <a:endParaRPr sz="1600" b="1" dirty="0">
              <a:solidFill>
                <a:srgbClr val="001F5F"/>
              </a:solidFill>
              <a:latin typeface="Courier New"/>
              <a:cs typeface="Courier New"/>
            </a:endParaRPr>
          </a:p>
          <a:p>
            <a:pPr marL="12700"/>
            <a:r>
              <a:rPr sz="1600" b="1" dirty="0">
                <a:solidFill>
                  <a:srgbClr val="001F5F"/>
                </a:solidFill>
                <a:latin typeface="Courier New"/>
                <a:cs typeface="Courier New"/>
              </a:rPr>
              <a:t>catch(NullPointerException e)</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System.out.println("Exception Handled by Null catch block:"+ e);</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catch(ArrayIndexOutOfBoundsException e)</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System.out.println("Exception Handled by Outof catch block:"+ e);</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pic>
        <p:nvPicPr>
          <p:cNvPr id="3" name="object 3"/>
          <p:cNvPicPr/>
          <p:nvPr/>
        </p:nvPicPr>
        <p:blipFill>
          <a:blip r:embed="rId2" cstate="print"/>
          <a:stretch>
            <a:fillRect/>
          </a:stretch>
        </p:blipFill>
        <p:spPr>
          <a:xfrm>
            <a:off x="1447800" y="5402827"/>
            <a:ext cx="8208264" cy="1048512"/>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a:extLst>
              <a:ext uri="{FF2B5EF4-FFF2-40B4-BE49-F238E27FC236}">
                <a16:creationId xmlns:a16="http://schemas.microsoft.com/office/drawing/2014/main" id="{E0D062BC-83A6-D863-5016-40723705D6CB}"/>
              </a:ext>
            </a:extLst>
          </p:cNvPr>
          <p:cNvSpPr txBox="1"/>
          <p:nvPr/>
        </p:nvSpPr>
        <p:spPr>
          <a:xfrm>
            <a:off x="457200" y="2057400"/>
            <a:ext cx="11525250" cy="1204176"/>
          </a:xfrm>
          <a:prstGeom prst="rect">
            <a:avLst/>
          </a:prstGeom>
        </p:spPr>
        <p:txBody>
          <a:bodyPr vert="horz" wrap="square" lIns="0" tIns="12700" rIns="0" bIns="0" rtlCol="0">
            <a:noAutofit/>
          </a:bodyPr>
          <a:lstStyle/>
          <a:p>
            <a:pPr marL="49530" algn="ctr">
              <a:lnSpc>
                <a:spcPct val="110000"/>
              </a:lnSpc>
              <a:spcBef>
                <a:spcPts val="0"/>
              </a:spcBef>
              <a:spcAft>
                <a:spcPts val="600"/>
              </a:spcAft>
            </a:pPr>
            <a:r>
              <a:rPr sz="2000" b="1" dirty="0">
                <a:solidFill>
                  <a:srgbClr val="C00000"/>
                </a:solidFill>
                <a:latin typeface="Calibri"/>
                <a:cs typeface="Calibri"/>
              </a:rPr>
              <a:t>UNIT-IV PART-</a:t>
            </a:r>
            <a:r>
              <a:rPr lang="en-IN" sz="2000" b="1" dirty="0">
                <a:solidFill>
                  <a:srgbClr val="C00000"/>
                </a:solidFill>
                <a:latin typeface="Calibri"/>
                <a:cs typeface="Calibri"/>
              </a:rPr>
              <a:t>C</a:t>
            </a:r>
            <a:r>
              <a:rPr sz="2000" b="1" dirty="0">
                <a:solidFill>
                  <a:srgbClr val="C00000"/>
                </a:solidFill>
                <a:latin typeface="Calibri"/>
                <a:cs typeface="Calibri"/>
              </a:rPr>
              <a:t> :</a:t>
            </a:r>
            <a:endParaRPr sz="2000" dirty="0">
              <a:solidFill>
                <a:srgbClr val="001F5F"/>
              </a:solidFill>
              <a:latin typeface="Calibri"/>
              <a:cs typeface="Calibri"/>
            </a:endParaRPr>
          </a:p>
          <a:p>
            <a:pPr marL="12700" marR="5080">
              <a:lnSpc>
                <a:spcPct val="110000"/>
              </a:lnSpc>
              <a:spcAft>
                <a:spcPts val="600"/>
              </a:spcAft>
            </a:pPr>
            <a:r>
              <a:rPr lang="en-IN" sz="2000" b="1" dirty="0">
                <a:solidFill>
                  <a:srgbClr val="FF0000"/>
                </a:solidFill>
                <a:latin typeface="Calibri"/>
                <a:cs typeface="Calibri"/>
              </a:rPr>
              <a:t>Packages and Java Library :</a:t>
            </a:r>
            <a:r>
              <a:rPr lang="en-IN" sz="2000" b="1" dirty="0">
                <a:solidFill>
                  <a:srgbClr val="C00000"/>
                </a:solidFill>
                <a:latin typeface="Calibri"/>
                <a:cs typeface="Calibri"/>
              </a:rPr>
              <a:t> </a:t>
            </a:r>
            <a:r>
              <a:rPr lang="en-US" sz="2000" b="1" dirty="0">
                <a:solidFill>
                  <a:srgbClr val="001F5F"/>
                </a:solidFill>
                <a:latin typeface="Calibri"/>
                <a:cs typeface="Calibri"/>
              </a:rPr>
              <a:t>Introduction, </a:t>
            </a:r>
            <a:r>
              <a:rPr lang="en-IN" sz="2000" b="1" dirty="0">
                <a:solidFill>
                  <a:srgbClr val="001F5F"/>
                </a:solidFill>
                <a:latin typeface="Calibri"/>
                <a:cs typeface="Calibri"/>
              </a:rPr>
              <a:t>Defining Package, Importing Packages and Classes into Programs, Path and Class Path, Access Control, Packages in Java SE, </a:t>
            </a:r>
            <a:r>
              <a:rPr lang="en-IN" sz="2000" b="1" dirty="0" err="1">
                <a:solidFill>
                  <a:srgbClr val="001F5F"/>
                </a:solidFill>
                <a:latin typeface="Calibri"/>
                <a:cs typeface="Calibri"/>
              </a:rPr>
              <a:t>Java.lang</a:t>
            </a:r>
            <a:r>
              <a:rPr lang="en-IN" sz="2000" b="1" dirty="0">
                <a:solidFill>
                  <a:srgbClr val="001F5F"/>
                </a:solidFill>
                <a:latin typeface="Calibri"/>
                <a:cs typeface="Calibri"/>
              </a:rPr>
              <a:t> Package and its Classes, Universal super Class Object Class, Enumeration, class Math, Wrapper Classes, Auto boxing and Auto-un boxing, Java util Classes and Interfaces, Scanner class.</a:t>
            </a:r>
            <a:endParaRPr lang="en-US" sz="2000" dirty="0">
              <a:solidFill>
                <a:srgbClr val="001F5F"/>
              </a:solidFill>
              <a:latin typeface="Calibri"/>
              <a:cs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275838" y="1993772"/>
            <a:ext cx="6706362" cy="1111250"/>
          </a:xfrm>
          <a:prstGeom prst="rect">
            <a:avLst/>
          </a:prstGeom>
        </p:spPr>
        <p:txBody>
          <a:bodyPr vert="horz" wrap="square" lIns="0" tIns="12700" rIns="0" bIns="0" rtlCol="0">
            <a:normAutofit lnSpcReduction="10000"/>
          </a:bodyPr>
          <a:lstStyle/>
          <a:p>
            <a:pPr algn="ctr">
              <a:lnSpc>
                <a:spcPct val="110000"/>
              </a:lnSpc>
              <a:spcBef>
                <a:spcPts val="0"/>
              </a:spcBef>
              <a:spcAft>
                <a:spcPts val="600"/>
              </a:spcAft>
            </a:pPr>
            <a:r>
              <a:rPr sz="2000" b="1" dirty="0">
                <a:solidFill>
                  <a:srgbClr val="C00000"/>
                </a:solidFill>
                <a:latin typeface="Calibri"/>
                <a:cs typeface="Calibri"/>
              </a:rPr>
              <a:t>UNIT-04 PART-C</a:t>
            </a:r>
            <a:endParaRPr sz="2000" dirty="0">
              <a:solidFill>
                <a:srgbClr val="001F5F"/>
              </a:solidFill>
              <a:latin typeface="Calibri"/>
              <a:cs typeface="Calibri"/>
            </a:endParaRPr>
          </a:p>
          <a:p>
            <a:pPr algn="ctr">
              <a:lnSpc>
                <a:spcPct val="110000"/>
              </a:lnSpc>
              <a:spcBef>
                <a:spcPts val="0"/>
              </a:spcBef>
              <a:spcAft>
                <a:spcPts val="600"/>
              </a:spcAft>
            </a:pPr>
            <a:r>
              <a:rPr sz="2000" b="1" dirty="0">
                <a:latin typeface="Calibri"/>
                <a:cs typeface="Calibri"/>
              </a:rPr>
              <a:t>Concept-01 Packages and Java Library &amp;</a:t>
            </a:r>
            <a:endParaRPr sz="2000" dirty="0">
              <a:latin typeface="Calibri"/>
              <a:cs typeface="Calibri"/>
            </a:endParaRPr>
          </a:p>
          <a:p>
            <a:pPr algn="ctr">
              <a:lnSpc>
                <a:spcPct val="110000"/>
              </a:lnSpc>
              <a:spcBef>
                <a:spcPts val="0"/>
              </a:spcBef>
              <a:spcAft>
                <a:spcPts val="600"/>
              </a:spcAft>
            </a:pPr>
            <a:r>
              <a:rPr sz="2000" b="1" dirty="0">
                <a:latin typeface="Calibri"/>
                <a:cs typeface="Calibri"/>
              </a:rPr>
              <a:t>Advantages</a:t>
            </a:r>
            <a:endParaRPr sz="2000" dirty="0">
              <a:latin typeface="Calibri"/>
              <a:cs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2904" y="520237"/>
            <a:ext cx="11512550" cy="4167504"/>
          </a:xfrm>
          <a:prstGeom prst="rect">
            <a:avLst/>
          </a:prstGeom>
        </p:spPr>
        <p:txBody>
          <a:bodyPr vert="horz" wrap="square" lIns="0" tIns="104775" rIns="0" bIns="0" rtlCol="0">
            <a:normAutofit/>
          </a:bodyPr>
          <a:lstStyle/>
          <a:p>
            <a:pPr marL="125095">
              <a:lnSpc>
                <a:spcPct val="110000"/>
              </a:lnSpc>
              <a:spcBef>
                <a:spcPts val="0"/>
              </a:spcBef>
              <a:spcAft>
                <a:spcPts val="600"/>
              </a:spcAft>
            </a:pPr>
            <a:r>
              <a:rPr sz="1800" b="1" dirty="0">
                <a:latin typeface="Calibri"/>
                <a:cs typeface="Calibri"/>
              </a:rPr>
              <a:t>Introduction</a:t>
            </a:r>
          </a:p>
          <a:p>
            <a:pPr marL="243840" marR="5080" indent="-231775">
              <a:lnSpc>
                <a:spcPct val="110000"/>
              </a:lnSpc>
              <a:spcBef>
                <a:spcPts val="0"/>
              </a:spcBef>
              <a:spcAft>
                <a:spcPts val="600"/>
              </a:spcAft>
              <a:buSzPct val="95833"/>
              <a:buFont typeface="Wingdings"/>
              <a:buChar char=""/>
              <a:tabLst>
                <a:tab pos="243840" algn="l"/>
                <a:tab pos="255270" algn="l"/>
                <a:tab pos="777240" algn="l"/>
                <a:tab pos="1223010" algn="l"/>
                <a:tab pos="2868930" algn="l"/>
                <a:tab pos="3322954" algn="l"/>
                <a:tab pos="4835525" algn="l"/>
                <a:tab pos="6831965" algn="l"/>
                <a:tab pos="7347584" algn="l"/>
                <a:tab pos="8515350" algn="l"/>
                <a:tab pos="9759315" algn="l"/>
                <a:tab pos="10996930" algn="l"/>
              </a:tabLst>
            </a:pPr>
            <a:r>
              <a:rPr sz="1800" b="1" dirty="0">
                <a:latin typeface="Calibri"/>
                <a:cs typeface="Calibri"/>
              </a:rPr>
              <a:t> It is necessary in software development to create several classes and interfaces.</a:t>
            </a:r>
          </a:p>
          <a:p>
            <a:pPr>
              <a:lnSpc>
                <a:spcPct val="110000"/>
              </a:lnSpc>
              <a:spcBef>
                <a:spcPts val="0"/>
              </a:spcBef>
              <a:spcAft>
                <a:spcPts val="600"/>
              </a:spcAft>
              <a:buClr>
                <a:srgbClr val="006EC0"/>
              </a:buClr>
              <a:buFont typeface="Wingdings"/>
              <a:buChar char=""/>
            </a:pPr>
            <a:endParaRPr sz="1800" b="1" dirty="0">
              <a:latin typeface="Calibri"/>
              <a:cs typeface="Calibri"/>
            </a:endParaRPr>
          </a:p>
          <a:p>
            <a:pPr marL="243840" marR="8255" indent="-231775">
              <a:lnSpc>
                <a:spcPct val="110000"/>
              </a:lnSpc>
              <a:spcBef>
                <a:spcPts val="0"/>
              </a:spcBef>
              <a:spcAft>
                <a:spcPts val="600"/>
              </a:spcAft>
              <a:buSzPct val="95833"/>
              <a:buFont typeface="Wingdings"/>
              <a:buChar char=""/>
              <a:tabLst>
                <a:tab pos="243840" algn="l"/>
                <a:tab pos="255270" algn="l"/>
                <a:tab pos="1314450" algn="l"/>
                <a:tab pos="2728595" algn="l"/>
                <a:tab pos="3756025" algn="l"/>
                <a:tab pos="5003165" algn="l"/>
                <a:tab pos="5734685" algn="l"/>
                <a:tab pos="7594600" algn="l"/>
                <a:tab pos="8042909" algn="l"/>
                <a:tab pos="8500110" algn="l"/>
                <a:tab pos="9674225" algn="l"/>
                <a:tab pos="10137140" algn="l"/>
                <a:tab pos="11015345" algn="l"/>
              </a:tabLst>
            </a:pPr>
            <a:r>
              <a:rPr sz="1800" b="1" dirty="0">
                <a:latin typeface="Calibri"/>
                <a:cs typeface="Calibri"/>
              </a:rPr>
              <a:t> After creating these classes and interfaces, it is better if they are divided into some groups depending on their relationship.</a:t>
            </a:r>
          </a:p>
          <a:p>
            <a:pPr>
              <a:lnSpc>
                <a:spcPct val="110000"/>
              </a:lnSpc>
              <a:spcBef>
                <a:spcPts val="0"/>
              </a:spcBef>
              <a:spcAft>
                <a:spcPts val="600"/>
              </a:spcAft>
              <a:buClr>
                <a:srgbClr val="006EC0"/>
              </a:buClr>
              <a:buFont typeface="Wingdings"/>
              <a:buChar char=""/>
            </a:pPr>
            <a:endParaRPr sz="1800" b="1" dirty="0">
              <a:latin typeface="Calibri"/>
              <a:cs typeface="Calibri"/>
            </a:endParaRPr>
          </a:p>
          <a:p>
            <a:pPr marL="255904" indent="-243204">
              <a:lnSpc>
                <a:spcPct val="110000"/>
              </a:lnSpc>
              <a:spcBef>
                <a:spcPts val="0"/>
              </a:spcBef>
              <a:spcAft>
                <a:spcPts val="600"/>
              </a:spcAft>
              <a:buSzPct val="95833"/>
              <a:buFont typeface="Wingdings"/>
              <a:buChar char=""/>
              <a:tabLst>
                <a:tab pos="255904" algn="l"/>
              </a:tabLst>
            </a:pPr>
            <a:r>
              <a:rPr sz="1800" b="1" dirty="0">
                <a:latin typeface="Calibri"/>
                <a:cs typeface="Calibri"/>
              </a:rPr>
              <a:t>So these classes and interfaces are stored in some directory.</a:t>
            </a:r>
          </a:p>
          <a:p>
            <a:pPr>
              <a:lnSpc>
                <a:spcPct val="110000"/>
              </a:lnSpc>
              <a:spcBef>
                <a:spcPts val="0"/>
              </a:spcBef>
              <a:spcAft>
                <a:spcPts val="600"/>
              </a:spcAft>
              <a:buClr>
                <a:srgbClr val="006EC0"/>
              </a:buClr>
              <a:buFont typeface="Wingdings"/>
              <a:buChar char=""/>
            </a:pPr>
            <a:endParaRPr sz="1800" b="1" dirty="0">
              <a:latin typeface="Calibri"/>
              <a:cs typeface="Calibri"/>
            </a:endParaRPr>
          </a:p>
          <a:p>
            <a:pPr marL="255904" indent="-243204">
              <a:lnSpc>
                <a:spcPct val="110000"/>
              </a:lnSpc>
              <a:spcBef>
                <a:spcPts val="0"/>
              </a:spcBef>
              <a:spcAft>
                <a:spcPts val="600"/>
              </a:spcAft>
              <a:buSzPct val="95833"/>
              <a:buFont typeface="Wingdings"/>
              <a:buChar char=""/>
              <a:tabLst>
                <a:tab pos="255904" algn="l"/>
              </a:tabLst>
            </a:pPr>
            <a:r>
              <a:rPr sz="1800" b="1" dirty="0">
                <a:latin typeface="Calibri"/>
                <a:cs typeface="Calibri"/>
              </a:rPr>
              <a:t>This directory or folder is also known as package.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Rectangle 89">
            <a:extLst>
              <a:ext uri="{FF2B5EF4-FFF2-40B4-BE49-F238E27FC236}">
                <a16:creationId xmlns:a16="http://schemas.microsoft.com/office/drawing/2014/main" id="{6C7148DD-7957-7F76-DEBF-476C0C25B47B}"/>
              </a:ext>
            </a:extLst>
          </p:cNvPr>
          <p:cNvSpPr>
            <a:spLocks noGrp="1"/>
          </p:cNvSpPr>
          <p:nvPr/>
        </p:nvSpPr>
        <p:spPr>
          <a:xfrm>
            <a:off x="609600" y="647700"/>
            <a:ext cx="10668000" cy="571500"/>
          </a:xfrm>
          <a:prstGeom prst="rect">
            <a:avLst/>
          </a:prstGeom>
          <a:noFill/>
          <a:ln w="0">
            <a:noFill/>
          </a:ln>
        </p:spPr>
        <p:txBody>
          <a:bodyPr anchor="ctr">
            <a:normAutofit/>
          </a:bodyPr>
          <a:lstStyle/>
          <a:p>
            <a:pPr algn="l">
              <a:defRPr sz="3150" b="1">
                <a:solidFill>
                  <a:srgbClr val="102A56"/>
                </a:solidFill>
                <a:latin typeface="Arial"/>
                <a:ea typeface="Arial"/>
                <a:cs typeface="Arial"/>
              </a:defRPr>
            </a:pPr>
            <a:r>
              <a:rPr sz="3150" b="1" dirty="0">
                <a:solidFill>
                  <a:srgbClr val="102A56"/>
                </a:solidFill>
                <a:latin typeface="Arial"/>
                <a:ea typeface="Arial"/>
                <a:cs typeface="Arial"/>
              </a:rPr>
              <a:t>Package names show a hierarchy</a:t>
            </a:r>
          </a:p>
        </p:txBody>
      </p:sp>
      <p:sp>
        <p:nvSpPr>
          <p:cNvPr id="92" name="Rectangle 91">
            <a:extLst>
              <a:ext uri="{FF2B5EF4-FFF2-40B4-BE49-F238E27FC236}">
                <a16:creationId xmlns:a16="http://schemas.microsoft.com/office/drawing/2014/main" id="{988D17FC-2768-7405-85AC-637C17B3513F}"/>
              </a:ext>
            </a:extLst>
          </p:cNvPr>
          <p:cNvSpPr>
            <a:spLocks noGrp="1"/>
          </p:cNvSpPr>
          <p:nvPr/>
        </p:nvSpPr>
        <p:spPr>
          <a:xfrm>
            <a:off x="628650" y="1266825"/>
            <a:ext cx="10477500" cy="342900"/>
          </a:xfrm>
          <a:prstGeom prst="rect">
            <a:avLst/>
          </a:prstGeom>
          <a:noFill/>
          <a:ln w="0">
            <a:noFill/>
          </a:ln>
        </p:spPr>
        <p:txBody>
          <a:bodyPr anchor="ctr">
            <a:normAutofit fontScale="95652"/>
          </a:bodyPr>
          <a:lstStyle/>
          <a:p>
            <a:pPr algn="l">
              <a:defRPr sz="1725" b="0">
                <a:solidFill>
                  <a:srgbClr val="51647C"/>
                </a:solidFill>
                <a:latin typeface="Arial"/>
                <a:ea typeface="Arial"/>
                <a:cs typeface="Arial"/>
              </a:defRPr>
            </a:pPr>
            <a:r>
              <a:rPr sz="1725" b="0">
                <a:solidFill>
                  <a:srgbClr val="51647C"/>
                </a:solidFill>
                <a:latin typeface="Arial"/>
                <a:ea typeface="Arial"/>
                <a:cs typeface="Arial"/>
              </a:rPr>
              <a:t>Each dot marks a deeper level in the package structure.</a:t>
            </a:r>
          </a:p>
        </p:txBody>
      </p:sp>
      <p:sp>
        <p:nvSpPr>
          <p:cNvPr id="94" name="Rectangle 93">
            <a:extLst>
              <a:ext uri="{FF2B5EF4-FFF2-40B4-BE49-F238E27FC236}">
                <a16:creationId xmlns:a16="http://schemas.microsoft.com/office/drawing/2014/main" id="{1CF8F8D4-E84D-3EF9-FCEE-313A5DE47230}"/>
              </a:ext>
            </a:extLst>
          </p:cNvPr>
          <p:cNvSpPr>
            <a:spLocks noGrp="1"/>
          </p:cNvSpPr>
          <p:nvPr/>
        </p:nvSpPr>
        <p:spPr>
          <a:xfrm>
            <a:off x="609600" y="1781175"/>
            <a:ext cx="10972800" cy="19050"/>
          </a:xfrm>
          <a:prstGeom prst="rect">
            <a:avLst/>
          </a:prstGeom>
          <a:solidFill>
            <a:srgbClr val="D7E0EA"/>
          </a:solidFill>
          <a:ln w="0">
            <a:noFill/>
          </a:ln>
        </p:spPr>
        <p:txBody>
          <a:bodyPr/>
          <a:lstStyle/>
          <a:p>
            <a:endParaRPr lang="en-IN"/>
          </a:p>
        </p:txBody>
      </p:sp>
      <p:sp>
        <p:nvSpPr>
          <p:cNvPr id="96" name="Rectangle 95">
            <a:extLst>
              <a:ext uri="{FF2B5EF4-FFF2-40B4-BE49-F238E27FC236}">
                <a16:creationId xmlns:a16="http://schemas.microsoft.com/office/drawing/2014/main" id="{63F7F540-233D-E188-BE0C-49815E818F8E}"/>
              </a:ext>
            </a:extLst>
          </p:cNvPr>
          <p:cNvSpPr>
            <a:spLocks noGrp="1"/>
          </p:cNvSpPr>
          <p:nvPr/>
        </p:nvSpPr>
        <p:spPr>
          <a:xfrm>
            <a:off x="647700" y="2009775"/>
            <a:ext cx="4762500" cy="247650"/>
          </a:xfrm>
          <a:prstGeom prst="rect">
            <a:avLst/>
          </a:prstGeom>
          <a:noFill/>
          <a:ln w="0">
            <a:noFill/>
          </a:ln>
        </p:spPr>
        <p:txBody>
          <a:bodyPr anchor="ctr">
            <a:normAutofit fontScale="92917" lnSpcReduction="10000"/>
          </a:bodyPr>
          <a:lstStyle/>
          <a:p>
            <a:pPr algn="l">
              <a:defRPr sz="1200" b="1">
                <a:solidFill>
                  <a:srgbClr val="147D7A"/>
                </a:solidFill>
                <a:latin typeface="Arial"/>
                <a:ea typeface="Arial"/>
                <a:cs typeface="Arial"/>
              </a:defRPr>
            </a:pPr>
            <a:r>
              <a:rPr sz="1200" b="1">
                <a:solidFill>
                  <a:srgbClr val="147D7A"/>
                </a:solidFill>
                <a:latin typeface="Arial"/>
                <a:ea typeface="Arial"/>
                <a:cs typeface="Arial"/>
              </a:rPr>
              <a:t>READ THE PACKAGE TREE</a:t>
            </a:r>
          </a:p>
        </p:txBody>
      </p:sp>
      <p:sp>
        <p:nvSpPr>
          <p:cNvPr id="98" name="Rectangle: Rounded Corners 97">
            <a:extLst>
              <a:ext uri="{FF2B5EF4-FFF2-40B4-BE49-F238E27FC236}">
                <a16:creationId xmlns:a16="http://schemas.microsoft.com/office/drawing/2014/main" id="{E26E9743-FB89-95BF-80BB-BA59B5102F23}"/>
              </a:ext>
            </a:extLst>
          </p:cNvPr>
          <p:cNvSpPr>
            <a:spLocks noGrp="1"/>
          </p:cNvSpPr>
          <p:nvPr/>
        </p:nvSpPr>
        <p:spPr>
          <a:xfrm>
            <a:off x="838200" y="2495550"/>
            <a:ext cx="1428750" cy="514350"/>
          </a:xfrm>
          <a:prstGeom prst="roundRect">
            <a:avLst>
              <a:gd name="adj" fmla="val 14815"/>
            </a:avLst>
          </a:prstGeom>
          <a:solidFill>
            <a:srgbClr val="102A56"/>
          </a:solidFill>
          <a:ln w="0">
            <a:noFill/>
          </a:ln>
        </p:spPr>
        <p:txBody>
          <a:bodyPr/>
          <a:lstStyle/>
          <a:p>
            <a:endParaRPr lang="en-IN"/>
          </a:p>
        </p:txBody>
      </p:sp>
      <p:sp>
        <p:nvSpPr>
          <p:cNvPr id="100" name="Rectangle 99">
            <a:extLst>
              <a:ext uri="{FF2B5EF4-FFF2-40B4-BE49-F238E27FC236}">
                <a16:creationId xmlns:a16="http://schemas.microsoft.com/office/drawing/2014/main" id="{95B799E5-69B9-4678-8B53-BE0A870FE301}"/>
              </a:ext>
            </a:extLst>
          </p:cNvPr>
          <p:cNvSpPr>
            <a:spLocks noGrp="1"/>
          </p:cNvSpPr>
          <p:nvPr/>
        </p:nvSpPr>
        <p:spPr>
          <a:xfrm>
            <a:off x="838200" y="2495550"/>
            <a:ext cx="1428750" cy="514350"/>
          </a:xfrm>
          <a:prstGeom prst="rect">
            <a:avLst/>
          </a:prstGeom>
          <a:noFill/>
          <a:ln w="0">
            <a:noFill/>
          </a:ln>
        </p:spPr>
        <p:txBody>
          <a:bodyPr anchor="ctr">
            <a:normAutofit/>
          </a:bodyPr>
          <a:lstStyle/>
          <a:p>
            <a:pPr algn="ctr">
              <a:defRPr sz="1800" b="1">
                <a:solidFill>
                  <a:srgbClr val="FFFFFF"/>
                </a:solidFill>
                <a:latin typeface="Consolas"/>
                <a:ea typeface="Consolas"/>
                <a:cs typeface="Consolas"/>
              </a:defRPr>
            </a:pPr>
            <a:r>
              <a:rPr sz="1800" b="1">
                <a:solidFill>
                  <a:srgbClr val="FFFFFF"/>
                </a:solidFill>
                <a:latin typeface="Consolas"/>
                <a:ea typeface="Consolas"/>
                <a:cs typeface="Consolas"/>
              </a:rPr>
              <a:t>java</a:t>
            </a:r>
          </a:p>
        </p:txBody>
      </p:sp>
      <p:sp>
        <p:nvSpPr>
          <p:cNvPr id="102" name="Rectangle 101">
            <a:extLst>
              <a:ext uri="{FF2B5EF4-FFF2-40B4-BE49-F238E27FC236}">
                <a16:creationId xmlns:a16="http://schemas.microsoft.com/office/drawing/2014/main" id="{D4E7E314-D3CB-65F7-9545-1C46A085DB39}"/>
              </a:ext>
            </a:extLst>
          </p:cNvPr>
          <p:cNvSpPr>
            <a:spLocks noGrp="1"/>
          </p:cNvSpPr>
          <p:nvPr/>
        </p:nvSpPr>
        <p:spPr>
          <a:xfrm>
            <a:off x="1504950" y="3009900"/>
            <a:ext cx="19050" cy="2247900"/>
          </a:xfrm>
          <a:prstGeom prst="rect">
            <a:avLst/>
          </a:prstGeom>
          <a:solidFill>
            <a:srgbClr val="D7E0EA"/>
          </a:solidFill>
          <a:ln w="0">
            <a:noFill/>
          </a:ln>
        </p:spPr>
        <p:txBody>
          <a:bodyPr/>
          <a:lstStyle/>
          <a:p>
            <a:endParaRPr lang="en-IN"/>
          </a:p>
        </p:txBody>
      </p:sp>
      <p:sp>
        <p:nvSpPr>
          <p:cNvPr id="104" name="Rectangle 103">
            <a:extLst>
              <a:ext uri="{FF2B5EF4-FFF2-40B4-BE49-F238E27FC236}">
                <a16:creationId xmlns:a16="http://schemas.microsoft.com/office/drawing/2014/main" id="{C44CA5C6-B894-F3E4-8E29-94588741C12F}"/>
              </a:ext>
            </a:extLst>
          </p:cNvPr>
          <p:cNvSpPr>
            <a:spLocks noGrp="1"/>
          </p:cNvSpPr>
          <p:nvPr/>
        </p:nvSpPr>
        <p:spPr>
          <a:xfrm>
            <a:off x="1504950" y="3505200"/>
            <a:ext cx="590550" cy="19050"/>
          </a:xfrm>
          <a:prstGeom prst="rect">
            <a:avLst/>
          </a:prstGeom>
          <a:solidFill>
            <a:srgbClr val="D7E0EA"/>
          </a:solidFill>
          <a:ln w="0">
            <a:noFill/>
          </a:ln>
        </p:spPr>
        <p:txBody>
          <a:bodyPr/>
          <a:lstStyle/>
          <a:p>
            <a:endParaRPr lang="en-IN"/>
          </a:p>
        </p:txBody>
      </p:sp>
      <p:sp>
        <p:nvSpPr>
          <p:cNvPr id="106" name="Rectangle 105">
            <a:extLst>
              <a:ext uri="{FF2B5EF4-FFF2-40B4-BE49-F238E27FC236}">
                <a16:creationId xmlns:a16="http://schemas.microsoft.com/office/drawing/2014/main" id="{C9590C11-EEC5-BBAA-6156-464E6B9E4C40}"/>
              </a:ext>
            </a:extLst>
          </p:cNvPr>
          <p:cNvSpPr>
            <a:spLocks noGrp="1"/>
          </p:cNvSpPr>
          <p:nvPr/>
        </p:nvSpPr>
        <p:spPr>
          <a:xfrm>
            <a:off x="1504950" y="4171950"/>
            <a:ext cx="590550" cy="19050"/>
          </a:xfrm>
          <a:prstGeom prst="rect">
            <a:avLst/>
          </a:prstGeom>
          <a:solidFill>
            <a:srgbClr val="D7E0EA"/>
          </a:solidFill>
          <a:ln w="0">
            <a:noFill/>
          </a:ln>
        </p:spPr>
        <p:txBody>
          <a:bodyPr/>
          <a:lstStyle/>
          <a:p>
            <a:endParaRPr lang="en-IN"/>
          </a:p>
        </p:txBody>
      </p:sp>
      <p:sp>
        <p:nvSpPr>
          <p:cNvPr id="108" name="Rectangle 107">
            <a:extLst>
              <a:ext uri="{FF2B5EF4-FFF2-40B4-BE49-F238E27FC236}">
                <a16:creationId xmlns:a16="http://schemas.microsoft.com/office/drawing/2014/main" id="{C56AEE0D-76E0-DD0F-9228-A260A8D513E0}"/>
              </a:ext>
            </a:extLst>
          </p:cNvPr>
          <p:cNvSpPr>
            <a:spLocks noGrp="1"/>
          </p:cNvSpPr>
          <p:nvPr/>
        </p:nvSpPr>
        <p:spPr>
          <a:xfrm>
            <a:off x="1504950" y="4838700"/>
            <a:ext cx="590550" cy="19050"/>
          </a:xfrm>
          <a:prstGeom prst="rect">
            <a:avLst/>
          </a:prstGeom>
          <a:solidFill>
            <a:srgbClr val="D7E0EA"/>
          </a:solidFill>
          <a:ln w="0">
            <a:noFill/>
          </a:ln>
        </p:spPr>
        <p:txBody>
          <a:bodyPr/>
          <a:lstStyle/>
          <a:p>
            <a:endParaRPr lang="en-IN"/>
          </a:p>
        </p:txBody>
      </p:sp>
      <p:sp>
        <p:nvSpPr>
          <p:cNvPr id="110" name="Rectangle: Rounded Corners 109">
            <a:extLst>
              <a:ext uri="{FF2B5EF4-FFF2-40B4-BE49-F238E27FC236}">
                <a16:creationId xmlns:a16="http://schemas.microsoft.com/office/drawing/2014/main" id="{015F0046-A9B3-3DD9-2B3C-AB3EB1553E31}"/>
              </a:ext>
            </a:extLst>
          </p:cNvPr>
          <p:cNvSpPr>
            <a:spLocks noGrp="1"/>
          </p:cNvSpPr>
          <p:nvPr/>
        </p:nvSpPr>
        <p:spPr>
          <a:xfrm>
            <a:off x="2095500" y="3257550"/>
            <a:ext cx="1409700" cy="495300"/>
          </a:xfrm>
          <a:prstGeom prst="roundRect">
            <a:avLst>
              <a:gd name="adj" fmla="val 15385"/>
            </a:avLst>
          </a:prstGeom>
          <a:solidFill>
            <a:srgbClr val="EAF1F8"/>
          </a:solidFill>
          <a:ln w="0">
            <a:noFill/>
          </a:ln>
        </p:spPr>
        <p:txBody>
          <a:bodyPr/>
          <a:lstStyle/>
          <a:p>
            <a:endParaRPr lang="en-IN"/>
          </a:p>
        </p:txBody>
      </p:sp>
      <p:sp>
        <p:nvSpPr>
          <p:cNvPr id="112" name="Rectangle 111">
            <a:extLst>
              <a:ext uri="{FF2B5EF4-FFF2-40B4-BE49-F238E27FC236}">
                <a16:creationId xmlns:a16="http://schemas.microsoft.com/office/drawing/2014/main" id="{B8E3CB0A-8EF0-F80A-4AB0-0EF4BD94172F}"/>
              </a:ext>
            </a:extLst>
          </p:cNvPr>
          <p:cNvSpPr>
            <a:spLocks noGrp="1"/>
          </p:cNvSpPr>
          <p:nvPr/>
        </p:nvSpPr>
        <p:spPr>
          <a:xfrm>
            <a:off x="2095500" y="3257550"/>
            <a:ext cx="1409700" cy="495300"/>
          </a:xfrm>
          <a:prstGeom prst="rect">
            <a:avLst/>
          </a:prstGeom>
          <a:noFill/>
          <a:ln w="0">
            <a:noFill/>
          </a:ln>
        </p:spPr>
        <p:txBody>
          <a:bodyPr anchor="ctr">
            <a:normAutofit/>
          </a:bodyPr>
          <a:lstStyle/>
          <a:p>
            <a:pPr algn="ctr">
              <a:defRPr sz="1650" b="1">
                <a:solidFill>
                  <a:srgbClr val="102A56"/>
                </a:solidFill>
                <a:latin typeface="Consolas"/>
                <a:ea typeface="Consolas"/>
                <a:cs typeface="Consolas"/>
              </a:defRPr>
            </a:pPr>
            <a:r>
              <a:rPr sz="1650" b="1">
                <a:solidFill>
                  <a:srgbClr val="102A56"/>
                </a:solidFill>
                <a:latin typeface="Consolas"/>
                <a:ea typeface="Consolas"/>
                <a:cs typeface="Consolas"/>
              </a:rPr>
              <a:t>io</a:t>
            </a:r>
          </a:p>
        </p:txBody>
      </p:sp>
      <p:sp>
        <p:nvSpPr>
          <p:cNvPr id="114" name="Rectangle: Rounded Corners 113">
            <a:extLst>
              <a:ext uri="{FF2B5EF4-FFF2-40B4-BE49-F238E27FC236}">
                <a16:creationId xmlns:a16="http://schemas.microsoft.com/office/drawing/2014/main" id="{552CE056-A6AC-2430-87CF-76E294B457E7}"/>
              </a:ext>
            </a:extLst>
          </p:cNvPr>
          <p:cNvSpPr>
            <a:spLocks noGrp="1"/>
          </p:cNvSpPr>
          <p:nvPr/>
        </p:nvSpPr>
        <p:spPr>
          <a:xfrm>
            <a:off x="2095500" y="3924300"/>
            <a:ext cx="1409700" cy="495300"/>
          </a:xfrm>
          <a:prstGeom prst="roundRect">
            <a:avLst>
              <a:gd name="adj" fmla="val 15385"/>
            </a:avLst>
          </a:prstGeom>
          <a:solidFill>
            <a:srgbClr val="EAF1F8"/>
          </a:solidFill>
          <a:ln w="0">
            <a:noFill/>
          </a:ln>
        </p:spPr>
        <p:txBody>
          <a:bodyPr/>
          <a:lstStyle/>
          <a:p>
            <a:endParaRPr lang="en-IN"/>
          </a:p>
        </p:txBody>
      </p:sp>
      <p:sp>
        <p:nvSpPr>
          <p:cNvPr id="116" name="Rectangle 115">
            <a:extLst>
              <a:ext uri="{FF2B5EF4-FFF2-40B4-BE49-F238E27FC236}">
                <a16:creationId xmlns:a16="http://schemas.microsoft.com/office/drawing/2014/main" id="{838BEA8E-DC18-D33D-B55D-2EDFED2278FE}"/>
              </a:ext>
            </a:extLst>
          </p:cNvPr>
          <p:cNvSpPr>
            <a:spLocks noGrp="1"/>
          </p:cNvSpPr>
          <p:nvPr/>
        </p:nvSpPr>
        <p:spPr>
          <a:xfrm>
            <a:off x="2095500" y="3924300"/>
            <a:ext cx="1409700" cy="495300"/>
          </a:xfrm>
          <a:prstGeom prst="rect">
            <a:avLst/>
          </a:prstGeom>
          <a:noFill/>
          <a:ln w="0">
            <a:noFill/>
          </a:ln>
        </p:spPr>
        <p:txBody>
          <a:bodyPr anchor="ctr">
            <a:normAutofit/>
          </a:bodyPr>
          <a:lstStyle/>
          <a:p>
            <a:pPr algn="ctr">
              <a:defRPr sz="1650" b="1">
                <a:solidFill>
                  <a:srgbClr val="102A56"/>
                </a:solidFill>
                <a:latin typeface="Consolas"/>
                <a:ea typeface="Consolas"/>
                <a:cs typeface="Consolas"/>
              </a:defRPr>
            </a:pPr>
            <a:r>
              <a:rPr sz="1650" b="1">
                <a:solidFill>
                  <a:srgbClr val="102A56"/>
                </a:solidFill>
                <a:latin typeface="Consolas"/>
                <a:ea typeface="Consolas"/>
                <a:cs typeface="Consolas"/>
              </a:rPr>
              <a:t>lang</a:t>
            </a:r>
          </a:p>
        </p:txBody>
      </p:sp>
      <p:sp>
        <p:nvSpPr>
          <p:cNvPr id="118" name="Rectangle: Rounded Corners 117">
            <a:extLst>
              <a:ext uri="{FF2B5EF4-FFF2-40B4-BE49-F238E27FC236}">
                <a16:creationId xmlns:a16="http://schemas.microsoft.com/office/drawing/2014/main" id="{591B0EA5-73F7-8CED-36B1-23842ACF9811}"/>
              </a:ext>
            </a:extLst>
          </p:cNvPr>
          <p:cNvSpPr>
            <a:spLocks noGrp="1"/>
          </p:cNvSpPr>
          <p:nvPr/>
        </p:nvSpPr>
        <p:spPr>
          <a:xfrm>
            <a:off x="2095500" y="4591050"/>
            <a:ext cx="1409700" cy="495300"/>
          </a:xfrm>
          <a:prstGeom prst="roundRect">
            <a:avLst>
              <a:gd name="adj" fmla="val 15385"/>
            </a:avLst>
          </a:prstGeom>
          <a:solidFill>
            <a:srgbClr val="EAF1F8"/>
          </a:solidFill>
          <a:ln w="0">
            <a:noFill/>
          </a:ln>
        </p:spPr>
        <p:txBody>
          <a:bodyPr/>
          <a:lstStyle/>
          <a:p>
            <a:endParaRPr lang="en-IN"/>
          </a:p>
        </p:txBody>
      </p:sp>
      <p:sp>
        <p:nvSpPr>
          <p:cNvPr id="120" name="Rectangle 119">
            <a:extLst>
              <a:ext uri="{FF2B5EF4-FFF2-40B4-BE49-F238E27FC236}">
                <a16:creationId xmlns:a16="http://schemas.microsoft.com/office/drawing/2014/main" id="{D647B209-4AAE-10D7-5F0C-2D822DA2DDE7}"/>
              </a:ext>
            </a:extLst>
          </p:cNvPr>
          <p:cNvSpPr>
            <a:spLocks noGrp="1"/>
          </p:cNvSpPr>
          <p:nvPr/>
        </p:nvSpPr>
        <p:spPr>
          <a:xfrm>
            <a:off x="2095500" y="4591050"/>
            <a:ext cx="1409700" cy="495300"/>
          </a:xfrm>
          <a:prstGeom prst="rect">
            <a:avLst/>
          </a:prstGeom>
          <a:noFill/>
          <a:ln w="0">
            <a:noFill/>
          </a:ln>
        </p:spPr>
        <p:txBody>
          <a:bodyPr anchor="ctr">
            <a:normAutofit/>
          </a:bodyPr>
          <a:lstStyle/>
          <a:p>
            <a:pPr algn="ctr">
              <a:defRPr sz="1650" b="1">
                <a:solidFill>
                  <a:srgbClr val="102A56"/>
                </a:solidFill>
                <a:latin typeface="Consolas"/>
                <a:ea typeface="Consolas"/>
                <a:cs typeface="Consolas"/>
              </a:defRPr>
            </a:pPr>
            <a:r>
              <a:rPr sz="1650" b="1">
                <a:solidFill>
                  <a:srgbClr val="102A56"/>
                </a:solidFill>
                <a:latin typeface="Consolas"/>
                <a:ea typeface="Consolas"/>
                <a:cs typeface="Consolas"/>
              </a:rPr>
              <a:t>awt</a:t>
            </a:r>
          </a:p>
        </p:txBody>
      </p:sp>
      <p:sp>
        <p:nvSpPr>
          <p:cNvPr id="122" name="Rectangle 121">
            <a:extLst>
              <a:ext uri="{FF2B5EF4-FFF2-40B4-BE49-F238E27FC236}">
                <a16:creationId xmlns:a16="http://schemas.microsoft.com/office/drawing/2014/main" id="{D647D179-9234-D13F-BA3B-F492A98EDEAB}"/>
              </a:ext>
            </a:extLst>
          </p:cNvPr>
          <p:cNvSpPr>
            <a:spLocks noGrp="1"/>
          </p:cNvSpPr>
          <p:nvPr/>
        </p:nvSpPr>
        <p:spPr>
          <a:xfrm>
            <a:off x="3505200" y="4838700"/>
            <a:ext cx="495300" cy="19050"/>
          </a:xfrm>
          <a:prstGeom prst="rect">
            <a:avLst/>
          </a:prstGeom>
          <a:solidFill>
            <a:srgbClr val="D7E0EA"/>
          </a:solidFill>
          <a:ln w="0">
            <a:noFill/>
          </a:ln>
        </p:spPr>
        <p:txBody>
          <a:bodyPr/>
          <a:lstStyle/>
          <a:p>
            <a:endParaRPr lang="en-IN"/>
          </a:p>
        </p:txBody>
      </p:sp>
      <p:sp>
        <p:nvSpPr>
          <p:cNvPr id="124" name="Rectangle: Rounded Corners 123">
            <a:extLst>
              <a:ext uri="{FF2B5EF4-FFF2-40B4-BE49-F238E27FC236}">
                <a16:creationId xmlns:a16="http://schemas.microsoft.com/office/drawing/2014/main" id="{0D9AB840-0392-C1F7-C2D2-8E1B15045592}"/>
              </a:ext>
            </a:extLst>
          </p:cNvPr>
          <p:cNvSpPr>
            <a:spLocks noGrp="1"/>
          </p:cNvSpPr>
          <p:nvPr/>
        </p:nvSpPr>
        <p:spPr>
          <a:xfrm>
            <a:off x="4000500" y="4591050"/>
            <a:ext cx="1409700" cy="495300"/>
          </a:xfrm>
          <a:prstGeom prst="roundRect">
            <a:avLst>
              <a:gd name="adj" fmla="val 15385"/>
            </a:avLst>
          </a:prstGeom>
          <a:noFill/>
          <a:ln w="0">
            <a:noFill/>
          </a:ln>
        </p:spPr>
        <p:txBody>
          <a:bodyPr/>
          <a:lstStyle/>
          <a:p>
            <a:endParaRPr lang="en-IN"/>
          </a:p>
        </p:txBody>
      </p:sp>
      <p:sp>
        <p:nvSpPr>
          <p:cNvPr id="126" name="Rectangle 125">
            <a:extLst>
              <a:ext uri="{FF2B5EF4-FFF2-40B4-BE49-F238E27FC236}">
                <a16:creationId xmlns:a16="http://schemas.microsoft.com/office/drawing/2014/main" id="{DCF241C1-A4D6-045C-D8A4-EBD38483DCF3}"/>
              </a:ext>
            </a:extLst>
          </p:cNvPr>
          <p:cNvSpPr>
            <a:spLocks noGrp="1"/>
          </p:cNvSpPr>
          <p:nvPr/>
        </p:nvSpPr>
        <p:spPr>
          <a:xfrm>
            <a:off x="4000500" y="4591050"/>
            <a:ext cx="1409700" cy="495300"/>
          </a:xfrm>
          <a:prstGeom prst="rect">
            <a:avLst/>
          </a:prstGeom>
          <a:noFill/>
          <a:ln w="0">
            <a:noFill/>
          </a:ln>
        </p:spPr>
        <p:txBody>
          <a:bodyPr anchor="ctr">
            <a:normAutofit/>
          </a:bodyPr>
          <a:lstStyle/>
          <a:p>
            <a:pPr algn="ctr">
              <a:defRPr sz="1650" b="1">
                <a:solidFill>
                  <a:srgbClr val="147D7A"/>
                </a:solidFill>
                <a:latin typeface="Consolas"/>
                <a:ea typeface="Consolas"/>
                <a:cs typeface="Consolas"/>
              </a:defRPr>
            </a:pPr>
            <a:r>
              <a:rPr sz="1650" b="1">
                <a:solidFill>
                  <a:srgbClr val="147D7A"/>
                </a:solidFill>
                <a:latin typeface="Consolas"/>
                <a:ea typeface="Consolas"/>
                <a:cs typeface="Consolas"/>
              </a:rPr>
              <a:t>event</a:t>
            </a:r>
          </a:p>
        </p:txBody>
      </p:sp>
      <p:sp>
        <p:nvSpPr>
          <p:cNvPr id="130" name="Rectangle 129">
            <a:extLst>
              <a:ext uri="{FF2B5EF4-FFF2-40B4-BE49-F238E27FC236}">
                <a16:creationId xmlns:a16="http://schemas.microsoft.com/office/drawing/2014/main" id="{E858AA19-5935-681C-E130-30CFD74F851B}"/>
              </a:ext>
            </a:extLst>
          </p:cNvPr>
          <p:cNvSpPr>
            <a:spLocks noGrp="1"/>
          </p:cNvSpPr>
          <p:nvPr/>
        </p:nvSpPr>
        <p:spPr>
          <a:xfrm>
            <a:off x="5905500" y="2009775"/>
            <a:ext cx="19050" cy="3476625"/>
          </a:xfrm>
          <a:prstGeom prst="rect">
            <a:avLst/>
          </a:prstGeom>
          <a:solidFill>
            <a:srgbClr val="D7E0EA"/>
          </a:solidFill>
          <a:ln w="0">
            <a:noFill/>
          </a:ln>
        </p:spPr>
        <p:txBody>
          <a:bodyPr/>
          <a:lstStyle/>
          <a:p>
            <a:endParaRPr lang="en-IN"/>
          </a:p>
        </p:txBody>
      </p:sp>
      <p:sp>
        <p:nvSpPr>
          <p:cNvPr id="132" name="Rectangle 131">
            <a:extLst>
              <a:ext uri="{FF2B5EF4-FFF2-40B4-BE49-F238E27FC236}">
                <a16:creationId xmlns:a16="http://schemas.microsoft.com/office/drawing/2014/main" id="{CDB127CE-8C38-A72E-682F-EE875D20CE53}"/>
              </a:ext>
            </a:extLst>
          </p:cNvPr>
          <p:cNvSpPr>
            <a:spLocks noGrp="1"/>
          </p:cNvSpPr>
          <p:nvPr/>
        </p:nvSpPr>
        <p:spPr>
          <a:xfrm>
            <a:off x="6267450" y="2009775"/>
            <a:ext cx="5143500" cy="247650"/>
          </a:xfrm>
          <a:prstGeom prst="rect">
            <a:avLst/>
          </a:prstGeom>
          <a:noFill/>
          <a:ln w="0">
            <a:noFill/>
          </a:ln>
        </p:spPr>
        <p:txBody>
          <a:bodyPr anchor="ctr">
            <a:normAutofit fontScale="92917" lnSpcReduction="10000"/>
          </a:bodyPr>
          <a:lstStyle/>
          <a:p>
            <a:pPr algn="l">
              <a:defRPr sz="1200" b="1">
                <a:solidFill>
                  <a:srgbClr val="147D7A"/>
                </a:solidFill>
                <a:latin typeface="Arial"/>
                <a:ea typeface="Arial"/>
                <a:cs typeface="Arial"/>
              </a:defRPr>
            </a:pPr>
            <a:r>
              <a:rPr sz="1200" b="1">
                <a:solidFill>
                  <a:srgbClr val="147D7A"/>
                </a:solidFill>
                <a:latin typeface="Arial"/>
                <a:ea typeface="Arial"/>
                <a:cs typeface="Arial"/>
              </a:rPr>
              <a:t>DOTS BECOME PATH LEVELS</a:t>
            </a:r>
          </a:p>
        </p:txBody>
      </p:sp>
      <p:sp>
        <p:nvSpPr>
          <p:cNvPr id="134" name="Rectangle 133">
            <a:extLst>
              <a:ext uri="{FF2B5EF4-FFF2-40B4-BE49-F238E27FC236}">
                <a16:creationId xmlns:a16="http://schemas.microsoft.com/office/drawing/2014/main" id="{B0EBF2AC-7091-81A4-4299-3134ED0AFC25}"/>
              </a:ext>
            </a:extLst>
          </p:cNvPr>
          <p:cNvSpPr>
            <a:spLocks noGrp="1"/>
          </p:cNvSpPr>
          <p:nvPr/>
        </p:nvSpPr>
        <p:spPr>
          <a:xfrm>
            <a:off x="6286500" y="2514600"/>
            <a:ext cx="2190750" cy="285750"/>
          </a:xfrm>
          <a:prstGeom prst="rect">
            <a:avLst/>
          </a:prstGeom>
          <a:noFill/>
          <a:ln w="0">
            <a:noFill/>
          </a:ln>
        </p:spPr>
        <p:txBody>
          <a:bodyPr anchor="ctr">
            <a:normAutofit/>
          </a:bodyPr>
          <a:lstStyle/>
          <a:p>
            <a:pPr algn="l">
              <a:defRPr sz="1200" b="1">
                <a:solidFill>
                  <a:srgbClr val="51647C"/>
                </a:solidFill>
                <a:latin typeface="Arial"/>
                <a:ea typeface="Arial"/>
                <a:cs typeface="Arial"/>
              </a:defRPr>
            </a:pPr>
            <a:r>
              <a:rPr sz="1200" b="1">
                <a:solidFill>
                  <a:srgbClr val="51647C"/>
                </a:solidFill>
                <a:latin typeface="Arial"/>
                <a:ea typeface="Arial"/>
                <a:cs typeface="Arial"/>
              </a:rPr>
              <a:t>Package name</a:t>
            </a:r>
          </a:p>
        </p:txBody>
      </p:sp>
      <p:sp>
        <p:nvSpPr>
          <p:cNvPr id="136" name="Rectangle 135">
            <a:extLst>
              <a:ext uri="{FF2B5EF4-FFF2-40B4-BE49-F238E27FC236}">
                <a16:creationId xmlns:a16="http://schemas.microsoft.com/office/drawing/2014/main" id="{56AFEE61-4FB3-FDFE-04B4-407B9B4E203A}"/>
              </a:ext>
            </a:extLst>
          </p:cNvPr>
          <p:cNvSpPr>
            <a:spLocks noGrp="1"/>
          </p:cNvSpPr>
          <p:nvPr/>
        </p:nvSpPr>
        <p:spPr>
          <a:xfrm>
            <a:off x="8820150" y="2514600"/>
            <a:ext cx="2381250" cy="285750"/>
          </a:xfrm>
          <a:prstGeom prst="rect">
            <a:avLst/>
          </a:prstGeom>
          <a:noFill/>
          <a:ln w="0">
            <a:noFill/>
          </a:ln>
        </p:spPr>
        <p:txBody>
          <a:bodyPr anchor="ctr">
            <a:normAutofit/>
          </a:bodyPr>
          <a:lstStyle/>
          <a:p>
            <a:pPr algn="l">
              <a:defRPr sz="1200" b="1">
                <a:solidFill>
                  <a:srgbClr val="51647C"/>
                </a:solidFill>
                <a:latin typeface="Arial"/>
                <a:ea typeface="Arial"/>
                <a:cs typeface="Arial"/>
              </a:defRPr>
            </a:pPr>
            <a:r>
              <a:rPr sz="1200" b="1">
                <a:solidFill>
                  <a:srgbClr val="51647C"/>
                </a:solidFill>
                <a:latin typeface="Arial"/>
                <a:ea typeface="Arial"/>
                <a:cs typeface="Arial"/>
              </a:rPr>
              <a:t>Path form</a:t>
            </a:r>
          </a:p>
        </p:txBody>
      </p:sp>
      <p:sp>
        <p:nvSpPr>
          <p:cNvPr id="138" name="Rectangle: Rounded Corners 137">
            <a:extLst>
              <a:ext uri="{FF2B5EF4-FFF2-40B4-BE49-F238E27FC236}">
                <a16:creationId xmlns:a16="http://schemas.microsoft.com/office/drawing/2014/main" id="{C5E34E5F-657A-6875-5215-9C3C75663947}"/>
              </a:ext>
            </a:extLst>
          </p:cNvPr>
          <p:cNvSpPr>
            <a:spLocks noGrp="1"/>
          </p:cNvSpPr>
          <p:nvPr/>
        </p:nvSpPr>
        <p:spPr>
          <a:xfrm>
            <a:off x="6191250" y="3067050"/>
            <a:ext cx="5238750" cy="514350"/>
          </a:xfrm>
          <a:prstGeom prst="roundRect">
            <a:avLst>
              <a:gd name="adj" fmla="val 14815"/>
            </a:avLst>
          </a:prstGeom>
          <a:solidFill>
            <a:srgbClr val="FFFFFF"/>
          </a:solidFill>
          <a:ln w="9525">
            <a:solidFill>
              <a:srgbClr val="D7E0EA"/>
            </a:solidFill>
          </a:ln>
        </p:spPr>
        <p:txBody>
          <a:bodyPr/>
          <a:lstStyle/>
          <a:p>
            <a:endParaRPr lang="en-IN"/>
          </a:p>
        </p:txBody>
      </p:sp>
      <p:sp>
        <p:nvSpPr>
          <p:cNvPr id="140" name="Rectangle 139">
            <a:extLst>
              <a:ext uri="{FF2B5EF4-FFF2-40B4-BE49-F238E27FC236}">
                <a16:creationId xmlns:a16="http://schemas.microsoft.com/office/drawing/2014/main" id="{0E59708F-461C-E454-E217-38CC61BC4DDA}"/>
              </a:ext>
            </a:extLst>
          </p:cNvPr>
          <p:cNvSpPr>
            <a:spLocks noGrp="1"/>
          </p:cNvSpPr>
          <p:nvPr/>
        </p:nvSpPr>
        <p:spPr>
          <a:xfrm>
            <a:off x="6400800" y="3067050"/>
            <a:ext cx="2333625" cy="514350"/>
          </a:xfrm>
          <a:prstGeom prst="rect">
            <a:avLst/>
          </a:prstGeom>
          <a:noFill/>
          <a:ln w="0">
            <a:noFill/>
          </a:ln>
        </p:spPr>
        <p:txBody>
          <a:bodyPr anchor="ctr">
            <a:normAutofit/>
          </a:bodyPr>
          <a:lstStyle/>
          <a:p>
            <a:pPr algn="l">
              <a:defRPr sz="1575" b="1">
                <a:solidFill>
                  <a:srgbClr val="102A56"/>
                </a:solidFill>
                <a:latin typeface="Consolas"/>
                <a:ea typeface="Consolas"/>
                <a:cs typeface="Consolas"/>
              </a:defRPr>
            </a:pPr>
            <a:r>
              <a:rPr sz="1575" b="1">
                <a:solidFill>
                  <a:srgbClr val="102A56"/>
                </a:solidFill>
                <a:latin typeface="Consolas"/>
                <a:ea typeface="Consolas"/>
                <a:cs typeface="Consolas"/>
              </a:rPr>
              <a:t>java.io</a:t>
            </a:r>
          </a:p>
        </p:txBody>
      </p:sp>
      <p:sp>
        <p:nvSpPr>
          <p:cNvPr id="142" name="Rectangle 141">
            <a:extLst>
              <a:ext uri="{FF2B5EF4-FFF2-40B4-BE49-F238E27FC236}">
                <a16:creationId xmlns:a16="http://schemas.microsoft.com/office/drawing/2014/main" id="{5C46D4D9-A122-8B63-6A8D-A61EE2BBCF91}"/>
              </a:ext>
            </a:extLst>
          </p:cNvPr>
          <p:cNvSpPr>
            <a:spLocks noGrp="1"/>
          </p:cNvSpPr>
          <p:nvPr/>
        </p:nvSpPr>
        <p:spPr>
          <a:xfrm>
            <a:off x="8572500" y="3067050"/>
            <a:ext cx="285750" cy="514350"/>
          </a:xfrm>
          <a:prstGeom prst="rect">
            <a:avLst/>
          </a:prstGeom>
          <a:noFill/>
          <a:ln w="0">
            <a:noFill/>
          </a:ln>
        </p:spPr>
        <p:txBody>
          <a:bodyPr anchor="ctr">
            <a:normAutofit fontScale="98722"/>
          </a:bodyPr>
          <a:lstStyle/>
          <a:p>
            <a:pPr algn="ctr">
              <a:defRPr sz="1500" b="1">
                <a:solidFill>
                  <a:srgbClr val="147D7A"/>
                </a:solidFill>
                <a:latin typeface="Arial"/>
                <a:ea typeface="Arial"/>
                <a:cs typeface="Arial"/>
              </a:defRPr>
            </a:pPr>
            <a:r>
              <a:rPr sz="1500" b="1">
                <a:solidFill>
                  <a:srgbClr val="147D7A"/>
                </a:solidFill>
                <a:latin typeface="Arial"/>
                <a:ea typeface="Arial"/>
                <a:cs typeface="Arial"/>
              </a:rPr>
              <a:t>→</a:t>
            </a:r>
          </a:p>
        </p:txBody>
      </p:sp>
      <p:sp>
        <p:nvSpPr>
          <p:cNvPr id="144" name="Rectangle 143">
            <a:extLst>
              <a:ext uri="{FF2B5EF4-FFF2-40B4-BE49-F238E27FC236}">
                <a16:creationId xmlns:a16="http://schemas.microsoft.com/office/drawing/2014/main" id="{A84EC67C-D224-8BB4-A378-B2EC2E8DD24B}"/>
              </a:ext>
            </a:extLst>
          </p:cNvPr>
          <p:cNvSpPr>
            <a:spLocks noGrp="1"/>
          </p:cNvSpPr>
          <p:nvPr/>
        </p:nvSpPr>
        <p:spPr>
          <a:xfrm>
            <a:off x="8972550" y="3067050"/>
            <a:ext cx="2286000" cy="514350"/>
          </a:xfrm>
          <a:prstGeom prst="rect">
            <a:avLst/>
          </a:prstGeom>
          <a:noFill/>
          <a:ln w="0">
            <a:noFill/>
          </a:ln>
        </p:spPr>
        <p:txBody>
          <a:bodyPr anchor="ctr">
            <a:normAutofit/>
          </a:bodyPr>
          <a:lstStyle/>
          <a:p>
            <a:pPr algn="l">
              <a:defRPr sz="1500" b="0">
                <a:solidFill>
                  <a:srgbClr val="172B45"/>
                </a:solidFill>
                <a:latin typeface="Consolas"/>
                <a:ea typeface="Consolas"/>
                <a:cs typeface="Consolas"/>
              </a:defRPr>
            </a:pPr>
            <a:r>
              <a:rPr sz="1500" b="0">
                <a:solidFill>
                  <a:srgbClr val="172B45"/>
                </a:solidFill>
                <a:latin typeface="Consolas"/>
                <a:ea typeface="Consolas"/>
                <a:cs typeface="Consolas"/>
              </a:rPr>
              <a:t>java / io</a:t>
            </a:r>
          </a:p>
        </p:txBody>
      </p:sp>
      <p:sp>
        <p:nvSpPr>
          <p:cNvPr id="146" name="Rectangle: Rounded Corners 145">
            <a:extLst>
              <a:ext uri="{FF2B5EF4-FFF2-40B4-BE49-F238E27FC236}">
                <a16:creationId xmlns:a16="http://schemas.microsoft.com/office/drawing/2014/main" id="{D4661C44-5ACF-1E6B-5015-7D7E21D5030E}"/>
              </a:ext>
            </a:extLst>
          </p:cNvPr>
          <p:cNvSpPr>
            <a:spLocks noGrp="1"/>
          </p:cNvSpPr>
          <p:nvPr/>
        </p:nvSpPr>
        <p:spPr>
          <a:xfrm>
            <a:off x="6191250" y="3733800"/>
            <a:ext cx="5238750" cy="514350"/>
          </a:xfrm>
          <a:prstGeom prst="roundRect">
            <a:avLst>
              <a:gd name="adj" fmla="val 14815"/>
            </a:avLst>
          </a:prstGeom>
          <a:solidFill>
            <a:srgbClr val="FFFFFF"/>
          </a:solidFill>
          <a:ln w="9525">
            <a:solidFill>
              <a:srgbClr val="D7E0EA"/>
            </a:solidFill>
          </a:ln>
        </p:spPr>
        <p:txBody>
          <a:bodyPr/>
          <a:lstStyle/>
          <a:p>
            <a:endParaRPr lang="en-IN"/>
          </a:p>
        </p:txBody>
      </p:sp>
      <p:sp>
        <p:nvSpPr>
          <p:cNvPr id="148" name="Rectangle 147">
            <a:extLst>
              <a:ext uri="{FF2B5EF4-FFF2-40B4-BE49-F238E27FC236}">
                <a16:creationId xmlns:a16="http://schemas.microsoft.com/office/drawing/2014/main" id="{B71CD977-2E4F-BEA4-5083-108FD5C2EECE}"/>
              </a:ext>
            </a:extLst>
          </p:cNvPr>
          <p:cNvSpPr>
            <a:spLocks noGrp="1"/>
          </p:cNvSpPr>
          <p:nvPr/>
        </p:nvSpPr>
        <p:spPr>
          <a:xfrm>
            <a:off x="6400800" y="3733800"/>
            <a:ext cx="2333625" cy="514350"/>
          </a:xfrm>
          <a:prstGeom prst="rect">
            <a:avLst/>
          </a:prstGeom>
          <a:noFill/>
          <a:ln w="0">
            <a:noFill/>
          </a:ln>
        </p:spPr>
        <p:txBody>
          <a:bodyPr anchor="ctr">
            <a:normAutofit/>
          </a:bodyPr>
          <a:lstStyle/>
          <a:p>
            <a:pPr algn="l">
              <a:defRPr sz="1575" b="1">
                <a:solidFill>
                  <a:srgbClr val="102A56"/>
                </a:solidFill>
                <a:latin typeface="Consolas"/>
                <a:ea typeface="Consolas"/>
                <a:cs typeface="Consolas"/>
              </a:defRPr>
            </a:pPr>
            <a:r>
              <a:rPr sz="1575" b="1">
                <a:solidFill>
                  <a:srgbClr val="102A56"/>
                </a:solidFill>
                <a:latin typeface="Consolas"/>
                <a:ea typeface="Consolas"/>
                <a:cs typeface="Consolas"/>
              </a:rPr>
              <a:t>java.lang</a:t>
            </a:r>
          </a:p>
        </p:txBody>
      </p:sp>
      <p:sp>
        <p:nvSpPr>
          <p:cNvPr id="150" name="Rectangle 149">
            <a:extLst>
              <a:ext uri="{FF2B5EF4-FFF2-40B4-BE49-F238E27FC236}">
                <a16:creationId xmlns:a16="http://schemas.microsoft.com/office/drawing/2014/main" id="{9C178348-152F-5E25-F927-96080D6642D7}"/>
              </a:ext>
            </a:extLst>
          </p:cNvPr>
          <p:cNvSpPr>
            <a:spLocks noGrp="1"/>
          </p:cNvSpPr>
          <p:nvPr/>
        </p:nvSpPr>
        <p:spPr>
          <a:xfrm>
            <a:off x="8572500" y="3733800"/>
            <a:ext cx="285750" cy="514350"/>
          </a:xfrm>
          <a:prstGeom prst="rect">
            <a:avLst/>
          </a:prstGeom>
          <a:noFill/>
          <a:ln w="0">
            <a:noFill/>
          </a:ln>
        </p:spPr>
        <p:txBody>
          <a:bodyPr anchor="ctr">
            <a:normAutofit fontScale="98722"/>
          </a:bodyPr>
          <a:lstStyle/>
          <a:p>
            <a:pPr algn="ctr">
              <a:defRPr sz="1500" b="1">
                <a:solidFill>
                  <a:srgbClr val="147D7A"/>
                </a:solidFill>
                <a:latin typeface="Arial"/>
                <a:ea typeface="Arial"/>
                <a:cs typeface="Arial"/>
              </a:defRPr>
            </a:pPr>
            <a:r>
              <a:rPr sz="1500" b="1">
                <a:solidFill>
                  <a:srgbClr val="147D7A"/>
                </a:solidFill>
                <a:latin typeface="Arial"/>
                <a:ea typeface="Arial"/>
                <a:cs typeface="Arial"/>
              </a:rPr>
              <a:t>→</a:t>
            </a:r>
          </a:p>
        </p:txBody>
      </p:sp>
      <p:sp>
        <p:nvSpPr>
          <p:cNvPr id="152" name="Rectangle 151">
            <a:extLst>
              <a:ext uri="{FF2B5EF4-FFF2-40B4-BE49-F238E27FC236}">
                <a16:creationId xmlns:a16="http://schemas.microsoft.com/office/drawing/2014/main" id="{5C798FD3-90A0-F008-E27A-B8E1F47895EA}"/>
              </a:ext>
            </a:extLst>
          </p:cNvPr>
          <p:cNvSpPr>
            <a:spLocks noGrp="1"/>
          </p:cNvSpPr>
          <p:nvPr/>
        </p:nvSpPr>
        <p:spPr>
          <a:xfrm>
            <a:off x="8972550" y="3733800"/>
            <a:ext cx="2286000" cy="514350"/>
          </a:xfrm>
          <a:prstGeom prst="rect">
            <a:avLst/>
          </a:prstGeom>
          <a:noFill/>
          <a:ln w="0">
            <a:noFill/>
          </a:ln>
        </p:spPr>
        <p:txBody>
          <a:bodyPr anchor="ctr">
            <a:normAutofit/>
          </a:bodyPr>
          <a:lstStyle/>
          <a:p>
            <a:pPr algn="l">
              <a:defRPr sz="1500" b="0">
                <a:solidFill>
                  <a:srgbClr val="172B45"/>
                </a:solidFill>
                <a:latin typeface="Consolas"/>
                <a:ea typeface="Consolas"/>
                <a:cs typeface="Consolas"/>
              </a:defRPr>
            </a:pPr>
            <a:r>
              <a:rPr sz="1500" b="0">
                <a:solidFill>
                  <a:srgbClr val="172B45"/>
                </a:solidFill>
                <a:latin typeface="Consolas"/>
                <a:ea typeface="Consolas"/>
                <a:cs typeface="Consolas"/>
              </a:rPr>
              <a:t>java / lang</a:t>
            </a:r>
          </a:p>
        </p:txBody>
      </p:sp>
      <p:sp>
        <p:nvSpPr>
          <p:cNvPr id="154" name="Rectangle: Rounded Corners 153">
            <a:extLst>
              <a:ext uri="{FF2B5EF4-FFF2-40B4-BE49-F238E27FC236}">
                <a16:creationId xmlns:a16="http://schemas.microsoft.com/office/drawing/2014/main" id="{9B4B776E-6ADF-0B47-ABC6-FCCC92B8AF5B}"/>
              </a:ext>
            </a:extLst>
          </p:cNvPr>
          <p:cNvSpPr>
            <a:spLocks noGrp="1"/>
          </p:cNvSpPr>
          <p:nvPr/>
        </p:nvSpPr>
        <p:spPr>
          <a:xfrm>
            <a:off x="6191250" y="4400550"/>
            <a:ext cx="5238750" cy="514350"/>
          </a:xfrm>
          <a:prstGeom prst="roundRect">
            <a:avLst>
              <a:gd name="adj" fmla="val 14815"/>
            </a:avLst>
          </a:prstGeom>
          <a:solidFill>
            <a:srgbClr val="FFFFFF"/>
          </a:solidFill>
          <a:ln w="9525">
            <a:solidFill>
              <a:srgbClr val="D7E0EA"/>
            </a:solidFill>
          </a:ln>
        </p:spPr>
        <p:txBody>
          <a:bodyPr/>
          <a:lstStyle/>
          <a:p>
            <a:endParaRPr lang="en-IN"/>
          </a:p>
        </p:txBody>
      </p:sp>
      <p:sp>
        <p:nvSpPr>
          <p:cNvPr id="156" name="Rectangle 155">
            <a:extLst>
              <a:ext uri="{FF2B5EF4-FFF2-40B4-BE49-F238E27FC236}">
                <a16:creationId xmlns:a16="http://schemas.microsoft.com/office/drawing/2014/main" id="{30D76A48-2B66-3061-84F8-1F70DAB2A693}"/>
              </a:ext>
            </a:extLst>
          </p:cNvPr>
          <p:cNvSpPr>
            <a:spLocks noGrp="1"/>
          </p:cNvSpPr>
          <p:nvPr/>
        </p:nvSpPr>
        <p:spPr>
          <a:xfrm>
            <a:off x="6400800" y="4400550"/>
            <a:ext cx="2333625" cy="514350"/>
          </a:xfrm>
          <a:prstGeom prst="rect">
            <a:avLst/>
          </a:prstGeom>
          <a:noFill/>
          <a:ln w="0">
            <a:noFill/>
          </a:ln>
        </p:spPr>
        <p:txBody>
          <a:bodyPr anchor="ctr">
            <a:normAutofit/>
          </a:bodyPr>
          <a:lstStyle/>
          <a:p>
            <a:pPr algn="l">
              <a:defRPr sz="1575" b="1">
                <a:solidFill>
                  <a:srgbClr val="102A56"/>
                </a:solidFill>
                <a:latin typeface="Consolas"/>
                <a:ea typeface="Consolas"/>
                <a:cs typeface="Consolas"/>
              </a:defRPr>
            </a:pPr>
            <a:r>
              <a:rPr sz="1575" b="1">
                <a:solidFill>
                  <a:srgbClr val="102A56"/>
                </a:solidFill>
                <a:latin typeface="Consolas"/>
                <a:ea typeface="Consolas"/>
                <a:cs typeface="Consolas"/>
              </a:rPr>
              <a:t>java.awt.event</a:t>
            </a:r>
          </a:p>
        </p:txBody>
      </p:sp>
      <p:sp>
        <p:nvSpPr>
          <p:cNvPr id="158" name="Rectangle 157">
            <a:extLst>
              <a:ext uri="{FF2B5EF4-FFF2-40B4-BE49-F238E27FC236}">
                <a16:creationId xmlns:a16="http://schemas.microsoft.com/office/drawing/2014/main" id="{DC73FC65-E974-A3F9-AE4B-6BDAD3065150}"/>
              </a:ext>
            </a:extLst>
          </p:cNvPr>
          <p:cNvSpPr>
            <a:spLocks noGrp="1"/>
          </p:cNvSpPr>
          <p:nvPr/>
        </p:nvSpPr>
        <p:spPr>
          <a:xfrm>
            <a:off x="8572500" y="4400550"/>
            <a:ext cx="285750" cy="514350"/>
          </a:xfrm>
          <a:prstGeom prst="rect">
            <a:avLst/>
          </a:prstGeom>
          <a:noFill/>
          <a:ln w="0">
            <a:noFill/>
          </a:ln>
        </p:spPr>
        <p:txBody>
          <a:bodyPr anchor="ctr">
            <a:normAutofit fontScale="98722"/>
          </a:bodyPr>
          <a:lstStyle/>
          <a:p>
            <a:pPr algn="ctr">
              <a:defRPr sz="1500" b="1">
                <a:solidFill>
                  <a:srgbClr val="147D7A"/>
                </a:solidFill>
                <a:latin typeface="Arial"/>
                <a:ea typeface="Arial"/>
                <a:cs typeface="Arial"/>
              </a:defRPr>
            </a:pPr>
            <a:r>
              <a:rPr sz="1500" b="1">
                <a:solidFill>
                  <a:srgbClr val="147D7A"/>
                </a:solidFill>
                <a:latin typeface="Arial"/>
                <a:ea typeface="Arial"/>
                <a:cs typeface="Arial"/>
              </a:rPr>
              <a:t>→</a:t>
            </a:r>
          </a:p>
        </p:txBody>
      </p:sp>
      <p:sp>
        <p:nvSpPr>
          <p:cNvPr id="160" name="Rectangle 159">
            <a:extLst>
              <a:ext uri="{FF2B5EF4-FFF2-40B4-BE49-F238E27FC236}">
                <a16:creationId xmlns:a16="http://schemas.microsoft.com/office/drawing/2014/main" id="{8097E9D2-E98A-B5AE-AE1A-660EBC4153B5}"/>
              </a:ext>
            </a:extLst>
          </p:cNvPr>
          <p:cNvSpPr>
            <a:spLocks noGrp="1"/>
          </p:cNvSpPr>
          <p:nvPr/>
        </p:nvSpPr>
        <p:spPr>
          <a:xfrm>
            <a:off x="8972550" y="4400550"/>
            <a:ext cx="2286000" cy="514350"/>
          </a:xfrm>
          <a:prstGeom prst="rect">
            <a:avLst/>
          </a:prstGeom>
          <a:noFill/>
          <a:ln w="0">
            <a:noFill/>
          </a:ln>
        </p:spPr>
        <p:txBody>
          <a:bodyPr anchor="ctr">
            <a:normAutofit/>
          </a:bodyPr>
          <a:lstStyle/>
          <a:p>
            <a:pPr algn="l">
              <a:defRPr sz="1500" b="0">
                <a:solidFill>
                  <a:srgbClr val="172B45"/>
                </a:solidFill>
                <a:latin typeface="Consolas"/>
                <a:ea typeface="Consolas"/>
                <a:cs typeface="Consolas"/>
              </a:defRPr>
            </a:pPr>
            <a:r>
              <a:rPr sz="1500" b="0">
                <a:solidFill>
                  <a:srgbClr val="172B45"/>
                </a:solidFill>
                <a:latin typeface="Consolas"/>
                <a:ea typeface="Consolas"/>
                <a:cs typeface="Consolas"/>
              </a:rPr>
              <a:t>java / awt / event</a:t>
            </a:r>
          </a:p>
        </p:txBody>
      </p:sp>
      <p:sp>
        <p:nvSpPr>
          <p:cNvPr id="162" name="Rectangle: Rounded Corners 161">
            <a:extLst>
              <a:ext uri="{FF2B5EF4-FFF2-40B4-BE49-F238E27FC236}">
                <a16:creationId xmlns:a16="http://schemas.microsoft.com/office/drawing/2014/main" id="{4C9E3EC4-AA25-F084-2235-57A7B6C36EA5}"/>
              </a:ext>
            </a:extLst>
          </p:cNvPr>
          <p:cNvSpPr>
            <a:spLocks noGrp="1"/>
          </p:cNvSpPr>
          <p:nvPr/>
        </p:nvSpPr>
        <p:spPr>
          <a:xfrm>
            <a:off x="6191250" y="5219700"/>
            <a:ext cx="5238750" cy="723900"/>
          </a:xfrm>
          <a:prstGeom prst="roundRect">
            <a:avLst>
              <a:gd name="adj" fmla="val 10526"/>
            </a:avLst>
          </a:prstGeom>
          <a:solidFill>
            <a:srgbClr val="E6F3F1"/>
          </a:solidFill>
          <a:ln w="0">
            <a:noFill/>
          </a:ln>
        </p:spPr>
        <p:txBody>
          <a:bodyPr/>
          <a:lstStyle/>
          <a:p>
            <a:endParaRPr lang="en-IN"/>
          </a:p>
        </p:txBody>
      </p:sp>
      <p:sp>
        <p:nvSpPr>
          <p:cNvPr id="164" name="Rectangle 163">
            <a:extLst>
              <a:ext uri="{FF2B5EF4-FFF2-40B4-BE49-F238E27FC236}">
                <a16:creationId xmlns:a16="http://schemas.microsoft.com/office/drawing/2014/main" id="{DD5F067E-336F-E00B-5469-6A3F7B232E1E}"/>
              </a:ext>
            </a:extLst>
          </p:cNvPr>
          <p:cNvSpPr>
            <a:spLocks noGrp="1"/>
          </p:cNvSpPr>
          <p:nvPr/>
        </p:nvSpPr>
        <p:spPr>
          <a:xfrm>
            <a:off x="6419850" y="5334000"/>
            <a:ext cx="4810125" cy="476250"/>
          </a:xfrm>
          <a:prstGeom prst="rect">
            <a:avLst/>
          </a:prstGeom>
          <a:noFill/>
          <a:ln w="0">
            <a:noFill/>
          </a:ln>
        </p:spPr>
        <p:txBody>
          <a:bodyPr anchor="ctr">
            <a:normAutofit fontScale="88596" lnSpcReduction="10000"/>
          </a:bodyPr>
          <a:lstStyle/>
          <a:p>
            <a:pPr algn="l">
              <a:defRPr sz="1425" b="1">
                <a:solidFill>
                  <a:srgbClr val="147D7A"/>
                </a:solidFill>
                <a:latin typeface="Arial"/>
                <a:ea typeface="Arial"/>
                <a:cs typeface="Arial"/>
              </a:defRPr>
            </a:pPr>
            <a:r>
              <a:rPr sz="1425" b="1">
                <a:solidFill>
                  <a:srgbClr val="147D7A"/>
                </a:solidFill>
                <a:latin typeface="Arial"/>
                <a:ea typeface="Arial"/>
                <a:cs typeface="Arial"/>
              </a:rPr>
              <a:t>A dot separates package levels; it is not part of a folder name.</a:t>
            </a:r>
          </a:p>
        </p:txBody>
      </p:sp>
      <p:sp>
        <p:nvSpPr>
          <p:cNvPr id="166" name="Rectangle 165">
            <a:extLst>
              <a:ext uri="{FF2B5EF4-FFF2-40B4-BE49-F238E27FC236}">
                <a16:creationId xmlns:a16="http://schemas.microsoft.com/office/drawing/2014/main" id="{CA6156C6-00DC-4C7D-1F18-7222E0BE09FF}"/>
              </a:ext>
            </a:extLst>
          </p:cNvPr>
          <p:cNvSpPr>
            <a:spLocks noGrp="1"/>
          </p:cNvSpPr>
          <p:nvPr/>
        </p:nvSpPr>
        <p:spPr>
          <a:xfrm>
            <a:off x="609600" y="6134100"/>
            <a:ext cx="10972800" cy="19050"/>
          </a:xfrm>
          <a:prstGeom prst="rect">
            <a:avLst/>
          </a:prstGeom>
          <a:solidFill>
            <a:srgbClr val="D7E0EA"/>
          </a:solidFill>
          <a:ln w="0">
            <a:noFill/>
          </a:ln>
        </p:spPr>
        <p:txBody>
          <a:bodyPr/>
          <a:lstStyle/>
          <a:p>
            <a:endParaRPr lang="en-IN"/>
          </a:p>
        </p:txBody>
      </p:sp>
      <p:sp>
        <p:nvSpPr>
          <p:cNvPr id="168" name="Rectangle 167">
            <a:extLst>
              <a:ext uri="{FF2B5EF4-FFF2-40B4-BE49-F238E27FC236}">
                <a16:creationId xmlns:a16="http://schemas.microsoft.com/office/drawing/2014/main" id="{B95A2704-3A47-5D52-5E5D-AC29F3466A9C}"/>
              </a:ext>
            </a:extLst>
          </p:cNvPr>
          <p:cNvSpPr>
            <a:spLocks noGrp="1"/>
          </p:cNvSpPr>
          <p:nvPr/>
        </p:nvSpPr>
        <p:spPr>
          <a:xfrm>
            <a:off x="533400" y="6248400"/>
            <a:ext cx="10668000" cy="304800"/>
          </a:xfrm>
          <a:prstGeom prst="rect">
            <a:avLst/>
          </a:prstGeom>
          <a:noFill/>
          <a:ln w="0">
            <a:noFill/>
          </a:ln>
        </p:spPr>
        <p:txBody>
          <a:bodyPr anchor="ctr">
            <a:normAutofit fontScale="98246"/>
          </a:bodyPr>
          <a:lstStyle/>
          <a:p>
            <a:pPr algn="l">
              <a:defRPr sz="1425" b="1">
                <a:solidFill>
                  <a:srgbClr val="285E91"/>
                </a:solidFill>
                <a:latin typeface="Arial"/>
                <a:ea typeface="Arial"/>
                <a:cs typeface="Arial"/>
              </a:defRPr>
            </a:pPr>
            <a:r>
              <a:rPr sz="1425" b="1" dirty="0">
                <a:solidFill>
                  <a:srgbClr val="285E91"/>
                </a:solidFill>
                <a:latin typeface="Arial"/>
                <a:ea typeface="Arial"/>
                <a:cs typeface="Arial"/>
              </a:rPr>
              <a:t>Example: </a:t>
            </a:r>
            <a:r>
              <a:rPr sz="1425" b="1" dirty="0" err="1">
                <a:solidFill>
                  <a:srgbClr val="285E91"/>
                </a:solidFill>
                <a:latin typeface="Arial"/>
                <a:ea typeface="Arial"/>
                <a:cs typeface="Arial"/>
              </a:rPr>
              <a:t>java.awt.event</a:t>
            </a:r>
            <a:r>
              <a:rPr sz="1425" b="1" dirty="0">
                <a:solidFill>
                  <a:srgbClr val="285E91"/>
                </a:solidFill>
                <a:latin typeface="Arial"/>
                <a:ea typeface="Arial"/>
                <a:cs typeface="Arial"/>
              </a:rPr>
              <a:t> is nested as java → </a:t>
            </a:r>
            <a:r>
              <a:rPr sz="1425" b="1" dirty="0" err="1">
                <a:solidFill>
                  <a:srgbClr val="285E91"/>
                </a:solidFill>
                <a:latin typeface="Arial"/>
                <a:ea typeface="Arial"/>
                <a:cs typeface="Arial"/>
              </a:rPr>
              <a:t>awt</a:t>
            </a:r>
            <a:r>
              <a:rPr sz="1425" b="1" dirty="0">
                <a:solidFill>
                  <a:srgbClr val="285E91"/>
                </a:solidFill>
                <a:latin typeface="Arial"/>
                <a:ea typeface="Arial"/>
                <a:cs typeface="Arial"/>
              </a:rPr>
              <a:t> → event.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457200" y="228600"/>
            <a:ext cx="10800000" cy="640080"/>
          </a:xfrm>
          <a:prstGeom prst="rect">
            <a:avLst/>
          </a:prstGeom>
        </p:spPr>
        <p:txBody>
          <a:bodyPr vert="horz" wrap="square" rtlCol="0" anchor="ctr"/>
          <a:lstStyle/>
          <a:p>
            <a:pPr marL="44450" algn="l">
              <a:lnSpc>
                <a:spcPct val="100000"/>
              </a:lnSpc>
              <a:spcBef>
                <a:spcPts val="110"/>
              </a:spcBef>
            </a:pPr>
            <a:r>
              <a:rPr sz="2800" b="1" dirty="0">
                <a:solidFill>
                  <a:srgbClr val="FF0000"/>
                </a:solidFill>
                <a:latin typeface="Calibri"/>
                <a:cs typeface="Calibri"/>
              </a:rPr>
              <a:t>Advantages of packages</a:t>
            </a:r>
          </a:p>
        </p:txBody>
      </p:sp>
      <p:sp>
        <p:nvSpPr>
          <p:cNvPr id="4" name="object 4"/>
          <p:cNvSpPr txBox="1"/>
          <p:nvPr/>
        </p:nvSpPr>
        <p:spPr>
          <a:xfrm>
            <a:off x="457200" y="1295400"/>
            <a:ext cx="11432540" cy="3002915"/>
          </a:xfrm>
          <a:prstGeom prst="rect">
            <a:avLst/>
          </a:prstGeom>
        </p:spPr>
        <p:txBody>
          <a:bodyPr vert="horz" wrap="square" lIns="0" tIns="13970" rIns="0" bIns="0" rtlCol="0">
            <a:normAutofit/>
          </a:bodyPr>
          <a:lstStyle/>
          <a:p>
            <a:pPr marL="295275" indent="-282575">
              <a:lnSpc>
                <a:spcPct val="110000"/>
              </a:lnSpc>
              <a:spcAft>
                <a:spcPts val="600"/>
              </a:spcAft>
              <a:buSzPct val="96428"/>
              <a:buFont typeface="Wingdings"/>
              <a:buChar char=""/>
              <a:tabLst>
                <a:tab pos="295275" algn="l"/>
              </a:tabLst>
            </a:pPr>
            <a:r>
              <a:rPr lang="en-US" sz="2000" b="1" dirty="0">
                <a:latin typeface="Calibri"/>
                <a:cs typeface="Calibri"/>
              </a:rPr>
              <a:t>Packages  hide the classes and interfaces in a separate sub directory, so accidental deletion of classes and interfaces will not take place</a:t>
            </a:r>
            <a:endParaRPr lang="en-IN" sz="2000" b="1" dirty="0">
              <a:latin typeface="Calibri"/>
              <a:cs typeface="Calibri"/>
            </a:endParaRPr>
          </a:p>
          <a:p>
            <a:pPr marL="295275" indent="-282575">
              <a:lnSpc>
                <a:spcPct val="110000"/>
              </a:lnSpc>
              <a:spcBef>
                <a:spcPts val="0"/>
              </a:spcBef>
              <a:spcAft>
                <a:spcPts val="600"/>
              </a:spcAft>
              <a:buSzPct val="96428"/>
              <a:buFont typeface="Wingdings"/>
              <a:buChar char=""/>
              <a:tabLst>
                <a:tab pos="295275" algn="l"/>
              </a:tabLst>
            </a:pPr>
            <a:r>
              <a:rPr sz="2000" b="1" dirty="0">
                <a:latin typeface="Calibri"/>
                <a:cs typeface="Calibri"/>
              </a:rPr>
              <a:t>Two classes in two different packages can have the same name.</a:t>
            </a:r>
            <a:endParaRPr sz="2000" dirty="0">
              <a:latin typeface="Calibri"/>
              <a:cs typeface="Calibri"/>
            </a:endParaRPr>
          </a:p>
          <a:p>
            <a:pPr marL="295910" indent="-283210">
              <a:lnSpc>
                <a:spcPct val="110000"/>
              </a:lnSpc>
              <a:spcBef>
                <a:spcPts val="0"/>
              </a:spcBef>
              <a:spcAft>
                <a:spcPts val="600"/>
              </a:spcAft>
              <a:buSzPct val="94642"/>
              <a:buFont typeface="Wingdings"/>
              <a:buChar char=""/>
              <a:tabLst>
                <a:tab pos="295910" algn="l"/>
              </a:tabLst>
            </a:pPr>
            <a:r>
              <a:rPr sz="2000" b="1" dirty="0">
                <a:latin typeface="Calibri"/>
                <a:cs typeface="Calibri"/>
              </a:rPr>
              <a:t>A group of packages is called a library.</a:t>
            </a:r>
            <a:endParaRPr sz="2000" dirty="0">
              <a:latin typeface="Calibri"/>
              <a:cs typeface="Calibri"/>
            </a:endParaRPr>
          </a:p>
          <a:p>
            <a:pPr marL="295910" indent="-283210">
              <a:lnSpc>
                <a:spcPct val="110000"/>
              </a:lnSpc>
              <a:spcBef>
                <a:spcPts val="0"/>
              </a:spcBef>
              <a:spcAft>
                <a:spcPts val="600"/>
              </a:spcAft>
              <a:buSzPct val="94642"/>
              <a:buFont typeface="Wingdings"/>
              <a:buChar char=""/>
              <a:tabLst>
                <a:tab pos="295910" algn="l"/>
              </a:tabLst>
            </a:pPr>
            <a:r>
              <a:rPr sz="2000" b="1" dirty="0">
                <a:latin typeface="Calibri"/>
                <a:cs typeface="Calibri"/>
              </a:rPr>
              <a:t>The reusability nature of packages makes programming easy.</a:t>
            </a:r>
            <a:endParaRPr sz="2000" dirty="0">
              <a:latin typeface="Calibri"/>
              <a:cs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9146B-1946-C294-6564-1606A288F93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0ABE993-7A3D-42DE-0AB9-CBF2ACAC1F8D}"/>
              </a:ext>
            </a:extLst>
          </p:cNvPr>
          <p:cNvSpPr txBox="1"/>
          <p:nvPr/>
        </p:nvSpPr>
        <p:spPr>
          <a:xfrm>
            <a:off x="3275838" y="1993772"/>
            <a:ext cx="6706362" cy="1111250"/>
          </a:xfrm>
          <a:prstGeom prst="rect">
            <a:avLst/>
          </a:prstGeom>
        </p:spPr>
        <p:txBody>
          <a:bodyPr vert="horz" wrap="square" lIns="0" tIns="12700" rIns="0" bIns="0" rtlCol="0">
            <a:normAutofit/>
          </a:bodyPr>
          <a:lstStyle/>
          <a:p>
            <a:pPr algn="ctr">
              <a:lnSpc>
                <a:spcPct val="110000"/>
              </a:lnSpc>
              <a:spcBef>
                <a:spcPts val="0"/>
              </a:spcBef>
              <a:spcAft>
                <a:spcPts val="600"/>
              </a:spcAft>
            </a:pPr>
            <a:r>
              <a:rPr sz="2000" b="1" dirty="0">
                <a:solidFill>
                  <a:srgbClr val="FF0000"/>
                </a:solidFill>
                <a:latin typeface="Calibri"/>
                <a:cs typeface="Calibri"/>
              </a:rPr>
              <a:t>UNIT-04 PART-C</a:t>
            </a:r>
            <a:endParaRPr sz="2000" dirty="0">
              <a:solidFill>
                <a:srgbClr val="FF0000"/>
              </a:solidFill>
              <a:latin typeface="Calibri"/>
              <a:cs typeface="Calibri"/>
            </a:endParaRPr>
          </a:p>
          <a:p>
            <a:pPr algn="ctr">
              <a:lnSpc>
                <a:spcPct val="110000"/>
              </a:lnSpc>
              <a:spcBef>
                <a:spcPts val="0"/>
              </a:spcBef>
              <a:spcAft>
                <a:spcPts val="600"/>
              </a:spcAft>
            </a:pPr>
            <a:r>
              <a:rPr sz="2000" b="1" dirty="0">
                <a:latin typeface="Calibri"/>
                <a:cs typeface="Calibri"/>
              </a:rPr>
              <a:t>Concept-0</a:t>
            </a:r>
            <a:r>
              <a:rPr lang="en-IN" sz="2000" b="1" dirty="0">
                <a:latin typeface="Calibri"/>
                <a:cs typeface="Calibri"/>
              </a:rPr>
              <a:t>2</a:t>
            </a:r>
            <a:r>
              <a:rPr sz="2000" b="1" dirty="0">
                <a:latin typeface="Calibri"/>
                <a:cs typeface="Calibri"/>
              </a:rPr>
              <a:t> </a:t>
            </a:r>
            <a:r>
              <a:rPr lang="en-IN" sz="2000" b="1" dirty="0">
                <a:latin typeface="Calibri"/>
                <a:cs typeface="Calibri"/>
              </a:rPr>
              <a:t>Types of Packages</a:t>
            </a:r>
            <a:endParaRPr sz="2000" dirty="0">
              <a:latin typeface="Calibri"/>
              <a:cs typeface="Calibri"/>
            </a:endParaRPr>
          </a:p>
        </p:txBody>
      </p:sp>
    </p:spTree>
    <p:extLst>
      <p:ext uri="{BB962C8B-B14F-4D97-AF65-F5344CB8AC3E}">
        <p14:creationId xmlns:p14="http://schemas.microsoft.com/office/powerpoint/2010/main" val="19546953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457200" y="228600"/>
            <a:ext cx="10800000" cy="640080"/>
          </a:xfrm>
          <a:prstGeom prst="rect">
            <a:avLst/>
          </a:prstGeom>
        </p:spPr>
        <p:txBody>
          <a:bodyPr vert="horz" wrap="square" rtlCol="0" anchor="ctr"/>
          <a:lstStyle/>
          <a:p>
            <a:pPr marL="1215390" algn="l">
              <a:lnSpc>
                <a:spcPct val="100000"/>
              </a:lnSpc>
              <a:spcBef>
                <a:spcPts val="110"/>
              </a:spcBef>
            </a:pPr>
            <a:r>
              <a:rPr sz="2800" b="1" dirty="0">
                <a:latin typeface="Calibri"/>
                <a:cs typeface="Calibri"/>
              </a:rPr>
              <a:t>TYPES OF PACKAGES</a:t>
            </a:r>
          </a:p>
        </p:txBody>
      </p:sp>
      <p:sp>
        <p:nvSpPr>
          <p:cNvPr id="2" name="object 2"/>
          <p:cNvSpPr txBox="1"/>
          <p:nvPr/>
        </p:nvSpPr>
        <p:spPr>
          <a:xfrm>
            <a:off x="2017902" y="1188541"/>
            <a:ext cx="5077460" cy="391795"/>
          </a:xfrm>
          <a:prstGeom prst="rect">
            <a:avLst/>
          </a:prstGeom>
        </p:spPr>
        <p:txBody>
          <a:bodyPr vert="horz" wrap="square" lIns="0" tIns="12700" rIns="0" bIns="0" rtlCol="0">
            <a:normAutofit/>
          </a:bodyPr>
          <a:lstStyle/>
          <a:p>
            <a:pPr marL="12700">
              <a:lnSpc>
                <a:spcPct val="110000"/>
              </a:lnSpc>
              <a:spcBef>
                <a:spcPts val="0"/>
              </a:spcBef>
              <a:spcAft>
                <a:spcPts val="600"/>
              </a:spcAft>
            </a:pPr>
            <a:r>
              <a:rPr sz="2000" b="1" dirty="0">
                <a:latin typeface="Calibri"/>
                <a:cs typeface="Calibri"/>
              </a:rPr>
              <a:t>There are two types of packages.</a:t>
            </a:r>
            <a:endParaRPr sz="2000" dirty="0">
              <a:latin typeface="Calibri"/>
              <a:cs typeface="Calibri"/>
            </a:endParaRPr>
          </a:p>
        </p:txBody>
      </p:sp>
      <p:sp>
        <p:nvSpPr>
          <p:cNvPr id="3" name="object 3"/>
          <p:cNvSpPr txBox="1"/>
          <p:nvPr/>
        </p:nvSpPr>
        <p:spPr>
          <a:xfrm>
            <a:off x="1908175" y="2101722"/>
            <a:ext cx="4065904" cy="1250950"/>
          </a:xfrm>
          <a:prstGeom prst="rect">
            <a:avLst/>
          </a:prstGeom>
        </p:spPr>
        <p:txBody>
          <a:bodyPr vert="horz" wrap="square" lIns="0" tIns="12700" rIns="0" bIns="0" rtlCol="0">
            <a:normAutofit/>
          </a:bodyPr>
          <a:lstStyle/>
          <a:p>
            <a:pPr marL="527685" indent="-514984">
              <a:lnSpc>
                <a:spcPct val="110000"/>
              </a:lnSpc>
              <a:spcBef>
                <a:spcPts val="0"/>
              </a:spcBef>
              <a:spcAft>
                <a:spcPts val="600"/>
              </a:spcAft>
              <a:buAutoNum type="romanUcPeriod"/>
              <a:tabLst>
                <a:tab pos="527685" algn="l"/>
              </a:tabLst>
            </a:pPr>
            <a:r>
              <a:rPr sz="2000" b="1" dirty="0">
                <a:latin typeface="Calibri"/>
                <a:cs typeface="Calibri"/>
              </a:rPr>
              <a:t>Built-in packages.</a:t>
            </a:r>
            <a:endParaRPr sz="2000" dirty="0">
              <a:latin typeface="Calibri"/>
              <a:cs typeface="Calibri"/>
            </a:endParaRPr>
          </a:p>
          <a:p>
            <a:pPr>
              <a:lnSpc>
                <a:spcPct val="110000"/>
              </a:lnSpc>
              <a:spcBef>
                <a:spcPts val="0"/>
              </a:spcBef>
              <a:spcAft>
                <a:spcPts val="600"/>
              </a:spcAft>
              <a:buClr>
                <a:srgbClr val="006EC0"/>
              </a:buClr>
              <a:buFont typeface="Comic Sans MS"/>
              <a:buAutoNum type="romanUcPeriod"/>
            </a:pPr>
            <a:endParaRPr sz="2000" dirty="0">
              <a:latin typeface="Calibri"/>
              <a:cs typeface="Calibri"/>
            </a:endParaRPr>
          </a:p>
          <a:p>
            <a:pPr marL="527050" indent="-514350">
              <a:lnSpc>
                <a:spcPct val="110000"/>
              </a:lnSpc>
              <a:spcBef>
                <a:spcPts val="0"/>
              </a:spcBef>
              <a:spcAft>
                <a:spcPts val="600"/>
              </a:spcAft>
              <a:buAutoNum type="romanUcPeriod"/>
              <a:tabLst>
                <a:tab pos="527050" algn="l"/>
              </a:tabLst>
            </a:pPr>
            <a:r>
              <a:rPr sz="2000" b="1" dirty="0">
                <a:latin typeface="Calibri"/>
                <a:cs typeface="Calibri"/>
              </a:rPr>
              <a:t>User Defined Packages.</a:t>
            </a:r>
            <a:endParaRPr sz="2000" dirty="0">
              <a:latin typeface="Calibri"/>
              <a:cs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10800000" cy="640080"/>
          </a:xfrm>
          <a:prstGeom prst="rect">
            <a:avLst/>
          </a:prstGeom>
        </p:spPr>
        <p:txBody>
          <a:bodyPr vert="horz" wrap="square" rtlCol="0" anchor="ctr"/>
          <a:lstStyle/>
          <a:p>
            <a:pPr marL="12700" algn="l">
              <a:lnSpc>
                <a:spcPct val="100000"/>
              </a:lnSpc>
              <a:spcBef>
                <a:spcPts val="105"/>
              </a:spcBef>
            </a:pPr>
            <a:r>
              <a:rPr sz="2800" b="1" u="sng" dirty="0">
                <a:uFill>
                  <a:solidFill>
                    <a:srgbClr val="FF0000"/>
                  </a:solidFill>
                </a:uFill>
                <a:latin typeface="Calibri"/>
                <a:cs typeface="Calibri"/>
              </a:rPr>
              <a:t>I.Built-in Packages:</a:t>
            </a:r>
            <a:endParaRPr sz="2800" b="1" dirty="0">
              <a:latin typeface="Calibri"/>
              <a:cs typeface="Calibri"/>
            </a:endParaRPr>
          </a:p>
        </p:txBody>
      </p:sp>
      <p:sp>
        <p:nvSpPr>
          <p:cNvPr id="3" name="object 3"/>
          <p:cNvSpPr txBox="1"/>
          <p:nvPr/>
        </p:nvSpPr>
        <p:spPr>
          <a:xfrm>
            <a:off x="197916" y="950000"/>
            <a:ext cx="11513820" cy="4151629"/>
          </a:xfrm>
          <a:prstGeom prst="rect">
            <a:avLst/>
          </a:prstGeom>
        </p:spPr>
        <p:txBody>
          <a:bodyPr vert="horz" wrap="square" lIns="0" tIns="12700" rIns="0" bIns="0" rtlCol="0">
            <a:normAutofit/>
          </a:bodyPr>
          <a:lstStyle/>
          <a:p>
            <a:pPr marL="12700" marR="768350">
              <a:lnSpc>
                <a:spcPct val="110000"/>
              </a:lnSpc>
              <a:spcBef>
                <a:spcPts val="0"/>
              </a:spcBef>
              <a:spcAft>
                <a:spcPts val="600"/>
              </a:spcAft>
            </a:pPr>
            <a:r>
              <a:rPr sz="1800" dirty="0">
                <a:latin typeface="Calibri"/>
                <a:cs typeface="Calibri"/>
              </a:rPr>
              <a:t>These packages consist of a large number of classes. Some of the commonly used built-in packages are:</a:t>
            </a:r>
          </a:p>
          <a:p>
            <a:pPr marL="104139" marR="5080" indent="492125">
              <a:lnSpc>
                <a:spcPct val="110000"/>
              </a:lnSpc>
              <a:spcBef>
                <a:spcPts val="0"/>
              </a:spcBef>
              <a:spcAft>
                <a:spcPts val="600"/>
              </a:spcAft>
              <a:buAutoNum type="arabicParenR"/>
              <a:tabLst>
                <a:tab pos="596265" algn="l"/>
                <a:tab pos="3637279" algn="l"/>
                <a:tab pos="5039995" algn="l"/>
                <a:tab pos="6320155" algn="l"/>
                <a:tab pos="7524750" algn="l"/>
                <a:tab pos="8237855" algn="l"/>
                <a:tab pos="9438640" algn="l"/>
                <a:tab pos="10438765" algn="l"/>
              </a:tabLst>
            </a:pPr>
            <a:r>
              <a:rPr sz="1800" b="1" dirty="0">
                <a:latin typeface="Calibri"/>
                <a:cs typeface="Calibri"/>
              </a:rPr>
              <a:t>java.lang: </a:t>
            </a:r>
            <a:r>
              <a:rPr sz="1800" dirty="0">
                <a:latin typeface="Calibri"/>
                <a:cs typeface="Calibri"/>
              </a:rPr>
              <a:t>Contains language support classes (e.g classes which defines primitive data types, math operations). </a:t>
            </a:r>
            <a:endParaRPr lang="en-IN" sz="1800" dirty="0">
              <a:latin typeface="Calibri"/>
              <a:cs typeface="Calibri"/>
            </a:endParaRPr>
          </a:p>
          <a:p>
            <a:pPr marL="104139" marR="5080">
              <a:lnSpc>
                <a:spcPct val="110000"/>
              </a:lnSpc>
              <a:spcBef>
                <a:spcPts val="0"/>
              </a:spcBef>
              <a:spcAft>
                <a:spcPts val="600"/>
              </a:spcAft>
              <a:tabLst>
                <a:tab pos="596265" algn="l"/>
                <a:tab pos="3637279" algn="l"/>
                <a:tab pos="5039995" algn="l"/>
                <a:tab pos="6320155" algn="l"/>
                <a:tab pos="7524750" algn="l"/>
                <a:tab pos="8237855" algn="l"/>
                <a:tab pos="9438640" algn="l"/>
                <a:tab pos="10438765" algn="l"/>
              </a:tabLst>
            </a:pPr>
            <a:r>
              <a:rPr lang="en-IN" dirty="0">
                <a:latin typeface="Calibri"/>
                <a:cs typeface="Calibri"/>
              </a:rPr>
              <a:t>        </a:t>
            </a:r>
            <a:r>
              <a:rPr sz="1800" dirty="0">
                <a:latin typeface="Calibri"/>
                <a:cs typeface="Calibri"/>
              </a:rPr>
              <a:t>This package is automatically imported.</a:t>
            </a:r>
          </a:p>
          <a:p>
            <a:pPr marL="532765" indent="-428625">
              <a:lnSpc>
                <a:spcPct val="110000"/>
              </a:lnSpc>
              <a:spcBef>
                <a:spcPts val="0"/>
              </a:spcBef>
              <a:spcAft>
                <a:spcPts val="600"/>
              </a:spcAft>
              <a:buAutoNum type="arabicParenR"/>
              <a:tabLst>
                <a:tab pos="532765" algn="l"/>
              </a:tabLst>
            </a:pPr>
            <a:r>
              <a:rPr sz="1800" b="1" dirty="0">
                <a:latin typeface="Calibri"/>
                <a:cs typeface="Calibri"/>
              </a:rPr>
              <a:t>java.io: </a:t>
            </a:r>
            <a:r>
              <a:rPr sz="1800" dirty="0">
                <a:latin typeface="Calibri"/>
                <a:cs typeface="Calibri"/>
              </a:rPr>
              <a:t>Contains classes for supporting input / output operations.</a:t>
            </a:r>
          </a:p>
          <a:p>
            <a:pPr marL="104139" marR="972185" indent="428625">
              <a:lnSpc>
                <a:spcPct val="110000"/>
              </a:lnSpc>
              <a:spcBef>
                <a:spcPts val="0"/>
              </a:spcBef>
              <a:spcAft>
                <a:spcPts val="600"/>
              </a:spcAft>
              <a:buAutoNum type="arabicParenR"/>
              <a:tabLst>
                <a:tab pos="532765" algn="l"/>
              </a:tabLst>
            </a:pPr>
            <a:r>
              <a:rPr sz="1800" b="1" dirty="0">
                <a:latin typeface="Calibri"/>
                <a:cs typeface="Calibri"/>
              </a:rPr>
              <a:t>java.util: </a:t>
            </a:r>
            <a:r>
              <a:rPr sz="1800" dirty="0">
                <a:latin typeface="Calibri"/>
                <a:cs typeface="Calibri"/>
              </a:rPr>
              <a:t>Contains utility classes which implement data structures like Linked List, classes related to date and time</a:t>
            </a:r>
            <a:endParaRPr lang="en-IN" sz="1800" dirty="0">
              <a:latin typeface="Calibri"/>
              <a:cs typeface="Calibri"/>
            </a:endParaRPr>
          </a:p>
          <a:p>
            <a:pPr marL="104139" indent="428625">
              <a:lnSpc>
                <a:spcPct val="110000"/>
              </a:lnSpc>
              <a:spcBef>
                <a:spcPts val="0"/>
              </a:spcBef>
              <a:spcAft>
                <a:spcPts val="600"/>
              </a:spcAft>
              <a:buAutoNum type="arabicParenR"/>
              <a:tabLst>
                <a:tab pos="611505" algn="l"/>
              </a:tabLst>
            </a:pPr>
            <a:r>
              <a:rPr lang="en-US" b="1" dirty="0">
                <a:latin typeface="Calibri"/>
                <a:cs typeface="Calibri"/>
              </a:rPr>
              <a:t>java.net </a:t>
            </a:r>
            <a:r>
              <a:rPr lang="en-US" dirty="0">
                <a:latin typeface="Calibri"/>
                <a:cs typeface="Calibri"/>
              </a:rPr>
              <a:t>- Contain classes for supporting networking operations.</a:t>
            </a:r>
          </a:p>
          <a:p>
            <a:pPr marL="104139" marR="83820" indent="428625">
              <a:lnSpc>
                <a:spcPct val="110000"/>
              </a:lnSpc>
              <a:spcBef>
                <a:spcPts val="0"/>
              </a:spcBef>
              <a:spcAft>
                <a:spcPts val="600"/>
              </a:spcAft>
              <a:buSzPct val="89285"/>
              <a:buAutoNum type="arabicParenR"/>
              <a:tabLst>
                <a:tab pos="18415" algn="l"/>
                <a:tab pos="340360" algn="l"/>
              </a:tabLst>
            </a:pPr>
            <a:r>
              <a:rPr lang="en-US" b="1" dirty="0">
                <a:latin typeface="Calibri"/>
                <a:cs typeface="Calibri"/>
              </a:rPr>
              <a:t>applet</a:t>
            </a:r>
            <a:r>
              <a:rPr lang="en-US" dirty="0">
                <a:latin typeface="Calibri"/>
                <a:cs typeface="Calibri"/>
              </a:rPr>
              <a:t> − This package provides classes and methods to create and communicate with the applets.</a:t>
            </a:r>
          </a:p>
          <a:p>
            <a:pPr marL="104139" marR="5080" indent="428625">
              <a:lnSpc>
                <a:spcPct val="110000"/>
              </a:lnSpc>
              <a:spcBef>
                <a:spcPts val="0"/>
              </a:spcBef>
              <a:spcAft>
                <a:spcPts val="600"/>
              </a:spcAft>
              <a:buSzPct val="87500"/>
              <a:buAutoNum type="arabicParenR"/>
              <a:tabLst>
                <a:tab pos="18415" algn="l"/>
                <a:tab pos="334010" algn="l"/>
                <a:tab pos="1228725" algn="l"/>
                <a:tab pos="1695450" algn="l"/>
                <a:tab pos="2664460" algn="l"/>
                <a:tab pos="4258945" algn="l"/>
                <a:tab pos="5917565" algn="l"/>
                <a:tab pos="7359650" algn="l"/>
                <a:tab pos="8197850" algn="l"/>
                <a:tab pos="9865995" algn="l"/>
                <a:tab pos="10469245" algn="l"/>
              </a:tabLst>
            </a:pPr>
            <a:r>
              <a:rPr lang="en-US" b="1" dirty="0" err="1">
                <a:latin typeface="Calibri"/>
                <a:cs typeface="Calibri"/>
              </a:rPr>
              <a:t>awt</a:t>
            </a:r>
            <a:r>
              <a:rPr lang="en-US" b="1" dirty="0">
                <a:latin typeface="Calibri"/>
                <a:cs typeface="Calibri"/>
              </a:rPr>
              <a:t> </a:t>
            </a:r>
            <a:r>
              <a:rPr lang="en-US" dirty="0">
                <a:latin typeface="Calibri"/>
                <a:cs typeface="Calibri"/>
              </a:rPr>
              <a:t>− This package provides classes and methods to create user interfaces.</a:t>
            </a:r>
          </a:p>
          <a:p>
            <a:pPr marL="104139" marR="972185" indent="428625">
              <a:lnSpc>
                <a:spcPct val="110000"/>
              </a:lnSpc>
              <a:spcBef>
                <a:spcPts val="0"/>
              </a:spcBef>
              <a:spcAft>
                <a:spcPts val="600"/>
              </a:spcAft>
              <a:buAutoNum type="arabicParenR"/>
              <a:tabLst>
                <a:tab pos="532765" algn="l"/>
              </a:tabLst>
            </a:pPr>
            <a:endParaRPr sz="1800" dirty="0">
              <a:latin typeface="Calibri"/>
              <a:cs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8600" y="304800"/>
            <a:ext cx="11452225" cy="2590800"/>
          </a:xfrm>
          <a:prstGeom prst="rect">
            <a:avLst/>
          </a:prstGeom>
        </p:spPr>
        <p:txBody>
          <a:bodyPr vert="horz" wrap="square" lIns="0" tIns="189865" rIns="0" bIns="0" rtlCol="0">
            <a:normAutofit fontScale="92500" lnSpcReduction="20000"/>
          </a:bodyPr>
          <a:lstStyle/>
          <a:p>
            <a:pPr marL="12700">
              <a:spcBef>
                <a:spcPts val="105"/>
              </a:spcBef>
              <a:spcAft>
                <a:spcPts val="600"/>
              </a:spcAft>
            </a:pPr>
            <a:r>
              <a:rPr sz="2800" b="1" u="sng" dirty="0" err="1">
                <a:uFill>
                  <a:solidFill>
                    <a:srgbClr val="FF0000"/>
                  </a:solidFill>
                </a:uFill>
                <a:latin typeface="Calibri"/>
                <a:ea typeface="+mj-ea"/>
                <a:cs typeface="Calibri"/>
              </a:rPr>
              <a:t>II.User</a:t>
            </a:r>
            <a:r>
              <a:rPr sz="2800" b="1" u="sng" dirty="0">
                <a:uFill>
                  <a:solidFill>
                    <a:srgbClr val="FF0000"/>
                  </a:solidFill>
                </a:uFill>
                <a:latin typeface="Calibri"/>
                <a:ea typeface="+mj-ea"/>
                <a:cs typeface="Calibri"/>
              </a:rPr>
              <a:t>-defined packages</a:t>
            </a:r>
            <a:endParaRPr lang="en-IN" sz="2800" b="1" u="sng" dirty="0">
              <a:uFill>
                <a:solidFill>
                  <a:srgbClr val="FF0000"/>
                </a:solidFill>
              </a:uFill>
              <a:latin typeface="Calibri"/>
              <a:ea typeface="+mj-ea"/>
              <a:cs typeface="Calibri"/>
            </a:endParaRPr>
          </a:p>
          <a:p>
            <a:pPr marL="12700">
              <a:spcBef>
                <a:spcPts val="105"/>
              </a:spcBef>
              <a:spcAft>
                <a:spcPts val="600"/>
              </a:spcAft>
            </a:pPr>
            <a:endParaRPr sz="2800" b="1" u="sng" dirty="0">
              <a:uFill>
                <a:solidFill>
                  <a:srgbClr val="FF0000"/>
                </a:solidFill>
              </a:uFill>
              <a:latin typeface="Calibri"/>
              <a:ea typeface="+mj-ea"/>
              <a:cs typeface="Calibri"/>
            </a:endParaRPr>
          </a:p>
          <a:p>
            <a:pPr marL="12700" algn="l">
              <a:lnSpc>
                <a:spcPct val="110000"/>
              </a:lnSpc>
              <a:spcBef>
                <a:spcPts val="0"/>
              </a:spcBef>
              <a:spcAft>
                <a:spcPts val="600"/>
              </a:spcAft>
            </a:pPr>
            <a:r>
              <a:rPr sz="1800" b="1" dirty="0">
                <a:latin typeface="Calibri"/>
                <a:cs typeface="Calibri"/>
              </a:rPr>
              <a:t>These are the packages that are defined by the user.</a:t>
            </a:r>
            <a:endParaRPr sz="1800" dirty="0">
              <a:latin typeface="Calibri"/>
              <a:cs typeface="Calibri"/>
            </a:endParaRPr>
          </a:p>
          <a:p>
            <a:pPr marL="356870" marR="6985" indent="-344805" algn="l">
              <a:lnSpc>
                <a:spcPct val="110000"/>
              </a:lnSpc>
              <a:spcBef>
                <a:spcPts val="0"/>
              </a:spcBef>
              <a:spcAft>
                <a:spcPts val="600"/>
              </a:spcAft>
              <a:buFont typeface="Wingdings"/>
              <a:buChar char=""/>
              <a:tabLst>
                <a:tab pos="356870" algn="l"/>
              </a:tabLst>
            </a:pPr>
            <a:r>
              <a:rPr sz="1800" b="1" dirty="0">
                <a:latin typeface="Calibri"/>
                <a:cs typeface="Calibri"/>
              </a:rPr>
              <a:t>A package declaration resides at the top of a java source file. All class are to be placed in a package have common package name.</a:t>
            </a:r>
            <a:endParaRPr sz="1800" dirty="0">
              <a:latin typeface="Calibri"/>
              <a:cs typeface="Calibri"/>
            </a:endParaRPr>
          </a:p>
          <a:p>
            <a:pPr marL="356870" marR="5080" indent="-344805" algn="l">
              <a:lnSpc>
                <a:spcPct val="110000"/>
              </a:lnSpc>
              <a:spcBef>
                <a:spcPts val="0"/>
              </a:spcBef>
              <a:spcAft>
                <a:spcPts val="600"/>
              </a:spcAft>
              <a:buFont typeface="Wingdings"/>
              <a:buChar char=""/>
              <a:tabLst>
                <a:tab pos="356870" algn="l"/>
              </a:tabLst>
            </a:pPr>
            <a:r>
              <a:rPr sz="1800" b="1" dirty="0">
                <a:latin typeface="Calibri"/>
                <a:cs typeface="Calibri"/>
              </a:rPr>
              <a:t>The name of the package should be followed by the keyword package, declared at the top of the program. Thus, we can define a class belonging to a package.</a:t>
            </a:r>
            <a:endParaRPr lang="en-IN" sz="1800" b="1" dirty="0">
              <a:latin typeface="Calibri"/>
              <a:cs typeface="Calibri"/>
            </a:endParaRPr>
          </a:p>
          <a:p>
            <a:pPr marL="356870" marR="5080" indent="-344805" algn="l">
              <a:lnSpc>
                <a:spcPct val="110000"/>
              </a:lnSpc>
              <a:spcBef>
                <a:spcPts val="0"/>
              </a:spcBef>
              <a:spcAft>
                <a:spcPts val="600"/>
              </a:spcAft>
              <a:buFont typeface="Wingdings"/>
              <a:buChar char=""/>
              <a:tabLst>
                <a:tab pos="356870" algn="l"/>
              </a:tabLst>
            </a:pPr>
            <a:endParaRPr lang="en-IN" sz="1800" dirty="0">
              <a:solidFill>
                <a:srgbClr val="001F5F"/>
              </a:solidFill>
              <a:latin typeface="Calibri"/>
              <a:cs typeface="Calibri"/>
            </a:endParaRPr>
          </a:p>
          <a:p>
            <a:pPr marL="12065" marR="5080" algn="l">
              <a:lnSpc>
                <a:spcPct val="110000"/>
              </a:lnSpc>
              <a:spcBef>
                <a:spcPts val="0"/>
              </a:spcBef>
              <a:spcAft>
                <a:spcPts val="600"/>
              </a:spcAft>
              <a:tabLst>
                <a:tab pos="356870" algn="l"/>
              </a:tabLst>
            </a:pPr>
            <a:endParaRPr sz="1800" dirty="0">
              <a:solidFill>
                <a:srgbClr val="001F5F"/>
              </a:solidFill>
              <a:latin typeface="Calibri"/>
              <a:cs typeface="Calibri"/>
            </a:endParaRPr>
          </a:p>
        </p:txBody>
      </p:sp>
      <p:pic>
        <p:nvPicPr>
          <p:cNvPr id="4" name="Picture 3">
            <a:extLst>
              <a:ext uri="{FF2B5EF4-FFF2-40B4-BE49-F238E27FC236}">
                <a16:creationId xmlns:a16="http://schemas.microsoft.com/office/drawing/2014/main" id="{C6103A0E-5D54-90DC-0363-EF3AEFF790F5}"/>
              </a:ext>
            </a:extLst>
          </p:cNvPr>
          <p:cNvPicPr>
            <a:picLocks noChangeAspect="1"/>
          </p:cNvPicPr>
          <p:nvPr/>
        </p:nvPicPr>
        <p:blipFill>
          <a:blip r:embed="rId2"/>
          <a:stretch>
            <a:fillRect/>
          </a:stretch>
        </p:blipFill>
        <p:spPr>
          <a:xfrm>
            <a:off x="533400" y="3276600"/>
            <a:ext cx="4503810" cy="834569"/>
          </a:xfrm>
          <a:prstGeom prst="rect">
            <a:avLst/>
          </a:prstGeom>
        </p:spPr>
      </p:pic>
      <p:cxnSp>
        <p:nvCxnSpPr>
          <p:cNvPr id="6" name="Straight Arrow Connector 5">
            <a:extLst>
              <a:ext uri="{FF2B5EF4-FFF2-40B4-BE49-F238E27FC236}">
                <a16:creationId xmlns:a16="http://schemas.microsoft.com/office/drawing/2014/main" id="{A4F073B6-17E6-F959-DB0C-59477FD8A0CD}"/>
              </a:ext>
            </a:extLst>
          </p:cNvPr>
          <p:cNvCxnSpPr/>
          <p:nvPr/>
        </p:nvCxnSpPr>
        <p:spPr>
          <a:xfrm flipH="1">
            <a:off x="4191000" y="3505200"/>
            <a:ext cx="20574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4CF27E9-6ADC-0FBD-BC1D-81AA4974FE47}"/>
              </a:ext>
            </a:extLst>
          </p:cNvPr>
          <p:cNvSpPr txBox="1"/>
          <p:nvPr/>
        </p:nvSpPr>
        <p:spPr>
          <a:xfrm>
            <a:off x="6477000" y="3324552"/>
            <a:ext cx="4114800" cy="369332"/>
          </a:xfrm>
          <a:prstGeom prst="rect">
            <a:avLst/>
          </a:prstGeom>
          <a:noFill/>
        </p:spPr>
        <p:txBody>
          <a:bodyPr wrap="square" rtlCol="0">
            <a:spAutoFit/>
          </a:bodyPr>
          <a:lstStyle/>
          <a:p>
            <a:r>
              <a:rPr lang="en-IN" b="1" dirty="0"/>
              <a:t>Example for User defined package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B7AF51-56D5-BC09-A638-B6F080EB2D61}"/>
              </a:ext>
            </a:extLst>
          </p:cNvPr>
          <p:cNvSpPr>
            <a:spLocks noGrp="1"/>
          </p:cNvSpPr>
          <p:nvPr/>
        </p:nvSpPr>
        <p:spPr>
          <a:xfrm>
            <a:off x="609600" y="647700"/>
            <a:ext cx="10382250" cy="571500"/>
          </a:xfrm>
          <a:prstGeom prst="rect">
            <a:avLst/>
          </a:prstGeom>
          <a:noFill/>
          <a:ln w="0">
            <a:noFill/>
          </a:ln>
        </p:spPr>
        <p:txBody>
          <a:bodyPr anchor="ctr">
            <a:normAutofit fontScale="95454"/>
          </a:bodyPr>
          <a:lstStyle/>
          <a:p>
            <a:pPr algn="l">
              <a:defRPr sz="3300" b="1">
                <a:solidFill>
                  <a:srgbClr val="102A56"/>
                </a:solidFill>
                <a:latin typeface="Arial"/>
                <a:ea typeface="Arial"/>
                <a:cs typeface="Arial"/>
              </a:defRPr>
            </a:pPr>
            <a:r>
              <a:rPr sz="3300" b="1" dirty="0">
                <a:solidFill>
                  <a:srgbClr val="102A56"/>
                </a:solidFill>
                <a:latin typeface="Calibri" panose="020F0502020204030204" pitchFamily="34" charset="0"/>
                <a:ea typeface="Calibri" panose="020F0502020204030204" pitchFamily="34" charset="0"/>
                <a:cs typeface="Calibri" panose="020F0502020204030204" pitchFamily="34" charset="0"/>
              </a:rPr>
              <a:t>Declaring a package</a:t>
            </a:r>
          </a:p>
        </p:txBody>
      </p:sp>
      <p:sp>
        <p:nvSpPr>
          <p:cNvPr id="5" name="Rectangle 4">
            <a:extLst>
              <a:ext uri="{FF2B5EF4-FFF2-40B4-BE49-F238E27FC236}">
                <a16:creationId xmlns:a16="http://schemas.microsoft.com/office/drawing/2014/main" id="{ED433AB9-EB51-20AE-765E-7A22462EB60F}"/>
              </a:ext>
            </a:extLst>
          </p:cNvPr>
          <p:cNvSpPr>
            <a:spLocks noGrp="1"/>
          </p:cNvSpPr>
          <p:nvPr/>
        </p:nvSpPr>
        <p:spPr>
          <a:xfrm>
            <a:off x="628650" y="1266825"/>
            <a:ext cx="10477500" cy="342900"/>
          </a:xfrm>
          <a:prstGeom prst="rect">
            <a:avLst/>
          </a:prstGeom>
          <a:noFill/>
          <a:ln w="0">
            <a:noFill/>
          </a:ln>
        </p:spPr>
        <p:txBody>
          <a:bodyPr anchor="ctr">
            <a:normAutofit fontScale="95652"/>
          </a:bodyPr>
          <a:lstStyle/>
          <a:p>
            <a:pPr algn="l">
              <a:defRPr sz="1725" b="0">
                <a:solidFill>
                  <a:srgbClr val="51647C"/>
                </a:solidFill>
                <a:latin typeface="Arial"/>
                <a:ea typeface="Arial"/>
                <a:cs typeface="Arial"/>
              </a:defRPr>
            </a:pPr>
            <a:r>
              <a:rPr sz="1725" b="0" dirty="0">
                <a:solidFill>
                  <a:srgbClr val="51647C"/>
                </a:solidFill>
                <a:latin typeface="Calibri" panose="020F0502020204030204" pitchFamily="34" charset="0"/>
                <a:ea typeface="Calibri" panose="020F0502020204030204" pitchFamily="34" charset="0"/>
                <a:cs typeface="Calibri" panose="020F0502020204030204" pitchFamily="34" charset="0"/>
              </a:rPr>
              <a:t>Use the package statement to place a class in a named package.</a:t>
            </a:r>
          </a:p>
        </p:txBody>
      </p:sp>
      <p:sp>
        <p:nvSpPr>
          <p:cNvPr id="7" name="Rectangle 6">
            <a:extLst>
              <a:ext uri="{FF2B5EF4-FFF2-40B4-BE49-F238E27FC236}">
                <a16:creationId xmlns:a16="http://schemas.microsoft.com/office/drawing/2014/main" id="{5E3399D1-B144-EAE2-5767-5EB8CFC8B5FF}"/>
              </a:ext>
            </a:extLst>
          </p:cNvPr>
          <p:cNvSpPr>
            <a:spLocks noGrp="1"/>
          </p:cNvSpPr>
          <p:nvPr/>
        </p:nvSpPr>
        <p:spPr>
          <a:xfrm>
            <a:off x="609600" y="1781175"/>
            <a:ext cx="10972800" cy="19050"/>
          </a:xfrm>
          <a:prstGeom prst="rect">
            <a:avLst/>
          </a:prstGeom>
          <a:solidFill>
            <a:srgbClr val="D7E0EA"/>
          </a:solidFill>
          <a:ln w="0">
            <a:noFill/>
          </a:ln>
        </p:spPr>
        <p:txBody>
          <a:bodyPr/>
          <a:lstStyle/>
          <a:p>
            <a:endParaRPr lang="en-IN"/>
          </a:p>
        </p:txBody>
      </p:sp>
      <p:sp>
        <p:nvSpPr>
          <p:cNvPr id="9" name="Rectangle 8">
            <a:extLst>
              <a:ext uri="{FF2B5EF4-FFF2-40B4-BE49-F238E27FC236}">
                <a16:creationId xmlns:a16="http://schemas.microsoft.com/office/drawing/2014/main" id="{36462741-8339-DE58-D291-27ACB8F3AD23}"/>
              </a:ext>
            </a:extLst>
          </p:cNvPr>
          <p:cNvSpPr>
            <a:spLocks noGrp="1"/>
          </p:cNvSpPr>
          <p:nvPr/>
        </p:nvSpPr>
        <p:spPr>
          <a:xfrm>
            <a:off x="628650" y="2501695"/>
            <a:ext cx="4762500" cy="247650"/>
          </a:xfrm>
          <a:prstGeom prst="rect">
            <a:avLst/>
          </a:prstGeom>
          <a:noFill/>
          <a:ln w="0">
            <a:noFill/>
          </a:ln>
        </p:spPr>
        <p:txBody>
          <a:bodyPr anchor="ctr">
            <a:normAutofit fontScale="92917" lnSpcReduction="10000"/>
          </a:bodyPr>
          <a:lstStyle/>
          <a:p>
            <a:pPr algn="l">
              <a:defRPr sz="1200" b="1">
                <a:solidFill>
                  <a:srgbClr val="147D7A"/>
                </a:solidFill>
                <a:latin typeface="Arial"/>
                <a:ea typeface="Arial"/>
                <a:cs typeface="Arial"/>
              </a:defRPr>
            </a:pPr>
            <a:r>
              <a:rPr sz="1200" b="1" dirty="0">
                <a:solidFill>
                  <a:srgbClr val="147D7A"/>
                </a:solidFill>
                <a:latin typeface="Arial"/>
                <a:ea typeface="Arial"/>
                <a:cs typeface="Arial"/>
              </a:rPr>
              <a:t>JAVA SOURCE EXAMPLE</a:t>
            </a:r>
          </a:p>
        </p:txBody>
      </p:sp>
      <p:sp>
        <p:nvSpPr>
          <p:cNvPr id="11" name="Rectangle: Rounded Corners 10">
            <a:extLst>
              <a:ext uri="{FF2B5EF4-FFF2-40B4-BE49-F238E27FC236}">
                <a16:creationId xmlns:a16="http://schemas.microsoft.com/office/drawing/2014/main" id="{414E4738-0215-DCC6-88B9-BBAE8088F352}"/>
              </a:ext>
            </a:extLst>
          </p:cNvPr>
          <p:cNvSpPr>
            <a:spLocks noGrp="1"/>
          </p:cNvSpPr>
          <p:nvPr/>
        </p:nvSpPr>
        <p:spPr>
          <a:xfrm>
            <a:off x="647700" y="2762250"/>
            <a:ext cx="6229350" cy="2962275"/>
          </a:xfrm>
          <a:prstGeom prst="roundRect">
            <a:avLst>
              <a:gd name="adj" fmla="val 2500"/>
            </a:avLst>
          </a:prstGeom>
          <a:solidFill>
            <a:srgbClr val="14243A"/>
          </a:solidFill>
          <a:ln w="0">
            <a:noFill/>
          </a:ln>
        </p:spPr>
        <p:txBody>
          <a:bodyPr/>
          <a:lstStyle/>
          <a:p>
            <a:endParaRPr lang="en-IN"/>
          </a:p>
        </p:txBody>
      </p:sp>
      <p:sp>
        <p:nvSpPr>
          <p:cNvPr id="13" name="Rectangle 12">
            <a:extLst>
              <a:ext uri="{FF2B5EF4-FFF2-40B4-BE49-F238E27FC236}">
                <a16:creationId xmlns:a16="http://schemas.microsoft.com/office/drawing/2014/main" id="{1AEBB300-C782-26B9-E996-9C0E50375FBC}"/>
              </a:ext>
            </a:extLst>
          </p:cNvPr>
          <p:cNvSpPr>
            <a:spLocks noGrp="1"/>
          </p:cNvSpPr>
          <p:nvPr/>
        </p:nvSpPr>
        <p:spPr>
          <a:xfrm>
            <a:off x="1066800" y="3274910"/>
            <a:ext cx="5619750" cy="2286000"/>
          </a:xfrm>
          <a:prstGeom prst="rect">
            <a:avLst/>
          </a:prstGeom>
          <a:noFill/>
          <a:ln w="0">
            <a:noFill/>
          </a:ln>
        </p:spPr>
        <p:txBody>
          <a:bodyPr anchor="ctr">
            <a:normAutofit/>
          </a:bodyPr>
          <a:lstStyle/>
          <a:p>
            <a:pPr algn="l">
              <a:defRPr sz="1875" b="0">
                <a:solidFill>
                  <a:srgbClr val="F3F7FC"/>
                </a:solidFill>
                <a:latin typeface="Consolas"/>
                <a:ea typeface="Consolas"/>
                <a:cs typeface="Consolas"/>
              </a:defRPr>
            </a:pPr>
            <a:r>
              <a:rPr sz="1875" b="0" dirty="0">
                <a:solidFill>
                  <a:srgbClr val="F3F7FC"/>
                </a:solidFill>
                <a:latin typeface="Consolas"/>
                <a:ea typeface="Consolas"/>
                <a:cs typeface="Consolas"/>
              </a:rPr>
              <a:t>package </a:t>
            </a:r>
            <a:r>
              <a:rPr lang="en-IN" sz="1875" b="0" dirty="0">
                <a:solidFill>
                  <a:srgbClr val="F3F7FC"/>
                </a:solidFill>
                <a:latin typeface="Consolas"/>
                <a:ea typeface="Consolas"/>
                <a:cs typeface="Consolas"/>
              </a:rPr>
              <a:t>com.rce.oops.unit1</a:t>
            </a:r>
            <a:r>
              <a:rPr sz="1875" b="0" dirty="0">
                <a:solidFill>
                  <a:srgbClr val="F3F7FC"/>
                </a:solidFill>
                <a:latin typeface="Consolas"/>
                <a:ea typeface="Consolas"/>
                <a:cs typeface="Consolas"/>
              </a:rPr>
              <a:t>;</a:t>
            </a:r>
          </a:p>
          <a:p>
            <a:endParaRPr sz="1875" b="0" dirty="0">
              <a:solidFill>
                <a:srgbClr val="F3F7FC"/>
              </a:solidFill>
              <a:latin typeface="Consolas"/>
              <a:ea typeface="Consolas"/>
              <a:cs typeface="Consolas"/>
            </a:endParaRPr>
          </a:p>
          <a:p>
            <a:pPr algn="l">
              <a:defRPr sz="1875" b="0">
                <a:solidFill>
                  <a:srgbClr val="F3F7FC"/>
                </a:solidFill>
                <a:latin typeface="Consolas"/>
                <a:ea typeface="Consolas"/>
                <a:cs typeface="Consolas"/>
              </a:defRPr>
            </a:pPr>
            <a:r>
              <a:rPr sz="1875" b="0" dirty="0">
                <a:solidFill>
                  <a:srgbClr val="F3F7FC"/>
                </a:solidFill>
                <a:latin typeface="Consolas"/>
                <a:ea typeface="Consolas"/>
                <a:cs typeface="Consolas"/>
              </a:rPr>
              <a:t>public class Student {</a:t>
            </a:r>
          </a:p>
          <a:p>
            <a:pPr algn="l">
              <a:defRPr sz="1875" b="0">
                <a:solidFill>
                  <a:srgbClr val="F3F7FC"/>
                </a:solidFill>
                <a:latin typeface="Consolas"/>
                <a:ea typeface="Consolas"/>
                <a:cs typeface="Consolas"/>
              </a:defRPr>
            </a:pPr>
            <a:r>
              <a:rPr sz="1875" b="0" dirty="0">
                <a:solidFill>
                  <a:srgbClr val="F3F7FC"/>
                </a:solidFill>
                <a:latin typeface="Consolas"/>
                <a:ea typeface="Consolas"/>
                <a:cs typeface="Consolas"/>
              </a:rPr>
              <a:t>    // class code goes here</a:t>
            </a:r>
          </a:p>
          <a:p>
            <a:pPr algn="l">
              <a:defRPr sz="1875" b="0">
                <a:solidFill>
                  <a:srgbClr val="F3F7FC"/>
                </a:solidFill>
                <a:latin typeface="Consolas"/>
                <a:ea typeface="Consolas"/>
                <a:cs typeface="Consolas"/>
              </a:defRPr>
            </a:pPr>
            <a:r>
              <a:rPr sz="1875" b="0" dirty="0">
                <a:solidFill>
                  <a:srgbClr val="F3F7FC"/>
                </a:solidFill>
                <a:latin typeface="Consolas"/>
                <a:ea typeface="Consolas"/>
                <a:cs typeface="Consolas"/>
              </a:rPr>
              <a:t>}</a:t>
            </a:r>
          </a:p>
        </p:txBody>
      </p:sp>
      <p:sp>
        <p:nvSpPr>
          <p:cNvPr id="15" name="Rectangle 14">
            <a:extLst>
              <a:ext uri="{FF2B5EF4-FFF2-40B4-BE49-F238E27FC236}">
                <a16:creationId xmlns:a16="http://schemas.microsoft.com/office/drawing/2014/main" id="{DE5B35F3-6CDE-FE7A-B2C5-F753A7140AA2}"/>
              </a:ext>
            </a:extLst>
          </p:cNvPr>
          <p:cNvSpPr>
            <a:spLocks noGrp="1"/>
          </p:cNvSpPr>
          <p:nvPr/>
        </p:nvSpPr>
        <p:spPr>
          <a:xfrm>
            <a:off x="7219950" y="2009775"/>
            <a:ext cx="19050" cy="3476625"/>
          </a:xfrm>
          <a:prstGeom prst="rect">
            <a:avLst/>
          </a:prstGeom>
          <a:solidFill>
            <a:srgbClr val="D7E0EA"/>
          </a:solidFill>
          <a:ln w="0">
            <a:noFill/>
          </a:ln>
        </p:spPr>
        <p:txBody>
          <a:bodyPr/>
          <a:lstStyle/>
          <a:p>
            <a:endParaRPr lang="en-IN"/>
          </a:p>
        </p:txBody>
      </p:sp>
      <p:sp>
        <p:nvSpPr>
          <p:cNvPr id="17" name="Rectangle 16">
            <a:extLst>
              <a:ext uri="{FF2B5EF4-FFF2-40B4-BE49-F238E27FC236}">
                <a16:creationId xmlns:a16="http://schemas.microsoft.com/office/drawing/2014/main" id="{BECA7FE2-20E9-9BDE-AFE8-A324F8BB8DB1}"/>
              </a:ext>
            </a:extLst>
          </p:cNvPr>
          <p:cNvSpPr>
            <a:spLocks noGrp="1"/>
          </p:cNvSpPr>
          <p:nvPr/>
        </p:nvSpPr>
        <p:spPr>
          <a:xfrm>
            <a:off x="7592347" y="2305818"/>
            <a:ext cx="3905250" cy="247650"/>
          </a:xfrm>
          <a:prstGeom prst="rect">
            <a:avLst/>
          </a:prstGeom>
          <a:noFill/>
          <a:ln w="0">
            <a:noFill/>
          </a:ln>
        </p:spPr>
        <p:txBody>
          <a:bodyPr anchor="ctr">
            <a:normAutofit fontScale="92917" lnSpcReduction="10000"/>
          </a:bodyPr>
          <a:lstStyle/>
          <a:p>
            <a:pPr algn="l">
              <a:defRPr sz="1200" b="1">
                <a:solidFill>
                  <a:srgbClr val="147D7A"/>
                </a:solidFill>
                <a:latin typeface="Arial"/>
                <a:ea typeface="Arial"/>
                <a:cs typeface="Arial"/>
              </a:defRPr>
            </a:pPr>
            <a:r>
              <a:rPr sz="1200" b="1" dirty="0">
                <a:solidFill>
                  <a:srgbClr val="147D7A"/>
                </a:solidFill>
                <a:latin typeface="Arial"/>
                <a:ea typeface="Arial"/>
                <a:cs typeface="Arial"/>
              </a:rPr>
              <a:t>HOW TO READ IT</a:t>
            </a:r>
          </a:p>
        </p:txBody>
      </p:sp>
      <p:sp>
        <p:nvSpPr>
          <p:cNvPr id="19" name="Rectangle 18">
            <a:extLst>
              <a:ext uri="{FF2B5EF4-FFF2-40B4-BE49-F238E27FC236}">
                <a16:creationId xmlns:a16="http://schemas.microsoft.com/office/drawing/2014/main" id="{CC8FE43D-7F18-76EE-4FA5-04517580B40B}"/>
              </a:ext>
            </a:extLst>
          </p:cNvPr>
          <p:cNvSpPr>
            <a:spLocks noGrp="1"/>
          </p:cNvSpPr>
          <p:nvPr/>
        </p:nvSpPr>
        <p:spPr>
          <a:xfrm>
            <a:off x="7592347" y="2538412"/>
            <a:ext cx="3848100" cy="323850"/>
          </a:xfrm>
          <a:prstGeom prst="rect">
            <a:avLst/>
          </a:prstGeom>
          <a:noFill/>
          <a:ln w="0">
            <a:noFill/>
          </a:ln>
        </p:spPr>
        <p:txBody>
          <a:bodyPr anchor="ctr">
            <a:normAutofit fontScale="96825"/>
          </a:bodyPr>
          <a:lstStyle/>
          <a:p>
            <a:pPr algn="l">
              <a:defRPr sz="1575" b="1">
                <a:solidFill>
                  <a:srgbClr val="147D7A"/>
                </a:solidFill>
                <a:latin typeface="Consolas"/>
                <a:ea typeface="Consolas"/>
                <a:cs typeface="Consolas"/>
              </a:defRPr>
            </a:pPr>
            <a:r>
              <a:rPr sz="1575" b="1" dirty="0">
                <a:solidFill>
                  <a:srgbClr val="147D7A"/>
                </a:solidFill>
                <a:latin typeface="Consolas"/>
                <a:ea typeface="Consolas"/>
                <a:cs typeface="Consolas"/>
              </a:rPr>
              <a:t>package </a:t>
            </a:r>
            <a:r>
              <a:rPr lang="en-IN" sz="1575" b="1" dirty="0">
                <a:solidFill>
                  <a:srgbClr val="147D7A"/>
                </a:solidFill>
                <a:latin typeface="Consolas"/>
                <a:ea typeface="Consolas"/>
                <a:cs typeface="Consolas"/>
              </a:rPr>
              <a:t>com.rce.oops.unit1</a:t>
            </a:r>
            <a:r>
              <a:rPr sz="1575" b="1" dirty="0">
                <a:solidFill>
                  <a:srgbClr val="147D7A"/>
                </a:solidFill>
                <a:latin typeface="Consolas"/>
                <a:ea typeface="Consolas"/>
                <a:cs typeface="Consolas"/>
              </a:rPr>
              <a:t>;</a:t>
            </a:r>
          </a:p>
        </p:txBody>
      </p:sp>
      <p:sp>
        <p:nvSpPr>
          <p:cNvPr id="21" name="Rectangle 20">
            <a:extLst>
              <a:ext uri="{FF2B5EF4-FFF2-40B4-BE49-F238E27FC236}">
                <a16:creationId xmlns:a16="http://schemas.microsoft.com/office/drawing/2014/main" id="{F8FD9923-0115-D163-45B2-6DE36EA74E49}"/>
              </a:ext>
            </a:extLst>
          </p:cNvPr>
          <p:cNvSpPr>
            <a:spLocks noGrp="1"/>
          </p:cNvSpPr>
          <p:nvPr/>
        </p:nvSpPr>
        <p:spPr>
          <a:xfrm>
            <a:off x="7562850" y="2819400"/>
            <a:ext cx="3848100" cy="533400"/>
          </a:xfrm>
          <a:prstGeom prst="rect">
            <a:avLst/>
          </a:prstGeom>
          <a:noFill/>
          <a:ln w="0">
            <a:noFill/>
          </a:ln>
        </p:spPr>
        <p:txBody>
          <a:bodyPr anchor="ctr">
            <a:normAutofit/>
          </a:bodyPr>
          <a:lstStyle/>
          <a:p>
            <a:pPr algn="l">
              <a:defRPr sz="1500" b="0">
                <a:solidFill>
                  <a:srgbClr val="172B45"/>
                </a:solidFill>
                <a:latin typeface="Arial"/>
                <a:ea typeface="Arial"/>
                <a:cs typeface="Arial"/>
              </a:defRPr>
            </a:pPr>
            <a:r>
              <a:rPr sz="1500" b="0">
                <a:solidFill>
                  <a:srgbClr val="172B45"/>
                </a:solidFill>
                <a:latin typeface="Arial"/>
                <a:ea typeface="Arial"/>
                <a:cs typeface="Arial"/>
              </a:rPr>
              <a:t>Names the package that contains Student.</a:t>
            </a:r>
          </a:p>
        </p:txBody>
      </p:sp>
      <p:sp>
        <p:nvSpPr>
          <p:cNvPr id="23" name="Rectangle 22">
            <a:extLst>
              <a:ext uri="{FF2B5EF4-FFF2-40B4-BE49-F238E27FC236}">
                <a16:creationId xmlns:a16="http://schemas.microsoft.com/office/drawing/2014/main" id="{D5C68A58-0733-2A8C-0ACD-C1861D814C85}"/>
              </a:ext>
            </a:extLst>
          </p:cNvPr>
          <p:cNvSpPr>
            <a:spLocks noGrp="1"/>
          </p:cNvSpPr>
          <p:nvPr/>
        </p:nvSpPr>
        <p:spPr>
          <a:xfrm>
            <a:off x="7562850" y="3467100"/>
            <a:ext cx="3848100" cy="9525"/>
          </a:xfrm>
          <a:prstGeom prst="rect">
            <a:avLst/>
          </a:prstGeom>
          <a:solidFill>
            <a:srgbClr val="D7E0EA"/>
          </a:solidFill>
          <a:ln w="0">
            <a:noFill/>
          </a:ln>
        </p:spPr>
        <p:txBody>
          <a:bodyPr/>
          <a:lstStyle/>
          <a:p>
            <a:endParaRPr lang="en-IN"/>
          </a:p>
        </p:txBody>
      </p:sp>
      <p:sp>
        <p:nvSpPr>
          <p:cNvPr id="25" name="Rectangle 24">
            <a:extLst>
              <a:ext uri="{FF2B5EF4-FFF2-40B4-BE49-F238E27FC236}">
                <a16:creationId xmlns:a16="http://schemas.microsoft.com/office/drawing/2014/main" id="{C94CFAEB-6108-26E3-F5D7-FFE78746E358}"/>
              </a:ext>
            </a:extLst>
          </p:cNvPr>
          <p:cNvSpPr>
            <a:spLocks noGrp="1"/>
          </p:cNvSpPr>
          <p:nvPr/>
        </p:nvSpPr>
        <p:spPr>
          <a:xfrm>
            <a:off x="7562850" y="3657600"/>
            <a:ext cx="3848100" cy="285750"/>
          </a:xfrm>
          <a:prstGeom prst="rect">
            <a:avLst/>
          </a:prstGeom>
          <a:noFill/>
          <a:ln w="0">
            <a:noFill/>
          </a:ln>
        </p:spPr>
        <p:txBody>
          <a:bodyPr anchor="ctr">
            <a:normAutofit fontScale="88452" lnSpcReduction="10000"/>
          </a:bodyPr>
          <a:lstStyle/>
          <a:p>
            <a:pPr algn="l">
              <a:defRPr sz="1575" b="1">
                <a:solidFill>
                  <a:srgbClr val="102A56"/>
                </a:solidFill>
                <a:latin typeface="Arial"/>
                <a:ea typeface="Arial"/>
                <a:cs typeface="Arial"/>
              </a:defRPr>
            </a:pPr>
            <a:r>
              <a:rPr sz="1575" b="1">
                <a:solidFill>
                  <a:srgbClr val="102A56"/>
                </a:solidFill>
                <a:latin typeface="Arial"/>
                <a:ea typeface="Arial"/>
                <a:cs typeface="Arial"/>
              </a:rPr>
              <a:t>Where it goes</a:t>
            </a:r>
          </a:p>
        </p:txBody>
      </p:sp>
      <p:sp>
        <p:nvSpPr>
          <p:cNvPr id="27" name="Rectangle 26">
            <a:extLst>
              <a:ext uri="{FF2B5EF4-FFF2-40B4-BE49-F238E27FC236}">
                <a16:creationId xmlns:a16="http://schemas.microsoft.com/office/drawing/2014/main" id="{64B91D18-EF4B-25B2-7869-F27AB380C5A4}"/>
              </a:ext>
            </a:extLst>
          </p:cNvPr>
          <p:cNvSpPr>
            <a:spLocks noGrp="1"/>
          </p:cNvSpPr>
          <p:nvPr/>
        </p:nvSpPr>
        <p:spPr>
          <a:xfrm>
            <a:off x="7562850" y="3990975"/>
            <a:ext cx="3848100" cy="742950"/>
          </a:xfrm>
          <a:prstGeom prst="rect">
            <a:avLst/>
          </a:prstGeom>
          <a:noFill/>
          <a:ln w="0">
            <a:noFill/>
          </a:ln>
        </p:spPr>
        <p:txBody>
          <a:bodyPr anchor="ctr">
            <a:normAutofit/>
          </a:bodyPr>
          <a:lstStyle/>
          <a:p>
            <a:pPr algn="l">
              <a:defRPr sz="1350" b="0">
                <a:solidFill>
                  <a:srgbClr val="51647C"/>
                </a:solidFill>
                <a:latin typeface="Arial"/>
                <a:ea typeface="Arial"/>
                <a:cs typeface="Arial"/>
              </a:defRPr>
            </a:pPr>
            <a:r>
              <a:rPr sz="1350" b="0">
                <a:solidFill>
                  <a:srgbClr val="51647C"/>
                </a:solidFill>
                <a:latin typeface="Arial"/>
                <a:ea typeface="Arial"/>
                <a:cs typeface="Arial"/>
              </a:rPr>
              <a:t>Put the package declaration before imports and class declarations. Comments may come first.</a:t>
            </a:r>
          </a:p>
        </p:txBody>
      </p:sp>
      <p:sp>
        <p:nvSpPr>
          <p:cNvPr id="29" name="Rectangle 28">
            <a:extLst>
              <a:ext uri="{FF2B5EF4-FFF2-40B4-BE49-F238E27FC236}">
                <a16:creationId xmlns:a16="http://schemas.microsoft.com/office/drawing/2014/main" id="{05421D6C-CEC8-6508-C147-5D884D8E8FCB}"/>
              </a:ext>
            </a:extLst>
          </p:cNvPr>
          <p:cNvSpPr>
            <a:spLocks noGrp="1"/>
          </p:cNvSpPr>
          <p:nvPr/>
        </p:nvSpPr>
        <p:spPr>
          <a:xfrm>
            <a:off x="7562850" y="4838700"/>
            <a:ext cx="3848100" cy="285750"/>
          </a:xfrm>
          <a:prstGeom prst="rect">
            <a:avLst/>
          </a:prstGeom>
          <a:noFill/>
          <a:ln w="0">
            <a:noFill/>
          </a:ln>
        </p:spPr>
        <p:txBody>
          <a:bodyPr anchor="ctr">
            <a:normAutofit fontScale="88452" lnSpcReduction="10000"/>
          </a:bodyPr>
          <a:lstStyle/>
          <a:p>
            <a:pPr algn="l">
              <a:defRPr sz="1575" b="1">
                <a:solidFill>
                  <a:srgbClr val="102A56"/>
                </a:solidFill>
                <a:latin typeface="Arial"/>
                <a:ea typeface="Arial"/>
                <a:cs typeface="Arial"/>
              </a:defRPr>
            </a:pPr>
            <a:r>
              <a:rPr sz="1575" b="1">
                <a:solidFill>
                  <a:srgbClr val="102A56"/>
                </a:solidFill>
                <a:latin typeface="Arial"/>
                <a:ea typeface="Arial"/>
                <a:cs typeface="Arial"/>
              </a:rPr>
              <a:t>Naming style</a:t>
            </a:r>
          </a:p>
        </p:txBody>
      </p:sp>
      <p:sp>
        <p:nvSpPr>
          <p:cNvPr id="31" name="Rectangle 30">
            <a:extLst>
              <a:ext uri="{FF2B5EF4-FFF2-40B4-BE49-F238E27FC236}">
                <a16:creationId xmlns:a16="http://schemas.microsoft.com/office/drawing/2014/main" id="{44644643-E272-FBAB-764E-8609C566EA53}"/>
              </a:ext>
            </a:extLst>
          </p:cNvPr>
          <p:cNvSpPr>
            <a:spLocks noGrp="1"/>
          </p:cNvSpPr>
          <p:nvPr/>
        </p:nvSpPr>
        <p:spPr>
          <a:xfrm>
            <a:off x="7562850" y="5162550"/>
            <a:ext cx="3848100" cy="428625"/>
          </a:xfrm>
          <a:prstGeom prst="rect">
            <a:avLst/>
          </a:prstGeom>
          <a:noFill/>
          <a:ln w="0">
            <a:noFill/>
          </a:ln>
        </p:spPr>
        <p:txBody>
          <a:bodyPr anchor="ctr">
            <a:normAutofit fontScale="85781" lnSpcReduction="10000"/>
          </a:bodyPr>
          <a:lstStyle/>
          <a:p>
            <a:pPr algn="l">
              <a:defRPr sz="1350" b="0">
                <a:solidFill>
                  <a:srgbClr val="51647C"/>
                </a:solidFill>
                <a:latin typeface="Arial"/>
                <a:ea typeface="Arial"/>
                <a:cs typeface="Arial"/>
              </a:defRPr>
            </a:pPr>
            <a:r>
              <a:rPr sz="1350" b="0" dirty="0">
                <a:solidFill>
                  <a:srgbClr val="51647C"/>
                </a:solidFill>
                <a:latin typeface="Arial"/>
                <a:ea typeface="Arial"/>
                <a:cs typeface="Arial"/>
              </a:rPr>
              <a:t>Package names are conventionally written in lowercase.</a:t>
            </a:r>
          </a:p>
        </p:txBody>
      </p:sp>
      <p:sp>
        <p:nvSpPr>
          <p:cNvPr id="33" name="Rectangle: Rounded Corners 32">
            <a:extLst>
              <a:ext uri="{FF2B5EF4-FFF2-40B4-BE49-F238E27FC236}">
                <a16:creationId xmlns:a16="http://schemas.microsoft.com/office/drawing/2014/main" id="{15BF0AFD-82F0-9195-3C92-6BAB0BA50E01}"/>
              </a:ext>
            </a:extLst>
          </p:cNvPr>
          <p:cNvSpPr>
            <a:spLocks noGrp="1"/>
          </p:cNvSpPr>
          <p:nvPr/>
        </p:nvSpPr>
        <p:spPr>
          <a:xfrm>
            <a:off x="609600" y="5724525"/>
            <a:ext cx="10972800" cy="723900"/>
          </a:xfrm>
          <a:prstGeom prst="roundRect">
            <a:avLst>
              <a:gd name="adj" fmla="val 10526"/>
            </a:avLst>
          </a:prstGeom>
          <a:solidFill>
            <a:srgbClr val="EAF1F8"/>
          </a:solidFill>
          <a:ln w="0">
            <a:noFill/>
          </a:ln>
        </p:spPr>
        <p:txBody>
          <a:bodyPr/>
          <a:lstStyle/>
          <a:p>
            <a:endParaRPr lang="en-IN"/>
          </a:p>
        </p:txBody>
      </p:sp>
      <p:sp>
        <p:nvSpPr>
          <p:cNvPr id="35" name="Rectangle 34">
            <a:extLst>
              <a:ext uri="{FF2B5EF4-FFF2-40B4-BE49-F238E27FC236}">
                <a16:creationId xmlns:a16="http://schemas.microsoft.com/office/drawing/2014/main" id="{B64F68D2-0B66-CA1C-D5E8-4937E00899E7}"/>
              </a:ext>
            </a:extLst>
          </p:cNvPr>
          <p:cNvSpPr>
            <a:spLocks noGrp="1"/>
          </p:cNvSpPr>
          <p:nvPr/>
        </p:nvSpPr>
        <p:spPr>
          <a:xfrm>
            <a:off x="838200" y="5829300"/>
            <a:ext cx="2047875" cy="238125"/>
          </a:xfrm>
          <a:prstGeom prst="rect">
            <a:avLst/>
          </a:prstGeom>
          <a:noFill/>
          <a:ln w="0">
            <a:noFill/>
          </a:ln>
        </p:spPr>
        <p:txBody>
          <a:bodyPr anchor="ctr">
            <a:normAutofit fontScale="87708" lnSpcReduction="20000"/>
          </a:bodyPr>
          <a:lstStyle/>
          <a:p>
            <a:pPr algn="l">
              <a:defRPr sz="1200" b="1">
                <a:solidFill>
                  <a:srgbClr val="51647C"/>
                </a:solidFill>
                <a:latin typeface="Arial"/>
                <a:ea typeface="Arial"/>
                <a:cs typeface="Arial"/>
              </a:defRPr>
            </a:pPr>
            <a:r>
              <a:rPr sz="1200" b="1">
                <a:solidFill>
                  <a:srgbClr val="51647C"/>
                </a:solidFill>
                <a:latin typeface="Arial"/>
                <a:ea typeface="Arial"/>
                <a:cs typeface="Arial"/>
              </a:rPr>
              <a:t>Typical source path</a:t>
            </a:r>
          </a:p>
        </p:txBody>
      </p:sp>
      <p:sp>
        <p:nvSpPr>
          <p:cNvPr id="37" name="Rectangle 36">
            <a:extLst>
              <a:ext uri="{FF2B5EF4-FFF2-40B4-BE49-F238E27FC236}">
                <a16:creationId xmlns:a16="http://schemas.microsoft.com/office/drawing/2014/main" id="{C8FF0BC8-9944-FB4F-235F-3704836852CB}"/>
              </a:ext>
            </a:extLst>
          </p:cNvPr>
          <p:cNvSpPr>
            <a:spLocks noGrp="1"/>
          </p:cNvSpPr>
          <p:nvPr/>
        </p:nvSpPr>
        <p:spPr>
          <a:xfrm>
            <a:off x="3048000" y="5791200"/>
            <a:ext cx="8096250" cy="361950"/>
          </a:xfrm>
          <a:prstGeom prst="rect">
            <a:avLst/>
          </a:prstGeom>
          <a:noFill/>
          <a:ln w="0">
            <a:noFill/>
          </a:ln>
        </p:spPr>
        <p:txBody>
          <a:bodyPr anchor="ctr">
            <a:normAutofit/>
          </a:bodyPr>
          <a:lstStyle/>
          <a:p>
            <a:pPr algn="l">
              <a:defRPr sz="1725" b="1">
                <a:solidFill>
                  <a:srgbClr val="285E91"/>
                </a:solidFill>
                <a:latin typeface="Consolas"/>
                <a:ea typeface="Consolas"/>
                <a:cs typeface="Consolas"/>
              </a:defRPr>
            </a:pPr>
            <a:r>
              <a:rPr sz="1725" b="1" dirty="0" err="1">
                <a:solidFill>
                  <a:srgbClr val="285E91"/>
                </a:solidFill>
                <a:latin typeface="Consolas"/>
                <a:ea typeface="Consolas"/>
                <a:cs typeface="Consolas"/>
              </a:rPr>
              <a:t>src</a:t>
            </a:r>
            <a:r>
              <a:rPr sz="1725" b="1" dirty="0">
                <a:solidFill>
                  <a:srgbClr val="285E91"/>
                </a:solidFill>
                <a:latin typeface="Consolas"/>
                <a:ea typeface="Consolas"/>
                <a:cs typeface="Consolas"/>
              </a:rPr>
              <a:t> / </a:t>
            </a:r>
            <a:r>
              <a:rPr lang="en-IN" sz="1725" b="1" dirty="0">
                <a:solidFill>
                  <a:srgbClr val="285E91"/>
                </a:solidFill>
                <a:latin typeface="Consolas"/>
                <a:ea typeface="Consolas"/>
                <a:cs typeface="Consolas"/>
              </a:rPr>
              <a:t>com /</a:t>
            </a:r>
            <a:r>
              <a:rPr lang="en-IN" sz="1725" b="1" dirty="0" err="1">
                <a:solidFill>
                  <a:srgbClr val="285E91"/>
                </a:solidFill>
                <a:latin typeface="Consolas"/>
                <a:ea typeface="Consolas"/>
                <a:cs typeface="Consolas"/>
              </a:rPr>
              <a:t>rce</a:t>
            </a:r>
            <a:r>
              <a:rPr lang="en-IN" sz="1725" b="1" dirty="0">
                <a:solidFill>
                  <a:srgbClr val="285E91"/>
                </a:solidFill>
                <a:latin typeface="Consolas"/>
                <a:ea typeface="Consolas"/>
                <a:cs typeface="Consolas"/>
              </a:rPr>
              <a:t> /oops /unit1</a:t>
            </a:r>
            <a:r>
              <a:rPr sz="1725" b="1" dirty="0">
                <a:solidFill>
                  <a:srgbClr val="285E91"/>
                </a:solidFill>
                <a:latin typeface="Consolas"/>
                <a:ea typeface="Consolas"/>
                <a:cs typeface="Consolas"/>
              </a:rPr>
              <a:t> / Student.java</a:t>
            </a:r>
          </a:p>
        </p:txBody>
      </p:sp>
      <p:sp>
        <p:nvSpPr>
          <p:cNvPr id="39" name="Rectangle 38">
            <a:extLst>
              <a:ext uri="{FF2B5EF4-FFF2-40B4-BE49-F238E27FC236}">
                <a16:creationId xmlns:a16="http://schemas.microsoft.com/office/drawing/2014/main" id="{ED036581-A137-0FD8-00F4-8DD4F139B451}"/>
              </a:ext>
            </a:extLst>
          </p:cNvPr>
          <p:cNvSpPr>
            <a:spLocks noGrp="1"/>
          </p:cNvSpPr>
          <p:nvPr/>
        </p:nvSpPr>
        <p:spPr>
          <a:xfrm>
            <a:off x="3048000" y="6124575"/>
            <a:ext cx="8096250" cy="228600"/>
          </a:xfrm>
          <a:prstGeom prst="rect">
            <a:avLst/>
          </a:prstGeom>
          <a:noFill/>
          <a:ln w="0">
            <a:noFill/>
          </a:ln>
        </p:spPr>
        <p:txBody>
          <a:bodyPr anchor="ctr">
            <a:normAutofit fontScale="90000" lnSpcReduction="20000"/>
          </a:bodyPr>
          <a:lstStyle/>
          <a:p>
            <a:pPr algn="l">
              <a:defRPr sz="1200" b="0">
                <a:solidFill>
                  <a:srgbClr val="51647C"/>
                </a:solidFill>
                <a:latin typeface="Arial"/>
                <a:ea typeface="Arial"/>
                <a:cs typeface="Arial"/>
              </a:defRPr>
            </a:pPr>
            <a:r>
              <a:rPr sz="1200" b="0">
                <a:solidFill>
                  <a:srgbClr val="51647C"/>
                </a:solidFill>
                <a:latin typeface="Arial"/>
                <a:ea typeface="Arial"/>
                <a:cs typeface="Arial"/>
              </a:rPr>
              <a:t>The folder path mirrors the package name.</a:t>
            </a:r>
          </a:p>
        </p:txBody>
      </p:sp>
      <p:sp>
        <p:nvSpPr>
          <p:cNvPr id="41" name="Rectangle 40">
            <a:extLst>
              <a:ext uri="{FF2B5EF4-FFF2-40B4-BE49-F238E27FC236}">
                <a16:creationId xmlns:a16="http://schemas.microsoft.com/office/drawing/2014/main" id="{82A62030-79B6-6657-3023-A5C795A4549F}"/>
              </a:ext>
            </a:extLst>
          </p:cNvPr>
          <p:cNvSpPr>
            <a:spLocks noGrp="1"/>
          </p:cNvSpPr>
          <p:nvPr/>
        </p:nvSpPr>
        <p:spPr>
          <a:xfrm>
            <a:off x="628650" y="1909762"/>
            <a:ext cx="3905250" cy="247650"/>
          </a:xfrm>
          <a:prstGeom prst="rect">
            <a:avLst/>
          </a:prstGeom>
          <a:noFill/>
          <a:ln w="0">
            <a:noFill/>
          </a:ln>
        </p:spPr>
        <p:txBody>
          <a:bodyPr anchor="ctr">
            <a:normAutofit fontScale="92917" lnSpcReduction="10000"/>
          </a:bodyPr>
          <a:lstStyle/>
          <a:p>
            <a:pPr algn="l">
              <a:defRPr sz="1200" b="1">
                <a:solidFill>
                  <a:srgbClr val="147D7A"/>
                </a:solidFill>
                <a:latin typeface="Arial"/>
                <a:ea typeface="Arial"/>
                <a:cs typeface="Arial"/>
              </a:defRPr>
            </a:pPr>
            <a:r>
              <a:rPr sz="1200" b="1" dirty="0">
                <a:solidFill>
                  <a:srgbClr val="147D7A"/>
                </a:solidFill>
                <a:latin typeface="Arial"/>
                <a:ea typeface="Arial"/>
                <a:cs typeface="Arial"/>
              </a:rPr>
              <a:t>SYNTAX</a:t>
            </a:r>
          </a:p>
        </p:txBody>
      </p:sp>
      <p:sp>
        <p:nvSpPr>
          <p:cNvPr id="43" name="Rectangle 42">
            <a:extLst>
              <a:ext uri="{FF2B5EF4-FFF2-40B4-BE49-F238E27FC236}">
                <a16:creationId xmlns:a16="http://schemas.microsoft.com/office/drawing/2014/main" id="{406DCBBE-FA36-C29A-A611-CDCD1BD023D9}"/>
              </a:ext>
            </a:extLst>
          </p:cNvPr>
          <p:cNvSpPr>
            <a:spLocks noGrp="1"/>
          </p:cNvSpPr>
          <p:nvPr/>
        </p:nvSpPr>
        <p:spPr>
          <a:xfrm>
            <a:off x="652616" y="2038350"/>
            <a:ext cx="3619500" cy="476250"/>
          </a:xfrm>
          <a:prstGeom prst="rect">
            <a:avLst/>
          </a:prstGeom>
          <a:noFill/>
          <a:ln w="0">
            <a:noFill/>
          </a:ln>
        </p:spPr>
        <p:txBody>
          <a:bodyPr anchor="ctr">
            <a:normAutofit/>
          </a:bodyPr>
          <a:lstStyle/>
          <a:p>
            <a:pPr algn="l">
              <a:defRPr sz="1575" b="1">
                <a:solidFill>
                  <a:srgbClr val="147D7A"/>
                </a:solidFill>
                <a:latin typeface="Consolas"/>
                <a:ea typeface="Consolas"/>
                <a:cs typeface="Consolas"/>
              </a:defRPr>
            </a:pPr>
            <a:r>
              <a:rPr sz="1575" b="1" dirty="0">
                <a:solidFill>
                  <a:srgbClr val="147D7A"/>
                </a:solidFill>
                <a:latin typeface="Consolas"/>
                <a:ea typeface="Consolas"/>
                <a:cs typeface="Consolas"/>
              </a:rPr>
              <a:t>package &lt;</a:t>
            </a:r>
            <a:r>
              <a:rPr sz="1575" b="1" dirty="0" err="1">
                <a:solidFill>
                  <a:srgbClr val="147D7A"/>
                </a:solidFill>
                <a:latin typeface="Consolas"/>
                <a:ea typeface="Consolas"/>
                <a:cs typeface="Consolas"/>
              </a:rPr>
              <a:t>package_name</a:t>
            </a:r>
            <a:r>
              <a:rPr sz="1575" b="1" dirty="0">
                <a:solidFill>
                  <a:srgbClr val="147D7A"/>
                </a:solidFill>
                <a:latin typeface="Consolas"/>
                <a:ea typeface="Consolas"/>
                <a:cs typeface="Consolas"/>
              </a:rPr>
              <a:t>&gt;;</a:t>
            </a:r>
          </a:p>
        </p:txBody>
      </p:sp>
    </p:spTree>
    <p:extLst>
      <p:ext uri="{BB962C8B-B14F-4D97-AF65-F5344CB8AC3E}">
        <p14:creationId xmlns:p14="http://schemas.microsoft.com/office/powerpoint/2010/main" val="215282090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30500" y="2209927"/>
            <a:ext cx="7198359" cy="1123315"/>
          </a:xfrm>
          <a:prstGeom prst="rect">
            <a:avLst/>
          </a:prstGeom>
        </p:spPr>
        <p:txBody>
          <a:bodyPr vert="horz" wrap="square" lIns="0" tIns="12700" rIns="0" bIns="0" rtlCol="0">
            <a:normAutofit lnSpcReduction="10000"/>
          </a:bodyPr>
          <a:lstStyle/>
          <a:p>
            <a:pPr marL="9525" algn="ctr">
              <a:lnSpc>
                <a:spcPct val="110000"/>
              </a:lnSpc>
              <a:spcBef>
                <a:spcPts val="0"/>
              </a:spcBef>
              <a:spcAft>
                <a:spcPts val="600"/>
              </a:spcAft>
            </a:pPr>
            <a:r>
              <a:rPr sz="2000" b="1" dirty="0">
                <a:solidFill>
                  <a:srgbClr val="C00000"/>
                </a:solidFill>
                <a:latin typeface="Calibri"/>
                <a:cs typeface="Calibri"/>
              </a:rPr>
              <a:t>UNIT-04 PART-C</a:t>
            </a:r>
            <a:endParaRPr sz="2000" dirty="0">
              <a:solidFill>
                <a:srgbClr val="001F5F"/>
              </a:solidFill>
              <a:latin typeface="Calibri"/>
              <a:cs typeface="Calibri"/>
            </a:endParaRPr>
          </a:p>
          <a:p>
            <a:pPr algn="ctr">
              <a:lnSpc>
                <a:spcPct val="110000"/>
              </a:lnSpc>
              <a:spcBef>
                <a:spcPts val="0"/>
              </a:spcBef>
              <a:spcAft>
                <a:spcPts val="600"/>
              </a:spcAft>
            </a:pPr>
            <a:r>
              <a:rPr sz="2000" b="1" dirty="0">
                <a:latin typeface="Calibri"/>
                <a:cs typeface="Calibri"/>
              </a:rPr>
              <a:t>Concept-03</a:t>
            </a:r>
            <a:r>
              <a:rPr sz="2000" b="1" dirty="0">
                <a:solidFill>
                  <a:srgbClr val="C00000"/>
                </a:solidFill>
                <a:latin typeface="Calibri"/>
                <a:cs typeface="Calibri"/>
              </a:rPr>
              <a:t> </a:t>
            </a:r>
            <a:r>
              <a:rPr sz="2000" b="1" dirty="0">
                <a:latin typeface="Calibri"/>
                <a:cs typeface="Calibri"/>
              </a:rPr>
              <a:t>Importing Packages and Classes into</a:t>
            </a:r>
            <a:endParaRPr sz="2000" dirty="0">
              <a:latin typeface="Calibri"/>
              <a:cs typeface="Calibri"/>
            </a:endParaRPr>
          </a:p>
          <a:p>
            <a:pPr marL="5715" algn="ctr">
              <a:lnSpc>
                <a:spcPct val="110000"/>
              </a:lnSpc>
              <a:spcBef>
                <a:spcPts val="0"/>
              </a:spcBef>
              <a:spcAft>
                <a:spcPts val="600"/>
              </a:spcAft>
            </a:pPr>
            <a:r>
              <a:rPr sz="2000" b="1" dirty="0">
                <a:latin typeface="Calibri"/>
                <a:cs typeface="Calibri"/>
              </a:rPr>
              <a:t>Programs</a:t>
            </a:r>
            <a:endParaRPr sz="2000" dirty="0">
              <a:latin typeface="Calibri"/>
              <a:cs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849" y="228600"/>
            <a:ext cx="10800000" cy="640080"/>
          </a:xfrm>
          <a:prstGeom prst="rect">
            <a:avLst/>
          </a:prstGeom>
        </p:spPr>
        <p:txBody>
          <a:bodyPr vert="horz" wrap="square" rtlCol="0" anchor="ctr"/>
          <a:lstStyle/>
          <a:p>
            <a:pPr marL="12700" algn="l">
              <a:lnSpc>
                <a:spcPct val="100000"/>
              </a:lnSpc>
              <a:spcBef>
                <a:spcPts val="110"/>
              </a:spcBef>
            </a:pPr>
            <a:r>
              <a:rPr sz="2800" b="1" u="sng" dirty="0">
                <a:solidFill>
                  <a:srgbClr val="001F5F"/>
                </a:solidFill>
                <a:uFill>
                  <a:solidFill>
                    <a:srgbClr val="FF0000"/>
                  </a:solidFill>
                </a:uFill>
                <a:latin typeface="Calibri"/>
                <a:cs typeface="Calibri"/>
              </a:rPr>
              <a:t>Importing Packages and Classes into Programs</a:t>
            </a:r>
            <a:endParaRPr sz="2800" b="1" dirty="0">
              <a:solidFill>
                <a:srgbClr val="001F5F"/>
              </a:solidFill>
              <a:latin typeface="Calibri"/>
              <a:cs typeface="Calibri"/>
            </a:endParaRPr>
          </a:p>
        </p:txBody>
      </p:sp>
      <p:sp>
        <p:nvSpPr>
          <p:cNvPr id="3" name="object 3"/>
          <p:cNvSpPr txBox="1"/>
          <p:nvPr/>
        </p:nvSpPr>
        <p:spPr>
          <a:xfrm>
            <a:off x="269849" y="1030351"/>
            <a:ext cx="10039985" cy="3099435"/>
          </a:xfrm>
          <a:prstGeom prst="rect">
            <a:avLst/>
          </a:prstGeom>
        </p:spPr>
        <p:txBody>
          <a:bodyPr vert="horz" wrap="square" lIns="0" tIns="12700" rIns="0" bIns="0" rtlCol="0">
            <a:normAutofit/>
          </a:bodyPr>
          <a:lstStyle/>
          <a:p>
            <a:pPr marL="12700">
              <a:lnSpc>
                <a:spcPct val="110000"/>
              </a:lnSpc>
              <a:spcBef>
                <a:spcPts val="0"/>
              </a:spcBef>
              <a:spcAft>
                <a:spcPts val="600"/>
              </a:spcAft>
            </a:pPr>
            <a:r>
              <a:rPr sz="2000" b="1" u="sng" dirty="0">
                <a:uFill>
                  <a:solidFill>
                    <a:srgbClr val="000000"/>
                  </a:solidFill>
                </a:uFill>
                <a:latin typeface="Calibri" panose="020F0502020204030204" pitchFamily="34" charset="0"/>
                <a:ea typeface="Calibri" panose="020F0502020204030204" pitchFamily="34" charset="0"/>
                <a:cs typeface="Calibri" panose="020F0502020204030204" pitchFamily="34" charset="0"/>
              </a:rPr>
              <a:t>How to access package from another package?</a:t>
            </a:r>
            <a:endParaRPr sz="2000" dirty="0">
              <a:latin typeface="Calibri" panose="020F0502020204030204" pitchFamily="34" charset="0"/>
              <a:ea typeface="Calibri" panose="020F0502020204030204" pitchFamily="34" charset="0"/>
              <a:cs typeface="Calibri" panose="020F0502020204030204" pitchFamily="34" charset="0"/>
            </a:endParaRPr>
          </a:p>
          <a:p>
            <a:pPr marL="12700">
              <a:lnSpc>
                <a:spcPct val="110000"/>
              </a:lnSpc>
              <a:spcBef>
                <a:spcPts val="0"/>
              </a:spcBef>
              <a:spcAft>
                <a:spcPts val="600"/>
              </a:spcAft>
            </a:pPr>
            <a:r>
              <a:rPr sz="2000" dirty="0">
                <a:latin typeface="Calibri" panose="020F0502020204030204" pitchFamily="34" charset="0"/>
                <a:ea typeface="Calibri" panose="020F0502020204030204" pitchFamily="34" charset="0"/>
                <a:cs typeface="Calibri" panose="020F0502020204030204" pitchFamily="34" charset="0"/>
              </a:rPr>
              <a:t>There are three ways to access the package from outside the package.</a:t>
            </a:r>
          </a:p>
          <a:p>
            <a:pPr marL="1263650" indent="-336550">
              <a:buAutoNum type="arabicParenR"/>
              <a:tabLst>
                <a:tab pos="1263650" algn="l"/>
              </a:tabLst>
            </a:pPr>
            <a:r>
              <a:rPr sz="2000" b="1" dirty="0">
                <a:latin typeface="Calibri" panose="020F0502020204030204" pitchFamily="34" charset="0"/>
                <a:ea typeface="Calibri" panose="020F0502020204030204" pitchFamily="34" charset="0"/>
                <a:cs typeface="Calibri" panose="020F0502020204030204" pitchFamily="34" charset="0"/>
              </a:rPr>
              <a:t>import package.*;</a:t>
            </a:r>
          </a:p>
          <a:p>
            <a:pPr marL="1312545" indent="-385445">
              <a:buAutoNum type="arabicParenR"/>
              <a:tabLst>
                <a:tab pos="1312545" algn="l"/>
              </a:tabLst>
            </a:pPr>
            <a:r>
              <a:rPr sz="2000" b="1" dirty="0">
                <a:latin typeface="Calibri" panose="020F0502020204030204" pitchFamily="34" charset="0"/>
                <a:ea typeface="Calibri" panose="020F0502020204030204" pitchFamily="34" charset="0"/>
                <a:cs typeface="Calibri" panose="020F0502020204030204" pitchFamily="34" charset="0"/>
              </a:rPr>
              <a:t>import package.classname;</a:t>
            </a:r>
          </a:p>
          <a:p>
            <a:pPr marL="1312545" indent="-385445">
              <a:lnSpc>
                <a:spcPct val="110000"/>
              </a:lnSpc>
              <a:spcBef>
                <a:spcPts val="0"/>
              </a:spcBef>
              <a:spcAft>
                <a:spcPts val="600"/>
              </a:spcAft>
              <a:buAutoNum type="arabicParenR"/>
              <a:tabLst>
                <a:tab pos="1312545" algn="l"/>
              </a:tabLst>
            </a:pPr>
            <a:r>
              <a:rPr sz="2000" b="1" dirty="0">
                <a:latin typeface="Calibri" panose="020F0502020204030204" pitchFamily="34" charset="0"/>
                <a:ea typeface="Calibri" panose="020F0502020204030204" pitchFamily="34" charset="0"/>
                <a:cs typeface="Calibri" panose="020F0502020204030204" pitchFamily="34" charset="0"/>
              </a:rPr>
              <a:t>fully qualified name.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AECE953-C9EB-50DC-A04F-F3D12D28B1A4}"/>
              </a:ext>
            </a:extLst>
          </p:cNvPr>
          <p:cNvSpPr>
            <a:spLocks noGrp="1"/>
          </p:cNvSpPr>
          <p:nvPr/>
        </p:nvSpPr>
        <p:spPr>
          <a:xfrm>
            <a:off x="609600" y="647700"/>
            <a:ext cx="10953750" cy="571500"/>
          </a:xfrm>
          <a:prstGeom prst="rect">
            <a:avLst/>
          </a:prstGeom>
          <a:noFill/>
          <a:ln w="0">
            <a:noFill/>
          </a:ln>
        </p:spPr>
        <p:txBody>
          <a:bodyPr anchor="ctr">
            <a:normAutofit/>
          </a:bodyPr>
          <a:lstStyle/>
          <a:p>
            <a:pPr algn="l">
              <a:defRPr sz="3000" b="1">
                <a:solidFill>
                  <a:srgbClr val="102A56"/>
                </a:solidFill>
                <a:latin typeface="Arial"/>
                <a:ea typeface="Arial"/>
                <a:cs typeface="Arial"/>
              </a:defRPr>
            </a:pPr>
            <a:r>
              <a:rPr sz="3000" b="1">
                <a:solidFill>
                  <a:srgbClr val="102A56"/>
                </a:solidFill>
                <a:latin typeface="Arial"/>
                <a:ea typeface="Arial"/>
                <a:cs typeface="Arial"/>
              </a:rPr>
              <a:t>Using a class from another package</a:t>
            </a:r>
          </a:p>
        </p:txBody>
      </p:sp>
      <p:sp>
        <p:nvSpPr>
          <p:cNvPr id="9" name="Rectangle 8">
            <a:extLst>
              <a:ext uri="{FF2B5EF4-FFF2-40B4-BE49-F238E27FC236}">
                <a16:creationId xmlns:a16="http://schemas.microsoft.com/office/drawing/2014/main" id="{7044202A-21D9-660E-0D90-1B2AAB54D52A}"/>
              </a:ext>
            </a:extLst>
          </p:cNvPr>
          <p:cNvSpPr>
            <a:spLocks noGrp="1"/>
          </p:cNvSpPr>
          <p:nvPr/>
        </p:nvSpPr>
        <p:spPr>
          <a:xfrm>
            <a:off x="628650" y="1266825"/>
            <a:ext cx="10477500" cy="342900"/>
          </a:xfrm>
          <a:prstGeom prst="rect">
            <a:avLst/>
          </a:prstGeom>
          <a:noFill/>
          <a:ln w="0">
            <a:noFill/>
          </a:ln>
        </p:spPr>
        <p:txBody>
          <a:bodyPr anchor="ctr">
            <a:normAutofit fontScale="95652"/>
          </a:bodyPr>
          <a:lstStyle/>
          <a:p>
            <a:pPr algn="l">
              <a:defRPr sz="1725" b="0">
                <a:solidFill>
                  <a:srgbClr val="51647C"/>
                </a:solidFill>
                <a:latin typeface="Arial"/>
                <a:ea typeface="Arial"/>
                <a:cs typeface="Arial"/>
              </a:defRPr>
            </a:pPr>
            <a:r>
              <a:rPr sz="1725" b="0">
                <a:solidFill>
                  <a:srgbClr val="51647C"/>
                </a:solidFill>
                <a:latin typeface="Arial"/>
                <a:ea typeface="Arial"/>
                <a:cs typeface="Arial"/>
              </a:rPr>
              <a:t>Choose an import style—or write the class’s full package name.</a:t>
            </a:r>
          </a:p>
        </p:txBody>
      </p:sp>
      <p:sp>
        <p:nvSpPr>
          <p:cNvPr id="11" name="Rectangle 10">
            <a:extLst>
              <a:ext uri="{FF2B5EF4-FFF2-40B4-BE49-F238E27FC236}">
                <a16:creationId xmlns:a16="http://schemas.microsoft.com/office/drawing/2014/main" id="{0F4238CC-8380-06DA-E404-FCBD699B4A21}"/>
              </a:ext>
            </a:extLst>
          </p:cNvPr>
          <p:cNvSpPr>
            <a:spLocks noGrp="1"/>
          </p:cNvSpPr>
          <p:nvPr/>
        </p:nvSpPr>
        <p:spPr>
          <a:xfrm>
            <a:off x="609600" y="1781175"/>
            <a:ext cx="10972800" cy="19050"/>
          </a:xfrm>
          <a:prstGeom prst="rect">
            <a:avLst/>
          </a:prstGeom>
          <a:solidFill>
            <a:srgbClr val="D7E0EA"/>
          </a:solidFill>
          <a:ln w="0">
            <a:noFill/>
          </a:ln>
        </p:spPr>
        <p:txBody>
          <a:bodyPr/>
          <a:lstStyle/>
          <a:p>
            <a:endParaRPr lang="en-IN"/>
          </a:p>
        </p:txBody>
      </p:sp>
      <p:sp>
        <p:nvSpPr>
          <p:cNvPr id="13" name="Rectangle 12">
            <a:extLst>
              <a:ext uri="{FF2B5EF4-FFF2-40B4-BE49-F238E27FC236}">
                <a16:creationId xmlns:a16="http://schemas.microsoft.com/office/drawing/2014/main" id="{3CADFF3F-B9C6-E67A-54D4-843FB905049D}"/>
              </a:ext>
            </a:extLst>
          </p:cNvPr>
          <p:cNvSpPr>
            <a:spLocks noGrp="1"/>
          </p:cNvSpPr>
          <p:nvPr/>
        </p:nvSpPr>
        <p:spPr>
          <a:xfrm>
            <a:off x="685800" y="1971675"/>
            <a:ext cx="2381250" cy="228600"/>
          </a:xfrm>
          <a:prstGeom prst="rect">
            <a:avLst/>
          </a:prstGeom>
          <a:noFill/>
          <a:ln w="0">
            <a:noFill/>
          </a:ln>
        </p:spPr>
        <p:txBody>
          <a:bodyPr anchor="ctr">
            <a:normAutofit fontScale="87500" lnSpcReduction="10000"/>
          </a:bodyPr>
          <a:lstStyle/>
          <a:p>
            <a:pPr algn="l">
              <a:defRPr sz="1125" b="1">
                <a:solidFill>
                  <a:srgbClr val="147D7A"/>
                </a:solidFill>
                <a:latin typeface="Arial"/>
                <a:ea typeface="Arial"/>
                <a:cs typeface="Arial"/>
              </a:defRPr>
            </a:pPr>
            <a:r>
              <a:rPr sz="1125" b="1">
                <a:solidFill>
                  <a:srgbClr val="147D7A"/>
                </a:solidFill>
                <a:latin typeface="Arial"/>
                <a:ea typeface="Arial"/>
                <a:cs typeface="Arial"/>
              </a:rPr>
              <a:t>EXAMPLE CLASS</a:t>
            </a:r>
          </a:p>
        </p:txBody>
      </p:sp>
      <p:sp>
        <p:nvSpPr>
          <p:cNvPr id="15" name="Rectangle 14">
            <a:extLst>
              <a:ext uri="{FF2B5EF4-FFF2-40B4-BE49-F238E27FC236}">
                <a16:creationId xmlns:a16="http://schemas.microsoft.com/office/drawing/2014/main" id="{A0D2BF83-C8E9-C55B-0E10-8E9A4A05263B}"/>
              </a:ext>
            </a:extLst>
          </p:cNvPr>
          <p:cNvSpPr>
            <a:spLocks noGrp="1"/>
          </p:cNvSpPr>
          <p:nvPr/>
        </p:nvSpPr>
        <p:spPr>
          <a:xfrm>
            <a:off x="685800" y="2238375"/>
            <a:ext cx="10477500" cy="304800"/>
          </a:xfrm>
          <a:prstGeom prst="rect">
            <a:avLst/>
          </a:prstGeom>
          <a:noFill/>
          <a:ln w="0">
            <a:noFill/>
          </a:ln>
        </p:spPr>
        <p:txBody>
          <a:bodyPr anchor="ctr">
            <a:normAutofit fontScale="93333"/>
          </a:bodyPr>
          <a:lstStyle/>
          <a:p>
            <a:pPr algn="l">
              <a:defRPr sz="1500" b="0">
                <a:solidFill>
                  <a:srgbClr val="172B45"/>
                </a:solidFill>
                <a:latin typeface="Arial"/>
                <a:ea typeface="Arial"/>
                <a:cs typeface="Arial"/>
              </a:defRPr>
            </a:pPr>
            <a:r>
              <a:rPr sz="1500" b="0">
                <a:solidFill>
                  <a:srgbClr val="172B45"/>
                </a:solidFill>
                <a:latin typeface="Arial"/>
                <a:ea typeface="Arial"/>
                <a:cs typeface="Arial"/>
              </a:rPr>
              <a:t>Assume Student is public and declared in package school.people.</a:t>
            </a:r>
          </a:p>
        </p:txBody>
      </p:sp>
      <p:sp>
        <p:nvSpPr>
          <p:cNvPr id="17" name="Oval 16">
            <a:extLst>
              <a:ext uri="{FF2B5EF4-FFF2-40B4-BE49-F238E27FC236}">
                <a16:creationId xmlns:a16="http://schemas.microsoft.com/office/drawing/2014/main" id="{7342A269-04E4-4F19-8545-DF19D406193B}"/>
              </a:ext>
            </a:extLst>
          </p:cNvPr>
          <p:cNvSpPr>
            <a:spLocks noGrp="1"/>
          </p:cNvSpPr>
          <p:nvPr/>
        </p:nvSpPr>
        <p:spPr>
          <a:xfrm>
            <a:off x="742950" y="2952750"/>
            <a:ext cx="342900" cy="342900"/>
          </a:xfrm>
          <a:prstGeom prst="ellipse">
            <a:avLst/>
          </a:prstGeom>
          <a:solidFill>
            <a:srgbClr val="102A56"/>
          </a:solidFill>
          <a:ln w="0">
            <a:noFill/>
          </a:ln>
        </p:spPr>
        <p:txBody>
          <a:bodyPr/>
          <a:lstStyle/>
          <a:p>
            <a:endParaRPr lang="en-IN"/>
          </a:p>
        </p:txBody>
      </p:sp>
      <p:sp>
        <p:nvSpPr>
          <p:cNvPr id="19" name="Rectangle 18">
            <a:extLst>
              <a:ext uri="{FF2B5EF4-FFF2-40B4-BE49-F238E27FC236}">
                <a16:creationId xmlns:a16="http://schemas.microsoft.com/office/drawing/2014/main" id="{1CA995C5-5C6B-A592-2AEB-9DBFCD3AA302}"/>
              </a:ext>
            </a:extLst>
          </p:cNvPr>
          <p:cNvSpPr>
            <a:spLocks noGrp="1"/>
          </p:cNvSpPr>
          <p:nvPr/>
        </p:nvSpPr>
        <p:spPr>
          <a:xfrm>
            <a:off x="742950" y="2952750"/>
            <a:ext cx="342900" cy="342900"/>
          </a:xfrm>
          <a:prstGeom prst="rect">
            <a:avLst/>
          </a:prstGeom>
          <a:noFill/>
          <a:ln w="0">
            <a:noFill/>
          </a:ln>
        </p:spPr>
        <p:txBody>
          <a:bodyPr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21" name="Rectangle 20">
            <a:extLst>
              <a:ext uri="{FF2B5EF4-FFF2-40B4-BE49-F238E27FC236}">
                <a16:creationId xmlns:a16="http://schemas.microsoft.com/office/drawing/2014/main" id="{FBED2B48-8884-77C2-2E51-CE6C401702AC}"/>
              </a:ext>
            </a:extLst>
          </p:cNvPr>
          <p:cNvSpPr>
            <a:spLocks noGrp="1"/>
          </p:cNvSpPr>
          <p:nvPr/>
        </p:nvSpPr>
        <p:spPr>
          <a:xfrm>
            <a:off x="1257300" y="2895600"/>
            <a:ext cx="2095500" cy="457200"/>
          </a:xfrm>
          <a:prstGeom prst="rect">
            <a:avLst/>
          </a:prstGeom>
          <a:noFill/>
          <a:ln w="0">
            <a:noFill/>
          </a:ln>
        </p:spPr>
        <p:txBody>
          <a:bodyPr anchor="ctr">
            <a:normAutofit/>
          </a:bodyPr>
          <a:lstStyle/>
          <a:p>
            <a:pPr algn="l">
              <a:defRPr sz="1575" b="1">
                <a:solidFill>
                  <a:srgbClr val="102A56"/>
                </a:solidFill>
                <a:latin typeface="Arial"/>
                <a:ea typeface="Arial"/>
                <a:cs typeface="Arial"/>
              </a:defRPr>
            </a:pPr>
            <a:r>
              <a:rPr sz="1575" b="1">
                <a:solidFill>
                  <a:srgbClr val="102A56"/>
                </a:solidFill>
                <a:latin typeface="Arial"/>
                <a:ea typeface="Arial"/>
                <a:cs typeface="Arial"/>
              </a:rPr>
              <a:t>Import all types</a:t>
            </a:r>
          </a:p>
        </p:txBody>
      </p:sp>
      <p:sp>
        <p:nvSpPr>
          <p:cNvPr id="23" name="Rectangle 22">
            <a:extLst>
              <a:ext uri="{FF2B5EF4-FFF2-40B4-BE49-F238E27FC236}">
                <a16:creationId xmlns:a16="http://schemas.microsoft.com/office/drawing/2014/main" id="{5209D610-71C0-F1CB-F677-672184DC626E}"/>
              </a:ext>
            </a:extLst>
          </p:cNvPr>
          <p:cNvSpPr>
            <a:spLocks noGrp="1"/>
          </p:cNvSpPr>
          <p:nvPr/>
        </p:nvSpPr>
        <p:spPr>
          <a:xfrm>
            <a:off x="3619500" y="2838450"/>
            <a:ext cx="7620000" cy="352425"/>
          </a:xfrm>
          <a:prstGeom prst="rect">
            <a:avLst/>
          </a:prstGeom>
          <a:noFill/>
          <a:ln w="0">
            <a:noFill/>
          </a:ln>
        </p:spPr>
        <p:txBody>
          <a:bodyPr anchor="ctr">
            <a:normAutofit/>
          </a:bodyPr>
          <a:lstStyle/>
          <a:p>
            <a:pPr algn="l">
              <a:defRPr sz="1500" b="1">
                <a:solidFill>
                  <a:srgbClr val="285E91"/>
                </a:solidFill>
                <a:latin typeface="Consolas"/>
                <a:ea typeface="Consolas"/>
                <a:cs typeface="Consolas"/>
              </a:defRPr>
            </a:pPr>
            <a:r>
              <a:rPr sz="1500" b="1" dirty="0">
                <a:solidFill>
                  <a:srgbClr val="285E91"/>
                </a:solidFill>
                <a:latin typeface="Consolas"/>
                <a:ea typeface="Consolas"/>
                <a:cs typeface="Consolas"/>
              </a:rPr>
              <a:t>import </a:t>
            </a:r>
            <a:r>
              <a:rPr lang="en-IN" sz="1500" b="1" dirty="0" err="1">
                <a:solidFill>
                  <a:srgbClr val="285E91"/>
                </a:solidFill>
                <a:latin typeface="Consolas"/>
                <a:ea typeface="Consolas"/>
                <a:cs typeface="Consolas"/>
              </a:rPr>
              <a:t>com.rce.oops</a:t>
            </a:r>
            <a:r>
              <a:rPr sz="1500" b="1" dirty="0">
                <a:solidFill>
                  <a:srgbClr val="285E91"/>
                </a:solidFill>
                <a:latin typeface="Consolas"/>
                <a:ea typeface="Consolas"/>
                <a:cs typeface="Consolas"/>
              </a:rPr>
              <a:t>.*;</a:t>
            </a:r>
          </a:p>
        </p:txBody>
      </p:sp>
      <p:sp>
        <p:nvSpPr>
          <p:cNvPr id="25" name="Rectangle 24">
            <a:extLst>
              <a:ext uri="{FF2B5EF4-FFF2-40B4-BE49-F238E27FC236}">
                <a16:creationId xmlns:a16="http://schemas.microsoft.com/office/drawing/2014/main" id="{010BB8B0-AD16-AA8E-0457-68DE5CBCD233}"/>
              </a:ext>
            </a:extLst>
          </p:cNvPr>
          <p:cNvSpPr>
            <a:spLocks noGrp="1"/>
          </p:cNvSpPr>
          <p:nvPr/>
        </p:nvSpPr>
        <p:spPr>
          <a:xfrm>
            <a:off x="3619500" y="3181350"/>
            <a:ext cx="7620000" cy="352425"/>
          </a:xfrm>
          <a:prstGeom prst="rect">
            <a:avLst/>
          </a:prstGeom>
          <a:noFill/>
          <a:ln w="0">
            <a:noFill/>
          </a:ln>
        </p:spPr>
        <p:txBody>
          <a:bodyPr anchor="ctr">
            <a:normAutofit/>
          </a:bodyPr>
          <a:lstStyle/>
          <a:p>
            <a:pPr algn="l">
              <a:defRPr sz="1500" b="0">
                <a:solidFill>
                  <a:srgbClr val="172B45"/>
                </a:solidFill>
                <a:latin typeface="Consolas"/>
                <a:ea typeface="Consolas"/>
                <a:cs typeface="Consolas"/>
              </a:defRPr>
            </a:pPr>
            <a:r>
              <a:rPr sz="1500" b="0">
                <a:solidFill>
                  <a:srgbClr val="172B45"/>
                </a:solidFill>
                <a:latin typeface="Consolas"/>
                <a:ea typeface="Consolas"/>
                <a:cs typeface="Consolas"/>
              </a:rPr>
              <a:t>Student s = new Student();</a:t>
            </a:r>
          </a:p>
        </p:txBody>
      </p:sp>
      <p:sp>
        <p:nvSpPr>
          <p:cNvPr id="27" name="Rectangle 26">
            <a:extLst>
              <a:ext uri="{FF2B5EF4-FFF2-40B4-BE49-F238E27FC236}">
                <a16:creationId xmlns:a16="http://schemas.microsoft.com/office/drawing/2014/main" id="{568EA021-A0C4-CE9C-D90F-529280283E1A}"/>
              </a:ext>
            </a:extLst>
          </p:cNvPr>
          <p:cNvSpPr>
            <a:spLocks noGrp="1"/>
          </p:cNvSpPr>
          <p:nvPr/>
        </p:nvSpPr>
        <p:spPr>
          <a:xfrm>
            <a:off x="685800" y="3657600"/>
            <a:ext cx="10820400" cy="9525"/>
          </a:xfrm>
          <a:prstGeom prst="rect">
            <a:avLst/>
          </a:prstGeom>
          <a:solidFill>
            <a:srgbClr val="D7E0EA"/>
          </a:solidFill>
          <a:ln w="0">
            <a:noFill/>
          </a:ln>
        </p:spPr>
        <p:txBody>
          <a:bodyPr/>
          <a:lstStyle/>
          <a:p>
            <a:endParaRPr lang="en-IN"/>
          </a:p>
        </p:txBody>
      </p:sp>
      <p:sp>
        <p:nvSpPr>
          <p:cNvPr id="29" name="Oval 28">
            <a:extLst>
              <a:ext uri="{FF2B5EF4-FFF2-40B4-BE49-F238E27FC236}">
                <a16:creationId xmlns:a16="http://schemas.microsoft.com/office/drawing/2014/main" id="{D0B6B081-5CB6-B17A-10FB-F2841145B088}"/>
              </a:ext>
            </a:extLst>
          </p:cNvPr>
          <p:cNvSpPr>
            <a:spLocks noGrp="1"/>
          </p:cNvSpPr>
          <p:nvPr/>
        </p:nvSpPr>
        <p:spPr>
          <a:xfrm>
            <a:off x="742950" y="3924300"/>
            <a:ext cx="342900" cy="342900"/>
          </a:xfrm>
          <a:prstGeom prst="ellipse">
            <a:avLst/>
          </a:prstGeom>
          <a:solidFill>
            <a:srgbClr val="147D7A"/>
          </a:solidFill>
          <a:ln w="0">
            <a:noFill/>
          </a:ln>
        </p:spPr>
        <p:txBody>
          <a:bodyPr/>
          <a:lstStyle/>
          <a:p>
            <a:endParaRPr lang="en-IN"/>
          </a:p>
        </p:txBody>
      </p:sp>
      <p:sp>
        <p:nvSpPr>
          <p:cNvPr id="31" name="Rectangle 30">
            <a:extLst>
              <a:ext uri="{FF2B5EF4-FFF2-40B4-BE49-F238E27FC236}">
                <a16:creationId xmlns:a16="http://schemas.microsoft.com/office/drawing/2014/main" id="{2A1BBF44-D3E8-2612-DBCB-81589F71947C}"/>
              </a:ext>
            </a:extLst>
          </p:cNvPr>
          <p:cNvSpPr>
            <a:spLocks noGrp="1"/>
          </p:cNvSpPr>
          <p:nvPr/>
        </p:nvSpPr>
        <p:spPr>
          <a:xfrm>
            <a:off x="742950" y="3924300"/>
            <a:ext cx="342900" cy="342900"/>
          </a:xfrm>
          <a:prstGeom prst="rect">
            <a:avLst/>
          </a:prstGeom>
          <a:noFill/>
          <a:ln w="0">
            <a:noFill/>
          </a:ln>
        </p:spPr>
        <p:txBody>
          <a:bodyPr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33" name="Rectangle 32">
            <a:extLst>
              <a:ext uri="{FF2B5EF4-FFF2-40B4-BE49-F238E27FC236}">
                <a16:creationId xmlns:a16="http://schemas.microsoft.com/office/drawing/2014/main" id="{877078E2-7FD7-56D1-D869-F26B805C71DA}"/>
              </a:ext>
            </a:extLst>
          </p:cNvPr>
          <p:cNvSpPr>
            <a:spLocks noGrp="1"/>
          </p:cNvSpPr>
          <p:nvPr/>
        </p:nvSpPr>
        <p:spPr>
          <a:xfrm>
            <a:off x="1257300" y="3867150"/>
            <a:ext cx="2095500" cy="457200"/>
          </a:xfrm>
          <a:prstGeom prst="rect">
            <a:avLst/>
          </a:prstGeom>
          <a:noFill/>
          <a:ln w="0">
            <a:noFill/>
          </a:ln>
        </p:spPr>
        <p:txBody>
          <a:bodyPr anchor="ctr">
            <a:normAutofit/>
          </a:bodyPr>
          <a:lstStyle/>
          <a:p>
            <a:pPr algn="l">
              <a:defRPr sz="1575" b="1">
                <a:solidFill>
                  <a:srgbClr val="102A56"/>
                </a:solidFill>
                <a:latin typeface="Arial"/>
                <a:ea typeface="Arial"/>
                <a:cs typeface="Arial"/>
              </a:defRPr>
            </a:pPr>
            <a:r>
              <a:rPr sz="1575" b="1">
                <a:solidFill>
                  <a:srgbClr val="102A56"/>
                </a:solidFill>
                <a:latin typeface="Arial"/>
                <a:ea typeface="Arial"/>
                <a:cs typeface="Arial"/>
              </a:rPr>
              <a:t>Import one class</a:t>
            </a:r>
          </a:p>
        </p:txBody>
      </p:sp>
      <p:sp>
        <p:nvSpPr>
          <p:cNvPr id="35" name="Rectangle 34">
            <a:extLst>
              <a:ext uri="{FF2B5EF4-FFF2-40B4-BE49-F238E27FC236}">
                <a16:creationId xmlns:a16="http://schemas.microsoft.com/office/drawing/2014/main" id="{0F4AD168-01BD-28C3-CAC9-6154D0ACC1BC}"/>
              </a:ext>
            </a:extLst>
          </p:cNvPr>
          <p:cNvSpPr>
            <a:spLocks noGrp="1"/>
          </p:cNvSpPr>
          <p:nvPr/>
        </p:nvSpPr>
        <p:spPr>
          <a:xfrm>
            <a:off x="3619500" y="3810000"/>
            <a:ext cx="7620000" cy="352425"/>
          </a:xfrm>
          <a:prstGeom prst="rect">
            <a:avLst/>
          </a:prstGeom>
          <a:noFill/>
          <a:ln w="0">
            <a:noFill/>
          </a:ln>
        </p:spPr>
        <p:txBody>
          <a:bodyPr anchor="ctr">
            <a:normAutofit/>
          </a:bodyPr>
          <a:lstStyle/>
          <a:p>
            <a:pPr>
              <a:defRPr sz="1500" b="1">
                <a:solidFill>
                  <a:srgbClr val="285E91"/>
                </a:solidFill>
                <a:latin typeface="Consolas"/>
                <a:ea typeface="Consolas"/>
                <a:cs typeface="Consolas"/>
              </a:defRPr>
            </a:pPr>
            <a:r>
              <a:rPr sz="1500" b="1" dirty="0">
                <a:solidFill>
                  <a:srgbClr val="285E91"/>
                </a:solidFill>
                <a:latin typeface="Consolas"/>
                <a:ea typeface="Consolas"/>
                <a:cs typeface="Consolas"/>
              </a:rPr>
              <a:t>import </a:t>
            </a:r>
            <a:r>
              <a:rPr lang="en-IN" sz="1500" b="1" dirty="0" err="1">
                <a:solidFill>
                  <a:srgbClr val="285E91"/>
                </a:solidFill>
                <a:latin typeface="Consolas"/>
                <a:ea typeface="Consolas"/>
                <a:cs typeface="Consolas"/>
              </a:rPr>
              <a:t>com.rce.oops</a:t>
            </a:r>
            <a:r>
              <a:rPr lang="en-IN" sz="1500" b="1" dirty="0">
                <a:solidFill>
                  <a:srgbClr val="285E91"/>
                </a:solidFill>
                <a:latin typeface="Consolas"/>
                <a:ea typeface="Consolas"/>
                <a:cs typeface="Consolas"/>
              </a:rPr>
              <a:t>.</a:t>
            </a:r>
            <a:r>
              <a:rPr sz="1500" b="1" dirty="0">
                <a:solidFill>
                  <a:srgbClr val="285E91"/>
                </a:solidFill>
                <a:latin typeface="Consolas"/>
                <a:ea typeface="Consolas"/>
                <a:cs typeface="Consolas"/>
              </a:rPr>
              <a:t>Student;</a:t>
            </a:r>
          </a:p>
        </p:txBody>
      </p:sp>
      <p:sp>
        <p:nvSpPr>
          <p:cNvPr id="37" name="Rectangle 36">
            <a:extLst>
              <a:ext uri="{FF2B5EF4-FFF2-40B4-BE49-F238E27FC236}">
                <a16:creationId xmlns:a16="http://schemas.microsoft.com/office/drawing/2014/main" id="{BF2D91EA-6012-9FEC-32F0-4B711422E455}"/>
              </a:ext>
            </a:extLst>
          </p:cNvPr>
          <p:cNvSpPr>
            <a:spLocks noGrp="1"/>
          </p:cNvSpPr>
          <p:nvPr/>
        </p:nvSpPr>
        <p:spPr>
          <a:xfrm>
            <a:off x="3619500" y="4152900"/>
            <a:ext cx="7620000" cy="352425"/>
          </a:xfrm>
          <a:prstGeom prst="rect">
            <a:avLst/>
          </a:prstGeom>
          <a:noFill/>
          <a:ln w="0">
            <a:noFill/>
          </a:ln>
        </p:spPr>
        <p:txBody>
          <a:bodyPr anchor="ctr">
            <a:normAutofit/>
          </a:bodyPr>
          <a:lstStyle/>
          <a:p>
            <a:pPr algn="l">
              <a:defRPr sz="1500" b="0">
                <a:solidFill>
                  <a:srgbClr val="172B45"/>
                </a:solidFill>
                <a:latin typeface="Consolas"/>
                <a:ea typeface="Consolas"/>
                <a:cs typeface="Consolas"/>
              </a:defRPr>
            </a:pPr>
            <a:r>
              <a:rPr sz="1500" b="0">
                <a:solidFill>
                  <a:srgbClr val="172B45"/>
                </a:solidFill>
                <a:latin typeface="Consolas"/>
                <a:ea typeface="Consolas"/>
                <a:cs typeface="Consolas"/>
              </a:rPr>
              <a:t>Student s = new Student();</a:t>
            </a:r>
          </a:p>
        </p:txBody>
      </p:sp>
      <p:sp>
        <p:nvSpPr>
          <p:cNvPr id="39" name="Rectangle 38">
            <a:extLst>
              <a:ext uri="{FF2B5EF4-FFF2-40B4-BE49-F238E27FC236}">
                <a16:creationId xmlns:a16="http://schemas.microsoft.com/office/drawing/2014/main" id="{0C567EEF-D2B1-F0E0-DEA2-D727102EDDB1}"/>
              </a:ext>
            </a:extLst>
          </p:cNvPr>
          <p:cNvSpPr>
            <a:spLocks noGrp="1"/>
          </p:cNvSpPr>
          <p:nvPr/>
        </p:nvSpPr>
        <p:spPr>
          <a:xfrm>
            <a:off x="685800" y="4629150"/>
            <a:ext cx="10820400" cy="9525"/>
          </a:xfrm>
          <a:prstGeom prst="rect">
            <a:avLst/>
          </a:prstGeom>
          <a:solidFill>
            <a:srgbClr val="D7E0EA"/>
          </a:solidFill>
          <a:ln w="0">
            <a:noFill/>
          </a:ln>
        </p:spPr>
        <p:txBody>
          <a:bodyPr/>
          <a:lstStyle/>
          <a:p>
            <a:endParaRPr lang="en-IN"/>
          </a:p>
        </p:txBody>
      </p:sp>
      <p:sp>
        <p:nvSpPr>
          <p:cNvPr id="41" name="Oval 40">
            <a:extLst>
              <a:ext uri="{FF2B5EF4-FFF2-40B4-BE49-F238E27FC236}">
                <a16:creationId xmlns:a16="http://schemas.microsoft.com/office/drawing/2014/main" id="{81F3798E-28F8-53E3-32FE-613ADD9FA78D}"/>
              </a:ext>
            </a:extLst>
          </p:cNvPr>
          <p:cNvSpPr>
            <a:spLocks noGrp="1"/>
          </p:cNvSpPr>
          <p:nvPr/>
        </p:nvSpPr>
        <p:spPr>
          <a:xfrm>
            <a:off x="742950" y="4895850"/>
            <a:ext cx="342900" cy="342900"/>
          </a:xfrm>
          <a:prstGeom prst="ellipse">
            <a:avLst/>
          </a:prstGeom>
          <a:solidFill>
            <a:srgbClr val="102A56"/>
          </a:solidFill>
          <a:ln w="0">
            <a:noFill/>
          </a:ln>
        </p:spPr>
        <p:txBody>
          <a:bodyPr/>
          <a:lstStyle/>
          <a:p>
            <a:endParaRPr lang="en-IN"/>
          </a:p>
        </p:txBody>
      </p:sp>
      <p:sp>
        <p:nvSpPr>
          <p:cNvPr id="43" name="Rectangle 42">
            <a:extLst>
              <a:ext uri="{FF2B5EF4-FFF2-40B4-BE49-F238E27FC236}">
                <a16:creationId xmlns:a16="http://schemas.microsoft.com/office/drawing/2014/main" id="{641290A0-73EF-DC89-FA65-F6A1FC0F5077}"/>
              </a:ext>
            </a:extLst>
          </p:cNvPr>
          <p:cNvSpPr>
            <a:spLocks noGrp="1"/>
          </p:cNvSpPr>
          <p:nvPr/>
        </p:nvSpPr>
        <p:spPr>
          <a:xfrm>
            <a:off x="742950" y="4895850"/>
            <a:ext cx="342900" cy="342900"/>
          </a:xfrm>
          <a:prstGeom prst="rect">
            <a:avLst/>
          </a:prstGeom>
          <a:noFill/>
          <a:ln w="0">
            <a:noFill/>
          </a:ln>
        </p:spPr>
        <p:txBody>
          <a:bodyPr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45" name="Rectangle 44">
            <a:extLst>
              <a:ext uri="{FF2B5EF4-FFF2-40B4-BE49-F238E27FC236}">
                <a16:creationId xmlns:a16="http://schemas.microsoft.com/office/drawing/2014/main" id="{F72DEB30-E345-E9C3-10CF-148A6631B06C}"/>
              </a:ext>
            </a:extLst>
          </p:cNvPr>
          <p:cNvSpPr>
            <a:spLocks noGrp="1"/>
          </p:cNvSpPr>
          <p:nvPr/>
        </p:nvSpPr>
        <p:spPr>
          <a:xfrm>
            <a:off x="1257300" y="4838700"/>
            <a:ext cx="2095500" cy="457200"/>
          </a:xfrm>
          <a:prstGeom prst="rect">
            <a:avLst/>
          </a:prstGeom>
          <a:noFill/>
          <a:ln w="0">
            <a:noFill/>
          </a:ln>
        </p:spPr>
        <p:txBody>
          <a:bodyPr anchor="ctr">
            <a:normAutofit/>
          </a:bodyPr>
          <a:lstStyle/>
          <a:p>
            <a:pPr algn="l">
              <a:defRPr sz="1575" b="1">
                <a:solidFill>
                  <a:srgbClr val="102A56"/>
                </a:solidFill>
                <a:latin typeface="Arial"/>
                <a:ea typeface="Arial"/>
                <a:cs typeface="Arial"/>
              </a:defRPr>
            </a:pPr>
            <a:r>
              <a:rPr sz="1575" b="1">
                <a:solidFill>
                  <a:srgbClr val="102A56"/>
                </a:solidFill>
                <a:latin typeface="Arial"/>
                <a:ea typeface="Arial"/>
                <a:cs typeface="Arial"/>
              </a:rPr>
              <a:t>Use the full name</a:t>
            </a:r>
          </a:p>
        </p:txBody>
      </p:sp>
      <p:sp>
        <p:nvSpPr>
          <p:cNvPr id="47" name="Rectangle 46">
            <a:extLst>
              <a:ext uri="{FF2B5EF4-FFF2-40B4-BE49-F238E27FC236}">
                <a16:creationId xmlns:a16="http://schemas.microsoft.com/office/drawing/2014/main" id="{3C4816F6-32C3-67F6-5A74-5D04BCF5B393}"/>
              </a:ext>
            </a:extLst>
          </p:cNvPr>
          <p:cNvSpPr>
            <a:spLocks noGrp="1"/>
          </p:cNvSpPr>
          <p:nvPr/>
        </p:nvSpPr>
        <p:spPr>
          <a:xfrm>
            <a:off x="3619500" y="4781550"/>
            <a:ext cx="7620000" cy="352425"/>
          </a:xfrm>
          <a:prstGeom prst="rect">
            <a:avLst/>
          </a:prstGeom>
          <a:noFill/>
          <a:ln w="0">
            <a:noFill/>
          </a:ln>
        </p:spPr>
        <p:txBody>
          <a:bodyPr anchor="ctr">
            <a:normAutofit/>
          </a:bodyPr>
          <a:lstStyle/>
          <a:p>
            <a:pPr algn="l">
              <a:defRPr sz="1500" b="1">
                <a:solidFill>
                  <a:srgbClr val="285E91"/>
                </a:solidFill>
                <a:latin typeface="Consolas"/>
                <a:ea typeface="Consolas"/>
                <a:cs typeface="Consolas"/>
              </a:defRPr>
            </a:pPr>
            <a:r>
              <a:rPr lang="en-IN" sz="1500" b="1" dirty="0" err="1">
                <a:solidFill>
                  <a:srgbClr val="285E91"/>
                </a:solidFill>
                <a:latin typeface="Consolas"/>
                <a:ea typeface="Consolas"/>
                <a:cs typeface="Consolas"/>
              </a:rPr>
              <a:t>com.rce.oops.Student</a:t>
            </a:r>
            <a:r>
              <a:rPr lang="en-IN" sz="1500" b="1" dirty="0">
                <a:solidFill>
                  <a:srgbClr val="285E91"/>
                </a:solidFill>
                <a:latin typeface="Consolas"/>
                <a:ea typeface="Consolas"/>
                <a:cs typeface="Consolas"/>
              </a:rPr>
              <a:t> </a:t>
            </a:r>
            <a:r>
              <a:rPr sz="1500" b="1" dirty="0">
                <a:solidFill>
                  <a:srgbClr val="285E91"/>
                </a:solidFill>
                <a:latin typeface="Consolas"/>
                <a:ea typeface="Consolas"/>
                <a:cs typeface="Consolas"/>
              </a:rPr>
              <a:t>s =</a:t>
            </a:r>
          </a:p>
        </p:txBody>
      </p:sp>
      <p:sp>
        <p:nvSpPr>
          <p:cNvPr id="49" name="Rectangle 48">
            <a:extLst>
              <a:ext uri="{FF2B5EF4-FFF2-40B4-BE49-F238E27FC236}">
                <a16:creationId xmlns:a16="http://schemas.microsoft.com/office/drawing/2014/main" id="{4ACA1D35-3D1E-BBED-FC31-4B03E01FFF91}"/>
              </a:ext>
            </a:extLst>
          </p:cNvPr>
          <p:cNvSpPr>
            <a:spLocks noGrp="1"/>
          </p:cNvSpPr>
          <p:nvPr/>
        </p:nvSpPr>
        <p:spPr>
          <a:xfrm>
            <a:off x="3619500" y="5124450"/>
            <a:ext cx="7620000" cy="352425"/>
          </a:xfrm>
          <a:prstGeom prst="rect">
            <a:avLst/>
          </a:prstGeom>
          <a:noFill/>
          <a:ln w="0">
            <a:noFill/>
          </a:ln>
        </p:spPr>
        <p:txBody>
          <a:bodyPr anchor="ctr">
            <a:normAutofit/>
          </a:bodyPr>
          <a:lstStyle/>
          <a:p>
            <a:pPr>
              <a:defRPr sz="1500" b="0">
                <a:solidFill>
                  <a:srgbClr val="172B45"/>
                </a:solidFill>
                <a:latin typeface="Consolas"/>
                <a:ea typeface="Consolas"/>
                <a:cs typeface="Consolas"/>
              </a:defRPr>
            </a:pPr>
            <a:r>
              <a:rPr sz="1500" b="0" dirty="0">
                <a:solidFill>
                  <a:srgbClr val="172B45"/>
                </a:solidFill>
                <a:latin typeface="Consolas"/>
                <a:ea typeface="Consolas"/>
                <a:cs typeface="Consolas"/>
              </a:rPr>
              <a:t> </a:t>
            </a:r>
            <a:r>
              <a:rPr lang="en-IN" sz="1500" b="1" dirty="0" err="1">
                <a:solidFill>
                  <a:srgbClr val="285E91"/>
                </a:solidFill>
                <a:latin typeface="Consolas"/>
                <a:ea typeface="Consolas"/>
                <a:cs typeface="Consolas"/>
              </a:rPr>
              <a:t>com.rce.oops.Student</a:t>
            </a:r>
            <a:r>
              <a:rPr sz="1500" b="0" dirty="0">
                <a:solidFill>
                  <a:srgbClr val="172B45"/>
                </a:solidFill>
                <a:latin typeface="Consolas"/>
                <a:ea typeface="Consolas"/>
                <a:cs typeface="Consolas"/>
              </a:rPr>
              <a:t>.Student();</a:t>
            </a:r>
          </a:p>
        </p:txBody>
      </p:sp>
      <p:sp>
        <p:nvSpPr>
          <p:cNvPr id="51" name="Rectangle: Rounded Corners 50">
            <a:extLst>
              <a:ext uri="{FF2B5EF4-FFF2-40B4-BE49-F238E27FC236}">
                <a16:creationId xmlns:a16="http://schemas.microsoft.com/office/drawing/2014/main" id="{D6866880-31E7-ED6D-40C6-9C66C779F41A}"/>
              </a:ext>
            </a:extLst>
          </p:cNvPr>
          <p:cNvSpPr>
            <a:spLocks noGrp="1"/>
          </p:cNvSpPr>
          <p:nvPr/>
        </p:nvSpPr>
        <p:spPr>
          <a:xfrm>
            <a:off x="685800" y="5829300"/>
            <a:ext cx="10820400" cy="628650"/>
          </a:xfrm>
          <a:prstGeom prst="roundRect">
            <a:avLst>
              <a:gd name="adj" fmla="val 12121"/>
            </a:avLst>
          </a:prstGeom>
          <a:solidFill>
            <a:srgbClr val="E6F3F1"/>
          </a:solidFill>
          <a:ln w="0">
            <a:noFill/>
          </a:ln>
        </p:spPr>
        <p:txBody>
          <a:bodyPr/>
          <a:lstStyle/>
          <a:p>
            <a:endParaRPr lang="en-IN"/>
          </a:p>
        </p:txBody>
      </p:sp>
      <p:sp>
        <p:nvSpPr>
          <p:cNvPr id="53" name="Rectangle 52">
            <a:extLst>
              <a:ext uri="{FF2B5EF4-FFF2-40B4-BE49-F238E27FC236}">
                <a16:creationId xmlns:a16="http://schemas.microsoft.com/office/drawing/2014/main" id="{17DB5702-A8E1-A6A8-638C-155D147F52B4}"/>
              </a:ext>
            </a:extLst>
          </p:cNvPr>
          <p:cNvSpPr>
            <a:spLocks noGrp="1"/>
          </p:cNvSpPr>
          <p:nvPr/>
        </p:nvSpPr>
        <p:spPr>
          <a:xfrm>
            <a:off x="895350" y="5934075"/>
            <a:ext cx="1381125" cy="266700"/>
          </a:xfrm>
          <a:prstGeom prst="rect">
            <a:avLst/>
          </a:prstGeom>
          <a:noFill/>
          <a:ln w="0">
            <a:noFill/>
          </a:ln>
        </p:spPr>
        <p:txBody>
          <a:bodyPr anchor="ctr">
            <a:normAutofit fontScale="97696" lnSpcReduction="10000"/>
          </a:bodyPr>
          <a:lstStyle/>
          <a:p>
            <a:pPr algn="l">
              <a:defRPr sz="1275" b="1">
                <a:solidFill>
                  <a:srgbClr val="147D7A"/>
                </a:solidFill>
                <a:latin typeface="Arial"/>
                <a:ea typeface="Arial"/>
                <a:cs typeface="Arial"/>
              </a:defRPr>
            </a:pPr>
            <a:r>
              <a:rPr sz="1275" b="1">
                <a:solidFill>
                  <a:srgbClr val="147D7A"/>
                </a:solidFill>
                <a:latin typeface="Arial"/>
                <a:ea typeface="Arial"/>
                <a:cs typeface="Arial"/>
              </a:rPr>
              <a:t>Access note</a:t>
            </a:r>
          </a:p>
        </p:txBody>
      </p:sp>
      <p:sp>
        <p:nvSpPr>
          <p:cNvPr id="55" name="Rectangle 54">
            <a:extLst>
              <a:ext uri="{FF2B5EF4-FFF2-40B4-BE49-F238E27FC236}">
                <a16:creationId xmlns:a16="http://schemas.microsoft.com/office/drawing/2014/main" id="{BDA20065-D1B2-C675-0BD5-B50F35238335}"/>
              </a:ext>
            </a:extLst>
          </p:cNvPr>
          <p:cNvSpPr>
            <a:spLocks noGrp="1"/>
          </p:cNvSpPr>
          <p:nvPr/>
        </p:nvSpPr>
        <p:spPr>
          <a:xfrm>
            <a:off x="2333625" y="5895975"/>
            <a:ext cx="8858250" cy="447675"/>
          </a:xfrm>
          <a:prstGeom prst="rect">
            <a:avLst/>
          </a:prstGeom>
          <a:noFill/>
          <a:ln w="0">
            <a:noFill/>
          </a:ln>
        </p:spPr>
        <p:txBody>
          <a:bodyPr anchor="ctr">
            <a:normAutofit/>
          </a:bodyPr>
          <a:lstStyle/>
          <a:p>
            <a:pPr algn="l">
              <a:defRPr sz="1350" b="0">
                <a:solidFill>
                  <a:srgbClr val="172B45"/>
                </a:solidFill>
                <a:latin typeface="Arial"/>
                <a:ea typeface="Arial"/>
                <a:cs typeface="Arial"/>
              </a:defRPr>
            </a:pPr>
            <a:r>
              <a:rPr sz="1350" b="0">
                <a:solidFill>
                  <a:srgbClr val="172B45"/>
                </a:solidFill>
                <a:latin typeface="Arial"/>
                <a:ea typeface="Arial"/>
                <a:cs typeface="Arial"/>
              </a:rPr>
              <a:t>Student must be public. The * import covers this package only; it does not include subpackages.</a:t>
            </a:r>
          </a:p>
        </p:txBody>
      </p:sp>
    </p:spTree>
    <p:extLst>
      <p:ext uri="{BB962C8B-B14F-4D97-AF65-F5344CB8AC3E}">
        <p14:creationId xmlns:p14="http://schemas.microsoft.com/office/powerpoint/2010/main" val="354674152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263753" y="329641"/>
            <a:ext cx="11408410" cy="3198495"/>
          </a:xfrm>
          <a:prstGeom prst="rect">
            <a:avLst/>
          </a:prstGeom>
        </p:spPr>
        <p:txBody>
          <a:bodyPr vert="horz" wrap="square" lIns="0" tIns="13970" rIns="0" bIns="0" rtlCol="0">
            <a:normAutofit/>
          </a:bodyPr>
          <a:lstStyle/>
          <a:p>
            <a:pPr marL="365125" indent="-353695">
              <a:buSzPct val="98214"/>
              <a:buAutoNum type="arabicParenR"/>
              <a:tabLst>
                <a:tab pos="365125" algn="l"/>
              </a:tabLst>
            </a:pPr>
            <a:r>
              <a:rPr sz="1600" u="sng" dirty="0">
                <a:solidFill>
                  <a:srgbClr val="C00000"/>
                </a:solidFill>
                <a:uFill>
                  <a:solidFill>
                    <a:srgbClr val="FF0000"/>
                  </a:solidFill>
                </a:uFill>
                <a:latin typeface="Calibri" panose="020F0502020204030204" pitchFamily="34" charset="0"/>
                <a:ea typeface="Calibri" panose="020F0502020204030204" pitchFamily="34" charset="0"/>
                <a:cs typeface="Calibri" panose="020F0502020204030204" pitchFamily="34" charset="0"/>
              </a:rPr>
              <a:t> </a:t>
            </a:r>
            <a:r>
              <a:rPr sz="2400" b="1" u="sng" dirty="0">
                <a:solidFill>
                  <a:srgbClr val="C00000"/>
                </a:solidFill>
                <a:uFill>
                  <a:solidFill>
                    <a:srgbClr val="FF0000"/>
                  </a:solidFill>
                </a:uFill>
                <a:latin typeface="Calibri" panose="020F0502020204030204" pitchFamily="34" charset="0"/>
                <a:ea typeface="Calibri" panose="020F0502020204030204" pitchFamily="34" charset="0"/>
                <a:cs typeface="Calibri" panose="020F0502020204030204" pitchFamily="34" charset="0"/>
              </a:rPr>
              <a:t>import package.*;</a:t>
            </a:r>
            <a:endParaRPr sz="2400" b="1" dirty="0">
              <a:solidFill>
                <a:srgbClr val="001F5F"/>
              </a:solidFill>
              <a:latin typeface="Calibri" panose="020F0502020204030204" pitchFamily="34" charset="0"/>
              <a:ea typeface="Calibri" panose="020F0502020204030204" pitchFamily="34" charset="0"/>
              <a:cs typeface="Calibri" panose="020F0502020204030204" pitchFamily="34" charset="0"/>
            </a:endParaRPr>
          </a:p>
          <a:p>
            <a:pPr marL="361950" marR="10160" lvl="1" indent="-343535">
              <a:lnSpc>
                <a:spcPct val="110000"/>
              </a:lnSpc>
              <a:spcBef>
                <a:spcPts val="0"/>
              </a:spcBef>
              <a:spcAft>
                <a:spcPts val="600"/>
              </a:spcAft>
              <a:buFont typeface="Wingdings"/>
              <a:buChar char=""/>
              <a:tabLst>
                <a:tab pos="363220" algn="l"/>
              </a:tabLst>
            </a:pPr>
            <a:r>
              <a:rPr sz="2000" b="1" dirty="0">
                <a:solidFill>
                  <a:srgbClr val="001F5F"/>
                </a:solidFill>
                <a:latin typeface="Calibri"/>
                <a:cs typeface="Calibri"/>
              </a:rPr>
              <a:t>If you use package.* then all the classes and interfaces of this package will be accessible.</a:t>
            </a:r>
          </a:p>
          <a:p>
            <a:pPr marL="361950" marR="5080" lvl="1" indent="-343535">
              <a:lnSpc>
                <a:spcPct val="110000"/>
              </a:lnSpc>
              <a:spcBef>
                <a:spcPts val="0"/>
              </a:spcBef>
              <a:spcAft>
                <a:spcPts val="600"/>
              </a:spcAft>
              <a:buFont typeface="Wingdings"/>
              <a:buChar char=""/>
              <a:tabLst>
                <a:tab pos="363220" algn="l"/>
              </a:tabLst>
            </a:pPr>
            <a:r>
              <a:rPr sz="2000" b="1" dirty="0">
                <a:solidFill>
                  <a:srgbClr val="001F5F"/>
                </a:solidFill>
                <a:latin typeface="Calibri"/>
                <a:cs typeface="Calibri"/>
              </a:rPr>
              <a:t>The import keyword is used to make the classes and interface of another package accessible to the current package.</a:t>
            </a:r>
          </a:p>
        </p:txBody>
      </p:sp>
      <p:sp>
        <p:nvSpPr>
          <p:cNvPr id="4" name="object 4">
            <a:extLst>
              <a:ext uri="{FF2B5EF4-FFF2-40B4-BE49-F238E27FC236}">
                <a16:creationId xmlns:a16="http://schemas.microsoft.com/office/drawing/2014/main" id="{5F309B09-49FF-4CF5-EFF4-7D125D9D0230}"/>
              </a:ext>
            </a:extLst>
          </p:cNvPr>
          <p:cNvSpPr txBox="1"/>
          <p:nvPr/>
        </p:nvSpPr>
        <p:spPr>
          <a:xfrm>
            <a:off x="507547" y="1946094"/>
            <a:ext cx="6454140" cy="2057400"/>
          </a:xfrm>
          <a:prstGeom prst="rect">
            <a:avLst/>
          </a:prstGeom>
        </p:spPr>
        <p:txBody>
          <a:bodyPr vert="horz" wrap="none" lIns="0" tIns="12700" rIns="0" bIns="0" rtlCol="0">
            <a:normAutofit/>
          </a:bodyPr>
          <a:lstStyle/>
          <a:p>
            <a:pPr marL="12700"/>
            <a:r>
              <a:rPr lang="en-US" sz="1600" b="1" dirty="0">
                <a:solidFill>
                  <a:srgbClr val="001F5F"/>
                </a:solidFill>
                <a:latin typeface="Courier New"/>
                <a:cs typeface="Courier New"/>
              </a:rPr>
              <a:t>package </a:t>
            </a:r>
            <a:r>
              <a:rPr lang="en-US" sz="1600" b="1" dirty="0" err="1">
                <a:solidFill>
                  <a:srgbClr val="001F5F"/>
                </a:solidFill>
                <a:latin typeface="Courier New"/>
                <a:cs typeface="Courier New"/>
              </a:rPr>
              <a:t>com.rce.oops</a:t>
            </a:r>
            <a:r>
              <a:rPr lang="en-US" sz="1600" b="1" dirty="0">
                <a:solidFill>
                  <a:srgbClr val="001F5F"/>
                </a:solidFill>
                <a:latin typeface="Courier New"/>
                <a:cs typeface="Courier New"/>
              </a:rPr>
              <a:t>;</a:t>
            </a:r>
          </a:p>
          <a:p>
            <a:pPr marL="12700"/>
            <a:r>
              <a:rPr lang="en-US" sz="1600" b="1" dirty="0">
                <a:solidFill>
                  <a:srgbClr val="001F5F"/>
                </a:solidFill>
                <a:latin typeface="Courier New"/>
                <a:cs typeface="Courier New"/>
              </a:rPr>
              <a:t>public class Sample</a:t>
            </a:r>
            <a:endParaRPr lang="en-IN" sz="1600" b="1" dirty="0">
              <a:solidFill>
                <a:srgbClr val="001F5F"/>
              </a:solidFill>
              <a:latin typeface="Courier New"/>
              <a:cs typeface="Courier New"/>
            </a:endParaRP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public void display()</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System.out.println("Welcome to </a:t>
            </a:r>
            <a:r>
              <a:rPr lang="en-GB" sz="1600" b="1" dirty="0">
                <a:solidFill>
                  <a:srgbClr val="001F5F"/>
                </a:solidFill>
                <a:latin typeface="Courier New"/>
                <a:cs typeface="Courier New"/>
              </a:rPr>
              <a:t>RCE</a:t>
            </a:r>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11783" y="1106565"/>
            <a:ext cx="8560817" cy="897362"/>
          </a:xfrm>
          <a:prstGeom prst="rect">
            <a:avLst/>
          </a:prstGeom>
        </p:spPr>
        <p:txBody>
          <a:bodyPr vert="horz" wrap="none" lIns="0" tIns="12065" rIns="0" bIns="0" rtlCol="0">
            <a:normAutofit/>
          </a:bodyPr>
          <a:lstStyle/>
          <a:p>
            <a:pPr marL="12700" marR="5080"/>
            <a:r>
              <a:rPr sz="1600" b="1" dirty="0">
                <a:solidFill>
                  <a:srgbClr val="001F5F"/>
                </a:solidFill>
                <a:latin typeface="Courier New"/>
                <a:cs typeface="Courier New"/>
              </a:rPr>
              <a:t>Program to use Addition.class from mypack import </a:t>
            </a:r>
            <a:r>
              <a:rPr lang="en-GB" sz="1600" b="1" dirty="0">
                <a:solidFill>
                  <a:srgbClr val="001F5F"/>
                </a:solidFill>
                <a:latin typeface="Courier New"/>
                <a:cs typeface="Courier New"/>
              </a:rPr>
              <a:t>com.</a:t>
            </a:r>
            <a:r>
              <a:rPr sz="1600" b="1" dirty="0">
                <a:solidFill>
                  <a:srgbClr val="001F5F"/>
                </a:solidFill>
                <a:latin typeface="Courier New"/>
                <a:cs typeface="Courier New"/>
              </a:rPr>
              <a:t>*;</a:t>
            </a:r>
          </a:p>
        </p:txBody>
      </p:sp>
      <p:sp>
        <p:nvSpPr>
          <p:cNvPr id="3" name="object 3"/>
          <p:cNvSpPr txBox="1"/>
          <p:nvPr/>
        </p:nvSpPr>
        <p:spPr>
          <a:xfrm>
            <a:off x="811783" y="2057399"/>
            <a:ext cx="6218555" cy="4124325"/>
          </a:xfrm>
          <a:prstGeom prst="rect">
            <a:avLst/>
          </a:prstGeom>
        </p:spPr>
        <p:txBody>
          <a:bodyPr vert="horz" wrap="none" lIns="0" tIns="101600" rIns="0" bIns="0" rtlCol="0">
            <a:normAutofit/>
          </a:bodyPr>
          <a:lstStyle/>
          <a:p>
            <a:pPr marL="12700"/>
            <a:r>
              <a:rPr sz="1600" b="1" dirty="0">
                <a:solidFill>
                  <a:srgbClr val="001F5F"/>
                </a:solidFill>
                <a:latin typeface="Courier New"/>
                <a:cs typeface="Courier New"/>
              </a:rPr>
              <a:t>class PackEx</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public static void main(String args[])</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System.out.println("WELCOME TO RCE");</a:t>
            </a:r>
          </a:p>
          <a:p>
            <a:pPr marL="12700"/>
            <a:r>
              <a:rPr sz="1600" b="1" dirty="0">
                <a:solidFill>
                  <a:srgbClr val="001F5F"/>
                </a:solidFill>
                <a:latin typeface="Courier New"/>
                <a:cs typeface="Courier New"/>
              </a:rPr>
              <a:t>Sample obj=new Sample();</a:t>
            </a:r>
          </a:p>
          <a:p>
            <a:pPr marL="12700"/>
            <a:r>
              <a:rPr sz="1600" b="1" dirty="0">
                <a:solidFill>
                  <a:srgbClr val="001F5F"/>
                </a:solidFill>
                <a:latin typeface="Courier New"/>
                <a:cs typeface="Courier New"/>
              </a:rPr>
              <a:t>obj.display();</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sp>
        <p:nvSpPr>
          <p:cNvPr id="4" name="object 4"/>
          <p:cNvSpPr txBox="1"/>
          <p:nvPr/>
        </p:nvSpPr>
        <p:spPr>
          <a:xfrm>
            <a:off x="304800" y="389256"/>
            <a:ext cx="9768840" cy="574040"/>
          </a:xfrm>
          <a:prstGeom prst="rect">
            <a:avLst/>
          </a:prstGeom>
        </p:spPr>
        <p:txBody>
          <a:bodyPr vert="horz" wrap="none" lIns="0" tIns="12700" rIns="0" bIns="0" rtlCol="0">
            <a:noAutofit/>
          </a:bodyPr>
          <a:lstStyle/>
          <a:p>
            <a:pPr marL="109855" marR="5080" indent="-97790"/>
            <a:r>
              <a:rPr sz="2000" b="1" dirty="0">
                <a:solidFill>
                  <a:srgbClr val="001F5F"/>
                </a:solidFill>
                <a:latin typeface="Calibri" panose="020F0502020204030204" pitchFamily="34" charset="0"/>
                <a:ea typeface="Calibri" panose="020F0502020204030204" pitchFamily="34" charset="0"/>
                <a:cs typeface="Calibri" panose="020F0502020204030204" pitchFamily="34" charset="0"/>
              </a:rPr>
              <a:t>Instead of referring the package name every time, we can import the package like this </a:t>
            </a:r>
            <a:endParaRPr lang="en-IN" sz="2000" b="1" dirty="0">
              <a:solidFill>
                <a:srgbClr val="001F5F"/>
              </a:solidFill>
              <a:latin typeface="Calibri" panose="020F0502020204030204" pitchFamily="34" charset="0"/>
              <a:ea typeface="Calibri" panose="020F0502020204030204" pitchFamily="34" charset="0"/>
              <a:cs typeface="Calibri" panose="020F0502020204030204" pitchFamily="34" charset="0"/>
            </a:endParaRPr>
          </a:p>
          <a:p>
            <a:pPr marL="109855" marR="5080" indent="-97790"/>
            <a:r>
              <a:rPr sz="2000" b="1" dirty="0">
                <a:solidFill>
                  <a:srgbClr val="C00000"/>
                </a:solidFill>
                <a:latin typeface="Calibri" panose="020F0502020204030204" pitchFamily="34" charset="0"/>
                <a:ea typeface="Calibri" panose="020F0502020204030204" pitchFamily="34" charset="0"/>
                <a:cs typeface="Calibri" panose="020F0502020204030204" pitchFamily="34" charset="0"/>
              </a:rPr>
              <a:t>import </a:t>
            </a:r>
            <a:r>
              <a:rPr lang="en-IN" sz="2000" b="1" dirty="0">
                <a:solidFill>
                  <a:srgbClr val="C00000"/>
                </a:solidFill>
                <a:latin typeface="Calibri" panose="020F0502020204030204" pitchFamily="34" charset="0"/>
                <a:ea typeface="Calibri" panose="020F0502020204030204" pitchFamily="34" charset="0"/>
                <a:cs typeface="Calibri" panose="020F0502020204030204" pitchFamily="34" charset="0"/>
              </a:rPr>
              <a:t>com.rce.oops.unti1</a:t>
            </a:r>
            <a:r>
              <a:rPr sz="2000" b="1" dirty="0">
                <a:solidFill>
                  <a:srgbClr val="C00000"/>
                </a:solidFill>
                <a:latin typeface="Calibri" panose="020F0502020204030204" pitchFamily="34" charset="0"/>
                <a:ea typeface="Calibri" panose="020F0502020204030204" pitchFamily="34" charset="0"/>
                <a:cs typeface="Calibri" panose="020F0502020204030204" pitchFamily="34" charset="0"/>
              </a:rPr>
              <a:t>;</a:t>
            </a:r>
            <a:endParaRPr sz="2000" b="1" dirty="0">
              <a:solidFill>
                <a:srgbClr val="001F5F"/>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5374" y="261315"/>
            <a:ext cx="4361180" cy="391795"/>
          </a:xfrm>
          <a:prstGeom prst="rect">
            <a:avLst/>
          </a:prstGeom>
        </p:spPr>
        <p:txBody>
          <a:bodyPr vert="horz" wrap="none" lIns="0" tIns="12700" rIns="0" bIns="0" rtlCol="0">
            <a:normAutofit/>
          </a:bodyPr>
          <a:lstStyle/>
          <a:p>
            <a:pPr marL="12700"/>
            <a:r>
              <a:rPr sz="2400" b="1" u="sng" dirty="0">
                <a:solidFill>
                  <a:srgbClr val="FF0000"/>
                </a:solidFill>
                <a:uFill>
                  <a:solidFill>
                    <a:srgbClr val="FF0000"/>
                  </a:solidFill>
                </a:uFill>
                <a:latin typeface="Calibri" panose="020F0502020204030204" pitchFamily="34" charset="0"/>
                <a:ea typeface="Calibri" panose="020F0502020204030204" pitchFamily="34" charset="0"/>
                <a:cs typeface="Calibri" panose="020F0502020204030204" pitchFamily="34" charset="0"/>
              </a:rPr>
              <a:t>2) import package.classname;</a:t>
            </a:r>
          </a:p>
        </p:txBody>
      </p:sp>
      <p:sp>
        <p:nvSpPr>
          <p:cNvPr id="3" name="object 3"/>
          <p:cNvSpPr txBox="1"/>
          <p:nvPr/>
        </p:nvSpPr>
        <p:spPr>
          <a:xfrm>
            <a:off x="125374" y="694309"/>
            <a:ext cx="11738610" cy="1123950"/>
          </a:xfrm>
          <a:prstGeom prst="rect">
            <a:avLst/>
          </a:prstGeom>
        </p:spPr>
        <p:txBody>
          <a:bodyPr vert="horz" wrap="square" lIns="0" tIns="12700" rIns="0" bIns="0" rtlCol="0">
            <a:normAutofit/>
          </a:bodyPr>
          <a:lstStyle/>
          <a:p>
            <a:pPr marL="356870" marR="5080" indent="-344805">
              <a:lnSpc>
                <a:spcPct val="110000"/>
              </a:lnSpc>
              <a:spcBef>
                <a:spcPts val="0"/>
              </a:spcBef>
              <a:spcAft>
                <a:spcPts val="600"/>
              </a:spcAft>
              <a:buFont typeface="Wingdings"/>
              <a:buChar char=""/>
              <a:tabLst>
                <a:tab pos="356870" algn="l"/>
              </a:tabLst>
            </a:pPr>
            <a:r>
              <a:rPr sz="2000" b="1" dirty="0">
                <a:solidFill>
                  <a:srgbClr val="001F5F"/>
                </a:solidFill>
                <a:latin typeface="Calibri"/>
                <a:cs typeface="Calibri"/>
              </a:rPr>
              <a:t>If you import package.classname then only declared class of this package will be accessible.</a:t>
            </a:r>
            <a:endParaRPr sz="2000">
              <a:solidFill>
                <a:srgbClr val="001F5F"/>
              </a:solidFill>
              <a:latin typeface="Calibri"/>
              <a:cs typeface="Calibri"/>
            </a:endParaRPr>
          </a:p>
        </p:txBody>
      </p:sp>
      <p:sp>
        <p:nvSpPr>
          <p:cNvPr id="4" name="object 4"/>
          <p:cNvSpPr txBox="1"/>
          <p:nvPr/>
        </p:nvSpPr>
        <p:spPr>
          <a:xfrm>
            <a:off x="838200" y="1650682"/>
            <a:ext cx="3444875" cy="3556635"/>
          </a:xfrm>
          <a:prstGeom prst="rect">
            <a:avLst/>
          </a:prstGeom>
        </p:spPr>
        <p:txBody>
          <a:bodyPr vert="horz" wrap="none" lIns="0" tIns="12700" rIns="0" bIns="0" rtlCol="0">
            <a:normAutofit/>
          </a:bodyPr>
          <a:lstStyle/>
          <a:p>
            <a:pPr marL="12700"/>
            <a:r>
              <a:rPr sz="1600" b="1" dirty="0">
                <a:solidFill>
                  <a:srgbClr val="001F5F"/>
                </a:solidFill>
                <a:latin typeface="Courier New"/>
                <a:cs typeface="Courier New"/>
              </a:rPr>
              <a:t>package </a:t>
            </a:r>
            <a:r>
              <a:rPr lang="en-GB" sz="1600" b="1" dirty="0" err="1">
                <a:solidFill>
                  <a:srgbClr val="001F5F"/>
                </a:solidFill>
                <a:latin typeface="Courier New"/>
                <a:cs typeface="Courier New"/>
              </a:rPr>
              <a:t>com.rce</a:t>
            </a:r>
            <a:r>
              <a:rPr sz="1600" b="1" dirty="0">
                <a:solidFill>
                  <a:srgbClr val="001F5F"/>
                </a:solidFill>
                <a:latin typeface="Courier New"/>
                <a:cs typeface="Courier New"/>
              </a:rPr>
              <a:t>;</a:t>
            </a:r>
          </a:p>
          <a:p>
            <a:pPr marL="12700"/>
            <a:r>
              <a:rPr sz="1600" b="1" dirty="0">
                <a:solidFill>
                  <a:srgbClr val="001F5F"/>
                </a:solidFill>
                <a:latin typeface="Courier New"/>
                <a:cs typeface="Courier New"/>
              </a:rPr>
              <a:t>public class Sample</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public void display()</a:t>
            </a:r>
          </a:p>
          <a:p>
            <a:pPr marL="12700"/>
            <a:r>
              <a:rPr sz="1600" b="1" dirty="0">
                <a:solidFill>
                  <a:srgbClr val="001F5F"/>
                </a:solidFill>
                <a:latin typeface="Courier New"/>
                <a:cs typeface="Courier New"/>
              </a:rPr>
              <a:t>{</a:t>
            </a:r>
          </a:p>
          <a:p>
            <a:pPr marL="12700"/>
            <a:r>
              <a:rPr sz="1600" b="1" dirty="0" err="1">
                <a:solidFill>
                  <a:srgbClr val="001F5F"/>
                </a:solidFill>
                <a:latin typeface="Courier New"/>
                <a:cs typeface="Courier New"/>
              </a:rPr>
              <a:t>System.out.println</a:t>
            </a:r>
            <a:r>
              <a:rPr sz="1600" b="1" dirty="0">
                <a:solidFill>
                  <a:srgbClr val="001F5F"/>
                </a:solidFill>
                <a:latin typeface="Courier New"/>
                <a:cs typeface="Courier New"/>
              </a:rPr>
              <a:t>("</a:t>
            </a:r>
            <a:r>
              <a:rPr lang="en-GB" sz="1600" b="1" dirty="0">
                <a:solidFill>
                  <a:srgbClr val="001F5F"/>
                </a:solidFill>
                <a:latin typeface="Courier New"/>
                <a:cs typeface="Courier New"/>
              </a:rPr>
              <a:t>IOT</a:t>
            </a:r>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sp>
        <p:nvSpPr>
          <p:cNvPr id="5" name="object 5"/>
          <p:cNvSpPr txBox="1"/>
          <p:nvPr/>
        </p:nvSpPr>
        <p:spPr>
          <a:xfrm>
            <a:off x="6047878" y="1524000"/>
            <a:ext cx="5458321" cy="4201160"/>
          </a:xfrm>
          <a:prstGeom prst="rect">
            <a:avLst/>
          </a:prstGeom>
        </p:spPr>
        <p:txBody>
          <a:bodyPr vert="horz" wrap="none" lIns="0" tIns="150495" rIns="0" bIns="0" rtlCol="0">
            <a:normAutofit/>
          </a:bodyPr>
          <a:lstStyle/>
          <a:p>
            <a:pPr marL="12700"/>
            <a:r>
              <a:rPr sz="1600" b="1" dirty="0">
                <a:solidFill>
                  <a:srgbClr val="001F5F"/>
                </a:solidFill>
                <a:latin typeface="Courier New"/>
                <a:cs typeface="Courier New"/>
              </a:rPr>
              <a:t>import </a:t>
            </a:r>
            <a:r>
              <a:rPr lang="en-GB" sz="1600" b="1" dirty="0">
                <a:solidFill>
                  <a:srgbClr val="001F5F"/>
                </a:solidFill>
                <a:latin typeface="Courier New"/>
                <a:cs typeface="Courier New"/>
              </a:rPr>
              <a:t>com.rce.oops.unit1</a:t>
            </a:r>
            <a:r>
              <a:rPr sz="1600" b="1" dirty="0">
                <a:solidFill>
                  <a:srgbClr val="001F5F"/>
                </a:solidFill>
                <a:latin typeface="Courier New"/>
                <a:cs typeface="Courier New"/>
              </a:rPr>
              <a:t>.Sample;</a:t>
            </a:r>
          </a:p>
          <a:p>
            <a:pPr marL="12700"/>
            <a:r>
              <a:rPr sz="1600" b="1" dirty="0">
                <a:solidFill>
                  <a:srgbClr val="001F5F"/>
                </a:solidFill>
                <a:latin typeface="Courier New"/>
                <a:cs typeface="Courier New"/>
              </a:rPr>
              <a:t>class PackEx</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public static void main(String args[])</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System.out.println("RCE");</a:t>
            </a:r>
          </a:p>
          <a:p>
            <a:pPr marL="12700" marR="1068705"/>
            <a:r>
              <a:rPr sz="1600" b="1" dirty="0">
                <a:solidFill>
                  <a:srgbClr val="001F5F"/>
                </a:solidFill>
                <a:latin typeface="Courier New"/>
                <a:cs typeface="Courier New"/>
              </a:rPr>
              <a:t>Sample obj=new Sample(); obj.display();</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125374" y="261315"/>
            <a:ext cx="11525250" cy="4005579"/>
          </a:xfrm>
          <a:prstGeom prst="rect">
            <a:avLst/>
          </a:prstGeom>
        </p:spPr>
        <p:txBody>
          <a:bodyPr vert="horz" wrap="square" lIns="0" tIns="12700" rIns="0" bIns="0" rtlCol="0">
            <a:normAutofit/>
          </a:bodyPr>
          <a:lstStyle/>
          <a:p>
            <a:pPr marL="12700">
              <a:lnSpc>
                <a:spcPct val="110000"/>
              </a:lnSpc>
              <a:spcBef>
                <a:spcPts val="0"/>
              </a:spcBef>
              <a:spcAft>
                <a:spcPts val="600"/>
              </a:spcAft>
            </a:pPr>
            <a:r>
              <a:rPr sz="2400" b="1" u="sng" dirty="0">
                <a:solidFill>
                  <a:srgbClr val="FF0000"/>
                </a:solidFill>
                <a:uFill>
                  <a:solidFill>
                    <a:srgbClr val="FF0000"/>
                  </a:solidFill>
                </a:uFill>
                <a:latin typeface="Calibri"/>
                <a:cs typeface="Calibri"/>
              </a:rPr>
              <a:t>3) fully qualified name.</a:t>
            </a:r>
            <a:endParaRPr sz="2400" dirty="0">
              <a:solidFill>
                <a:srgbClr val="FF0000"/>
              </a:solidFill>
              <a:latin typeface="Calibri"/>
              <a:cs typeface="Calibri"/>
            </a:endParaRPr>
          </a:p>
          <a:p>
            <a:pPr marL="356870" marR="19685" indent="-344805">
              <a:lnSpc>
                <a:spcPct val="110000"/>
              </a:lnSpc>
              <a:spcBef>
                <a:spcPts val="0"/>
              </a:spcBef>
              <a:spcAft>
                <a:spcPts val="600"/>
              </a:spcAft>
              <a:buFont typeface="Wingdings"/>
              <a:buChar char=""/>
              <a:tabLst>
                <a:tab pos="356870" algn="l"/>
              </a:tabLst>
            </a:pPr>
            <a:r>
              <a:rPr sz="1800" b="1" dirty="0">
                <a:solidFill>
                  <a:srgbClr val="001F5F"/>
                </a:solidFill>
                <a:latin typeface="Calibri"/>
                <a:cs typeface="Calibri"/>
              </a:rPr>
              <a:t>If you use fully qualified name then only declared class of this package will be accessible.</a:t>
            </a:r>
          </a:p>
          <a:p>
            <a:pPr marL="356870" marR="5080" indent="-344805">
              <a:lnSpc>
                <a:spcPct val="110000"/>
              </a:lnSpc>
              <a:spcBef>
                <a:spcPts val="0"/>
              </a:spcBef>
              <a:spcAft>
                <a:spcPts val="600"/>
              </a:spcAft>
              <a:buFont typeface="Wingdings"/>
              <a:buChar char=""/>
              <a:tabLst>
                <a:tab pos="356870" algn="l"/>
              </a:tabLst>
            </a:pPr>
            <a:r>
              <a:rPr sz="1800" b="1" dirty="0">
                <a:solidFill>
                  <a:srgbClr val="001F5F"/>
                </a:solidFill>
                <a:latin typeface="Calibri"/>
                <a:cs typeface="Calibri"/>
              </a:rPr>
              <a:t>Now there is no need to import. But you need to use fully qualified name every time when you are accessing the class or interface.</a:t>
            </a:r>
          </a:p>
          <a:p>
            <a:pPr marL="356870" marR="8255" indent="-344805">
              <a:lnSpc>
                <a:spcPct val="110000"/>
              </a:lnSpc>
              <a:spcBef>
                <a:spcPts val="0"/>
              </a:spcBef>
              <a:spcAft>
                <a:spcPts val="600"/>
              </a:spcAft>
              <a:buFont typeface="Wingdings"/>
              <a:buChar char=""/>
              <a:tabLst>
                <a:tab pos="356870" algn="l"/>
              </a:tabLst>
            </a:pPr>
            <a:r>
              <a:rPr sz="1800" b="1" dirty="0">
                <a:solidFill>
                  <a:srgbClr val="001F5F"/>
                </a:solidFill>
                <a:latin typeface="Calibri"/>
                <a:cs typeface="Calibri"/>
              </a:rPr>
              <a:t>It is generally used when two packages have same class name e.g. java.util and java.sql packages contain Date class.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1964563" y="1052321"/>
            <a:ext cx="3445510" cy="3556635"/>
          </a:xfrm>
          <a:prstGeom prst="rect">
            <a:avLst/>
          </a:prstGeom>
        </p:spPr>
        <p:txBody>
          <a:bodyPr vert="horz" wrap="none" lIns="0" tIns="12700" rIns="0" bIns="0" rtlCol="0">
            <a:normAutofit/>
          </a:bodyPr>
          <a:lstStyle/>
          <a:p>
            <a:pPr marL="12700"/>
            <a:r>
              <a:rPr sz="1600" dirty="0">
                <a:solidFill>
                  <a:srgbClr val="001F5F"/>
                </a:solidFill>
                <a:latin typeface="Courier New"/>
                <a:cs typeface="Courier New"/>
              </a:rPr>
              <a:t>package </a:t>
            </a:r>
            <a:r>
              <a:rPr lang="en-GB" sz="1600" dirty="0">
                <a:solidFill>
                  <a:srgbClr val="001F5F"/>
                </a:solidFill>
                <a:latin typeface="Courier New"/>
                <a:cs typeface="Courier New"/>
              </a:rPr>
              <a:t>IOT</a:t>
            </a:r>
            <a:r>
              <a:rPr sz="1600" dirty="0">
                <a:solidFill>
                  <a:srgbClr val="001F5F"/>
                </a:solidFill>
                <a:latin typeface="Courier New"/>
                <a:cs typeface="Courier New"/>
              </a:rPr>
              <a:t>;</a:t>
            </a:r>
          </a:p>
          <a:p>
            <a:pPr marL="12700"/>
            <a:r>
              <a:rPr sz="1600" dirty="0">
                <a:solidFill>
                  <a:srgbClr val="001F5F"/>
                </a:solidFill>
                <a:latin typeface="Courier New"/>
                <a:cs typeface="Courier New"/>
              </a:rPr>
              <a:t>public class Sample</a:t>
            </a:r>
          </a:p>
          <a:p>
            <a:pPr marL="12700"/>
            <a:r>
              <a:rPr sz="1600" dirty="0">
                <a:solidFill>
                  <a:srgbClr val="001F5F"/>
                </a:solidFill>
                <a:latin typeface="Courier New"/>
                <a:cs typeface="Courier New"/>
              </a:rPr>
              <a:t>{</a:t>
            </a:r>
          </a:p>
          <a:p>
            <a:pPr marL="12700"/>
            <a:r>
              <a:rPr sz="1600" dirty="0">
                <a:solidFill>
                  <a:srgbClr val="001F5F"/>
                </a:solidFill>
                <a:latin typeface="Courier New"/>
                <a:cs typeface="Courier New"/>
              </a:rPr>
              <a:t>public void display()</a:t>
            </a:r>
          </a:p>
          <a:p>
            <a:pPr marL="12700"/>
            <a:r>
              <a:rPr sz="1600" dirty="0">
                <a:solidFill>
                  <a:srgbClr val="001F5F"/>
                </a:solidFill>
                <a:latin typeface="Courier New"/>
                <a:cs typeface="Courier New"/>
              </a:rPr>
              <a:t>{</a:t>
            </a:r>
          </a:p>
          <a:p>
            <a:pPr marL="12700"/>
            <a:r>
              <a:rPr sz="1600" dirty="0" err="1">
                <a:solidFill>
                  <a:srgbClr val="001F5F"/>
                </a:solidFill>
                <a:latin typeface="Courier New"/>
                <a:cs typeface="Courier New"/>
              </a:rPr>
              <a:t>System.out.println</a:t>
            </a:r>
            <a:r>
              <a:rPr sz="1600" dirty="0">
                <a:solidFill>
                  <a:srgbClr val="001F5F"/>
                </a:solidFill>
                <a:latin typeface="Courier New"/>
                <a:cs typeface="Courier New"/>
              </a:rPr>
              <a:t>("</a:t>
            </a:r>
            <a:r>
              <a:rPr lang="en-GB" sz="1600" dirty="0">
                <a:solidFill>
                  <a:srgbClr val="001F5F"/>
                </a:solidFill>
                <a:latin typeface="Courier New"/>
                <a:cs typeface="Courier New"/>
              </a:rPr>
              <a:t>IOT</a:t>
            </a:r>
            <a:r>
              <a:rPr sz="1600" dirty="0">
                <a:solidFill>
                  <a:srgbClr val="001F5F"/>
                </a:solidFill>
                <a:latin typeface="Courier New"/>
                <a:cs typeface="Courier New"/>
              </a:rPr>
              <a:t>");</a:t>
            </a:r>
          </a:p>
          <a:p>
            <a:pPr marL="12700"/>
            <a:r>
              <a:rPr sz="1600" dirty="0">
                <a:solidFill>
                  <a:srgbClr val="001F5F"/>
                </a:solidFill>
                <a:latin typeface="Courier New"/>
                <a:cs typeface="Courier New"/>
              </a:rPr>
              <a:t>}</a:t>
            </a:r>
          </a:p>
          <a:p>
            <a:pPr marL="12700"/>
            <a:r>
              <a:rPr sz="1600" dirty="0">
                <a:solidFill>
                  <a:srgbClr val="001F5F"/>
                </a:solidFill>
                <a:latin typeface="Courier New"/>
                <a:cs typeface="Courier New"/>
              </a:rPr>
              <a:t>}</a:t>
            </a:r>
          </a:p>
        </p:txBody>
      </p:sp>
      <p:sp>
        <p:nvSpPr>
          <p:cNvPr id="3" name="object 3"/>
          <p:cNvSpPr txBox="1"/>
          <p:nvPr/>
        </p:nvSpPr>
        <p:spPr>
          <a:xfrm>
            <a:off x="5998845" y="725297"/>
            <a:ext cx="4346575" cy="4160520"/>
          </a:xfrm>
          <a:prstGeom prst="rect">
            <a:avLst/>
          </a:prstGeom>
        </p:spPr>
        <p:txBody>
          <a:bodyPr vert="horz" wrap="none" lIns="0" tIns="12700" rIns="0" bIns="0" rtlCol="0">
            <a:normAutofit/>
          </a:bodyPr>
          <a:lstStyle/>
          <a:p>
            <a:pPr marL="12700" marR="2662555"/>
            <a:r>
              <a:rPr sz="1600" dirty="0">
                <a:solidFill>
                  <a:srgbClr val="001F5F"/>
                </a:solidFill>
                <a:latin typeface="Courier New"/>
                <a:cs typeface="Courier New"/>
              </a:rPr>
              <a:t>Package </a:t>
            </a:r>
            <a:r>
              <a:rPr lang="en-GB" sz="1600" dirty="0">
                <a:solidFill>
                  <a:srgbClr val="001F5F"/>
                </a:solidFill>
                <a:latin typeface="Courier New"/>
                <a:cs typeface="Courier New"/>
              </a:rPr>
              <a:t>IOT</a:t>
            </a:r>
            <a:r>
              <a:rPr sz="1600" dirty="0">
                <a:solidFill>
                  <a:srgbClr val="001F5F"/>
                </a:solidFill>
                <a:latin typeface="Courier New"/>
                <a:cs typeface="Courier New"/>
              </a:rPr>
              <a:t>; class PackEx</a:t>
            </a:r>
          </a:p>
          <a:p>
            <a:pPr marL="12700"/>
            <a:r>
              <a:rPr sz="1600" dirty="0">
                <a:solidFill>
                  <a:srgbClr val="001F5F"/>
                </a:solidFill>
                <a:latin typeface="Courier New"/>
                <a:cs typeface="Courier New"/>
              </a:rPr>
              <a:t>{</a:t>
            </a:r>
          </a:p>
          <a:p>
            <a:pPr marL="12700"/>
            <a:r>
              <a:rPr sz="1600" dirty="0">
                <a:solidFill>
                  <a:srgbClr val="001F5F"/>
                </a:solidFill>
                <a:latin typeface="Courier New"/>
                <a:cs typeface="Courier New"/>
              </a:rPr>
              <a:t>public static void main(String args[])</a:t>
            </a:r>
          </a:p>
          <a:p>
            <a:pPr marL="12700"/>
            <a:r>
              <a:rPr sz="1600" dirty="0">
                <a:solidFill>
                  <a:srgbClr val="001F5F"/>
                </a:solidFill>
                <a:latin typeface="Courier New"/>
                <a:cs typeface="Courier New"/>
              </a:rPr>
              <a:t>{</a:t>
            </a:r>
          </a:p>
          <a:p>
            <a:pPr marL="12700"/>
            <a:r>
              <a:rPr sz="1600" dirty="0">
                <a:solidFill>
                  <a:srgbClr val="001F5F"/>
                </a:solidFill>
                <a:latin typeface="Courier New"/>
                <a:cs typeface="Courier New"/>
              </a:rPr>
              <a:t>System.out.println("RCE");</a:t>
            </a:r>
          </a:p>
          <a:p>
            <a:pPr marL="12700"/>
            <a:r>
              <a:rPr lang="en-GB" sz="1600" dirty="0">
                <a:solidFill>
                  <a:srgbClr val="001F5F"/>
                </a:solidFill>
                <a:latin typeface="Courier New"/>
                <a:cs typeface="Courier New"/>
              </a:rPr>
              <a:t>IOT</a:t>
            </a:r>
            <a:r>
              <a:rPr sz="1600" dirty="0">
                <a:solidFill>
                  <a:srgbClr val="001F5F"/>
                </a:solidFill>
                <a:latin typeface="Courier New"/>
                <a:cs typeface="Courier New"/>
              </a:rPr>
              <a:t>.Sample obj=new </a:t>
            </a:r>
            <a:r>
              <a:rPr lang="en-GB" sz="1600" dirty="0">
                <a:solidFill>
                  <a:srgbClr val="001F5F"/>
                </a:solidFill>
                <a:latin typeface="Courier New"/>
                <a:cs typeface="Courier New"/>
              </a:rPr>
              <a:t>IOT</a:t>
            </a:r>
            <a:r>
              <a:rPr sz="1600" dirty="0">
                <a:solidFill>
                  <a:srgbClr val="001F5F"/>
                </a:solidFill>
                <a:latin typeface="Courier New"/>
                <a:cs typeface="Courier New"/>
              </a:rPr>
              <a:t>.Sample();</a:t>
            </a:r>
          </a:p>
          <a:p>
            <a:pPr marL="12700"/>
            <a:r>
              <a:rPr sz="1600" dirty="0">
                <a:solidFill>
                  <a:srgbClr val="001F5F"/>
                </a:solidFill>
                <a:latin typeface="Courier New"/>
                <a:cs typeface="Courier New"/>
              </a:rPr>
              <a:t>obj.display();</a:t>
            </a:r>
          </a:p>
          <a:p>
            <a:pPr marL="12700"/>
            <a:r>
              <a:rPr sz="1600" dirty="0">
                <a:solidFill>
                  <a:srgbClr val="001F5F"/>
                </a:solidFill>
                <a:latin typeface="Courier New"/>
                <a:cs typeface="Courier New"/>
              </a:rPr>
              <a:t>}</a:t>
            </a:r>
          </a:p>
          <a:p>
            <a:pPr marL="12700"/>
            <a:r>
              <a:rPr sz="1600" dirty="0">
                <a:solidFill>
                  <a:srgbClr val="001F5F"/>
                </a:solidFill>
                <a:latin typeface="Courier New"/>
                <a:cs typeface="Courier New"/>
              </a:rPr>
              <a:t>}</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95800" y="2209800"/>
            <a:ext cx="2667000" cy="640080"/>
          </a:xfrm>
          <a:prstGeom prst="rect">
            <a:avLst/>
          </a:prstGeom>
        </p:spPr>
        <p:txBody>
          <a:bodyPr vert="horz" wrap="square" rtlCol="0" anchor="ctr"/>
          <a:lstStyle/>
          <a:p>
            <a:pPr marL="12700" algn="l">
              <a:lnSpc>
                <a:spcPct val="100000"/>
              </a:lnSpc>
              <a:spcBef>
                <a:spcPts val="100"/>
              </a:spcBef>
            </a:pPr>
            <a:r>
              <a:rPr sz="2800" b="1" dirty="0">
                <a:latin typeface="Calibri"/>
                <a:cs typeface="Calibri"/>
              </a:rPr>
              <a:t>UNIT-03 PART-C</a:t>
            </a:r>
          </a:p>
        </p:txBody>
      </p:sp>
      <p:sp>
        <p:nvSpPr>
          <p:cNvPr id="3" name="object 3"/>
          <p:cNvSpPr txBox="1"/>
          <p:nvPr/>
        </p:nvSpPr>
        <p:spPr>
          <a:xfrm>
            <a:off x="3276600" y="3037205"/>
            <a:ext cx="7020559" cy="391795"/>
          </a:xfrm>
          <a:prstGeom prst="rect">
            <a:avLst/>
          </a:prstGeom>
        </p:spPr>
        <p:txBody>
          <a:bodyPr vert="horz" wrap="square" lIns="0" tIns="12700" rIns="0" bIns="0" rtlCol="0">
            <a:normAutofit/>
          </a:bodyPr>
          <a:lstStyle/>
          <a:p>
            <a:pPr marL="12700">
              <a:lnSpc>
                <a:spcPct val="110000"/>
              </a:lnSpc>
              <a:spcBef>
                <a:spcPts val="0"/>
              </a:spcBef>
              <a:spcAft>
                <a:spcPts val="600"/>
              </a:spcAft>
            </a:pPr>
            <a:r>
              <a:rPr sz="2000" b="1" dirty="0">
                <a:solidFill>
                  <a:srgbClr val="C00000"/>
                </a:solidFill>
                <a:latin typeface="Calibri"/>
                <a:cs typeface="Calibri"/>
              </a:rPr>
              <a:t>Concept-04:Access Control</a:t>
            </a:r>
            <a:r>
              <a:rPr lang="en-IN" sz="2000" b="1" dirty="0">
                <a:solidFill>
                  <a:srgbClr val="C00000"/>
                </a:solidFill>
                <a:latin typeface="Calibri"/>
                <a:cs typeface="Calibri"/>
              </a:rPr>
              <a:t> </a:t>
            </a:r>
            <a:r>
              <a:rPr sz="2000" b="1" dirty="0">
                <a:solidFill>
                  <a:srgbClr val="C00000"/>
                </a:solidFill>
                <a:latin typeface="Calibri"/>
                <a:cs typeface="Calibri"/>
              </a:rPr>
              <a:t>&amp; Packages in Java SE</a:t>
            </a:r>
            <a:endParaRPr sz="2000" dirty="0">
              <a:solidFill>
                <a:srgbClr val="001F5F"/>
              </a:solidFill>
              <a:latin typeface="Calibri"/>
              <a:cs typeface="Calibri"/>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146E3E9-5132-9ABE-3C39-0D1A231143AD}"/>
              </a:ext>
            </a:extLst>
          </p:cNvPr>
          <p:cNvSpPr>
            <a:spLocks noGrp="1"/>
          </p:cNvSpPr>
          <p:nvPr/>
        </p:nvSpPr>
        <p:spPr>
          <a:xfrm>
            <a:off x="609600" y="647700"/>
            <a:ext cx="10668000" cy="571500"/>
          </a:xfrm>
          <a:prstGeom prst="rect">
            <a:avLst/>
          </a:prstGeom>
          <a:noFill/>
          <a:ln w="0">
            <a:noFill/>
          </a:ln>
        </p:spPr>
        <p:txBody>
          <a:bodyPr anchor="ctr">
            <a:normAutofit fontScale="97674"/>
          </a:bodyPr>
          <a:lstStyle/>
          <a:p>
            <a:pPr algn="l">
              <a:defRPr sz="3225" b="1">
                <a:solidFill>
                  <a:srgbClr val="102A56"/>
                </a:solidFill>
                <a:latin typeface="Arial"/>
                <a:ea typeface="Arial"/>
                <a:cs typeface="Arial"/>
              </a:defRPr>
            </a:pPr>
            <a:r>
              <a:rPr sz="3225" b="1">
                <a:solidFill>
                  <a:srgbClr val="102A56"/>
                </a:solidFill>
                <a:latin typeface="Arial"/>
                <a:ea typeface="Arial"/>
                <a:cs typeface="Arial"/>
              </a:rPr>
              <a:t>Who can access a member?</a:t>
            </a:r>
          </a:p>
        </p:txBody>
      </p:sp>
      <p:sp>
        <p:nvSpPr>
          <p:cNvPr id="9" name="Rectangle 8">
            <a:extLst>
              <a:ext uri="{FF2B5EF4-FFF2-40B4-BE49-F238E27FC236}">
                <a16:creationId xmlns:a16="http://schemas.microsoft.com/office/drawing/2014/main" id="{7FF7A9A6-F2BA-796C-C1A9-0501426F2D27}"/>
              </a:ext>
            </a:extLst>
          </p:cNvPr>
          <p:cNvSpPr>
            <a:spLocks noGrp="1"/>
          </p:cNvSpPr>
          <p:nvPr/>
        </p:nvSpPr>
        <p:spPr>
          <a:xfrm>
            <a:off x="628650" y="1266825"/>
            <a:ext cx="10668000" cy="342900"/>
          </a:xfrm>
          <a:prstGeom prst="rect">
            <a:avLst/>
          </a:prstGeom>
          <a:noFill/>
          <a:ln w="0">
            <a:noFill/>
          </a:ln>
        </p:spPr>
        <p:txBody>
          <a:bodyPr anchor="ctr">
            <a:normAutofit/>
          </a:bodyPr>
          <a:lstStyle/>
          <a:p>
            <a:pPr algn="l">
              <a:defRPr sz="1650" b="0">
                <a:solidFill>
                  <a:srgbClr val="51647C"/>
                </a:solidFill>
                <a:latin typeface="Arial"/>
                <a:ea typeface="Arial"/>
                <a:cs typeface="Arial"/>
              </a:defRPr>
            </a:pPr>
            <a:r>
              <a:rPr sz="1650" b="0">
                <a:solidFill>
                  <a:srgbClr val="51647C"/>
                </a:solidFill>
                <a:latin typeface="Arial"/>
                <a:ea typeface="Arial"/>
                <a:cs typeface="Arial"/>
              </a:rPr>
              <a:t>Access depends on the modifier and where the accessing code is located.</a:t>
            </a:r>
          </a:p>
        </p:txBody>
      </p:sp>
      <p:sp>
        <p:nvSpPr>
          <p:cNvPr id="11" name="Rectangle 10">
            <a:extLst>
              <a:ext uri="{FF2B5EF4-FFF2-40B4-BE49-F238E27FC236}">
                <a16:creationId xmlns:a16="http://schemas.microsoft.com/office/drawing/2014/main" id="{F6729EBD-D967-E7DD-6CC7-FFBEEC6EDAE3}"/>
              </a:ext>
            </a:extLst>
          </p:cNvPr>
          <p:cNvSpPr>
            <a:spLocks noGrp="1"/>
          </p:cNvSpPr>
          <p:nvPr/>
        </p:nvSpPr>
        <p:spPr>
          <a:xfrm>
            <a:off x="609600" y="1781175"/>
            <a:ext cx="10972800" cy="19050"/>
          </a:xfrm>
          <a:prstGeom prst="rect">
            <a:avLst/>
          </a:prstGeom>
          <a:solidFill>
            <a:srgbClr val="D7E0EA"/>
          </a:solidFill>
          <a:ln w="0">
            <a:noFill/>
          </a:ln>
        </p:spPr>
        <p:txBody>
          <a:bodyPr/>
          <a:lstStyle/>
          <a:p>
            <a:endParaRPr lang="en-IN"/>
          </a:p>
        </p:txBody>
      </p:sp>
      <p:sp>
        <p:nvSpPr>
          <p:cNvPr id="13" name="Rectangle 12">
            <a:extLst>
              <a:ext uri="{FF2B5EF4-FFF2-40B4-BE49-F238E27FC236}">
                <a16:creationId xmlns:a16="http://schemas.microsoft.com/office/drawing/2014/main" id="{EF5378F0-7E54-74C1-5D6E-1765EF5879BE}"/>
              </a:ext>
            </a:extLst>
          </p:cNvPr>
          <p:cNvSpPr>
            <a:spLocks noGrp="1"/>
          </p:cNvSpPr>
          <p:nvPr/>
        </p:nvSpPr>
        <p:spPr>
          <a:xfrm>
            <a:off x="647700" y="1952625"/>
            <a:ext cx="4953000" cy="247650"/>
          </a:xfrm>
          <a:prstGeom prst="rect">
            <a:avLst/>
          </a:prstGeom>
          <a:noFill/>
          <a:ln w="0">
            <a:noFill/>
          </a:ln>
        </p:spPr>
        <p:txBody>
          <a:bodyPr anchor="ctr">
            <a:normAutofit fontScale="92917" lnSpcReduction="10000"/>
          </a:bodyPr>
          <a:lstStyle/>
          <a:p>
            <a:pPr algn="l">
              <a:defRPr sz="1200" b="1">
                <a:solidFill>
                  <a:srgbClr val="147D7A"/>
                </a:solidFill>
                <a:latin typeface="Arial"/>
                <a:ea typeface="Arial"/>
                <a:cs typeface="Arial"/>
              </a:defRPr>
            </a:pPr>
            <a:r>
              <a:rPr sz="1200" b="1">
                <a:solidFill>
                  <a:srgbClr val="147D7A"/>
                </a:solidFill>
                <a:latin typeface="Arial"/>
                <a:ea typeface="Arial"/>
                <a:cs typeface="Arial"/>
              </a:rPr>
              <a:t>VISIBILITY MATRIX</a:t>
            </a:r>
          </a:p>
        </p:txBody>
      </p:sp>
      <p:sp>
        <p:nvSpPr>
          <p:cNvPr id="15" name="Rectangle 14">
            <a:extLst>
              <a:ext uri="{FF2B5EF4-FFF2-40B4-BE49-F238E27FC236}">
                <a16:creationId xmlns:a16="http://schemas.microsoft.com/office/drawing/2014/main" id="{68D504B4-C60E-0C50-92ED-FE5D4875C8A2}"/>
              </a:ext>
            </a:extLst>
          </p:cNvPr>
          <p:cNvSpPr>
            <a:spLocks noGrp="1"/>
          </p:cNvSpPr>
          <p:nvPr/>
        </p:nvSpPr>
        <p:spPr>
          <a:xfrm>
            <a:off x="609600" y="2276475"/>
            <a:ext cx="2333625" cy="542925"/>
          </a:xfrm>
          <a:prstGeom prst="rect">
            <a:avLst/>
          </a:prstGeom>
          <a:solidFill>
            <a:srgbClr val="102A56"/>
          </a:solidFill>
          <a:ln w="9525">
            <a:solidFill>
              <a:srgbClr val="FFFFFF"/>
            </a:solidFill>
          </a:ln>
        </p:spPr>
        <p:txBody>
          <a:bodyPr/>
          <a:lstStyle/>
          <a:p>
            <a:endParaRPr lang="en-IN"/>
          </a:p>
        </p:txBody>
      </p:sp>
      <p:sp>
        <p:nvSpPr>
          <p:cNvPr id="17" name="Rectangle 16">
            <a:extLst>
              <a:ext uri="{FF2B5EF4-FFF2-40B4-BE49-F238E27FC236}">
                <a16:creationId xmlns:a16="http://schemas.microsoft.com/office/drawing/2014/main" id="{B0E0C962-3903-9FF3-B2FC-6CC3CD542BC3}"/>
              </a:ext>
            </a:extLst>
          </p:cNvPr>
          <p:cNvSpPr>
            <a:spLocks noGrp="1"/>
          </p:cNvSpPr>
          <p:nvPr/>
        </p:nvSpPr>
        <p:spPr>
          <a:xfrm>
            <a:off x="676275" y="2295525"/>
            <a:ext cx="2200275" cy="504825"/>
          </a:xfrm>
          <a:prstGeom prst="rect">
            <a:avLst/>
          </a:prstGeom>
          <a:noFill/>
          <a:ln w="0">
            <a:noFill/>
          </a:ln>
        </p:spPr>
        <p:txBody>
          <a:bodyPr anchor="ctr">
            <a:normAutofit/>
          </a:bodyPr>
          <a:lstStyle/>
          <a:p>
            <a:pPr algn="l">
              <a:defRPr sz="1125" b="1">
                <a:solidFill>
                  <a:srgbClr val="FFFFFF"/>
                </a:solidFill>
                <a:latin typeface="Arial"/>
                <a:ea typeface="Arial"/>
                <a:cs typeface="Arial"/>
              </a:defRPr>
            </a:pPr>
            <a:r>
              <a:rPr sz="1125" b="1">
                <a:solidFill>
                  <a:srgbClr val="FFFFFF"/>
                </a:solidFill>
                <a:latin typeface="Arial"/>
                <a:ea typeface="Arial"/>
                <a:cs typeface="Arial"/>
              </a:rPr>
              <a:t>Access location</a:t>
            </a:r>
          </a:p>
        </p:txBody>
      </p:sp>
      <p:sp>
        <p:nvSpPr>
          <p:cNvPr id="19" name="Rectangle 18">
            <a:extLst>
              <a:ext uri="{FF2B5EF4-FFF2-40B4-BE49-F238E27FC236}">
                <a16:creationId xmlns:a16="http://schemas.microsoft.com/office/drawing/2014/main" id="{AAC1BD72-3827-CAEA-1ABE-D37BE1F328AE}"/>
              </a:ext>
            </a:extLst>
          </p:cNvPr>
          <p:cNvSpPr>
            <a:spLocks noGrp="1"/>
          </p:cNvSpPr>
          <p:nvPr/>
        </p:nvSpPr>
        <p:spPr>
          <a:xfrm>
            <a:off x="2943225" y="2276475"/>
            <a:ext cx="1066800" cy="542925"/>
          </a:xfrm>
          <a:prstGeom prst="rect">
            <a:avLst/>
          </a:prstGeom>
          <a:solidFill>
            <a:srgbClr val="102A56"/>
          </a:solidFill>
          <a:ln w="9525">
            <a:solidFill>
              <a:srgbClr val="FFFFFF"/>
            </a:solidFill>
          </a:ln>
        </p:spPr>
        <p:txBody>
          <a:bodyPr/>
          <a:lstStyle/>
          <a:p>
            <a:endParaRPr lang="en-IN"/>
          </a:p>
        </p:txBody>
      </p:sp>
      <p:sp>
        <p:nvSpPr>
          <p:cNvPr id="21" name="Rectangle 20">
            <a:extLst>
              <a:ext uri="{FF2B5EF4-FFF2-40B4-BE49-F238E27FC236}">
                <a16:creationId xmlns:a16="http://schemas.microsoft.com/office/drawing/2014/main" id="{598EAEAB-8CF1-600F-9A9E-783D508AF1A8}"/>
              </a:ext>
            </a:extLst>
          </p:cNvPr>
          <p:cNvSpPr>
            <a:spLocks noGrp="1"/>
          </p:cNvSpPr>
          <p:nvPr/>
        </p:nvSpPr>
        <p:spPr>
          <a:xfrm>
            <a:off x="3009900" y="2295525"/>
            <a:ext cx="933450" cy="504825"/>
          </a:xfrm>
          <a:prstGeom prst="rect">
            <a:avLst/>
          </a:prstGeom>
          <a:noFill/>
          <a:ln w="0">
            <a:noFill/>
          </a:ln>
        </p:spPr>
        <p:txBody>
          <a:bodyPr anchor="ctr">
            <a:normAutofit/>
          </a:bodyPr>
          <a:lstStyle/>
          <a:p>
            <a:pPr algn="ctr">
              <a:defRPr sz="1050" b="1">
                <a:solidFill>
                  <a:srgbClr val="FFFFFF"/>
                </a:solidFill>
                <a:latin typeface="Arial"/>
                <a:ea typeface="Arial"/>
                <a:cs typeface="Arial"/>
              </a:defRPr>
            </a:pPr>
            <a:r>
              <a:rPr sz="1050" b="1">
                <a:solidFill>
                  <a:srgbClr val="FFFFFF"/>
                </a:solidFill>
                <a:latin typeface="Arial"/>
                <a:ea typeface="Arial"/>
                <a:cs typeface="Arial"/>
              </a:rPr>
              <a:t>private</a:t>
            </a:r>
          </a:p>
        </p:txBody>
      </p:sp>
      <p:sp>
        <p:nvSpPr>
          <p:cNvPr id="23" name="Rectangle 22">
            <a:extLst>
              <a:ext uri="{FF2B5EF4-FFF2-40B4-BE49-F238E27FC236}">
                <a16:creationId xmlns:a16="http://schemas.microsoft.com/office/drawing/2014/main" id="{AA59CBE4-16AB-870C-FB01-87AB914F82F0}"/>
              </a:ext>
            </a:extLst>
          </p:cNvPr>
          <p:cNvSpPr>
            <a:spLocks noGrp="1"/>
          </p:cNvSpPr>
          <p:nvPr/>
        </p:nvSpPr>
        <p:spPr>
          <a:xfrm>
            <a:off x="4010025" y="2276475"/>
            <a:ext cx="1352550" cy="542925"/>
          </a:xfrm>
          <a:prstGeom prst="rect">
            <a:avLst/>
          </a:prstGeom>
          <a:solidFill>
            <a:srgbClr val="102A56"/>
          </a:solidFill>
          <a:ln w="9525">
            <a:solidFill>
              <a:srgbClr val="FFFFFF"/>
            </a:solidFill>
          </a:ln>
        </p:spPr>
        <p:txBody>
          <a:bodyPr/>
          <a:lstStyle/>
          <a:p>
            <a:endParaRPr lang="en-IN"/>
          </a:p>
        </p:txBody>
      </p:sp>
      <p:sp>
        <p:nvSpPr>
          <p:cNvPr id="25" name="Rectangle 24">
            <a:extLst>
              <a:ext uri="{FF2B5EF4-FFF2-40B4-BE49-F238E27FC236}">
                <a16:creationId xmlns:a16="http://schemas.microsoft.com/office/drawing/2014/main" id="{A0E33EB2-D89C-6BB6-CCBF-63CD20A27AD8}"/>
              </a:ext>
            </a:extLst>
          </p:cNvPr>
          <p:cNvSpPr>
            <a:spLocks noGrp="1"/>
          </p:cNvSpPr>
          <p:nvPr/>
        </p:nvSpPr>
        <p:spPr>
          <a:xfrm>
            <a:off x="4076700" y="2295525"/>
            <a:ext cx="1219200" cy="504825"/>
          </a:xfrm>
          <a:prstGeom prst="rect">
            <a:avLst/>
          </a:prstGeom>
          <a:noFill/>
          <a:ln w="0">
            <a:noFill/>
          </a:ln>
        </p:spPr>
        <p:txBody>
          <a:bodyPr anchor="ctr">
            <a:normAutofit/>
          </a:bodyPr>
          <a:lstStyle/>
          <a:p>
            <a:pPr algn="ctr">
              <a:defRPr sz="1050" b="1">
                <a:solidFill>
                  <a:srgbClr val="FFFFFF"/>
                </a:solidFill>
                <a:latin typeface="Arial"/>
                <a:ea typeface="Arial"/>
                <a:cs typeface="Arial"/>
              </a:defRPr>
            </a:pPr>
            <a:r>
              <a:rPr sz="1050" b="1">
                <a:solidFill>
                  <a:srgbClr val="FFFFFF"/>
                </a:solidFill>
                <a:latin typeface="Arial"/>
                <a:ea typeface="Arial"/>
                <a:cs typeface="Arial"/>
              </a:rPr>
              <a:t>package-private</a:t>
            </a:r>
          </a:p>
          <a:p>
            <a:pPr algn="ctr">
              <a:defRPr sz="1050" b="1">
                <a:solidFill>
                  <a:srgbClr val="FFFFFF"/>
                </a:solidFill>
                <a:latin typeface="Arial"/>
                <a:ea typeface="Arial"/>
                <a:cs typeface="Arial"/>
              </a:defRPr>
            </a:pPr>
            <a:r>
              <a:rPr sz="1050" b="1">
                <a:solidFill>
                  <a:srgbClr val="FFFFFF"/>
                </a:solidFill>
                <a:latin typeface="Arial"/>
                <a:ea typeface="Arial"/>
                <a:cs typeface="Arial"/>
              </a:rPr>
              <a:t>(no keyword)</a:t>
            </a:r>
          </a:p>
        </p:txBody>
      </p:sp>
      <p:sp>
        <p:nvSpPr>
          <p:cNvPr id="27" name="Rectangle 26">
            <a:extLst>
              <a:ext uri="{FF2B5EF4-FFF2-40B4-BE49-F238E27FC236}">
                <a16:creationId xmlns:a16="http://schemas.microsoft.com/office/drawing/2014/main" id="{FE6B41A8-D27A-6B2C-FDA3-0EE2B0EEA922}"/>
              </a:ext>
            </a:extLst>
          </p:cNvPr>
          <p:cNvSpPr>
            <a:spLocks noGrp="1"/>
          </p:cNvSpPr>
          <p:nvPr/>
        </p:nvSpPr>
        <p:spPr>
          <a:xfrm>
            <a:off x="5362575" y="2276475"/>
            <a:ext cx="1181100" cy="542925"/>
          </a:xfrm>
          <a:prstGeom prst="rect">
            <a:avLst/>
          </a:prstGeom>
          <a:solidFill>
            <a:srgbClr val="102A56"/>
          </a:solidFill>
          <a:ln w="9525">
            <a:solidFill>
              <a:srgbClr val="FFFFFF"/>
            </a:solidFill>
          </a:ln>
        </p:spPr>
        <p:txBody>
          <a:bodyPr/>
          <a:lstStyle/>
          <a:p>
            <a:endParaRPr lang="en-IN"/>
          </a:p>
        </p:txBody>
      </p:sp>
      <p:sp>
        <p:nvSpPr>
          <p:cNvPr id="29" name="Rectangle 28">
            <a:extLst>
              <a:ext uri="{FF2B5EF4-FFF2-40B4-BE49-F238E27FC236}">
                <a16:creationId xmlns:a16="http://schemas.microsoft.com/office/drawing/2014/main" id="{FDC4528A-21E4-6CE4-416D-AA16EB266CFA}"/>
              </a:ext>
            </a:extLst>
          </p:cNvPr>
          <p:cNvSpPr>
            <a:spLocks noGrp="1"/>
          </p:cNvSpPr>
          <p:nvPr/>
        </p:nvSpPr>
        <p:spPr>
          <a:xfrm>
            <a:off x="5429250" y="2295525"/>
            <a:ext cx="1047750" cy="504825"/>
          </a:xfrm>
          <a:prstGeom prst="rect">
            <a:avLst/>
          </a:prstGeom>
          <a:noFill/>
          <a:ln w="0">
            <a:noFill/>
          </a:ln>
        </p:spPr>
        <p:txBody>
          <a:bodyPr anchor="ctr">
            <a:normAutofit/>
          </a:bodyPr>
          <a:lstStyle/>
          <a:p>
            <a:pPr algn="ctr">
              <a:defRPr sz="1050" b="1">
                <a:solidFill>
                  <a:srgbClr val="FFFFFF"/>
                </a:solidFill>
                <a:latin typeface="Arial"/>
                <a:ea typeface="Arial"/>
                <a:cs typeface="Arial"/>
              </a:defRPr>
            </a:pPr>
            <a:r>
              <a:rPr sz="1050" b="1">
                <a:solidFill>
                  <a:srgbClr val="FFFFFF"/>
                </a:solidFill>
                <a:latin typeface="Arial"/>
                <a:ea typeface="Arial"/>
                <a:cs typeface="Arial"/>
              </a:rPr>
              <a:t>protected</a:t>
            </a:r>
          </a:p>
        </p:txBody>
      </p:sp>
      <p:sp>
        <p:nvSpPr>
          <p:cNvPr id="31" name="Rectangle 30">
            <a:extLst>
              <a:ext uri="{FF2B5EF4-FFF2-40B4-BE49-F238E27FC236}">
                <a16:creationId xmlns:a16="http://schemas.microsoft.com/office/drawing/2014/main" id="{264503EC-C329-B591-611F-4F41B924F265}"/>
              </a:ext>
            </a:extLst>
          </p:cNvPr>
          <p:cNvSpPr>
            <a:spLocks noGrp="1"/>
          </p:cNvSpPr>
          <p:nvPr/>
        </p:nvSpPr>
        <p:spPr>
          <a:xfrm>
            <a:off x="6543675" y="2276475"/>
            <a:ext cx="1066800" cy="542925"/>
          </a:xfrm>
          <a:prstGeom prst="rect">
            <a:avLst/>
          </a:prstGeom>
          <a:solidFill>
            <a:srgbClr val="102A56"/>
          </a:solidFill>
          <a:ln w="9525">
            <a:solidFill>
              <a:srgbClr val="FFFFFF"/>
            </a:solidFill>
          </a:ln>
        </p:spPr>
        <p:txBody>
          <a:bodyPr/>
          <a:lstStyle/>
          <a:p>
            <a:endParaRPr lang="en-IN"/>
          </a:p>
        </p:txBody>
      </p:sp>
      <p:sp>
        <p:nvSpPr>
          <p:cNvPr id="33" name="Rectangle 32">
            <a:extLst>
              <a:ext uri="{FF2B5EF4-FFF2-40B4-BE49-F238E27FC236}">
                <a16:creationId xmlns:a16="http://schemas.microsoft.com/office/drawing/2014/main" id="{A871AA22-F227-010C-1893-AC60BDC997F2}"/>
              </a:ext>
            </a:extLst>
          </p:cNvPr>
          <p:cNvSpPr>
            <a:spLocks noGrp="1"/>
          </p:cNvSpPr>
          <p:nvPr/>
        </p:nvSpPr>
        <p:spPr>
          <a:xfrm>
            <a:off x="6610350" y="2295525"/>
            <a:ext cx="933450" cy="504825"/>
          </a:xfrm>
          <a:prstGeom prst="rect">
            <a:avLst/>
          </a:prstGeom>
          <a:noFill/>
          <a:ln w="0">
            <a:noFill/>
          </a:ln>
        </p:spPr>
        <p:txBody>
          <a:bodyPr anchor="ctr">
            <a:normAutofit/>
          </a:bodyPr>
          <a:lstStyle/>
          <a:p>
            <a:pPr algn="ctr">
              <a:defRPr sz="1050" b="1">
                <a:solidFill>
                  <a:srgbClr val="FFFFFF"/>
                </a:solidFill>
                <a:latin typeface="Arial"/>
                <a:ea typeface="Arial"/>
                <a:cs typeface="Arial"/>
              </a:defRPr>
            </a:pPr>
            <a:r>
              <a:rPr sz="1050" b="1">
                <a:solidFill>
                  <a:srgbClr val="FFFFFF"/>
                </a:solidFill>
                <a:latin typeface="Arial"/>
                <a:ea typeface="Arial"/>
                <a:cs typeface="Arial"/>
              </a:rPr>
              <a:t>public</a:t>
            </a:r>
          </a:p>
        </p:txBody>
      </p:sp>
      <p:sp>
        <p:nvSpPr>
          <p:cNvPr id="35" name="Rectangle 34">
            <a:extLst>
              <a:ext uri="{FF2B5EF4-FFF2-40B4-BE49-F238E27FC236}">
                <a16:creationId xmlns:a16="http://schemas.microsoft.com/office/drawing/2014/main" id="{9D952737-00AC-E007-36DF-497978D550F7}"/>
              </a:ext>
            </a:extLst>
          </p:cNvPr>
          <p:cNvSpPr>
            <a:spLocks noGrp="1"/>
          </p:cNvSpPr>
          <p:nvPr/>
        </p:nvSpPr>
        <p:spPr>
          <a:xfrm>
            <a:off x="609600" y="2819400"/>
            <a:ext cx="2333625" cy="600075"/>
          </a:xfrm>
          <a:prstGeom prst="rect">
            <a:avLst/>
          </a:prstGeom>
          <a:solidFill>
            <a:srgbClr val="F0F4F8"/>
          </a:solidFill>
          <a:ln w="9525">
            <a:solidFill>
              <a:srgbClr val="D7E0EA"/>
            </a:solidFill>
          </a:ln>
        </p:spPr>
        <p:txBody>
          <a:bodyPr/>
          <a:lstStyle/>
          <a:p>
            <a:endParaRPr lang="en-IN"/>
          </a:p>
        </p:txBody>
      </p:sp>
      <p:sp>
        <p:nvSpPr>
          <p:cNvPr id="37" name="Rectangle 36">
            <a:extLst>
              <a:ext uri="{FF2B5EF4-FFF2-40B4-BE49-F238E27FC236}">
                <a16:creationId xmlns:a16="http://schemas.microsoft.com/office/drawing/2014/main" id="{FF5158BB-8614-E306-73CB-1E7083A2893B}"/>
              </a:ext>
            </a:extLst>
          </p:cNvPr>
          <p:cNvSpPr>
            <a:spLocks noGrp="1"/>
          </p:cNvSpPr>
          <p:nvPr/>
        </p:nvSpPr>
        <p:spPr>
          <a:xfrm>
            <a:off x="723900" y="2838450"/>
            <a:ext cx="2105025" cy="561975"/>
          </a:xfrm>
          <a:prstGeom prst="rect">
            <a:avLst/>
          </a:prstGeom>
          <a:noFill/>
          <a:ln w="0">
            <a:noFill/>
          </a:ln>
        </p:spPr>
        <p:txBody>
          <a:bodyPr anchor="ctr">
            <a:normAutofit/>
          </a:bodyPr>
          <a:lstStyle/>
          <a:p>
            <a:pPr algn="l">
              <a:defRPr sz="1200" b="1">
                <a:solidFill>
                  <a:srgbClr val="172B45"/>
                </a:solidFill>
                <a:latin typeface="Arial"/>
                <a:ea typeface="Arial"/>
                <a:cs typeface="Arial"/>
              </a:defRPr>
            </a:pPr>
            <a:r>
              <a:rPr sz="1200" b="1">
                <a:solidFill>
                  <a:srgbClr val="172B45"/>
                </a:solidFill>
                <a:latin typeface="Arial"/>
                <a:ea typeface="Arial"/>
                <a:cs typeface="Arial"/>
              </a:rPr>
              <a:t>Inside declaring class</a:t>
            </a:r>
          </a:p>
        </p:txBody>
      </p:sp>
      <p:sp>
        <p:nvSpPr>
          <p:cNvPr id="39" name="Rectangle 38">
            <a:extLst>
              <a:ext uri="{FF2B5EF4-FFF2-40B4-BE49-F238E27FC236}">
                <a16:creationId xmlns:a16="http://schemas.microsoft.com/office/drawing/2014/main" id="{B6461B68-B2F4-5613-16FF-A7C051B943ED}"/>
              </a:ext>
            </a:extLst>
          </p:cNvPr>
          <p:cNvSpPr>
            <a:spLocks noGrp="1"/>
          </p:cNvSpPr>
          <p:nvPr/>
        </p:nvSpPr>
        <p:spPr>
          <a:xfrm>
            <a:off x="2943225" y="2819400"/>
            <a:ext cx="1066800" cy="600075"/>
          </a:xfrm>
          <a:prstGeom prst="rect">
            <a:avLst/>
          </a:prstGeom>
          <a:solidFill>
            <a:srgbClr val="E6F3F1"/>
          </a:solidFill>
          <a:ln w="9525">
            <a:solidFill>
              <a:srgbClr val="FFFFFF"/>
            </a:solidFill>
          </a:ln>
        </p:spPr>
        <p:txBody>
          <a:bodyPr/>
          <a:lstStyle/>
          <a:p>
            <a:endParaRPr lang="en-IN"/>
          </a:p>
        </p:txBody>
      </p:sp>
      <p:sp>
        <p:nvSpPr>
          <p:cNvPr id="41" name="Rectangle 40">
            <a:extLst>
              <a:ext uri="{FF2B5EF4-FFF2-40B4-BE49-F238E27FC236}">
                <a16:creationId xmlns:a16="http://schemas.microsoft.com/office/drawing/2014/main" id="{A6C02735-B0F8-8F20-2EE9-3F7F9A53C9DC}"/>
              </a:ext>
            </a:extLst>
          </p:cNvPr>
          <p:cNvSpPr>
            <a:spLocks noGrp="1"/>
          </p:cNvSpPr>
          <p:nvPr/>
        </p:nvSpPr>
        <p:spPr>
          <a:xfrm>
            <a:off x="2981325" y="2847975"/>
            <a:ext cx="990600" cy="542925"/>
          </a:xfrm>
          <a:prstGeom prst="rect">
            <a:avLst/>
          </a:prstGeom>
          <a:noFill/>
          <a:ln w="0">
            <a:noFill/>
          </a:ln>
        </p:spPr>
        <p:txBody>
          <a:bodyPr anchor="ctr">
            <a:normAutofit/>
          </a:bodyPr>
          <a:lstStyle/>
          <a:p>
            <a:pPr algn="ctr">
              <a:defRPr sz="1200" b="1">
                <a:solidFill>
                  <a:srgbClr val="147D7A"/>
                </a:solidFill>
                <a:latin typeface="Arial"/>
                <a:ea typeface="Arial"/>
                <a:cs typeface="Arial"/>
              </a:defRPr>
            </a:pPr>
            <a:r>
              <a:rPr sz="1200" b="1">
                <a:solidFill>
                  <a:srgbClr val="147D7A"/>
                </a:solidFill>
                <a:latin typeface="Arial"/>
                <a:ea typeface="Arial"/>
                <a:cs typeface="Arial"/>
              </a:rPr>
              <a:t>YES</a:t>
            </a:r>
          </a:p>
        </p:txBody>
      </p:sp>
      <p:sp>
        <p:nvSpPr>
          <p:cNvPr id="43" name="Rectangle 42">
            <a:extLst>
              <a:ext uri="{FF2B5EF4-FFF2-40B4-BE49-F238E27FC236}">
                <a16:creationId xmlns:a16="http://schemas.microsoft.com/office/drawing/2014/main" id="{D3C368AD-189A-6DA9-3EED-EA94E11762CA}"/>
              </a:ext>
            </a:extLst>
          </p:cNvPr>
          <p:cNvSpPr>
            <a:spLocks noGrp="1"/>
          </p:cNvSpPr>
          <p:nvPr/>
        </p:nvSpPr>
        <p:spPr>
          <a:xfrm>
            <a:off x="4010025" y="2819400"/>
            <a:ext cx="1352550" cy="600075"/>
          </a:xfrm>
          <a:prstGeom prst="rect">
            <a:avLst/>
          </a:prstGeom>
          <a:solidFill>
            <a:srgbClr val="E6F3F1"/>
          </a:solidFill>
          <a:ln w="9525">
            <a:solidFill>
              <a:srgbClr val="FFFFFF"/>
            </a:solidFill>
          </a:ln>
        </p:spPr>
        <p:txBody>
          <a:bodyPr/>
          <a:lstStyle/>
          <a:p>
            <a:endParaRPr lang="en-IN"/>
          </a:p>
        </p:txBody>
      </p:sp>
      <p:sp>
        <p:nvSpPr>
          <p:cNvPr id="45" name="Rectangle 44">
            <a:extLst>
              <a:ext uri="{FF2B5EF4-FFF2-40B4-BE49-F238E27FC236}">
                <a16:creationId xmlns:a16="http://schemas.microsoft.com/office/drawing/2014/main" id="{F85295FA-9CDF-1201-9BAA-A7250BD8CEB5}"/>
              </a:ext>
            </a:extLst>
          </p:cNvPr>
          <p:cNvSpPr>
            <a:spLocks noGrp="1"/>
          </p:cNvSpPr>
          <p:nvPr/>
        </p:nvSpPr>
        <p:spPr>
          <a:xfrm>
            <a:off x="4048125" y="2847975"/>
            <a:ext cx="1276350" cy="542925"/>
          </a:xfrm>
          <a:prstGeom prst="rect">
            <a:avLst/>
          </a:prstGeom>
          <a:noFill/>
          <a:ln w="0">
            <a:noFill/>
          </a:ln>
        </p:spPr>
        <p:txBody>
          <a:bodyPr anchor="ctr">
            <a:normAutofit/>
          </a:bodyPr>
          <a:lstStyle/>
          <a:p>
            <a:pPr algn="ctr">
              <a:defRPr sz="1200" b="1">
                <a:solidFill>
                  <a:srgbClr val="147D7A"/>
                </a:solidFill>
                <a:latin typeface="Arial"/>
                <a:ea typeface="Arial"/>
                <a:cs typeface="Arial"/>
              </a:defRPr>
            </a:pPr>
            <a:r>
              <a:rPr sz="1200" b="1">
                <a:solidFill>
                  <a:srgbClr val="147D7A"/>
                </a:solidFill>
                <a:latin typeface="Arial"/>
                <a:ea typeface="Arial"/>
                <a:cs typeface="Arial"/>
              </a:rPr>
              <a:t>YES</a:t>
            </a:r>
          </a:p>
        </p:txBody>
      </p:sp>
      <p:sp>
        <p:nvSpPr>
          <p:cNvPr id="47" name="Rectangle 46">
            <a:extLst>
              <a:ext uri="{FF2B5EF4-FFF2-40B4-BE49-F238E27FC236}">
                <a16:creationId xmlns:a16="http://schemas.microsoft.com/office/drawing/2014/main" id="{8727C366-245C-8696-DE27-502932FA944B}"/>
              </a:ext>
            </a:extLst>
          </p:cNvPr>
          <p:cNvSpPr>
            <a:spLocks noGrp="1"/>
          </p:cNvSpPr>
          <p:nvPr/>
        </p:nvSpPr>
        <p:spPr>
          <a:xfrm>
            <a:off x="5362575" y="2819400"/>
            <a:ext cx="1181100" cy="600075"/>
          </a:xfrm>
          <a:prstGeom prst="rect">
            <a:avLst/>
          </a:prstGeom>
          <a:solidFill>
            <a:srgbClr val="E6F3F1"/>
          </a:solidFill>
          <a:ln w="9525">
            <a:solidFill>
              <a:srgbClr val="FFFFFF"/>
            </a:solidFill>
          </a:ln>
        </p:spPr>
        <p:txBody>
          <a:bodyPr/>
          <a:lstStyle/>
          <a:p>
            <a:endParaRPr lang="en-IN"/>
          </a:p>
        </p:txBody>
      </p:sp>
      <p:sp>
        <p:nvSpPr>
          <p:cNvPr id="49" name="Rectangle 48">
            <a:extLst>
              <a:ext uri="{FF2B5EF4-FFF2-40B4-BE49-F238E27FC236}">
                <a16:creationId xmlns:a16="http://schemas.microsoft.com/office/drawing/2014/main" id="{C385F7A9-E7AD-6235-9479-3429367BA472}"/>
              </a:ext>
            </a:extLst>
          </p:cNvPr>
          <p:cNvSpPr>
            <a:spLocks noGrp="1"/>
          </p:cNvSpPr>
          <p:nvPr/>
        </p:nvSpPr>
        <p:spPr>
          <a:xfrm>
            <a:off x="5400675" y="2847975"/>
            <a:ext cx="1104900" cy="542925"/>
          </a:xfrm>
          <a:prstGeom prst="rect">
            <a:avLst/>
          </a:prstGeom>
          <a:noFill/>
          <a:ln w="0">
            <a:noFill/>
          </a:ln>
        </p:spPr>
        <p:txBody>
          <a:bodyPr anchor="ctr">
            <a:normAutofit/>
          </a:bodyPr>
          <a:lstStyle/>
          <a:p>
            <a:pPr algn="ctr">
              <a:defRPr sz="1200" b="1">
                <a:solidFill>
                  <a:srgbClr val="147D7A"/>
                </a:solidFill>
                <a:latin typeface="Arial"/>
                <a:ea typeface="Arial"/>
                <a:cs typeface="Arial"/>
              </a:defRPr>
            </a:pPr>
            <a:r>
              <a:rPr sz="1200" b="1">
                <a:solidFill>
                  <a:srgbClr val="147D7A"/>
                </a:solidFill>
                <a:latin typeface="Arial"/>
                <a:ea typeface="Arial"/>
                <a:cs typeface="Arial"/>
              </a:rPr>
              <a:t>YES</a:t>
            </a:r>
          </a:p>
        </p:txBody>
      </p:sp>
      <p:sp>
        <p:nvSpPr>
          <p:cNvPr id="51" name="Rectangle 50">
            <a:extLst>
              <a:ext uri="{FF2B5EF4-FFF2-40B4-BE49-F238E27FC236}">
                <a16:creationId xmlns:a16="http://schemas.microsoft.com/office/drawing/2014/main" id="{C65917A8-BA9A-6B46-0777-A70318945F97}"/>
              </a:ext>
            </a:extLst>
          </p:cNvPr>
          <p:cNvSpPr>
            <a:spLocks noGrp="1"/>
          </p:cNvSpPr>
          <p:nvPr/>
        </p:nvSpPr>
        <p:spPr>
          <a:xfrm>
            <a:off x="6543675" y="2819400"/>
            <a:ext cx="1066800" cy="600075"/>
          </a:xfrm>
          <a:prstGeom prst="rect">
            <a:avLst/>
          </a:prstGeom>
          <a:solidFill>
            <a:srgbClr val="E6F3F1"/>
          </a:solidFill>
          <a:ln w="9525">
            <a:solidFill>
              <a:srgbClr val="FFFFFF"/>
            </a:solidFill>
          </a:ln>
        </p:spPr>
        <p:txBody>
          <a:bodyPr/>
          <a:lstStyle/>
          <a:p>
            <a:endParaRPr lang="en-IN"/>
          </a:p>
        </p:txBody>
      </p:sp>
      <p:sp>
        <p:nvSpPr>
          <p:cNvPr id="53" name="Rectangle 52">
            <a:extLst>
              <a:ext uri="{FF2B5EF4-FFF2-40B4-BE49-F238E27FC236}">
                <a16:creationId xmlns:a16="http://schemas.microsoft.com/office/drawing/2014/main" id="{A873CBD5-2A16-CC7A-AABC-C6B4F879F228}"/>
              </a:ext>
            </a:extLst>
          </p:cNvPr>
          <p:cNvSpPr>
            <a:spLocks noGrp="1"/>
          </p:cNvSpPr>
          <p:nvPr/>
        </p:nvSpPr>
        <p:spPr>
          <a:xfrm>
            <a:off x="6581775" y="2847975"/>
            <a:ext cx="990600" cy="542925"/>
          </a:xfrm>
          <a:prstGeom prst="rect">
            <a:avLst/>
          </a:prstGeom>
          <a:noFill/>
          <a:ln w="0">
            <a:noFill/>
          </a:ln>
        </p:spPr>
        <p:txBody>
          <a:bodyPr anchor="ctr">
            <a:normAutofit/>
          </a:bodyPr>
          <a:lstStyle/>
          <a:p>
            <a:pPr algn="ctr">
              <a:defRPr sz="1200" b="1">
                <a:solidFill>
                  <a:srgbClr val="147D7A"/>
                </a:solidFill>
                <a:latin typeface="Arial"/>
                <a:ea typeface="Arial"/>
                <a:cs typeface="Arial"/>
              </a:defRPr>
            </a:pPr>
            <a:r>
              <a:rPr sz="1200" b="1">
                <a:solidFill>
                  <a:srgbClr val="147D7A"/>
                </a:solidFill>
                <a:latin typeface="Arial"/>
                <a:ea typeface="Arial"/>
                <a:cs typeface="Arial"/>
              </a:rPr>
              <a:t>YES</a:t>
            </a:r>
          </a:p>
        </p:txBody>
      </p:sp>
      <p:sp>
        <p:nvSpPr>
          <p:cNvPr id="55" name="Rectangle 54">
            <a:extLst>
              <a:ext uri="{FF2B5EF4-FFF2-40B4-BE49-F238E27FC236}">
                <a16:creationId xmlns:a16="http://schemas.microsoft.com/office/drawing/2014/main" id="{D110140B-F003-F5E7-DE51-0316CACA5664}"/>
              </a:ext>
            </a:extLst>
          </p:cNvPr>
          <p:cNvSpPr>
            <a:spLocks noGrp="1"/>
          </p:cNvSpPr>
          <p:nvPr/>
        </p:nvSpPr>
        <p:spPr>
          <a:xfrm>
            <a:off x="609600" y="3419475"/>
            <a:ext cx="2333625" cy="600075"/>
          </a:xfrm>
          <a:prstGeom prst="rect">
            <a:avLst/>
          </a:prstGeom>
          <a:solidFill>
            <a:srgbClr val="FFFFFF"/>
          </a:solidFill>
          <a:ln w="9525">
            <a:solidFill>
              <a:srgbClr val="D7E0EA"/>
            </a:solidFill>
          </a:ln>
        </p:spPr>
        <p:txBody>
          <a:bodyPr/>
          <a:lstStyle/>
          <a:p>
            <a:endParaRPr lang="en-IN"/>
          </a:p>
        </p:txBody>
      </p:sp>
      <p:sp>
        <p:nvSpPr>
          <p:cNvPr id="57" name="Rectangle 56">
            <a:extLst>
              <a:ext uri="{FF2B5EF4-FFF2-40B4-BE49-F238E27FC236}">
                <a16:creationId xmlns:a16="http://schemas.microsoft.com/office/drawing/2014/main" id="{516FC626-69B3-8072-EAFD-3252A99D0F71}"/>
              </a:ext>
            </a:extLst>
          </p:cNvPr>
          <p:cNvSpPr>
            <a:spLocks noGrp="1"/>
          </p:cNvSpPr>
          <p:nvPr/>
        </p:nvSpPr>
        <p:spPr>
          <a:xfrm>
            <a:off x="723900" y="3438525"/>
            <a:ext cx="2105025" cy="561975"/>
          </a:xfrm>
          <a:prstGeom prst="rect">
            <a:avLst/>
          </a:prstGeom>
          <a:noFill/>
          <a:ln w="0">
            <a:noFill/>
          </a:ln>
        </p:spPr>
        <p:txBody>
          <a:bodyPr anchor="ctr">
            <a:normAutofit/>
          </a:bodyPr>
          <a:lstStyle/>
          <a:p>
            <a:pPr algn="l">
              <a:defRPr sz="1200" b="1">
                <a:solidFill>
                  <a:srgbClr val="172B45"/>
                </a:solidFill>
                <a:latin typeface="Arial"/>
                <a:ea typeface="Arial"/>
                <a:cs typeface="Arial"/>
              </a:defRPr>
            </a:pPr>
            <a:r>
              <a:rPr sz="1200" b="1">
                <a:solidFill>
                  <a:srgbClr val="172B45"/>
                </a:solidFill>
                <a:latin typeface="Arial"/>
                <a:ea typeface="Arial"/>
                <a:cs typeface="Arial"/>
              </a:rPr>
              <a:t>Other class, same package</a:t>
            </a:r>
          </a:p>
        </p:txBody>
      </p:sp>
      <p:sp>
        <p:nvSpPr>
          <p:cNvPr id="59" name="Rectangle 58">
            <a:extLst>
              <a:ext uri="{FF2B5EF4-FFF2-40B4-BE49-F238E27FC236}">
                <a16:creationId xmlns:a16="http://schemas.microsoft.com/office/drawing/2014/main" id="{AB744834-DA21-8FA5-E3AE-D5CD8588823E}"/>
              </a:ext>
            </a:extLst>
          </p:cNvPr>
          <p:cNvSpPr>
            <a:spLocks noGrp="1"/>
          </p:cNvSpPr>
          <p:nvPr/>
        </p:nvSpPr>
        <p:spPr>
          <a:xfrm>
            <a:off x="2943225" y="3419475"/>
            <a:ext cx="1066800" cy="600075"/>
          </a:xfrm>
          <a:prstGeom prst="rect">
            <a:avLst/>
          </a:prstGeom>
          <a:solidFill>
            <a:srgbClr val="FBEAE4"/>
          </a:solidFill>
          <a:ln w="9525">
            <a:solidFill>
              <a:srgbClr val="FFFFFF"/>
            </a:solidFill>
          </a:ln>
        </p:spPr>
        <p:txBody>
          <a:bodyPr/>
          <a:lstStyle/>
          <a:p>
            <a:endParaRPr lang="en-IN"/>
          </a:p>
        </p:txBody>
      </p:sp>
      <p:sp>
        <p:nvSpPr>
          <p:cNvPr id="61" name="Rectangle 60">
            <a:extLst>
              <a:ext uri="{FF2B5EF4-FFF2-40B4-BE49-F238E27FC236}">
                <a16:creationId xmlns:a16="http://schemas.microsoft.com/office/drawing/2014/main" id="{E96C5CA2-9F9E-5E3C-515E-4AE17481E77D}"/>
              </a:ext>
            </a:extLst>
          </p:cNvPr>
          <p:cNvSpPr>
            <a:spLocks noGrp="1"/>
          </p:cNvSpPr>
          <p:nvPr/>
        </p:nvSpPr>
        <p:spPr>
          <a:xfrm>
            <a:off x="2981325" y="3448050"/>
            <a:ext cx="990600" cy="542925"/>
          </a:xfrm>
          <a:prstGeom prst="rect">
            <a:avLst/>
          </a:prstGeom>
          <a:noFill/>
          <a:ln w="0">
            <a:noFill/>
          </a:ln>
        </p:spPr>
        <p:txBody>
          <a:bodyPr anchor="ctr">
            <a:normAutofit/>
          </a:bodyPr>
          <a:lstStyle/>
          <a:p>
            <a:pPr algn="ctr">
              <a:defRPr sz="1200" b="1">
                <a:solidFill>
                  <a:srgbClr val="A44932"/>
                </a:solidFill>
                <a:latin typeface="Arial"/>
                <a:ea typeface="Arial"/>
                <a:cs typeface="Arial"/>
              </a:defRPr>
            </a:pPr>
            <a:r>
              <a:rPr sz="1200" b="1">
                <a:solidFill>
                  <a:srgbClr val="A44932"/>
                </a:solidFill>
                <a:latin typeface="Arial"/>
                <a:ea typeface="Arial"/>
                <a:cs typeface="Arial"/>
              </a:rPr>
              <a:t>NO</a:t>
            </a:r>
          </a:p>
        </p:txBody>
      </p:sp>
      <p:sp>
        <p:nvSpPr>
          <p:cNvPr id="63" name="Rectangle 62">
            <a:extLst>
              <a:ext uri="{FF2B5EF4-FFF2-40B4-BE49-F238E27FC236}">
                <a16:creationId xmlns:a16="http://schemas.microsoft.com/office/drawing/2014/main" id="{DBAD0C57-2E13-4268-ABBD-464E157FBE59}"/>
              </a:ext>
            </a:extLst>
          </p:cNvPr>
          <p:cNvSpPr>
            <a:spLocks noGrp="1"/>
          </p:cNvSpPr>
          <p:nvPr/>
        </p:nvSpPr>
        <p:spPr>
          <a:xfrm>
            <a:off x="4010025" y="3419475"/>
            <a:ext cx="1352550" cy="600075"/>
          </a:xfrm>
          <a:prstGeom prst="rect">
            <a:avLst/>
          </a:prstGeom>
          <a:solidFill>
            <a:srgbClr val="E6F3F1"/>
          </a:solidFill>
          <a:ln w="9525">
            <a:solidFill>
              <a:srgbClr val="FFFFFF"/>
            </a:solidFill>
          </a:ln>
        </p:spPr>
        <p:txBody>
          <a:bodyPr/>
          <a:lstStyle/>
          <a:p>
            <a:endParaRPr lang="en-IN"/>
          </a:p>
        </p:txBody>
      </p:sp>
      <p:sp>
        <p:nvSpPr>
          <p:cNvPr id="65" name="Rectangle 64">
            <a:extLst>
              <a:ext uri="{FF2B5EF4-FFF2-40B4-BE49-F238E27FC236}">
                <a16:creationId xmlns:a16="http://schemas.microsoft.com/office/drawing/2014/main" id="{847F3C2D-0F64-4339-EEDB-41EF023D9C26}"/>
              </a:ext>
            </a:extLst>
          </p:cNvPr>
          <p:cNvSpPr>
            <a:spLocks noGrp="1"/>
          </p:cNvSpPr>
          <p:nvPr/>
        </p:nvSpPr>
        <p:spPr>
          <a:xfrm>
            <a:off x="4048125" y="3448050"/>
            <a:ext cx="1276350" cy="542925"/>
          </a:xfrm>
          <a:prstGeom prst="rect">
            <a:avLst/>
          </a:prstGeom>
          <a:noFill/>
          <a:ln w="0">
            <a:noFill/>
          </a:ln>
        </p:spPr>
        <p:txBody>
          <a:bodyPr anchor="ctr">
            <a:normAutofit/>
          </a:bodyPr>
          <a:lstStyle/>
          <a:p>
            <a:pPr algn="ctr">
              <a:defRPr sz="1200" b="1">
                <a:solidFill>
                  <a:srgbClr val="147D7A"/>
                </a:solidFill>
                <a:latin typeface="Arial"/>
                <a:ea typeface="Arial"/>
                <a:cs typeface="Arial"/>
              </a:defRPr>
            </a:pPr>
            <a:r>
              <a:rPr sz="1200" b="1">
                <a:solidFill>
                  <a:srgbClr val="147D7A"/>
                </a:solidFill>
                <a:latin typeface="Arial"/>
                <a:ea typeface="Arial"/>
                <a:cs typeface="Arial"/>
              </a:rPr>
              <a:t>YES</a:t>
            </a:r>
          </a:p>
        </p:txBody>
      </p:sp>
      <p:sp>
        <p:nvSpPr>
          <p:cNvPr id="67" name="Rectangle 66">
            <a:extLst>
              <a:ext uri="{FF2B5EF4-FFF2-40B4-BE49-F238E27FC236}">
                <a16:creationId xmlns:a16="http://schemas.microsoft.com/office/drawing/2014/main" id="{ED94E780-A6F8-B319-0DD9-3A1924E4B0D8}"/>
              </a:ext>
            </a:extLst>
          </p:cNvPr>
          <p:cNvSpPr>
            <a:spLocks noGrp="1"/>
          </p:cNvSpPr>
          <p:nvPr/>
        </p:nvSpPr>
        <p:spPr>
          <a:xfrm>
            <a:off x="5362575" y="3419475"/>
            <a:ext cx="1181100" cy="600075"/>
          </a:xfrm>
          <a:prstGeom prst="rect">
            <a:avLst/>
          </a:prstGeom>
          <a:solidFill>
            <a:srgbClr val="E6F3F1"/>
          </a:solidFill>
          <a:ln w="9525">
            <a:solidFill>
              <a:srgbClr val="FFFFFF"/>
            </a:solidFill>
          </a:ln>
        </p:spPr>
        <p:txBody>
          <a:bodyPr/>
          <a:lstStyle/>
          <a:p>
            <a:endParaRPr lang="en-IN"/>
          </a:p>
        </p:txBody>
      </p:sp>
      <p:sp>
        <p:nvSpPr>
          <p:cNvPr id="69" name="Rectangle 68">
            <a:extLst>
              <a:ext uri="{FF2B5EF4-FFF2-40B4-BE49-F238E27FC236}">
                <a16:creationId xmlns:a16="http://schemas.microsoft.com/office/drawing/2014/main" id="{30459A6C-DB33-0E1B-4097-AB97A22BA2DB}"/>
              </a:ext>
            </a:extLst>
          </p:cNvPr>
          <p:cNvSpPr>
            <a:spLocks noGrp="1"/>
          </p:cNvSpPr>
          <p:nvPr/>
        </p:nvSpPr>
        <p:spPr>
          <a:xfrm>
            <a:off x="5400675" y="3448050"/>
            <a:ext cx="1104900" cy="542925"/>
          </a:xfrm>
          <a:prstGeom prst="rect">
            <a:avLst/>
          </a:prstGeom>
          <a:noFill/>
          <a:ln w="0">
            <a:noFill/>
          </a:ln>
        </p:spPr>
        <p:txBody>
          <a:bodyPr anchor="ctr">
            <a:normAutofit/>
          </a:bodyPr>
          <a:lstStyle/>
          <a:p>
            <a:pPr algn="ctr">
              <a:defRPr sz="1200" b="1">
                <a:solidFill>
                  <a:srgbClr val="147D7A"/>
                </a:solidFill>
                <a:latin typeface="Arial"/>
                <a:ea typeface="Arial"/>
                <a:cs typeface="Arial"/>
              </a:defRPr>
            </a:pPr>
            <a:r>
              <a:rPr sz="1200" b="1">
                <a:solidFill>
                  <a:srgbClr val="147D7A"/>
                </a:solidFill>
                <a:latin typeface="Arial"/>
                <a:ea typeface="Arial"/>
                <a:cs typeface="Arial"/>
              </a:rPr>
              <a:t>YES</a:t>
            </a:r>
          </a:p>
        </p:txBody>
      </p:sp>
      <p:sp>
        <p:nvSpPr>
          <p:cNvPr id="71" name="Rectangle 70">
            <a:extLst>
              <a:ext uri="{FF2B5EF4-FFF2-40B4-BE49-F238E27FC236}">
                <a16:creationId xmlns:a16="http://schemas.microsoft.com/office/drawing/2014/main" id="{0B07E00A-6613-AB55-ED8F-36108324EC5C}"/>
              </a:ext>
            </a:extLst>
          </p:cNvPr>
          <p:cNvSpPr>
            <a:spLocks noGrp="1"/>
          </p:cNvSpPr>
          <p:nvPr/>
        </p:nvSpPr>
        <p:spPr>
          <a:xfrm>
            <a:off x="6543675" y="3419475"/>
            <a:ext cx="1066800" cy="600075"/>
          </a:xfrm>
          <a:prstGeom prst="rect">
            <a:avLst/>
          </a:prstGeom>
          <a:solidFill>
            <a:srgbClr val="E6F3F1"/>
          </a:solidFill>
          <a:ln w="9525">
            <a:solidFill>
              <a:srgbClr val="FFFFFF"/>
            </a:solidFill>
          </a:ln>
        </p:spPr>
        <p:txBody>
          <a:bodyPr/>
          <a:lstStyle/>
          <a:p>
            <a:endParaRPr lang="en-IN"/>
          </a:p>
        </p:txBody>
      </p:sp>
      <p:sp>
        <p:nvSpPr>
          <p:cNvPr id="73" name="Rectangle 72">
            <a:extLst>
              <a:ext uri="{FF2B5EF4-FFF2-40B4-BE49-F238E27FC236}">
                <a16:creationId xmlns:a16="http://schemas.microsoft.com/office/drawing/2014/main" id="{3DAF27AD-967A-1C9B-AAF6-2B4A251CAC66}"/>
              </a:ext>
            </a:extLst>
          </p:cNvPr>
          <p:cNvSpPr>
            <a:spLocks noGrp="1"/>
          </p:cNvSpPr>
          <p:nvPr/>
        </p:nvSpPr>
        <p:spPr>
          <a:xfrm>
            <a:off x="6581775" y="3448050"/>
            <a:ext cx="990600" cy="542925"/>
          </a:xfrm>
          <a:prstGeom prst="rect">
            <a:avLst/>
          </a:prstGeom>
          <a:noFill/>
          <a:ln w="0">
            <a:noFill/>
          </a:ln>
        </p:spPr>
        <p:txBody>
          <a:bodyPr anchor="ctr">
            <a:normAutofit/>
          </a:bodyPr>
          <a:lstStyle/>
          <a:p>
            <a:pPr algn="ctr">
              <a:defRPr sz="1200" b="1">
                <a:solidFill>
                  <a:srgbClr val="147D7A"/>
                </a:solidFill>
                <a:latin typeface="Arial"/>
                <a:ea typeface="Arial"/>
                <a:cs typeface="Arial"/>
              </a:defRPr>
            </a:pPr>
            <a:r>
              <a:rPr sz="1200" b="1">
                <a:solidFill>
                  <a:srgbClr val="147D7A"/>
                </a:solidFill>
                <a:latin typeface="Arial"/>
                <a:ea typeface="Arial"/>
                <a:cs typeface="Arial"/>
              </a:rPr>
              <a:t>YES</a:t>
            </a:r>
          </a:p>
        </p:txBody>
      </p:sp>
      <p:sp>
        <p:nvSpPr>
          <p:cNvPr id="75" name="Rectangle 74">
            <a:extLst>
              <a:ext uri="{FF2B5EF4-FFF2-40B4-BE49-F238E27FC236}">
                <a16:creationId xmlns:a16="http://schemas.microsoft.com/office/drawing/2014/main" id="{FF2332AD-67DF-562B-0E20-7F682D7FC36E}"/>
              </a:ext>
            </a:extLst>
          </p:cNvPr>
          <p:cNvSpPr>
            <a:spLocks noGrp="1"/>
          </p:cNvSpPr>
          <p:nvPr/>
        </p:nvSpPr>
        <p:spPr>
          <a:xfrm>
            <a:off x="609600" y="4019550"/>
            <a:ext cx="2333625" cy="600075"/>
          </a:xfrm>
          <a:prstGeom prst="rect">
            <a:avLst/>
          </a:prstGeom>
          <a:solidFill>
            <a:srgbClr val="F0F4F8"/>
          </a:solidFill>
          <a:ln w="9525">
            <a:solidFill>
              <a:srgbClr val="D7E0EA"/>
            </a:solidFill>
          </a:ln>
        </p:spPr>
        <p:txBody>
          <a:bodyPr/>
          <a:lstStyle/>
          <a:p>
            <a:endParaRPr lang="en-IN"/>
          </a:p>
        </p:txBody>
      </p:sp>
      <p:sp>
        <p:nvSpPr>
          <p:cNvPr id="77" name="Rectangle 76">
            <a:extLst>
              <a:ext uri="{FF2B5EF4-FFF2-40B4-BE49-F238E27FC236}">
                <a16:creationId xmlns:a16="http://schemas.microsoft.com/office/drawing/2014/main" id="{C2871A5F-DEEA-88D4-DB68-903F78784006}"/>
              </a:ext>
            </a:extLst>
          </p:cNvPr>
          <p:cNvSpPr>
            <a:spLocks noGrp="1"/>
          </p:cNvSpPr>
          <p:nvPr/>
        </p:nvSpPr>
        <p:spPr>
          <a:xfrm>
            <a:off x="723900" y="4038600"/>
            <a:ext cx="2105025" cy="561975"/>
          </a:xfrm>
          <a:prstGeom prst="rect">
            <a:avLst/>
          </a:prstGeom>
          <a:noFill/>
          <a:ln w="0">
            <a:noFill/>
          </a:ln>
        </p:spPr>
        <p:txBody>
          <a:bodyPr anchor="ctr">
            <a:normAutofit/>
          </a:bodyPr>
          <a:lstStyle/>
          <a:p>
            <a:pPr algn="l">
              <a:defRPr sz="1200" b="1">
                <a:solidFill>
                  <a:srgbClr val="172B45"/>
                </a:solidFill>
                <a:latin typeface="Arial"/>
                <a:ea typeface="Arial"/>
                <a:cs typeface="Arial"/>
              </a:defRPr>
            </a:pPr>
            <a:r>
              <a:rPr sz="1200" b="1">
                <a:solidFill>
                  <a:srgbClr val="172B45"/>
                </a:solidFill>
                <a:latin typeface="Arial"/>
                <a:ea typeface="Arial"/>
                <a:cs typeface="Arial"/>
              </a:rPr>
              <a:t>Subclass, different package</a:t>
            </a:r>
          </a:p>
        </p:txBody>
      </p:sp>
      <p:sp>
        <p:nvSpPr>
          <p:cNvPr id="79" name="Rectangle 78">
            <a:extLst>
              <a:ext uri="{FF2B5EF4-FFF2-40B4-BE49-F238E27FC236}">
                <a16:creationId xmlns:a16="http://schemas.microsoft.com/office/drawing/2014/main" id="{D88AD2A1-5E0F-3FEC-101C-77814299252F}"/>
              </a:ext>
            </a:extLst>
          </p:cNvPr>
          <p:cNvSpPr>
            <a:spLocks noGrp="1"/>
          </p:cNvSpPr>
          <p:nvPr/>
        </p:nvSpPr>
        <p:spPr>
          <a:xfrm>
            <a:off x="2943225" y="4019550"/>
            <a:ext cx="1066800" cy="600075"/>
          </a:xfrm>
          <a:prstGeom prst="rect">
            <a:avLst/>
          </a:prstGeom>
          <a:solidFill>
            <a:srgbClr val="FBEAE4"/>
          </a:solidFill>
          <a:ln w="9525">
            <a:solidFill>
              <a:srgbClr val="FFFFFF"/>
            </a:solidFill>
          </a:ln>
        </p:spPr>
        <p:txBody>
          <a:bodyPr/>
          <a:lstStyle/>
          <a:p>
            <a:endParaRPr lang="en-IN"/>
          </a:p>
        </p:txBody>
      </p:sp>
      <p:sp>
        <p:nvSpPr>
          <p:cNvPr id="81" name="Rectangle 80">
            <a:extLst>
              <a:ext uri="{FF2B5EF4-FFF2-40B4-BE49-F238E27FC236}">
                <a16:creationId xmlns:a16="http://schemas.microsoft.com/office/drawing/2014/main" id="{A079611B-AFF1-4582-C24A-96A0A03E9727}"/>
              </a:ext>
            </a:extLst>
          </p:cNvPr>
          <p:cNvSpPr>
            <a:spLocks noGrp="1"/>
          </p:cNvSpPr>
          <p:nvPr/>
        </p:nvSpPr>
        <p:spPr>
          <a:xfrm>
            <a:off x="2981325" y="4048125"/>
            <a:ext cx="990600" cy="542925"/>
          </a:xfrm>
          <a:prstGeom prst="rect">
            <a:avLst/>
          </a:prstGeom>
          <a:noFill/>
          <a:ln w="0">
            <a:noFill/>
          </a:ln>
        </p:spPr>
        <p:txBody>
          <a:bodyPr anchor="ctr">
            <a:normAutofit/>
          </a:bodyPr>
          <a:lstStyle/>
          <a:p>
            <a:pPr algn="ctr">
              <a:defRPr sz="1200" b="1">
                <a:solidFill>
                  <a:srgbClr val="A44932"/>
                </a:solidFill>
                <a:latin typeface="Arial"/>
                <a:ea typeface="Arial"/>
                <a:cs typeface="Arial"/>
              </a:defRPr>
            </a:pPr>
            <a:r>
              <a:rPr sz="1200" b="1">
                <a:solidFill>
                  <a:srgbClr val="A44932"/>
                </a:solidFill>
                <a:latin typeface="Arial"/>
                <a:ea typeface="Arial"/>
                <a:cs typeface="Arial"/>
              </a:rPr>
              <a:t>NO</a:t>
            </a:r>
          </a:p>
        </p:txBody>
      </p:sp>
      <p:sp>
        <p:nvSpPr>
          <p:cNvPr id="83" name="Rectangle 82">
            <a:extLst>
              <a:ext uri="{FF2B5EF4-FFF2-40B4-BE49-F238E27FC236}">
                <a16:creationId xmlns:a16="http://schemas.microsoft.com/office/drawing/2014/main" id="{1D0690E4-D804-DF18-F903-FB1083035093}"/>
              </a:ext>
            </a:extLst>
          </p:cNvPr>
          <p:cNvSpPr>
            <a:spLocks noGrp="1"/>
          </p:cNvSpPr>
          <p:nvPr/>
        </p:nvSpPr>
        <p:spPr>
          <a:xfrm>
            <a:off x="4010025" y="4019550"/>
            <a:ext cx="1352550" cy="600075"/>
          </a:xfrm>
          <a:prstGeom prst="rect">
            <a:avLst/>
          </a:prstGeom>
          <a:solidFill>
            <a:srgbClr val="FBEAE4"/>
          </a:solidFill>
          <a:ln w="9525">
            <a:solidFill>
              <a:srgbClr val="FFFFFF"/>
            </a:solidFill>
          </a:ln>
        </p:spPr>
        <p:txBody>
          <a:bodyPr/>
          <a:lstStyle/>
          <a:p>
            <a:endParaRPr lang="en-IN"/>
          </a:p>
        </p:txBody>
      </p:sp>
      <p:sp>
        <p:nvSpPr>
          <p:cNvPr id="85" name="Rectangle 84">
            <a:extLst>
              <a:ext uri="{FF2B5EF4-FFF2-40B4-BE49-F238E27FC236}">
                <a16:creationId xmlns:a16="http://schemas.microsoft.com/office/drawing/2014/main" id="{8EF4905D-369A-E8E4-2442-2F655394FE63}"/>
              </a:ext>
            </a:extLst>
          </p:cNvPr>
          <p:cNvSpPr>
            <a:spLocks noGrp="1"/>
          </p:cNvSpPr>
          <p:nvPr/>
        </p:nvSpPr>
        <p:spPr>
          <a:xfrm>
            <a:off x="4048125" y="4048125"/>
            <a:ext cx="1276350" cy="542925"/>
          </a:xfrm>
          <a:prstGeom prst="rect">
            <a:avLst/>
          </a:prstGeom>
          <a:noFill/>
          <a:ln w="0">
            <a:noFill/>
          </a:ln>
        </p:spPr>
        <p:txBody>
          <a:bodyPr anchor="ctr">
            <a:normAutofit/>
          </a:bodyPr>
          <a:lstStyle/>
          <a:p>
            <a:pPr algn="ctr">
              <a:defRPr sz="1200" b="1">
                <a:solidFill>
                  <a:srgbClr val="A44932"/>
                </a:solidFill>
                <a:latin typeface="Arial"/>
                <a:ea typeface="Arial"/>
                <a:cs typeface="Arial"/>
              </a:defRPr>
            </a:pPr>
            <a:r>
              <a:rPr sz="1200" b="1">
                <a:solidFill>
                  <a:srgbClr val="A44932"/>
                </a:solidFill>
                <a:latin typeface="Arial"/>
                <a:ea typeface="Arial"/>
                <a:cs typeface="Arial"/>
              </a:rPr>
              <a:t>NO</a:t>
            </a:r>
          </a:p>
        </p:txBody>
      </p:sp>
      <p:sp>
        <p:nvSpPr>
          <p:cNvPr id="87" name="Rectangle 86">
            <a:extLst>
              <a:ext uri="{FF2B5EF4-FFF2-40B4-BE49-F238E27FC236}">
                <a16:creationId xmlns:a16="http://schemas.microsoft.com/office/drawing/2014/main" id="{32FF5FE4-40A1-2242-825D-24412BABCA47}"/>
              </a:ext>
            </a:extLst>
          </p:cNvPr>
          <p:cNvSpPr>
            <a:spLocks noGrp="1"/>
          </p:cNvSpPr>
          <p:nvPr/>
        </p:nvSpPr>
        <p:spPr>
          <a:xfrm>
            <a:off x="5362575" y="4019550"/>
            <a:ext cx="1181100" cy="600075"/>
          </a:xfrm>
          <a:prstGeom prst="rect">
            <a:avLst/>
          </a:prstGeom>
          <a:solidFill>
            <a:srgbClr val="E6F3F1"/>
          </a:solidFill>
          <a:ln w="9525">
            <a:solidFill>
              <a:srgbClr val="FFFFFF"/>
            </a:solidFill>
          </a:ln>
        </p:spPr>
        <p:txBody>
          <a:bodyPr/>
          <a:lstStyle/>
          <a:p>
            <a:endParaRPr lang="en-IN"/>
          </a:p>
        </p:txBody>
      </p:sp>
      <p:sp>
        <p:nvSpPr>
          <p:cNvPr id="89" name="Rectangle 88">
            <a:extLst>
              <a:ext uri="{FF2B5EF4-FFF2-40B4-BE49-F238E27FC236}">
                <a16:creationId xmlns:a16="http://schemas.microsoft.com/office/drawing/2014/main" id="{5063C015-5E19-F2DB-A0D9-3948F1C231AE}"/>
              </a:ext>
            </a:extLst>
          </p:cNvPr>
          <p:cNvSpPr>
            <a:spLocks noGrp="1"/>
          </p:cNvSpPr>
          <p:nvPr/>
        </p:nvSpPr>
        <p:spPr>
          <a:xfrm>
            <a:off x="5400675" y="4048125"/>
            <a:ext cx="1104900" cy="542925"/>
          </a:xfrm>
          <a:prstGeom prst="rect">
            <a:avLst/>
          </a:prstGeom>
          <a:noFill/>
          <a:ln w="0">
            <a:noFill/>
          </a:ln>
        </p:spPr>
        <p:txBody>
          <a:bodyPr anchor="ctr">
            <a:normAutofit/>
          </a:bodyPr>
          <a:lstStyle/>
          <a:p>
            <a:pPr algn="ctr">
              <a:defRPr sz="1200" b="1">
                <a:solidFill>
                  <a:srgbClr val="147D7A"/>
                </a:solidFill>
                <a:latin typeface="Arial"/>
                <a:ea typeface="Arial"/>
                <a:cs typeface="Arial"/>
              </a:defRPr>
            </a:pPr>
            <a:r>
              <a:rPr sz="1200" b="1">
                <a:solidFill>
                  <a:srgbClr val="147D7A"/>
                </a:solidFill>
                <a:latin typeface="Arial"/>
                <a:ea typeface="Arial"/>
                <a:cs typeface="Arial"/>
              </a:rPr>
              <a:t>YES</a:t>
            </a:r>
          </a:p>
        </p:txBody>
      </p:sp>
      <p:sp>
        <p:nvSpPr>
          <p:cNvPr id="91" name="Rectangle 90">
            <a:extLst>
              <a:ext uri="{FF2B5EF4-FFF2-40B4-BE49-F238E27FC236}">
                <a16:creationId xmlns:a16="http://schemas.microsoft.com/office/drawing/2014/main" id="{AA614913-09EA-D45F-5F58-EFB67FD8F084}"/>
              </a:ext>
            </a:extLst>
          </p:cNvPr>
          <p:cNvSpPr>
            <a:spLocks noGrp="1"/>
          </p:cNvSpPr>
          <p:nvPr/>
        </p:nvSpPr>
        <p:spPr>
          <a:xfrm>
            <a:off x="6543675" y="4019550"/>
            <a:ext cx="1066800" cy="600075"/>
          </a:xfrm>
          <a:prstGeom prst="rect">
            <a:avLst/>
          </a:prstGeom>
          <a:solidFill>
            <a:srgbClr val="E6F3F1"/>
          </a:solidFill>
          <a:ln w="9525">
            <a:solidFill>
              <a:srgbClr val="FFFFFF"/>
            </a:solidFill>
          </a:ln>
        </p:spPr>
        <p:txBody>
          <a:bodyPr/>
          <a:lstStyle/>
          <a:p>
            <a:endParaRPr lang="en-IN"/>
          </a:p>
        </p:txBody>
      </p:sp>
      <p:sp>
        <p:nvSpPr>
          <p:cNvPr id="93" name="Rectangle 92">
            <a:extLst>
              <a:ext uri="{FF2B5EF4-FFF2-40B4-BE49-F238E27FC236}">
                <a16:creationId xmlns:a16="http://schemas.microsoft.com/office/drawing/2014/main" id="{89B89D9B-A3AF-D631-C338-5238E99B655F}"/>
              </a:ext>
            </a:extLst>
          </p:cNvPr>
          <p:cNvSpPr>
            <a:spLocks noGrp="1"/>
          </p:cNvSpPr>
          <p:nvPr/>
        </p:nvSpPr>
        <p:spPr>
          <a:xfrm>
            <a:off x="6581775" y="4048125"/>
            <a:ext cx="990600" cy="542925"/>
          </a:xfrm>
          <a:prstGeom prst="rect">
            <a:avLst/>
          </a:prstGeom>
          <a:noFill/>
          <a:ln w="0">
            <a:noFill/>
          </a:ln>
        </p:spPr>
        <p:txBody>
          <a:bodyPr anchor="ctr">
            <a:normAutofit/>
          </a:bodyPr>
          <a:lstStyle/>
          <a:p>
            <a:pPr algn="ctr">
              <a:defRPr sz="1200" b="1">
                <a:solidFill>
                  <a:srgbClr val="147D7A"/>
                </a:solidFill>
                <a:latin typeface="Arial"/>
                <a:ea typeface="Arial"/>
                <a:cs typeface="Arial"/>
              </a:defRPr>
            </a:pPr>
            <a:r>
              <a:rPr sz="1200" b="1">
                <a:solidFill>
                  <a:srgbClr val="147D7A"/>
                </a:solidFill>
                <a:latin typeface="Arial"/>
                <a:ea typeface="Arial"/>
                <a:cs typeface="Arial"/>
              </a:rPr>
              <a:t>YES</a:t>
            </a:r>
          </a:p>
        </p:txBody>
      </p:sp>
      <p:sp>
        <p:nvSpPr>
          <p:cNvPr id="95" name="Rectangle 94">
            <a:extLst>
              <a:ext uri="{FF2B5EF4-FFF2-40B4-BE49-F238E27FC236}">
                <a16:creationId xmlns:a16="http://schemas.microsoft.com/office/drawing/2014/main" id="{42A133B9-6756-93D8-877F-A64B836D85D7}"/>
              </a:ext>
            </a:extLst>
          </p:cNvPr>
          <p:cNvSpPr>
            <a:spLocks noGrp="1"/>
          </p:cNvSpPr>
          <p:nvPr/>
        </p:nvSpPr>
        <p:spPr>
          <a:xfrm>
            <a:off x="609600" y="4619625"/>
            <a:ext cx="2333625" cy="600075"/>
          </a:xfrm>
          <a:prstGeom prst="rect">
            <a:avLst/>
          </a:prstGeom>
          <a:solidFill>
            <a:srgbClr val="FFFFFF"/>
          </a:solidFill>
          <a:ln w="9525">
            <a:solidFill>
              <a:srgbClr val="D7E0EA"/>
            </a:solidFill>
          </a:ln>
        </p:spPr>
        <p:txBody>
          <a:bodyPr/>
          <a:lstStyle/>
          <a:p>
            <a:endParaRPr lang="en-IN"/>
          </a:p>
        </p:txBody>
      </p:sp>
      <p:sp>
        <p:nvSpPr>
          <p:cNvPr id="97" name="Rectangle 96">
            <a:extLst>
              <a:ext uri="{FF2B5EF4-FFF2-40B4-BE49-F238E27FC236}">
                <a16:creationId xmlns:a16="http://schemas.microsoft.com/office/drawing/2014/main" id="{2E33E1D2-FE90-2B4D-2134-19A829E3E5E0}"/>
              </a:ext>
            </a:extLst>
          </p:cNvPr>
          <p:cNvSpPr>
            <a:spLocks noGrp="1"/>
          </p:cNvSpPr>
          <p:nvPr/>
        </p:nvSpPr>
        <p:spPr>
          <a:xfrm>
            <a:off x="723900" y="4638675"/>
            <a:ext cx="2105025" cy="561975"/>
          </a:xfrm>
          <a:prstGeom prst="rect">
            <a:avLst/>
          </a:prstGeom>
          <a:noFill/>
          <a:ln w="0">
            <a:noFill/>
          </a:ln>
        </p:spPr>
        <p:txBody>
          <a:bodyPr anchor="ctr">
            <a:normAutofit/>
          </a:bodyPr>
          <a:lstStyle/>
          <a:p>
            <a:pPr algn="l">
              <a:defRPr sz="1200" b="1">
                <a:solidFill>
                  <a:srgbClr val="172B45"/>
                </a:solidFill>
                <a:latin typeface="Arial"/>
                <a:ea typeface="Arial"/>
                <a:cs typeface="Arial"/>
              </a:defRPr>
            </a:pPr>
            <a:r>
              <a:rPr sz="1200" b="1">
                <a:solidFill>
                  <a:srgbClr val="172B45"/>
                </a:solidFill>
                <a:latin typeface="Arial"/>
                <a:ea typeface="Arial"/>
                <a:cs typeface="Arial"/>
              </a:rPr>
              <a:t>Unrelated class, different package</a:t>
            </a:r>
          </a:p>
        </p:txBody>
      </p:sp>
      <p:sp>
        <p:nvSpPr>
          <p:cNvPr id="99" name="Rectangle 98">
            <a:extLst>
              <a:ext uri="{FF2B5EF4-FFF2-40B4-BE49-F238E27FC236}">
                <a16:creationId xmlns:a16="http://schemas.microsoft.com/office/drawing/2014/main" id="{290C5A5D-0D03-2B01-ED7E-F01580B2F3B2}"/>
              </a:ext>
            </a:extLst>
          </p:cNvPr>
          <p:cNvSpPr>
            <a:spLocks noGrp="1"/>
          </p:cNvSpPr>
          <p:nvPr/>
        </p:nvSpPr>
        <p:spPr>
          <a:xfrm>
            <a:off x="2943225" y="4619625"/>
            <a:ext cx="1066800" cy="600075"/>
          </a:xfrm>
          <a:prstGeom prst="rect">
            <a:avLst/>
          </a:prstGeom>
          <a:solidFill>
            <a:srgbClr val="FBEAE4"/>
          </a:solidFill>
          <a:ln w="9525">
            <a:solidFill>
              <a:srgbClr val="FFFFFF"/>
            </a:solidFill>
          </a:ln>
        </p:spPr>
        <p:txBody>
          <a:bodyPr/>
          <a:lstStyle/>
          <a:p>
            <a:endParaRPr lang="en-IN"/>
          </a:p>
        </p:txBody>
      </p:sp>
      <p:sp>
        <p:nvSpPr>
          <p:cNvPr id="101" name="Rectangle 100">
            <a:extLst>
              <a:ext uri="{FF2B5EF4-FFF2-40B4-BE49-F238E27FC236}">
                <a16:creationId xmlns:a16="http://schemas.microsoft.com/office/drawing/2014/main" id="{769FD187-9FBD-B0DD-07EF-825FFBB775DE}"/>
              </a:ext>
            </a:extLst>
          </p:cNvPr>
          <p:cNvSpPr>
            <a:spLocks noGrp="1"/>
          </p:cNvSpPr>
          <p:nvPr/>
        </p:nvSpPr>
        <p:spPr>
          <a:xfrm>
            <a:off x="2981325" y="4648200"/>
            <a:ext cx="990600" cy="542925"/>
          </a:xfrm>
          <a:prstGeom prst="rect">
            <a:avLst/>
          </a:prstGeom>
          <a:noFill/>
          <a:ln w="0">
            <a:noFill/>
          </a:ln>
        </p:spPr>
        <p:txBody>
          <a:bodyPr anchor="ctr">
            <a:normAutofit/>
          </a:bodyPr>
          <a:lstStyle/>
          <a:p>
            <a:pPr algn="ctr">
              <a:defRPr sz="1200" b="1">
                <a:solidFill>
                  <a:srgbClr val="A44932"/>
                </a:solidFill>
                <a:latin typeface="Arial"/>
                <a:ea typeface="Arial"/>
                <a:cs typeface="Arial"/>
              </a:defRPr>
            </a:pPr>
            <a:r>
              <a:rPr sz="1200" b="1">
                <a:solidFill>
                  <a:srgbClr val="A44932"/>
                </a:solidFill>
                <a:latin typeface="Arial"/>
                <a:ea typeface="Arial"/>
                <a:cs typeface="Arial"/>
              </a:rPr>
              <a:t>NO</a:t>
            </a:r>
          </a:p>
        </p:txBody>
      </p:sp>
      <p:sp>
        <p:nvSpPr>
          <p:cNvPr id="103" name="Rectangle 102">
            <a:extLst>
              <a:ext uri="{FF2B5EF4-FFF2-40B4-BE49-F238E27FC236}">
                <a16:creationId xmlns:a16="http://schemas.microsoft.com/office/drawing/2014/main" id="{1B664C38-6302-BC48-FD30-588EFCA2F84D}"/>
              </a:ext>
            </a:extLst>
          </p:cNvPr>
          <p:cNvSpPr>
            <a:spLocks noGrp="1"/>
          </p:cNvSpPr>
          <p:nvPr/>
        </p:nvSpPr>
        <p:spPr>
          <a:xfrm>
            <a:off x="4010025" y="4619625"/>
            <a:ext cx="1352550" cy="600075"/>
          </a:xfrm>
          <a:prstGeom prst="rect">
            <a:avLst/>
          </a:prstGeom>
          <a:solidFill>
            <a:srgbClr val="FBEAE4"/>
          </a:solidFill>
          <a:ln w="9525">
            <a:solidFill>
              <a:srgbClr val="FFFFFF"/>
            </a:solidFill>
          </a:ln>
        </p:spPr>
        <p:txBody>
          <a:bodyPr/>
          <a:lstStyle/>
          <a:p>
            <a:endParaRPr lang="en-IN"/>
          </a:p>
        </p:txBody>
      </p:sp>
      <p:sp>
        <p:nvSpPr>
          <p:cNvPr id="105" name="Rectangle 104">
            <a:extLst>
              <a:ext uri="{FF2B5EF4-FFF2-40B4-BE49-F238E27FC236}">
                <a16:creationId xmlns:a16="http://schemas.microsoft.com/office/drawing/2014/main" id="{C0E091F0-1861-D353-121A-62001969899B}"/>
              </a:ext>
            </a:extLst>
          </p:cNvPr>
          <p:cNvSpPr>
            <a:spLocks noGrp="1"/>
          </p:cNvSpPr>
          <p:nvPr/>
        </p:nvSpPr>
        <p:spPr>
          <a:xfrm>
            <a:off x="4048125" y="4648200"/>
            <a:ext cx="1276350" cy="542925"/>
          </a:xfrm>
          <a:prstGeom prst="rect">
            <a:avLst/>
          </a:prstGeom>
          <a:noFill/>
          <a:ln w="0">
            <a:noFill/>
          </a:ln>
        </p:spPr>
        <p:txBody>
          <a:bodyPr anchor="ctr">
            <a:normAutofit/>
          </a:bodyPr>
          <a:lstStyle/>
          <a:p>
            <a:pPr algn="ctr">
              <a:defRPr sz="1200" b="1">
                <a:solidFill>
                  <a:srgbClr val="A44932"/>
                </a:solidFill>
                <a:latin typeface="Arial"/>
                <a:ea typeface="Arial"/>
                <a:cs typeface="Arial"/>
              </a:defRPr>
            </a:pPr>
            <a:r>
              <a:rPr sz="1200" b="1">
                <a:solidFill>
                  <a:srgbClr val="A44932"/>
                </a:solidFill>
                <a:latin typeface="Arial"/>
                <a:ea typeface="Arial"/>
                <a:cs typeface="Arial"/>
              </a:rPr>
              <a:t>NO</a:t>
            </a:r>
          </a:p>
        </p:txBody>
      </p:sp>
      <p:sp>
        <p:nvSpPr>
          <p:cNvPr id="107" name="Rectangle 106">
            <a:extLst>
              <a:ext uri="{FF2B5EF4-FFF2-40B4-BE49-F238E27FC236}">
                <a16:creationId xmlns:a16="http://schemas.microsoft.com/office/drawing/2014/main" id="{4D87BD0A-FDC5-C3D9-5CED-607A7CB87FC0}"/>
              </a:ext>
            </a:extLst>
          </p:cNvPr>
          <p:cNvSpPr>
            <a:spLocks noGrp="1"/>
          </p:cNvSpPr>
          <p:nvPr/>
        </p:nvSpPr>
        <p:spPr>
          <a:xfrm>
            <a:off x="5362575" y="4619625"/>
            <a:ext cx="1181100" cy="600075"/>
          </a:xfrm>
          <a:prstGeom prst="rect">
            <a:avLst/>
          </a:prstGeom>
          <a:solidFill>
            <a:srgbClr val="FBEAE4"/>
          </a:solidFill>
          <a:ln w="9525">
            <a:solidFill>
              <a:srgbClr val="FFFFFF"/>
            </a:solidFill>
          </a:ln>
        </p:spPr>
        <p:txBody>
          <a:bodyPr/>
          <a:lstStyle/>
          <a:p>
            <a:endParaRPr lang="en-IN"/>
          </a:p>
        </p:txBody>
      </p:sp>
      <p:sp>
        <p:nvSpPr>
          <p:cNvPr id="109" name="Rectangle 108">
            <a:extLst>
              <a:ext uri="{FF2B5EF4-FFF2-40B4-BE49-F238E27FC236}">
                <a16:creationId xmlns:a16="http://schemas.microsoft.com/office/drawing/2014/main" id="{86DFEAA7-DCED-E887-2C0B-047ABF226E89}"/>
              </a:ext>
            </a:extLst>
          </p:cNvPr>
          <p:cNvSpPr>
            <a:spLocks noGrp="1"/>
          </p:cNvSpPr>
          <p:nvPr/>
        </p:nvSpPr>
        <p:spPr>
          <a:xfrm>
            <a:off x="5400675" y="4648200"/>
            <a:ext cx="1104900" cy="542925"/>
          </a:xfrm>
          <a:prstGeom prst="rect">
            <a:avLst/>
          </a:prstGeom>
          <a:noFill/>
          <a:ln w="0">
            <a:noFill/>
          </a:ln>
        </p:spPr>
        <p:txBody>
          <a:bodyPr anchor="ctr">
            <a:normAutofit/>
          </a:bodyPr>
          <a:lstStyle/>
          <a:p>
            <a:pPr algn="ctr">
              <a:defRPr sz="1200" b="1">
                <a:solidFill>
                  <a:srgbClr val="A44932"/>
                </a:solidFill>
                <a:latin typeface="Arial"/>
                <a:ea typeface="Arial"/>
                <a:cs typeface="Arial"/>
              </a:defRPr>
            </a:pPr>
            <a:r>
              <a:rPr sz="1200" b="1">
                <a:solidFill>
                  <a:srgbClr val="A44932"/>
                </a:solidFill>
                <a:latin typeface="Arial"/>
                <a:ea typeface="Arial"/>
                <a:cs typeface="Arial"/>
              </a:rPr>
              <a:t>NO</a:t>
            </a:r>
          </a:p>
        </p:txBody>
      </p:sp>
      <p:sp>
        <p:nvSpPr>
          <p:cNvPr id="111" name="Rectangle 110">
            <a:extLst>
              <a:ext uri="{FF2B5EF4-FFF2-40B4-BE49-F238E27FC236}">
                <a16:creationId xmlns:a16="http://schemas.microsoft.com/office/drawing/2014/main" id="{70EAE7D1-1D8D-AA18-EBC8-4E4D0694FC16}"/>
              </a:ext>
            </a:extLst>
          </p:cNvPr>
          <p:cNvSpPr>
            <a:spLocks noGrp="1"/>
          </p:cNvSpPr>
          <p:nvPr/>
        </p:nvSpPr>
        <p:spPr>
          <a:xfrm>
            <a:off x="6543675" y="4619625"/>
            <a:ext cx="1066800" cy="600075"/>
          </a:xfrm>
          <a:prstGeom prst="rect">
            <a:avLst/>
          </a:prstGeom>
          <a:solidFill>
            <a:srgbClr val="E6F3F1"/>
          </a:solidFill>
          <a:ln w="9525">
            <a:solidFill>
              <a:srgbClr val="FFFFFF"/>
            </a:solidFill>
          </a:ln>
        </p:spPr>
        <p:txBody>
          <a:bodyPr/>
          <a:lstStyle/>
          <a:p>
            <a:endParaRPr lang="en-IN"/>
          </a:p>
        </p:txBody>
      </p:sp>
      <p:sp>
        <p:nvSpPr>
          <p:cNvPr id="113" name="Rectangle 112">
            <a:extLst>
              <a:ext uri="{FF2B5EF4-FFF2-40B4-BE49-F238E27FC236}">
                <a16:creationId xmlns:a16="http://schemas.microsoft.com/office/drawing/2014/main" id="{AAFB993D-ACB1-26FF-1801-2D56689B6B9C}"/>
              </a:ext>
            </a:extLst>
          </p:cNvPr>
          <p:cNvSpPr>
            <a:spLocks noGrp="1"/>
          </p:cNvSpPr>
          <p:nvPr/>
        </p:nvSpPr>
        <p:spPr>
          <a:xfrm>
            <a:off x="6581775" y="4648200"/>
            <a:ext cx="990600" cy="542925"/>
          </a:xfrm>
          <a:prstGeom prst="rect">
            <a:avLst/>
          </a:prstGeom>
          <a:noFill/>
          <a:ln w="0">
            <a:noFill/>
          </a:ln>
        </p:spPr>
        <p:txBody>
          <a:bodyPr anchor="ctr">
            <a:normAutofit/>
          </a:bodyPr>
          <a:lstStyle/>
          <a:p>
            <a:pPr algn="ctr">
              <a:defRPr sz="1200" b="1">
                <a:solidFill>
                  <a:srgbClr val="147D7A"/>
                </a:solidFill>
                <a:latin typeface="Arial"/>
                <a:ea typeface="Arial"/>
                <a:cs typeface="Arial"/>
              </a:defRPr>
            </a:pPr>
            <a:r>
              <a:rPr sz="1200" b="1">
                <a:solidFill>
                  <a:srgbClr val="147D7A"/>
                </a:solidFill>
                <a:latin typeface="Arial"/>
                <a:ea typeface="Arial"/>
                <a:cs typeface="Arial"/>
              </a:rPr>
              <a:t>YES</a:t>
            </a:r>
          </a:p>
        </p:txBody>
      </p:sp>
      <p:sp>
        <p:nvSpPr>
          <p:cNvPr id="115" name="Rectangle 114">
            <a:extLst>
              <a:ext uri="{FF2B5EF4-FFF2-40B4-BE49-F238E27FC236}">
                <a16:creationId xmlns:a16="http://schemas.microsoft.com/office/drawing/2014/main" id="{36DEA3C9-97DA-2F37-2CEF-050446053358}"/>
              </a:ext>
            </a:extLst>
          </p:cNvPr>
          <p:cNvSpPr>
            <a:spLocks noGrp="1"/>
          </p:cNvSpPr>
          <p:nvPr/>
        </p:nvSpPr>
        <p:spPr>
          <a:xfrm>
            <a:off x="7800975" y="1952625"/>
            <a:ext cx="19050" cy="3743325"/>
          </a:xfrm>
          <a:prstGeom prst="rect">
            <a:avLst/>
          </a:prstGeom>
          <a:solidFill>
            <a:srgbClr val="D7E0EA"/>
          </a:solidFill>
          <a:ln w="0">
            <a:noFill/>
          </a:ln>
        </p:spPr>
        <p:txBody>
          <a:bodyPr/>
          <a:lstStyle/>
          <a:p>
            <a:endParaRPr lang="en-IN"/>
          </a:p>
        </p:txBody>
      </p:sp>
      <p:sp>
        <p:nvSpPr>
          <p:cNvPr id="117" name="Rectangle 116">
            <a:extLst>
              <a:ext uri="{FF2B5EF4-FFF2-40B4-BE49-F238E27FC236}">
                <a16:creationId xmlns:a16="http://schemas.microsoft.com/office/drawing/2014/main" id="{01D1A3A7-73AE-3C42-2D3E-FC957FA53A22}"/>
              </a:ext>
            </a:extLst>
          </p:cNvPr>
          <p:cNvSpPr>
            <a:spLocks noGrp="1"/>
          </p:cNvSpPr>
          <p:nvPr/>
        </p:nvSpPr>
        <p:spPr>
          <a:xfrm>
            <a:off x="8048625" y="1952625"/>
            <a:ext cx="3619500" cy="247650"/>
          </a:xfrm>
          <a:prstGeom prst="rect">
            <a:avLst/>
          </a:prstGeom>
          <a:noFill/>
          <a:ln w="0">
            <a:noFill/>
          </a:ln>
        </p:spPr>
        <p:txBody>
          <a:bodyPr anchor="ctr">
            <a:normAutofit fontScale="92917" lnSpcReduction="10000"/>
          </a:bodyPr>
          <a:lstStyle/>
          <a:p>
            <a:pPr algn="l">
              <a:defRPr sz="1200" b="1">
                <a:solidFill>
                  <a:srgbClr val="147D7A"/>
                </a:solidFill>
                <a:latin typeface="Arial"/>
                <a:ea typeface="Arial"/>
                <a:cs typeface="Arial"/>
              </a:defRPr>
            </a:pPr>
            <a:r>
              <a:rPr sz="1200" b="1">
                <a:solidFill>
                  <a:srgbClr val="147D7A"/>
                </a:solidFill>
                <a:latin typeface="Arial"/>
                <a:ea typeface="Arial"/>
                <a:cs typeface="Arial"/>
              </a:rPr>
              <a:t>QUICK EXAMPLES</a:t>
            </a:r>
          </a:p>
        </p:txBody>
      </p:sp>
      <p:sp>
        <p:nvSpPr>
          <p:cNvPr id="119" name="Rectangle 118">
            <a:extLst>
              <a:ext uri="{FF2B5EF4-FFF2-40B4-BE49-F238E27FC236}">
                <a16:creationId xmlns:a16="http://schemas.microsoft.com/office/drawing/2014/main" id="{60D9263F-30D4-1266-757C-DACD17A4C616}"/>
              </a:ext>
            </a:extLst>
          </p:cNvPr>
          <p:cNvSpPr>
            <a:spLocks noGrp="1"/>
          </p:cNvSpPr>
          <p:nvPr/>
        </p:nvSpPr>
        <p:spPr>
          <a:xfrm>
            <a:off x="8048625" y="2371725"/>
            <a:ext cx="3600450" cy="323850"/>
          </a:xfrm>
          <a:prstGeom prst="rect">
            <a:avLst/>
          </a:prstGeom>
          <a:noFill/>
          <a:ln w="0">
            <a:noFill/>
          </a:ln>
        </p:spPr>
        <p:txBody>
          <a:bodyPr anchor="ctr">
            <a:normAutofit/>
          </a:bodyPr>
          <a:lstStyle/>
          <a:p>
            <a:pPr algn="l">
              <a:defRPr sz="1500" b="1">
                <a:solidFill>
                  <a:srgbClr val="285E91"/>
                </a:solidFill>
                <a:latin typeface="Consolas"/>
                <a:ea typeface="Consolas"/>
                <a:cs typeface="Consolas"/>
              </a:defRPr>
            </a:pPr>
            <a:r>
              <a:rPr sz="1500" b="1">
                <a:solidFill>
                  <a:srgbClr val="285E91"/>
                </a:solidFill>
                <a:latin typeface="Consolas"/>
                <a:ea typeface="Consolas"/>
                <a:cs typeface="Consolas"/>
              </a:rPr>
              <a:t>private int pin;</a:t>
            </a:r>
          </a:p>
        </p:txBody>
      </p:sp>
      <p:sp>
        <p:nvSpPr>
          <p:cNvPr id="121" name="Rectangle 120">
            <a:extLst>
              <a:ext uri="{FF2B5EF4-FFF2-40B4-BE49-F238E27FC236}">
                <a16:creationId xmlns:a16="http://schemas.microsoft.com/office/drawing/2014/main" id="{AA775C2F-5F3C-BC1B-4902-4116162CA004}"/>
              </a:ext>
            </a:extLst>
          </p:cNvPr>
          <p:cNvSpPr>
            <a:spLocks noGrp="1"/>
          </p:cNvSpPr>
          <p:nvPr/>
        </p:nvSpPr>
        <p:spPr>
          <a:xfrm>
            <a:off x="8048625" y="2686050"/>
            <a:ext cx="3600450" cy="457200"/>
          </a:xfrm>
          <a:prstGeom prst="rect">
            <a:avLst/>
          </a:prstGeom>
          <a:noFill/>
          <a:ln w="0">
            <a:noFill/>
          </a:ln>
        </p:spPr>
        <p:txBody>
          <a:bodyPr anchor="ctr">
            <a:normAutofit fontScale="94118"/>
          </a:bodyPr>
          <a:lstStyle/>
          <a:p>
            <a:pPr algn="l">
              <a:defRPr sz="1275" b="0">
                <a:solidFill>
                  <a:srgbClr val="51647C"/>
                </a:solidFill>
                <a:latin typeface="Arial"/>
                <a:ea typeface="Arial"/>
                <a:cs typeface="Arial"/>
              </a:defRPr>
            </a:pPr>
            <a:r>
              <a:rPr sz="1275" b="0">
                <a:solidFill>
                  <a:srgbClr val="51647C"/>
                </a:solidFill>
                <a:latin typeface="Arial"/>
                <a:ea typeface="Arial"/>
                <a:cs typeface="Arial"/>
              </a:rPr>
              <a:t>Only code inside the declaring class can access pin.</a:t>
            </a:r>
          </a:p>
        </p:txBody>
      </p:sp>
      <p:sp>
        <p:nvSpPr>
          <p:cNvPr id="123" name="Rectangle 122">
            <a:extLst>
              <a:ext uri="{FF2B5EF4-FFF2-40B4-BE49-F238E27FC236}">
                <a16:creationId xmlns:a16="http://schemas.microsoft.com/office/drawing/2014/main" id="{4D4BE777-FC3C-BD74-7193-25FC23494C2A}"/>
              </a:ext>
            </a:extLst>
          </p:cNvPr>
          <p:cNvSpPr>
            <a:spLocks noGrp="1"/>
          </p:cNvSpPr>
          <p:nvPr/>
        </p:nvSpPr>
        <p:spPr>
          <a:xfrm>
            <a:off x="8048625" y="3209925"/>
            <a:ext cx="3619500" cy="9525"/>
          </a:xfrm>
          <a:prstGeom prst="rect">
            <a:avLst/>
          </a:prstGeom>
          <a:solidFill>
            <a:srgbClr val="D7E0EA"/>
          </a:solidFill>
          <a:ln w="0">
            <a:noFill/>
          </a:ln>
        </p:spPr>
        <p:txBody>
          <a:bodyPr/>
          <a:lstStyle/>
          <a:p>
            <a:endParaRPr lang="en-IN"/>
          </a:p>
        </p:txBody>
      </p:sp>
      <p:sp>
        <p:nvSpPr>
          <p:cNvPr id="125" name="Rectangle 124">
            <a:extLst>
              <a:ext uri="{FF2B5EF4-FFF2-40B4-BE49-F238E27FC236}">
                <a16:creationId xmlns:a16="http://schemas.microsoft.com/office/drawing/2014/main" id="{0BA2DA12-AB30-9A62-B671-7E3FC6E2D2EE}"/>
              </a:ext>
            </a:extLst>
          </p:cNvPr>
          <p:cNvSpPr>
            <a:spLocks noGrp="1"/>
          </p:cNvSpPr>
          <p:nvPr/>
        </p:nvSpPr>
        <p:spPr>
          <a:xfrm>
            <a:off x="8048625" y="3362325"/>
            <a:ext cx="3600450" cy="323850"/>
          </a:xfrm>
          <a:prstGeom prst="rect">
            <a:avLst/>
          </a:prstGeom>
          <a:noFill/>
          <a:ln w="0">
            <a:noFill/>
          </a:ln>
        </p:spPr>
        <p:txBody>
          <a:bodyPr anchor="ctr">
            <a:normAutofit/>
          </a:bodyPr>
          <a:lstStyle/>
          <a:p>
            <a:pPr algn="l">
              <a:defRPr sz="1500" b="1">
                <a:solidFill>
                  <a:srgbClr val="285E91"/>
                </a:solidFill>
                <a:latin typeface="Consolas"/>
                <a:ea typeface="Consolas"/>
                <a:cs typeface="Consolas"/>
              </a:defRPr>
            </a:pPr>
            <a:r>
              <a:rPr sz="1500" b="1">
                <a:solidFill>
                  <a:srgbClr val="285E91"/>
                </a:solidFill>
                <a:latin typeface="Consolas"/>
                <a:ea typeface="Consolas"/>
                <a:cs typeface="Consolas"/>
              </a:rPr>
              <a:t>int score;</a:t>
            </a:r>
          </a:p>
        </p:txBody>
      </p:sp>
      <p:sp>
        <p:nvSpPr>
          <p:cNvPr id="127" name="Rectangle 126">
            <a:extLst>
              <a:ext uri="{FF2B5EF4-FFF2-40B4-BE49-F238E27FC236}">
                <a16:creationId xmlns:a16="http://schemas.microsoft.com/office/drawing/2014/main" id="{68149FE9-A381-8BDC-CDBE-1D24BC41102F}"/>
              </a:ext>
            </a:extLst>
          </p:cNvPr>
          <p:cNvSpPr>
            <a:spLocks noGrp="1"/>
          </p:cNvSpPr>
          <p:nvPr/>
        </p:nvSpPr>
        <p:spPr>
          <a:xfrm>
            <a:off x="8048625" y="3676650"/>
            <a:ext cx="3600450" cy="495300"/>
          </a:xfrm>
          <a:prstGeom prst="rect">
            <a:avLst/>
          </a:prstGeom>
          <a:noFill/>
          <a:ln w="0">
            <a:noFill/>
          </a:ln>
        </p:spPr>
        <p:txBody>
          <a:bodyPr anchor="ctr">
            <a:normAutofit/>
          </a:bodyPr>
          <a:lstStyle/>
          <a:p>
            <a:pPr algn="l">
              <a:defRPr sz="1275" b="0">
                <a:solidFill>
                  <a:srgbClr val="51647C"/>
                </a:solidFill>
                <a:latin typeface="Arial"/>
                <a:ea typeface="Arial"/>
                <a:cs typeface="Arial"/>
              </a:defRPr>
            </a:pPr>
            <a:r>
              <a:rPr sz="1275" b="0">
                <a:solidFill>
                  <a:srgbClr val="51647C"/>
                </a:solidFill>
                <a:latin typeface="Arial"/>
                <a:ea typeface="Arial"/>
                <a:cs typeface="Arial"/>
              </a:rPr>
              <a:t>No modifier means package-private: same-package code can access score.</a:t>
            </a:r>
          </a:p>
        </p:txBody>
      </p:sp>
      <p:sp>
        <p:nvSpPr>
          <p:cNvPr id="129" name="Rectangle 128">
            <a:extLst>
              <a:ext uri="{FF2B5EF4-FFF2-40B4-BE49-F238E27FC236}">
                <a16:creationId xmlns:a16="http://schemas.microsoft.com/office/drawing/2014/main" id="{E6457F2D-C348-5A8C-C25D-A39AA28C0EFA}"/>
              </a:ext>
            </a:extLst>
          </p:cNvPr>
          <p:cNvSpPr>
            <a:spLocks noGrp="1"/>
          </p:cNvSpPr>
          <p:nvPr/>
        </p:nvSpPr>
        <p:spPr>
          <a:xfrm>
            <a:off x="8048625" y="4238625"/>
            <a:ext cx="3619500" cy="9525"/>
          </a:xfrm>
          <a:prstGeom prst="rect">
            <a:avLst/>
          </a:prstGeom>
          <a:solidFill>
            <a:srgbClr val="D7E0EA"/>
          </a:solidFill>
          <a:ln w="0">
            <a:noFill/>
          </a:ln>
        </p:spPr>
        <p:txBody>
          <a:bodyPr/>
          <a:lstStyle/>
          <a:p>
            <a:endParaRPr lang="en-IN"/>
          </a:p>
        </p:txBody>
      </p:sp>
      <p:sp>
        <p:nvSpPr>
          <p:cNvPr id="131" name="Rectangle 130">
            <a:extLst>
              <a:ext uri="{FF2B5EF4-FFF2-40B4-BE49-F238E27FC236}">
                <a16:creationId xmlns:a16="http://schemas.microsoft.com/office/drawing/2014/main" id="{17A5C3F8-A608-D898-414F-CBA5E1BC6F4A}"/>
              </a:ext>
            </a:extLst>
          </p:cNvPr>
          <p:cNvSpPr>
            <a:spLocks noGrp="1"/>
          </p:cNvSpPr>
          <p:nvPr/>
        </p:nvSpPr>
        <p:spPr>
          <a:xfrm>
            <a:off x="8048625" y="4381500"/>
            <a:ext cx="3600450" cy="323850"/>
          </a:xfrm>
          <a:prstGeom prst="rect">
            <a:avLst/>
          </a:prstGeom>
          <a:noFill/>
          <a:ln w="0">
            <a:noFill/>
          </a:ln>
        </p:spPr>
        <p:txBody>
          <a:bodyPr anchor="ctr">
            <a:normAutofit/>
          </a:bodyPr>
          <a:lstStyle/>
          <a:p>
            <a:pPr algn="l">
              <a:defRPr sz="1425" b="1">
                <a:solidFill>
                  <a:srgbClr val="285E91"/>
                </a:solidFill>
                <a:latin typeface="Consolas"/>
                <a:ea typeface="Consolas"/>
                <a:cs typeface="Consolas"/>
              </a:defRPr>
            </a:pPr>
            <a:r>
              <a:rPr sz="1425" b="1">
                <a:solidFill>
                  <a:srgbClr val="285E91"/>
                </a:solidFill>
                <a:latin typeface="Consolas"/>
                <a:ea typeface="Consolas"/>
                <a:cs typeface="Consolas"/>
              </a:rPr>
              <a:t>protected void show() { }</a:t>
            </a:r>
          </a:p>
        </p:txBody>
      </p:sp>
      <p:sp>
        <p:nvSpPr>
          <p:cNvPr id="133" name="Rectangle 132">
            <a:extLst>
              <a:ext uri="{FF2B5EF4-FFF2-40B4-BE49-F238E27FC236}">
                <a16:creationId xmlns:a16="http://schemas.microsoft.com/office/drawing/2014/main" id="{BECEC568-FD10-44C3-F32C-24ABFC96BDC0}"/>
              </a:ext>
            </a:extLst>
          </p:cNvPr>
          <p:cNvSpPr>
            <a:spLocks noGrp="1"/>
          </p:cNvSpPr>
          <p:nvPr/>
        </p:nvSpPr>
        <p:spPr>
          <a:xfrm>
            <a:off x="8048625" y="4714875"/>
            <a:ext cx="3600450" cy="552450"/>
          </a:xfrm>
          <a:prstGeom prst="rect">
            <a:avLst/>
          </a:prstGeom>
          <a:noFill/>
          <a:ln w="0">
            <a:noFill/>
          </a:ln>
        </p:spPr>
        <p:txBody>
          <a:bodyPr anchor="ctr">
            <a:normAutofit/>
          </a:bodyPr>
          <a:lstStyle/>
          <a:p>
            <a:pPr algn="l">
              <a:defRPr sz="1275" b="0">
                <a:solidFill>
                  <a:srgbClr val="51647C"/>
                </a:solidFill>
                <a:latin typeface="Arial"/>
                <a:ea typeface="Arial"/>
                <a:cs typeface="Arial"/>
              </a:defRPr>
            </a:pPr>
            <a:r>
              <a:rPr sz="1275" b="0">
                <a:solidFill>
                  <a:srgbClr val="51647C"/>
                </a:solidFill>
                <a:latin typeface="Arial"/>
                <a:ea typeface="Arial"/>
                <a:cs typeface="Arial"/>
              </a:rPr>
              <a:t>A subclass in another package can use an inherited protected member.</a:t>
            </a:r>
          </a:p>
        </p:txBody>
      </p:sp>
      <p:sp>
        <p:nvSpPr>
          <p:cNvPr id="135" name="Rectangle: Rounded Corners 134">
            <a:extLst>
              <a:ext uri="{FF2B5EF4-FFF2-40B4-BE49-F238E27FC236}">
                <a16:creationId xmlns:a16="http://schemas.microsoft.com/office/drawing/2014/main" id="{C450A19D-730F-3E8D-83E3-5D9EA34AE5E3}"/>
              </a:ext>
            </a:extLst>
          </p:cNvPr>
          <p:cNvSpPr>
            <a:spLocks noGrp="1"/>
          </p:cNvSpPr>
          <p:nvPr/>
        </p:nvSpPr>
        <p:spPr>
          <a:xfrm>
            <a:off x="609600" y="5695950"/>
            <a:ext cx="10972800" cy="781050"/>
          </a:xfrm>
          <a:prstGeom prst="roundRect">
            <a:avLst>
              <a:gd name="adj" fmla="val 9756"/>
            </a:avLst>
          </a:prstGeom>
          <a:solidFill>
            <a:srgbClr val="EAF1F8"/>
          </a:solidFill>
          <a:ln w="0">
            <a:noFill/>
          </a:ln>
        </p:spPr>
        <p:txBody>
          <a:bodyPr/>
          <a:lstStyle/>
          <a:p>
            <a:endParaRPr lang="en-IN"/>
          </a:p>
        </p:txBody>
      </p:sp>
      <p:sp>
        <p:nvSpPr>
          <p:cNvPr id="137" name="Rectangle 136">
            <a:extLst>
              <a:ext uri="{FF2B5EF4-FFF2-40B4-BE49-F238E27FC236}">
                <a16:creationId xmlns:a16="http://schemas.microsoft.com/office/drawing/2014/main" id="{D73397F0-5D3D-7701-59F2-2CE2C738D3E4}"/>
              </a:ext>
            </a:extLst>
          </p:cNvPr>
          <p:cNvSpPr>
            <a:spLocks noGrp="1"/>
          </p:cNvSpPr>
          <p:nvPr/>
        </p:nvSpPr>
        <p:spPr>
          <a:xfrm>
            <a:off x="819150" y="5800725"/>
            <a:ext cx="1285875" cy="257175"/>
          </a:xfrm>
          <a:prstGeom prst="rect">
            <a:avLst/>
          </a:prstGeom>
          <a:noFill/>
          <a:ln w="0">
            <a:noFill/>
          </a:ln>
        </p:spPr>
        <p:txBody>
          <a:bodyPr anchor="ctr">
            <a:normAutofit fontScale="85294" lnSpcReduction="10000"/>
          </a:bodyPr>
          <a:lstStyle/>
          <a:p>
            <a:pPr algn="l">
              <a:defRPr sz="1275" b="1">
                <a:solidFill>
                  <a:srgbClr val="147D7A"/>
                </a:solidFill>
                <a:latin typeface="Arial"/>
                <a:ea typeface="Arial"/>
                <a:cs typeface="Arial"/>
              </a:defRPr>
            </a:pPr>
            <a:r>
              <a:rPr sz="1275" b="1">
                <a:solidFill>
                  <a:srgbClr val="147D7A"/>
                </a:solidFill>
                <a:latin typeface="Arial"/>
                <a:ea typeface="Arial"/>
                <a:cs typeface="Arial"/>
              </a:rPr>
              <a:t>Remember</a:t>
            </a:r>
          </a:p>
        </p:txBody>
      </p:sp>
      <p:sp>
        <p:nvSpPr>
          <p:cNvPr id="139" name="Rectangle 138">
            <a:extLst>
              <a:ext uri="{FF2B5EF4-FFF2-40B4-BE49-F238E27FC236}">
                <a16:creationId xmlns:a16="http://schemas.microsoft.com/office/drawing/2014/main" id="{42E7EEB8-2AE1-CB89-C120-E491CE4CCD4E}"/>
              </a:ext>
            </a:extLst>
          </p:cNvPr>
          <p:cNvSpPr>
            <a:spLocks noGrp="1"/>
          </p:cNvSpPr>
          <p:nvPr/>
        </p:nvSpPr>
        <p:spPr>
          <a:xfrm>
            <a:off x="2133600" y="5753100"/>
            <a:ext cx="9220200" cy="590550"/>
          </a:xfrm>
          <a:prstGeom prst="rect">
            <a:avLst/>
          </a:prstGeom>
          <a:noFill/>
          <a:ln w="0">
            <a:noFill/>
          </a:ln>
        </p:spPr>
        <p:txBody>
          <a:bodyPr anchor="ctr">
            <a:normAutofit/>
          </a:bodyPr>
          <a:lstStyle/>
          <a:p>
            <a:pPr algn="l">
              <a:defRPr sz="1275" b="0">
                <a:solidFill>
                  <a:srgbClr val="172B45"/>
                </a:solidFill>
                <a:latin typeface="Arial"/>
                <a:ea typeface="Arial"/>
                <a:cs typeface="Arial"/>
              </a:defRPr>
            </a:pPr>
            <a:r>
              <a:rPr sz="1275" b="0">
                <a:solidFill>
                  <a:srgbClr val="172B45"/>
                </a:solidFill>
                <a:latin typeface="Arial"/>
                <a:ea typeface="Arial"/>
                <a:cs typeface="Arial"/>
              </a:rPr>
              <a:t>Cross-package protected access follows a subclass rule. Public access also requires the declaring class to be accessible.</a:t>
            </a:r>
          </a:p>
        </p:txBody>
      </p:sp>
    </p:spTree>
    <p:extLst>
      <p:ext uri="{BB962C8B-B14F-4D97-AF65-F5344CB8AC3E}">
        <p14:creationId xmlns:p14="http://schemas.microsoft.com/office/powerpoint/2010/main" val="160041367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5469" y="20954"/>
            <a:ext cx="7430618" cy="848106"/>
          </a:xfrm>
          <a:prstGeom prst="rect">
            <a:avLst/>
          </a:prstGeom>
        </p:spPr>
        <p:txBody>
          <a:bodyPr vert="horz" wrap="square" lIns="0" tIns="100965" rIns="0" bIns="0" rtlCol="0">
            <a:normAutofit lnSpcReduction="10000"/>
          </a:bodyPr>
          <a:lstStyle/>
          <a:p>
            <a:pPr marL="1871980">
              <a:lnSpc>
                <a:spcPct val="110000"/>
              </a:lnSpc>
              <a:spcBef>
                <a:spcPts val="0"/>
              </a:spcBef>
              <a:spcAft>
                <a:spcPts val="600"/>
              </a:spcAft>
            </a:pPr>
            <a:r>
              <a:rPr lang="en-IN" sz="2400" b="1" dirty="0">
                <a:solidFill>
                  <a:srgbClr val="C00000"/>
                </a:solidFill>
                <a:latin typeface="Calibri"/>
                <a:cs typeface="Calibri"/>
              </a:rPr>
              <a:t>Packages </a:t>
            </a:r>
            <a:r>
              <a:rPr sz="2400" b="1" dirty="0">
                <a:solidFill>
                  <a:srgbClr val="C00000"/>
                </a:solidFill>
                <a:latin typeface="Calibri"/>
                <a:cs typeface="Calibri"/>
              </a:rPr>
              <a:t>in Java SE</a:t>
            </a:r>
            <a:endParaRPr lang="en-IN" sz="2400" b="1" dirty="0">
              <a:solidFill>
                <a:srgbClr val="C00000"/>
              </a:solidFill>
              <a:latin typeface="Calibri"/>
              <a:cs typeface="Calibri"/>
            </a:endParaRPr>
          </a:p>
          <a:p>
            <a:pPr marL="1871980">
              <a:lnSpc>
                <a:spcPct val="110000"/>
              </a:lnSpc>
              <a:spcBef>
                <a:spcPts val="0"/>
              </a:spcBef>
              <a:spcAft>
                <a:spcPts val="600"/>
              </a:spcAft>
            </a:pPr>
            <a:r>
              <a:rPr lang="en-US" sz="2000" b="1" dirty="0">
                <a:solidFill>
                  <a:srgbClr val="0070C0"/>
                </a:solidFill>
                <a:latin typeface="Calibri"/>
                <a:cs typeface="Calibri"/>
              </a:rPr>
              <a:t>Java Standard Edition provides 14 packages namely</a:t>
            </a:r>
            <a:endParaRPr lang="en-US" sz="2000" dirty="0">
              <a:solidFill>
                <a:srgbClr val="001F5F"/>
              </a:solidFill>
              <a:latin typeface="Calibri"/>
              <a:cs typeface="Calibri"/>
            </a:endParaRPr>
          </a:p>
        </p:txBody>
      </p:sp>
      <p:sp>
        <p:nvSpPr>
          <p:cNvPr id="4" name="object 4"/>
          <p:cNvSpPr txBox="1"/>
          <p:nvPr/>
        </p:nvSpPr>
        <p:spPr>
          <a:xfrm>
            <a:off x="341782" y="2133600"/>
            <a:ext cx="11360785" cy="1901189"/>
          </a:xfrm>
          <a:prstGeom prst="rect">
            <a:avLst/>
          </a:prstGeom>
        </p:spPr>
        <p:txBody>
          <a:bodyPr vert="horz" wrap="square" lIns="0" tIns="12700" rIns="0" bIns="0" rtlCol="0">
            <a:normAutofit/>
          </a:bodyPr>
          <a:lstStyle/>
          <a:p>
            <a:pPr marL="12700" marR="203835" algn="ctr">
              <a:lnSpc>
                <a:spcPct val="110000"/>
              </a:lnSpc>
              <a:spcBef>
                <a:spcPts val="0"/>
              </a:spcBef>
              <a:spcAft>
                <a:spcPts val="600"/>
              </a:spcAft>
              <a:tabLst>
                <a:tab pos="227329" algn="l"/>
                <a:tab pos="1374775" algn="l"/>
                <a:tab pos="1813560" algn="l"/>
                <a:tab pos="2691765" algn="l"/>
                <a:tab pos="4103370" algn="l"/>
                <a:tab pos="5563235" algn="l"/>
                <a:tab pos="6837680" algn="l"/>
                <a:tab pos="7600315" algn="l"/>
                <a:tab pos="9069705" algn="l"/>
              </a:tabLst>
            </a:pPr>
            <a:endParaRPr sz="2000" dirty="0">
              <a:solidFill>
                <a:srgbClr val="001F5F"/>
              </a:solidFill>
              <a:latin typeface="Calibri"/>
              <a:cs typeface="Calibri"/>
            </a:endParaRPr>
          </a:p>
        </p:txBody>
      </p:sp>
      <p:sp>
        <p:nvSpPr>
          <p:cNvPr id="8" name="object 2">
            <a:extLst>
              <a:ext uri="{FF2B5EF4-FFF2-40B4-BE49-F238E27FC236}">
                <a16:creationId xmlns:a16="http://schemas.microsoft.com/office/drawing/2014/main" id="{402821D4-F790-BC07-B850-CE50AA25C652}"/>
              </a:ext>
            </a:extLst>
          </p:cNvPr>
          <p:cNvSpPr txBox="1"/>
          <p:nvPr/>
        </p:nvSpPr>
        <p:spPr>
          <a:xfrm>
            <a:off x="609600" y="1090800"/>
            <a:ext cx="11436350" cy="4013835"/>
          </a:xfrm>
          <a:prstGeom prst="rect">
            <a:avLst/>
          </a:prstGeom>
        </p:spPr>
        <p:txBody>
          <a:bodyPr vert="horz" wrap="square" lIns="0" tIns="86995" rIns="0" bIns="0" rtlCol="0">
            <a:noAutofit/>
          </a:bodyPr>
          <a:lstStyle/>
          <a:p>
            <a:pPr marL="298450" marR="203835" indent="-285750">
              <a:lnSpc>
                <a:spcPct val="110000"/>
              </a:lnSpc>
              <a:spcBef>
                <a:spcPts val="0"/>
              </a:spcBef>
              <a:spcAft>
                <a:spcPts val="600"/>
              </a:spcAft>
              <a:buFont typeface="Wingdings" panose="05000000000000000000" pitchFamily="2" charset="2"/>
              <a:buChar char="ü"/>
              <a:tabLst>
                <a:tab pos="227329" algn="l"/>
                <a:tab pos="1374775" algn="l"/>
                <a:tab pos="1813560" algn="l"/>
                <a:tab pos="2691765" algn="l"/>
                <a:tab pos="4103370" algn="l"/>
                <a:tab pos="5563235" algn="l"/>
                <a:tab pos="6837680" algn="l"/>
                <a:tab pos="7600315" algn="l"/>
                <a:tab pos="9069705" algn="l"/>
              </a:tabLst>
            </a:pPr>
            <a:r>
              <a:rPr lang="en-US" sz="2000" b="1" dirty="0">
                <a:solidFill>
                  <a:srgbClr val="FF0000"/>
                </a:solidFill>
                <a:latin typeface="Calibri"/>
                <a:cs typeface="Calibri"/>
              </a:rPr>
              <a:t>applet − </a:t>
            </a:r>
            <a:r>
              <a:rPr lang="en-US" sz="2000" b="1" dirty="0">
                <a:latin typeface="Calibri"/>
                <a:cs typeface="Calibri"/>
              </a:rPr>
              <a:t>This package provides classes and methods to create and communicate with the applets.</a:t>
            </a:r>
            <a:endParaRPr lang="en-US" sz="2000" dirty="0">
              <a:latin typeface="Calibri"/>
              <a:cs typeface="Calibri"/>
            </a:endParaRPr>
          </a:p>
          <a:p>
            <a:pPr marL="298450" indent="-285750">
              <a:lnSpc>
                <a:spcPct val="110000"/>
              </a:lnSpc>
              <a:spcBef>
                <a:spcPts val="0"/>
              </a:spcBef>
              <a:spcAft>
                <a:spcPts val="600"/>
              </a:spcAft>
              <a:buFont typeface="Wingdings" panose="05000000000000000000" pitchFamily="2" charset="2"/>
              <a:buChar char="ü"/>
              <a:tabLst>
                <a:tab pos="240029" algn="l"/>
                <a:tab pos="1042669" algn="l"/>
                <a:tab pos="1509395" algn="l"/>
                <a:tab pos="2411730" algn="l"/>
                <a:tab pos="3847465" algn="l"/>
                <a:tab pos="5332095" algn="l"/>
                <a:tab pos="6631305" algn="l"/>
                <a:tab pos="7420609" algn="l"/>
                <a:tab pos="8917940" algn="l"/>
                <a:tab pos="9497060" algn="l"/>
                <a:tab pos="10731500" algn="l"/>
              </a:tabLst>
            </a:pPr>
            <a:r>
              <a:rPr lang="en-US" sz="2000" b="1" dirty="0" err="1">
                <a:solidFill>
                  <a:srgbClr val="FF0000"/>
                </a:solidFill>
                <a:latin typeface="Calibri"/>
                <a:cs typeface="Calibri"/>
              </a:rPr>
              <a:t>awt</a:t>
            </a:r>
            <a:r>
              <a:rPr lang="en-US" sz="2000" b="1" dirty="0">
                <a:solidFill>
                  <a:srgbClr val="FF0000"/>
                </a:solidFill>
                <a:latin typeface="Calibri"/>
                <a:cs typeface="Calibri"/>
              </a:rPr>
              <a:t> −      </a:t>
            </a:r>
            <a:r>
              <a:rPr lang="en-US" sz="2000" b="1" dirty="0">
                <a:latin typeface="Calibri"/>
                <a:cs typeface="Calibri"/>
              </a:rPr>
              <a:t>This package provides classes and methods to create </a:t>
            </a:r>
            <a:r>
              <a:rPr lang="en-US" sz="2000" b="1" dirty="0" err="1">
                <a:latin typeface="Calibri"/>
                <a:cs typeface="Calibri"/>
              </a:rPr>
              <a:t>userinterfaces</a:t>
            </a:r>
            <a:r>
              <a:rPr lang="en-US" sz="2000" b="1" dirty="0">
                <a:latin typeface="Calibri"/>
                <a:cs typeface="Calibri"/>
              </a:rPr>
              <a:t>.</a:t>
            </a:r>
            <a:endParaRPr lang="en-US" sz="2000" dirty="0">
              <a:latin typeface="Calibri"/>
              <a:cs typeface="Calibri"/>
            </a:endParaRPr>
          </a:p>
          <a:p>
            <a:pPr marL="298450" marR="70485" indent="-285750">
              <a:lnSpc>
                <a:spcPct val="110000"/>
              </a:lnSpc>
              <a:spcBef>
                <a:spcPts val="0"/>
              </a:spcBef>
              <a:spcAft>
                <a:spcPts val="600"/>
              </a:spcAft>
              <a:buFont typeface="Wingdings" panose="05000000000000000000" pitchFamily="2" charset="2"/>
              <a:buChar char="ü"/>
              <a:tabLst>
                <a:tab pos="241300" algn="l"/>
              </a:tabLst>
            </a:pPr>
            <a:r>
              <a:rPr lang="en-US" sz="2000" b="1" dirty="0">
                <a:solidFill>
                  <a:srgbClr val="FF0000"/>
                </a:solidFill>
                <a:latin typeface="Calibri"/>
                <a:cs typeface="Calibri"/>
              </a:rPr>
              <a:t>io −          </a:t>
            </a:r>
            <a:r>
              <a:rPr lang="en-US" sz="2000" b="1" dirty="0">
                <a:latin typeface="Calibri"/>
                <a:cs typeface="Calibri"/>
              </a:rPr>
              <a:t>This package contains classes and methods to read and write data standard input and output devices, streams and files.</a:t>
            </a:r>
            <a:endParaRPr lang="en-IN" sz="2000" b="1" dirty="0">
              <a:latin typeface="Calibri"/>
              <a:cs typeface="Calibri"/>
            </a:endParaRPr>
          </a:p>
          <a:p>
            <a:pPr marL="297816" marR="5080" indent="-285750">
              <a:lnSpc>
                <a:spcPct val="110000"/>
              </a:lnSpc>
              <a:spcBef>
                <a:spcPts val="0"/>
              </a:spcBef>
              <a:spcAft>
                <a:spcPts val="600"/>
              </a:spcAft>
              <a:buFont typeface="Wingdings" panose="05000000000000000000" pitchFamily="2" charset="2"/>
              <a:buChar char="ü"/>
              <a:tabLst>
                <a:tab pos="240665" algn="l"/>
                <a:tab pos="1048385" algn="l"/>
                <a:tab pos="1469390" algn="l"/>
                <a:tab pos="2329180" algn="l"/>
                <a:tab pos="3911600" algn="l"/>
                <a:tab pos="5332095" algn="l"/>
                <a:tab pos="6054725" algn="l"/>
                <a:tab pos="8079105" algn="l"/>
                <a:tab pos="9469120" algn="l"/>
                <a:tab pos="10920730" algn="l"/>
              </a:tabLst>
            </a:pPr>
            <a:r>
              <a:rPr sz="2000" b="1" dirty="0">
                <a:solidFill>
                  <a:srgbClr val="FF0000"/>
                </a:solidFill>
                <a:latin typeface="Calibri"/>
                <a:cs typeface="Calibri"/>
              </a:rPr>
              <a:t>lang − </a:t>
            </a:r>
            <a:r>
              <a:rPr lang="en-IN" sz="2000" b="1" dirty="0">
                <a:solidFill>
                  <a:srgbClr val="FF0000"/>
                </a:solidFill>
                <a:latin typeface="Calibri"/>
                <a:cs typeface="Calibri"/>
              </a:rPr>
              <a:t>    </a:t>
            </a:r>
            <a:r>
              <a:rPr sz="2000" b="1" dirty="0">
                <a:latin typeface="Calibri"/>
                <a:cs typeface="Calibri"/>
              </a:rPr>
              <a:t>This package contains the fundamental classes, methods and interfaces of Java language.</a:t>
            </a:r>
            <a:endParaRPr sz="2000" dirty="0">
              <a:latin typeface="Calibri"/>
              <a:cs typeface="Calibri"/>
            </a:endParaRPr>
          </a:p>
          <a:p>
            <a:pPr marL="297816" marR="5715" indent="-285750">
              <a:lnSpc>
                <a:spcPct val="110000"/>
              </a:lnSpc>
              <a:spcBef>
                <a:spcPts val="0"/>
              </a:spcBef>
              <a:spcAft>
                <a:spcPts val="600"/>
              </a:spcAft>
              <a:buFont typeface="Wingdings" panose="05000000000000000000" pitchFamily="2" charset="2"/>
              <a:buChar char="ü"/>
              <a:tabLst>
                <a:tab pos="240665" algn="l"/>
                <a:tab pos="1170940" algn="l"/>
                <a:tab pos="1557655" algn="l"/>
                <a:tab pos="2384425" algn="l"/>
                <a:tab pos="3740785" algn="l"/>
                <a:tab pos="5130800" algn="l"/>
                <a:tab pos="6356985" algn="l"/>
                <a:tab pos="7066915" algn="l"/>
                <a:tab pos="8487410" algn="l"/>
                <a:tab pos="9490710" algn="l"/>
                <a:tab pos="10433050" algn="l"/>
                <a:tab pos="11122025" algn="l"/>
              </a:tabLst>
            </a:pPr>
            <a:r>
              <a:rPr sz="2000" b="1" dirty="0">
                <a:solidFill>
                  <a:srgbClr val="FF0000"/>
                </a:solidFill>
                <a:latin typeface="Calibri"/>
                <a:cs typeface="Calibri"/>
              </a:rPr>
              <a:t>math − </a:t>
            </a:r>
            <a:r>
              <a:rPr lang="en-IN" sz="2000" b="1" dirty="0">
                <a:solidFill>
                  <a:srgbClr val="FF0000"/>
                </a:solidFill>
                <a:latin typeface="Calibri"/>
                <a:cs typeface="Calibri"/>
              </a:rPr>
              <a:t>  </a:t>
            </a:r>
            <a:r>
              <a:rPr sz="2000" b="1" dirty="0">
                <a:latin typeface="Calibri"/>
                <a:cs typeface="Calibri"/>
              </a:rPr>
              <a:t>This package contains classes and methods which helps you to perform arithmetic operations using the Java language.</a:t>
            </a:r>
            <a:endParaRPr sz="2000" dirty="0">
              <a:latin typeface="Calibri"/>
              <a:cs typeface="Calibri"/>
            </a:endParaRPr>
          </a:p>
          <a:p>
            <a:pPr marL="298450" indent="-285750">
              <a:lnSpc>
                <a:spcPct val="110000"/>
              </a:lnSpc>
              <a:spcBef>
                <a:spcPts val="0"/>
              </a:spcBef>
              <a:spcAft>
                <a:spcPts val="600"/>
              </a:spcAft>
              <a:buFont typeface="Wingdings" panose="05000000000000000000" pitchFamily="2" charset="2"/>
              <a:buChar char="ü"/>
              <a:tabLst>
                <a:tab pos="240029" algn="l"/>
              </a:tabLst>
            </a:pPr>
            <a:r>
              <a:rPr sz="2000" b="1" dirty="0">
                <a:solidFill>
                  <a:srgbClr val="FF0000"/>
                </a:solidFill>
                <a:latin typeface="Calibri"/>
                <a:cs typeface="Calibri"/>
              </a:rPr>
              <a:t>net − </a:t>
            </a:r>
            <a:r>
              <a:rPr lang="en-IN" sz="2000" b="1" dirty="0">
                <a:solidFill>
                  <a:srgbClr val="FF0000"/>
                </a:solidFill>
                <a:latin typeface="Calibri"/>
                <a:cs typeface="Calibri"/>
              </a:rPr>
              <a:t>     </a:t>
            </a:r>
            <a:r>
              <a:rPr sz="2000" b="1" dirty="0">
                <a:latin typeface="Calibri"/>
                <a:cs typeface="Calibri"/>
              </a:rPr>
              <a:t>This package provides classes to implement networking applications.</a:t>
            </a:r>
            <a:endParaRPr sz="2000" dirty="0">
              <a:latin typeface="Calibri"/>
              <a:cs typeface="Calibri"/>
            </a:endParaRPr>
          </a:p>
          <a:p>
            <a:pPr marL="297816" marR="50800" indent="-285750">
              <a:lnSpc>
                <a:spcPct val="110000"/>
              </a:lnSpc>
              <a:spcBef>
                <a:spcPts val="0"/>
              </a:spcBef>
              <a:spcAft>
                <a:spcPts val="600"/>
              </a:spcAft>
              <a:buFont typeface="Wingdings" panose="05000000000000000000" pitchFamily="2" charset="2"/>
              <a:buChar char="ü"/>
              <a:tabLst>
                <a:tab pos="240665" algn="l"/>
              </a:tabLst>
            </a:pPr>
            <a:r>
              <a:rPr sz="2000" b="1" dirty="0" err="1">
                <a:solidFill>
                  <a:srgbClr val="FF0000"/>
                </a:solidFill>
                <a:latin typeface="Calibri"/>
                <a:cs typeface="Calibri"/>
              </a:rPr>
              <a:t>rmi</a:t>
            </a:r>
            <a:r>
              <a:rPr sz="2000" b="1" dirty="0">
                <a:solidFill>
                  <a:srgbClr val="FF0000"/>
                </a:solidFill>
                <a:latin typeface="Calibri"/>
                <a:cs typeface="Calibri"/>
              </a:rPr>
              <a:t> − </a:t>
            </a:r>
            <a:r>
              <a:rPr lang="en-IN" sz="2000" b="1" dirty="0">
                <a:solidFill>
                  <a:srgbClr val="FF0000"/>
                </a:solidFill>
                <a:latin typeface="Calibri"/>
                <a:cs typeface="Calibri"/>
              </a:rPr>
              <a:t>     </a:t>
            </a:r>
            <a:r>
              <a:rPr sz="2000" b="1" dirty="0">
                <a:latin typeface="Calibri"/>
                <a:cs typeface="Calibri"/>
              </a:rPr>
              <a:t>This package provides classes, methods, and interfaces for Remote Method Invocation.</a:t>
            </a:r>
            <a:endParaRPr sz="2000" dirty="0">
              <a:latin typeface="Calibri"/>
              <a:cs typeface="Calibri"/>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7022" y="274446"/>
            <a:ext cx="1432560" cy="391160"/>
          </a:xfrm>
          <a:prstGeom prst="rect">
            <a:avLst/>
          </a:prstGeom>
        </p:spPr>
        <p:txBody>
          <a:bodyPr vert="horz" wrap="square" lIns="0" tIns="12700" rIns="0" bIns="0" rtlCol="0">
            <a:normAutofit/>
          </a:bodyPr>
          <a:lstStyle/>
          <a:p>
            <a:pPr marL="240029" indent="-227329">
              <a:lnSpc>
                <a:spcPct val="110000"/>
              </a:lnSpc>
              <a:spcBef>
                <a:spcPts val="0"/>
              </a:spcBef>
              <a:spcAft>
                <a:spcPts val="600"/>
              </a:spcAft>
              <a:buFont typeface="Arial MT"/>
              <a:buChar char="•"/>
              <a:tabLst>
                <a:tab pos="240029" algn="l"/>
              </a:tabLst>
            </a:pPr>
            <a:r>
              <a:rPr sz="2000" b="1" dirty="0">
                <a:solidFill>
                  <a:srgbClr val="FF0000"/>
                </a:solidFill>
                <a:latin typeface="Calibri"/>
                <a:cs typeface="Calibri"/>
              </a:rPr>
              <a:t>security</a:t>
            </a:r>
            <a:endParaRPr sz="2000" dirty="0">
              <a:solidFill>
                <a:srgbClr val="FF0000"/>
              </a:solidFill>
              <a:latin typeface="Calibri"/>
              <a:cs typeface="Calibri"/>
            </a:endParaRPr>
          </a:p>
        </p:txBody>
      </p:sp>
      <p:sp>
        <p:nvSpPr>
          <p:cNvPr id="3" name="object 3"/>
          <p:cNvSpPr txBox="1"/>
          <p:nvPr/>
        </p:nvSpPr>
        <p:spPr>
          <a:xfrm>
            <a:off x="1600200" y="319985"/>
            <a:ext cx="9914255" cy="320601"/>
          </a:xfrm>
          <a:prstGeom prst="rect">
            <a:avLst/>
          </a:prstGeom>
        </p:spPr>
        <p:txBody>
          <a:bodyPr vert="horz" wrap="square" lIns="0" tIns="12700" rIns="0" bIns="0" rtlCol="0">
            <a:spAutoFit/>
          </a:bodyPr>
          <a:lstStyle/>
          <a:p>
            <a:pPr marL="12700">
              <a:lnSpc>
                <a:spcPct val="100000"/>
              </a:lnSpc>
              <a:spcBef>
                <a:spcPts val="100"/>
              </a:spcBef>
              <a:tabLst>
                <a:tab pos="439420" algn="l"/>
                <a:tab pos="1320800" algn="l"/>
                <a:tab pos="2732405" algn="l"/>
                <a:tab pos="4192904" algn="l"/>
                <a:tab pos="5473065" algn="l"/>
                <a:tab pos="6238240" algn="l"/>
                <a:tab pos="8003540" algn="l"/>
                <a:tab pos="8722995" algn="l"/>
              </a:tabLst>
            </a:pPr>
            <a:r>
              <a:rPr sz="2000" b="1" baseline="4629" dirty="0">
                <a:latin typeface="Calibri"/>
                <a:cs typeface="Calibri"/>
              </a:rPr>
              <a:t>–	</a:t>
            </a:r>
            <a:r>
              <a:rPr sz="2000" b="1" dirty="0">
                <a:latin typeface="Calibri"/>
                <a:cs typeface="Calibri"/>
              </a:rPr>
              <a:t>This</a:t>
            </a:r>
            <a:r>
              <a:rPr lang="en-IN" sz="2000" b="1" dirty="0">
                <a:latin typeface="Calibri"/>
                <a:cs typeface="Calibri"/>
              </a:rPr>
              <a:t> package  </a:t>
            </a:r>
            <a:r>
              <a:rPr sz="2000" b="1" dirty="0">
                <a:latin typeface="Calibri"/>
                <a:cs typeface="Calibri"/>
              </a:rPr>
              <a:t>provides</a:t>
            </a:r>
            <a:r>
              <a:rPr lang="en-IN" sz="2000" b="1" dirty="0">
                <a:latin typeface="Calibri"/>
                <a:cs typeface="Calibri"/>
              </a:rPr>
              <a:t> </a:t>
            </a:r>
            <a:r>
              <a:rPr sz="2000" b="1" dirty="0">
                <a:latin typeface="Calibri"/>
                <a:cs typeface="Calibri"/>
              </a:rPr>
              <a:t>classes</a:t>
            </a:r>
            <a:r>
              <a:rPr lang="en-IN" sz="2000" b="1" dirty="0">
                <a:latin typeface="Calibri"/>
                <a:cs typeface="Calibri"/>
              </a:rPr>
              <a:t> </a:t>
            </a:r>
            <a:r>
              <a:rPr sz="2000" b="1" dirty="0">
                <a:latin typeface="Calibri"/>
                <a:cs typeface="Calibri"/>
              </a:rPr>
              <a:t>and</a:t>
            </a:r>
            <a:r>
              <a:rPr lang="en-IN" sz="2000" b="1" dirty="0">
                <a:latin typeface="Calibri"/>
                <a:cs typeface="Calibri"/>
              </a:rPr>
              <a:t> </a:t>
            </a:r>
            <a:r>
              <a:rPr sz="2000" b="1" dirty="0">
                <a:latin typeface="Calibri"/>
                <a:cs typeface="Calibri"/>
              </a:rPr>
              <a:t>interfaces</a:t>
            </a:r>
            <a:r>
              <a:rPr lang="en-IN" sz="2000" b="1" dirty="0">
                <a:latin typeface="Calibri"/>
                <a:cs typeface="Calibri"/>
              </a:rPr>
              <a:t> </a:t>
            </a:r>
            <a:r>
              <a:rPr sz="2000" b="1" dirty="0">
                <a:latin typeface="Calibri"/>
                <a:cs typeface="Calibri"/>
              </a:rPr>
              <a:t>for</a:t>
            </a:r>
            <a:r>
              <a:rPr lang="en-IN" sz="2000" b="1" dirty="0">
                <a:latin typeface="Calibri"/>
                <a:cs typeface="Calibri"/>
              </a:rPr>
              <a:t> </a:t>
            </a:r>
            <a:r>
              <a:rPr sz="2000" b="1" dirty="0">
                <a:latin typeface="Calibri"/>
                <a:cs typeface="Calibri"/>
              </a:rPr>
              <a:t>security</a:t>
            </a:r>
            <a:r>
              <a:rPr lang="en-IN" sz="2000" b="1" dirty="0">
                <a:latin typeface="Calibri"/>
                <a:cs typeface="Calibri"/>
              </a:rPr>
              <a:t> framework</a:t>
            </a:r>
            <a:endParaRPr sz="2000" b="1" dirty="0">
              <a:latin typeface="Calibri"/>
              <a:cs typeface="Calibri"/>
            </a:endParaRPr>
          </a:p>
        </p:txBody>
      </p:sp>
      <p:sp>
        <p:nvSpPr>
          <p:cNvPr id="4" name="object 4"/>
          <p:cNvSpPr txBox="1"/>
          <p:nvPr/>
        </p:nvSpPr>
        <p:spPr>
          <a:xfrm>
            <a:off x="341782" y="619125"/>
            <a:ext cx="11595735" cy="4014470"/>
          </a:xfrm>
          <a:prstGeom prst="rect">
            <a:avLst/>
          </a:prstGeom>
        </p:spPr>
        <p:txBody>
          <a:bodyPr vert="horz" wrap="square" lIns="0" tIns="12700" rIns="0" bIns="0" rtlCol="0">
            <a:normAutofit/>
          </a:bodyPr>
          <a:lstStyle/>
          <a:p>
            <a:pPr>
              <a:lnSpc>
                <a:spcPct val="110000"/>
              </a:lnSpc>
              <a:spcBef>
                <a:spcPts val="0"/>
              </a:spcBef>
              <a:spcAft>
                <a:spcPts val="600"/>
              </a:spcAft>
            </a:pPr>
            <a:endParaRPr sz="1800" dirty="0">
              <a:solidFill>
                <a:srgbClr val="001F5F"/>
              </a:solidFill>
              <a:latin typeface="Calibri"/>
              <a:cs typeface="Calibri"/>
            </a:endParaRPr>
          </a:p>
          <a:p>
            <a:pPr marL="240029" marR="81280" indent="-227329" algn="l">
              <a:lnSpc>
                <a:spcPct val="110000"/>
              </a:lnSpc>
              <a:spcBef>
                <a:spcPts val="0"/>
              </a:spcBef>
              <a:spcAft>
                <a:spcPts val="600"/>
              </a:spcAft>
              <a:buFont typeface="Arial MT"/>
              <a:buChar char="•"/>
              <a:tabLst>
                <a:tab pos="241300" algn="l"/>
              </a:tabLst>
            </a:pPr>
            <a:r>
              <a:rPr sz="2000" b="1" dirty="0">
                <a:solidFill>
                  <a:srgbClr val="FF0000"/>
                </a:solidFill>
                <a:latin typeface="Calibri"/>
                <a:cs typeface="Calibri"/>
              </a:rPr>
              <a:t>sql</a:t>
            </a:r>
            <a:r>
              <a:rPr sz="2000" b="1" dirty="0">
                <a:solidFill>
                  <a:srgbClr val="FFC000"/>
                </a:solidFill>
                <a:latin typeface="Calibri"/>
                <a:cs typeface="Calibri"/>
              </a:rPr>
              <a:t> </a:t>
            </a:r>
            <a:r>
              <a:rPr sz="2000" b="1" dirty="0">
                <a:solidFill>
                  <a:srgbClr val="0070C0"/>
                </a:solidFill>
                <a:latin typeface="Calibri"/>
                <a:cs typeface="Calibri"/>
              </a:rPr>
              <a:t>− </a:t>
            </a:r>
            <a:r>
              <a:rPr sz="2000" b="1" dirty="0">
                <a:latin typeface="Calibri"/>
                <a:cs typeface="Calibri"/>
              </a:rPr>
              <a:t>This package provides classes and methods to access and process the data stored in a data source</a:t>
            </a:r>
            <a:r>
              <a:rPr sz="2000" b="1" dirty="0">
                <a:solidFill>
                  <a:srgbClr val="0070C0"/>
                </a:solidFill>
                <a:latin typeface="Calibri"/>
                <a:cs typeface="Calibri"/>
              </a:rPr>
              <a:t>.</a:t>
            </a:r>
            <a:endParaRPr sz="2000" dirty="0">
              <a:solidFill>
                <a:srgbClr val="001F5F"/>
              </a:solidFill>
              <a:latin typeface="Calibri"/>
              <a:cs typeface="Calibri"/>
            </a:endParaRPr>
          </a:p>
          <a:p>
            <a:pPr>
              <a:lnSpc>
                <a:spcPct val="110000"/>
              </a:lnSpc>
              <a:spcBef>
                <a:spcPts val="0"/>
              </a:spcBef>
              <a:spcAft>
                <a:spcPts val="600"/>
              </a:spcAft>
              <a:buClr>
                <a:srgbClr val="FFC000"/>
              </a:buClr>
              <a:buFont typeface="Arial MT"/>
              <a:buChar char="•"/>
            </a:pPr>
            <a:endParaRPr sz="2000" dirty="0">
              <a:solidFill>
                <a:srgbClr val="001F5F"/>
              </a:solidFill>
              <a:latin typeface="Calibri"/>
              <a:cs typeface="Calibri"/>
            </a:endParaRPr>
          </a:p>
          <a:p>
            <a:pPr marL="240029" indent="-227329">
              <a:lnSpc>
                <a:spcPct val="110000"/>
              </a:lnSpc>
              <a:spcBef>
                <a:spcPts val="0"/>
              </a:spcBef>
              <a:spcAft>
                <a:spcPts val="600"/>
              </a:spcAft>
              <a:buFont typeface="Arial MT"/>
              <a:buChar char="•"/>
              <a:tabLst>
                <a:tab pos="240029" algn="l"/>
              </a:tabLst>
            </a:pPr>
            <a:r>
              <a:rPr sz="2000" b="1" dirty="0">
                <a:solidFill>
                  <a:srgbClr val="FF0000"/>
                </a:solidFill>
                <a:latin typeface="Calibri"/>
                <a:cs typeface="Calibri"/>
              </a:rPr>
              <a:t>text</a:t>
            </a:r>
            <a:r>
              <a:rPr sz="2000" b="1" dirty="0">
                <a:solidFill>
                  <a:srgbClr val="FFC000"/>
                </a:solidFill>
                <a:latin typeface="Calibri"/>
                <a:cs typeface="Calibri"/>
              </a:rPr>
              <a:t> </a:t>
            </a:r>
            <a:r>
              <a:rPr sz="2000" b="1" dirty="0">
                <a:solidFill>
                  <a:srgbClr val="0070C0"/>
                </a:solidFill>
                <a:latin typeface="Calibri"/>
                <a:cs typeface="Calibri"/>
              </a:rPr>
              <a:t>− </a:t>
            </a:r>
            <a:r>
              <a:rPr sz="2000" b="1" dirty="0">
                <a:latin typeface="Calibri"/>
                <a:cs typeface="Calibri"/>
              </a:rPr>
              <a:t>This package provides classes and interfaces to handle text.</a:t>
            </a:r>
            <a:endParaRPr sz="2000" dirty="0">
              <a:latin typeface="Calibri"/>
              <a:cs typeface="Calibri"/>
            </a:endParaRPr>
          </a:p>
          <a:p>
            <a:pPr>
              <a:lnSpc>
                <a:spcPct val="110000"/>
              </a:lnSpc>
              <a:spcBef>
                <a:spcPts val="0"/>
              </a:spcBef>
              <a:spcAft>
                <a:spcPts val="600"/>
              </a:spcAft>
              <a:buClr>
                <a:srgbClr val="FFC000"/>
              </a:buClr>
              <a:buFont typeface="Arial MT"/>
              <a:buChar char="•"/>
            </a:pPr>
            <a:endParaRPr sz="2000" dirty="0">
              <a:solidFill>
                <a:srgbClr val="001F5F"/>
              </a:solidFill>
              <a:latin typeface="Calibri"/>
              <a:cs typeface="Calibri"/>
            </a:endParaRPr>
          </a:p>
          <a:p>
            <a:pPr marL="240029" marR="5080" indent="-227329" algn="l">
              <a:lnSpc>
                <a:spcPct val="110000"/>
              </a:lnSpc>
              <a:spcBef>
                <a:spcPts val="0"/>
              </a:spcBef>
              <a:spcAft>
                <a:spcPts val="600"/>
              </a:spcAft>
              <a:buFont typeface="Arial MT"/>
              <a:buChar char="•"/>
              <a:tabLst>
                <a:tab pos="241300" algn="l"/>
              </a:tabLst>
            </a:pPr>
            <a:r>
              <a:rPr sz="2000" b="1" dirty="0">
                <a:solidFill>
                  <a:srgbClr val="FF0000"/>
                </a:solidFill>
                <a:latin typeface="Calibri"/>
                <a:cs typeface="Calibri"/>
              </a:rPr>
              <a:t>util</a:t>
            </a:r>
            <a:r>
              <a:rPr sz="2000" b="1" dirty="0">
                <a:solidFill>
                  <a:srgbClr val="FFC000"/>
                </a:solidFill>
                <a:latin typeface="Calibri"/>
                <a:cs typeface="Calibri"/>
              </a:rPr>
              <a:t> </a:t>
            </a:r>
            <a:r>
              <a:rPr sz="2000" b="1" dirty="0">
                <a:latin typeface="Calibri"/>
                <a:cs typeface="Calibri"/>
              </a:rPr>
              <a:t>− This package contains collection framework, collection classes, classes related to date and time, event model, internationalization, and miscellaneous utility classes.</a:t>
            </a:r>
            <a:endParaRPr sz="2000" dirty="0">
              <a:latin typeface="Calibri"/>
              <a:cs typeface="Calibri"/>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1999" y="2057400"/>
            <a:ext cx="3048000" cy="640080"/>
          </a:xfrm>
          <a:prstGeom prst="rect">
            <a:avLst/>
          </a:prstGeom>
        </p:spPr>
        <p:txBody>
          <a:bodyPr vert="horz" wrap="square" rtlCol="0" anchor="ctr">
            <a:normAutofit/>
          </a:bodyPr>
          <a:lstStyle/>
          <a:p>
            <a:pPr marL="12700" algn="l">
              <a:lnSpc>
                <a:spcPct val="100000"/>
              </a:lnSpc>
              <a:spcBef>
                <a:spcPts val="100"/>
              </a:spcBef>
            </a:pPr>
            <a:r>
              <a:rPr sz="2400" b="1" dirty="0">
                <a:latin typeface="Calibri"/>
                <a:cs typeface="Calibri"/>
              </a:rPr>
              <a:t>UNIT-04 PART-C</a:t>
            </a:r>
          </a:p>
        </p:txBody>
      </p:sp>
      <p:sp>
        <p:nvSpPr>
          <p:cNvPr id="3" name="object 3"/>
          <p:cNvSpPr txBox="1"/>
          <p:nvPr/>
        </p:nvSpPr>
        <p:spPr>
          <a:xfrm>
            <a:off x="2974022" y="2514600"/>
            <a:ext cx="6243955" cy="757555"/>
          </a:xfrm>
          <a:prstGeom prst="rect">
            <a:avLst/>
          </a:prstGeom>
        </p:spPr>
        <p:txBody>
          <a:bodyPr vert="horz" wrap="square" lIns="0" tIns="12700" rIns="0" bIns="0" rtlCol="0">
            <a:normAutofit/>
          </a:bodyPr>
          <a:lstStyle/>
          <a:p>
            <a:pPr marL="1990725" marR="5080" indent="-1978660">
              <a:lnSpc>
                <a:spcPct val="110000"/>
              </a:lnSpc>
              <a:spcBef>
                <a:spcPts val="0"/>
              </a:spcBef>
              <a:spcAft>
                <a:spcPts val="600"/>
              </a:spcAft>
            </a:pPr>
            <a:r>
              <a:rPr sz="2000" b="1" dirty="0">
                <a:solidFill>
                  <a:srgbClr val="C00000"/>
                </a:solidFill>
                <a:latin typeface="Calibri"/>
                <a:cs typeface="Calibri"/>
              </a:rPr>
              <a:t>Concept-05 </a:t>
            </a:r>
            <a:r>
              <a:rPr sz="2000" b="1" dirty="0">
                <a:latin typeface="Calibri"/>
                <a:cs typeface="Calibri"/>
              </a:rPr>
              <a:t>HOW TO CREATE SET PATH &amp; CLASS PATH</a:t>
            </a:r>
            <a:endParaRPr sz="2000" dirty="0">
              <a:latin typeface="Calibri"/>
              <a:cs typeface="Calibri"/>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CC9E3-32F4-6904-4579-77ABEAAF6BC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E209AE1-BF1B-A70B-2E3B-A3CF6F75638D}"/>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A081D134-8CD4-DF76-2900-2AF8B5A5D5C5}"/>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402636648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72000" y="2157741"/>
            <a:ext cx="2714625" cy="391795"/>
          </a:xfrm>
          <a:prstGeom prst="rect">
            <a:avLst/>
          </a:prstGeom>
        </p:spPr>
        <p:txBody>
          <a:bodyPr vert="horz" wrap="square" lIns="0" tIns="12700" rIns="0" bIns="0" rtlCol="0">
            <a:noAutofit/>
          </a:bodyPr>
          <a:lstStyle/>
          <a:p>
            <a:pPr marL="12700">
              <a:lnSpc>
                <a:spcPct val="110000"/>
              </a:lnSpc>
              <a:spcBef>
                <a:spcPts val="0"/>
              </a:spcBef>
              <a:spcAft>
                <a:spcPts val="600"/>
              </a:spcAft>
            </a:pPr>
            <a:r>
              <a:rPr sz="2400" b="1" dirty="0">
                <a:latin typeface="Calibri"/>
                <a:cs typeface="Calibri"/>
              </a:rPr>
              <a:t>UNIT-04 PART-C</a:t>
            </a:r>
            <a:endParaRPr sz="2400" dirty="0">
              <a:latin typeface="Calibri"/>
              <a:cs typeface="Calibri"/>
            </a:endParaRPr>
          </a:p>
        </p:txBody>
      </p:sp>
      <p:sp>
        <p:nvSpPr>
          <p:cNvPr id="3" name="object 3"/>
          <p:cNvSpPr txBox="1"/>
          <p:nvPr/>
        </p:nvSpPr>
        <p:spPr>
          <a:xfrm>
            <a:off x="2216657" y="2576575"/>
            <a:ext cx="8019415" cy="444352"/>
          </a:xfrm>
          <a:prstGeom prst="rect">
            <a:avLst/>
          </a:prstGeom>
        </p:spPr>
        <p:txBody>
          <a:bodyPr vert="horz" wrap="square" lIns="0" tIns="13335" rIns="0" bIns="0" rtlCol="0">
            <a:spAutoFit/>
          </a:bodyPr>
          <a:lstStyle/>
          <a:p>
            <a:pPr marL="2411730" marR="5080" indent="-2399665">
              <a:lnSpc>
                <a:spcPct val="100000"/>
              </a:lnSpc>
              <a:spcBef>
                <a:spcPts val="105"/>
              </a:spcBef>
            </a:pPr>
            <a:r>
              <a:rPr sz="2000" b="1" dirty="0">
                <a:solidFill>
                  <a:srgbClr val="FF0000"/>
                </a:solidFill>
                <a:latin typeface="Calibri"/>
                <a:cs typeface="Calibri"/>
              </a:rPr>
              <a:t>Concept-06</a:t>
            </a:r>
            <a:r>
              <a:rPr sz="2800" b="1" dirty="0">
                <a:solidFill>
                  <a:srgbClr val="001F5F"/>
                </a:solidFill>
                <a:latin typeface="Calibri"/>
                <a:cs typeface="Calibri"/>
              </a:rPr>
              <a:t> </a:t>
            </a:r>
            <a:r>
              <a:rPr sz="2000" b="1" dirty="0">
                <a:latin typeface="Calibri"/>
                <a:cs typeface="Calibri"/>
              </a:rPr>
              <a:t>Wrapper Classes and Auto-boxing and Auto-unboxing</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9725" y="762000"/>
            <a:ext cx="11512550" cy="3183555"/>
          </a:xfrm>
          <a:prstGeom prst="rect">
            <a:avLst/>
          </a:prstGeom>
        </p:spPr>
        <p:txBody>
          <a:bodyPr vert="horz" wrap="square" lIns="0" tIns="196215" rIns="0" bIns="0" rtlCol="0">
            <a:normAutofit/>
          </a:bodyPr>
          <a:lstStyle/>
          <a:p>
            <a:pPr marL="356235" indent="-343535">
              <a:lnSpc>
                <a:spcPct val="110000"/>
              </a:lnSpc>
              <a:spcBef>
                <a:spcPts val="0"/>
              </a:spcBef>
              <a:spcAft>
                <a:spcPts val="600"/>
              </a:spcAft>
              <a:buFont typeface="Wingdings"/>
              <a:buChar char=""/>
              <a:tabLst>
                <a:tab pos="356235" algn="l"/>
              </a:tabLst>
            </a:pPr>
            <a:r>
              <a:rPr sz="1800" b="1" dirty="0">
                <a:latin typeface="Calibri"/>
                <a:cs typeface="Calibri"/>
              </a:rPr>
              <a:t>The wrapper class in Java provides the mechanism to convert primitive</a:t>
            </a:r>
            <a:endParaRPr sz="1800" dirty="0">
              <a:latin typeface="Calibri"/>
              <a:cs typeface="Calibri"/>
            </a:endParaRPr>
          </a:p>
          <a:p>
            <a:pPr marL="356870">
              <a:lnSpc>
                <a:spcPct val="110000"/>
              </a:lnSpc>
              <a:spcBef>
                <a:spcPts val="0"/>
              </a:spcBef>
              <a:spcAft>
                <a:spcPts val="600"/>
              </a:spcAft>
            </a:pPr>
            <a:r>
              <a:rPr sz="1800" b="1" dirty="0">
                <a:latin typeface="Calibri"/>
                <a:cs typeface="Calibri"/>
              </a:rPr>
              <a:t>into object and object into primitive.</a:t>
            </a:r>
            <a:endParaRPr sz="1800" dirty="0">
              <a:latin typeface="Calibri"/>
              <a:cs typeface="Calibri"/>
            </a:endParaRPr>
          </a:p>
          <a:p>
            <a:pPr marL="356870" marR="5080" indent="-344805">
              <a:lnSpc>
                <a:spcPct val="110000"/>
              </a:lnSpc>
              <a:spcBef>
                <a:spcPts val="0"/>
              </a:spcBef>
              <a:spcAft>
                <a:spcPts val="600"/>
              </a:spcAft>
              <a:buFont typeface="Wingdings"/>
              <a:buChar char=""/>
              <a:tabLst>
                <a:tab pos="356870" algn="l"/>
                <a:tab pos="1122045" algn="l"/>
                <a:tab pos="2491105" algn="l"/>
                <a:tab pos="3719829" algn="l"/>
                <a:tab pos="4164329" algn="l"/>
                <a:tab pos="5060950" algn="l"/>
                <a:tab pos="5749925" algn="l"/>
                <a:tab pos="6609715" algn="l"/>
                <a:tab pos="7115809" algn="l"/>
                <a:tab pos="8405495" algn="l"/>
                <a:tab pos="9871710" algn="l"/>
                <a:tab pos="10865485" algn="l"/>
              </a:tabLst>
            </a:pPr>
            <a:r>
              <a:rPr sz="1800" b="1" dirty="0">
                <a:latin typeface="Calibri"/>
                <a:cs typeface="Calibri"/>
              </a:rPr>
              <a:t>The wrapper classes in Java are used to convert primitive types (int, char, float, etc) into corresponding objects.</a:t>
            </a:r>
            <a:endParaRPr sz="1800" dirty="0">
              <a:latin typeface="Calibri"/>
              <a:cs typeface="Calibri"/>
            </a:endParaRPr>
          </a:p>
          <a:p>
            <a:pPr marL="356870" indent="-344170">
              <a:lnSpc>
                <a:spcPct val="110000"/>
              </a:lnSpc>
              <a:spcBef>
                <a:spcPts val="0"/>
              </a:spcBef>
              <a:spcAft>
                <a:spcPts val="600"/>
              </a:spcAft>
              <a:buFont typeface="Wingdings"/>
              <a:buChar char=""/>
              <a:tabLst>
                <a:tab pos="356870" algn="l"/>
              </a:tabLst>
            </a:pPr>
            <a:r>
              <a:rPr sz="1800" b="1" dirty="0">
                <a:latin typeface="Calibri"/>
                <a:cs typeface="Calibri"/>
              </a:rPr>
              <a:t>Autoboxing and Unboxing are the features included in Java 1.5</a:t>
            </a:r>
            <a:endParaRPr sz="1800" dirty="0">
              <a:latin typeface="Calibri"/>
              <a:cs typeface="Calibri"/>
            </a:endParaRPr>
          </a:p>
          <a:p>
            <a:pPr marL="356235" indent="-343535">
              <a:lnSpc>
                <a:spcPct val="110000"/>
              </a:lnSpc>
              <a:spcBef>
                <a:spcPts val="0"/>
              </a:spcBef>
              <a:spcAft>
                <a:spcPts val="600"/>
              </a:spcAft>
              <a:buFont typeface="Wingdings"/>
              <a:buChar char=""/>
              <a:tabLst>
                <a:tab pos="356235" algn="l"/>
                <a:tab pos="2213610" algn="l"/>
                <a:tab pos="2966720" algn="l"/>
                <a:tab pos="4524375" algn="l"/>
                <a:tab pos="5887085" algn="l"/>
                <a:tab pos="7219315" algn="l"/>
                <a:tab pos="8874760" algn="l"/>
                <a:tab pos="9667240" algn="l"/>
                <a:tab pos="10993755" algn="l"/>
              </a:tabLst>
            </a:pPr>
            <a:r>
              <a:rPr sz="1800" b="1" dirty="0">
                <a:latin typeface="Calibri"/>
                <a:cs typeface="Calibri"/>
              </a:rPr>
              <a:t>Autoboxing and Unboxing feature convert primitives into objects and</a:t>
            </a:r>
            <a:endParaRPr sz="1800" dirty="0">
              <a:latin typeface="Calibri"/>
              <a:cs typeface="Calibri"/>
            </a:endParaRPr>
          </a:p>
          <a:p>
            <a:pPr marL="356870">
              <a:lnSpc>
                <a:spcPct val="110000"/>
              </a:lnSpc>
              <a:spcBef>
                <a:spcPts val="0"/>
              </a:spcBef>
              <a:spcAft>
                <a:spcPts val="600"/>
              </a:spcAft>
            </a:pPr>
            <a:r>
              <a:rPr sz="1800" b="1" dirty="0">
                <a:latin typeface="Calibri"/>
                <a:cs typeface="Calibri"/>
              </a:rPr>
              <a:t>objects into primitives automatically.</a:t>
            </a:r>
            <a:endParaRPr sz="1800" dirty="0">
              <a:latin typeface="Calibri"/>
              <a:cs typeface="Calibri"/>
            </a:endParaRPr>
          </a:p>
          <a:p>
            <a:pPr marL="356870" marR="66040" indent="-344805">
              <a:lnSpc>
                <a:spcPct val="110000"/>
              </a:lnSpc>
              <a:spcBef>
                <a:spcPts val="0"/>
              </a:spcBef>
              <a:spcAft>
                <a:spcPts val="600"/>
              </a:spcAft>
              <a:buFont typeface="Wingdings"/>
              <a:buChar char=""/>
              <a:tabLst>
                <a:tab pos="356870" algn="l"/>
              </a:tabLst>
            </a:pPr>
            <a:r>
              <a:rPr sz="1800" b="1" dirty="0">
                <a:latin typeface="Calibri"/>
                <a:cs typeface="Calibri"/>
              </a:rPr>
              <a:t>The automatic conversion of primitive into object is known as Autoboxing and vice-versa Unboxing.</a:t>
            </a:r>
            <a:endParaRPr sz="1800" dirty="0">
              <a:latin typeface="Calibri"/>
              <a:cs typeface="Calibri"/>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1782" y="261315"/>
            <a:ext cx="11295380" cy="2862885"/>
          </a:xfrm>
          <a:prstGeom prst="rect">
            <a:avLst/>
          </a:prstGeom>
        </p:spPr>
        <p:txBody>
          <a:bodyPr vert="horz" wrap="square" lIns="0" tIns="12700" rIns="0" bIns="0" rtlCol="0">
            <a:normAutofit/>
          </a:bodyPr>
          <a:lstStyle/>
          <a:p>
            <a:pPr marL="12700">
              <a:lnSpc>
                <a:spcPct val="110000"/>
              </a:lnSpc>
              <a:spcBef>
                <a:spcPts val="0"/>
              </a:spcBef>
              <a:spcAft>
                <a:spcPts val="600"/>
              </a:spcAft>
            </a:pPr>
            <a:r>
              <a:rPr sz="2000" b="1" u="sng" dirty="0">
                <a:solidFill>
                  <a:srgbClr val="C00000"/>
                </a:solidFill>
                <a:uFill>
                  <a:solidFill>
                    <a:srgbClr val="FF0000"/>
                  </a:solidFill>
                </a:uFill>
                <a:latin typeface="Calibri"/>
                <a:cs typeface="Calibri"/>
              </a:rPr>
              <a:t>Auto Boxing or Boxing:</a:t>
            </a:r>
            <a:endParaRPr sz="2000" dirty="0">
              <a:solidFill>
                <a:srgbClr val="001F5F"/>
              </a:solidFill>
              <a:latin typeface="Calibri"/>
              <a:cs typeface="Calibri"/>
            </a:endParaRPr>
          </a:p>
          <a:p>
            <a:pPr marL="104139" marR="71755" indent="477520">
              <a:lnSpc>
                <a:spcPct val="110000"/>
              </a:lnSpc>
              <a:spcBef>
                <a:spcPts val="0"/>
              </a:spcBef>
              <a:spcAft>
                <a:spcPts val="600"/>
              </a:spcAft>
              <a:buAutoNum type="arabicPeriod"/>
              <a:tabLst>
                <a:tab pos="581660" algn="l"/>
              </a:tabLst>
            </a:pPr>
            <a:r>
              <a:rPr sz="2000" b="1" dirty="0">
                <a:latin typeface="Calibri"/>
                <a:cs typeface="Calibri"/>
              </a:rPr>
              <a:t>Autoboxing is the process of converting a primitive type data into its corresponding wrapper class object instance</a:t>
            </a:r>
            <a:endParaRPr sz="2000" dirty="0">
              <a:latin typeface="Calibri"/>
              <a:cs typeface="Calibri"/>
            </a:endParaRPr>
          </a:p>
          <a:p>
            <a:pPr marL="12700" marR="8241665" indent="538480">
              <a:lnSpc>
                <a:spcPct val="110000"/>
              </a:lnSpc>
              <a:spcBef>
                <a:spcPts val="0"/>
              </a:spcBef>
              <a:spcAft>
                <a:spcPts val="600"/>
              </a:spcAft>
              <a:buAutoNum type="arabicPeriod"/>
              <a:tabLst>
                <a:tab pos="551180" algn="l"/>
              </a:tabLst>
            </a:pPr>
            <a:r>
              <a:rPr sz="2000" b="1" u="sng" dirty="0">
                <a:solidFill>
                  <a:srgbClr val="C00000"/>
                </a:solidFill>
                <a:uFill>
                  <a:solidFill>
                    <a:srgbClr val="FF0000"/>
                  </a:solidFill>
                </a:uFill>
                <a:latin typeface="Calibri"/>
                <a:cs typeface="Calibri"/>
              </a:rPr>
              <a:t>Unboxing:</a:t>
            </a:r>
            <a:endParaRPr sz="2000" dirty="0">
              <a:solidFill>
                <a:srgbClr val="001F5F"/>
              </a:solidFill>
              <a:latin typeface="Calibri"/>
              <a:cs typeface="Calibri"/>
            </a:endParaRPr>
          </a:p>
          <a:p>
            <a:pPr marL="12700" marR="5080" indent="566420">
              <a:lnSpc>
                <a:spcPct val="110000"/>
              </a:lnSpc>
              <a:spcBef>
                <a:spcPts val="0"/>
              </a:spcBef>
              <a:spcAft>
                <a:spcPts val="600"/>
              </a:spcAft>
              <a:buAutoNum type="arabicPeriod"/>
              <a:tabLst>
                <a:tab pos="579120" algn="l"/>
                <a:tab pos="2143125" algn="l"/>
                <a:tab pos="2628265" algn="l"/>
                <a:tab pos="3368675" algn="l"/>
                <a:tab pos="4712970" algn="l"/>
                <a:tab pos="5283835" algn="l"/>
                <a:tab pos="7024370" algn="l"/>
                <a:tab pos="7445375" algn="l"/>
                <a:tab pos="8865870" algn="l"/>
                <a:tab pos="10311130" algn="l"/>
                <a:tab pos="11113135" algn="l"/>
              </a:tabLst>
            </a:pPr>
            <a:r>
              <a:rPr sz="2000" b="1" dirty="0">
                <a:latin typeface="Calibri"/>
                <a:cs typeface="Calibri"/>
              </a:rPr>
              <a:t>Unboxing is the process of converting a </a:t>
            </a:r>
            <a:r>
              <a:rPr lang="en-GB" sz="2000" b="1" dirty="0">
                <a:latin typeface="Calibri"/>
                <a:cs typeface="Calibri"/>
              </a:rPr>
              <a:t>Objective instance</a:t>
            </a:r>
            <a:r>
              <a:rPr sz="2000" b="1" dirty="0">
                <a:latin typeface="Calibri"/>
                <a:cs typeface="Calibri"/>
              </a:rPr>
              <a:t> into a primitive type</a:t>
            </a:r>
            <a:endParaRPr lang="en-IN" sz="2000" b="1" dirty="0">
              <a:latin typeface="Calibri"/>
              <a:cs typeface="Calibri"/>
            </a:endParaRPr>
          </a:p>
          <a:p>
            <a:pPr marL="12700" marR="5080" indent="566420">
              <a:lnSpc>
                <a:spcPct val="110000"/>
              </a:lnSpc>
              <a:spcBef>
                <a:spcPts val="0"/>
              </a:spcBef>
              <a:spcAft>
                <a:spcPts val="600"/>
              </a:spcAft>
              <a:buAutoNum type="arabicPeriod"/>
              <a:tabLst>
                <a:tab pos="579120" algn="l"/>
                <a:tab pos="2143125" algn="l"/>
                <a:tab pos="2628265" algn="l"/>
                <a:tab pos="3368675" algn="l"/>
                <a:tab pos="4712970" algn="l"/>
                <a:tab pos="5283835" algn="l"/>
                <a:tab pos="7024370" algn="l"/>
                <a:tab pos="7445375" algn="l"/>
                <a:tab pos="8865870" algn="l"/>
                <a:tab pos="10311130" algn="l"/>
                <a:tab pos="11113135" algn="l"/>
              </a:tabLst>
            </a:pPr>
            <a:endParaRPr lang="en-IN" sz="2000" b="1" dirty="0">
              <a:solidFill>
                <a:srgbClr val="001F5F"/>
              </a:solidFill>
              <a:latin typeface="Calibri"/>
              <a:cs typeface="Calibri"/>
            </a:endParaRPr>
          </a:p>
          <a:p>
            <a:pPr marL="12700" marR="5080">
              <a:lnSpc>
                <a:spcPct val="100000"/>
              </a:lnSpc>
              <a:spcBef>
                <a:spcPts val="0"/>
              </a:spcBef>
              <a:spcAft>
                <a:spcPts val="600"/>
              </a:spcAft>
              <a:tabLst>
                <a:tab pos="579120" algn="l"/>
                <a:tab pos="2143125" algn="l"/>
                <a:tab pos="2628265" algn="l"/>
                <a:tab pos="3368675" algn="l"/>
                <a:tab pos="4712970" algn="l"/>
                <a:tab pos="5283835" algn="l"/>
                <a:tab pos="7024370" algn="l"/>
                <a:tab pos="7445375" algn="l"/>
                <a:tab pos="8865870" algn="l"/>
                <a:tab pos="10311130" algn="l"/>
                <a:tab pos="11113135" algn="l"/>
              </a:tabLst>
            </a:pPr>
            <a:r>
              <a:rPr lang="en-IN" sz="2000" b="1" dirty="0">
                <a:latin typeface="Calibri" panose="020F0502020204030204" pitchFamily="34" charset="0"/>
                <a:ea typeface="Calibri" panose="020F0502020204030204" pitchFamily="34" charset="0"/>
                <a:cs typeface="Calibri" panose="020F0502020204030204" pitchFamily="34" charset="0"/>
              </a:rPr>
              <a:t>   Java performs these conversions automatically, which is called autoboxing and auto-unboxing</a:t>
            </a:r>
            <a:endParaRPr sz="2000" b="1" dirty="0">
              <a:solidFill>
                <a:srgbClr val="001F5F"/>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Rectangle 176">
            <a:extLst>
              <a:ext uri="{FF2B5EF4-FFF2-40B4-BE49-F238E27FC236}">
                <a16:creationId xmlns:a16="http://schemas.microsoft.com/office/drawing/2014/main" id="{B022A9AE-DD50-C369-7D34-0BCB330FBD0D}"/>
              </a:ext>
            </a:extLst>
          </p:cNvPr>
          <p:cNvSpPr>
            <a:spLocks noGrp="1"/>
          </p:cNvSpPr>
          <p:nvPr/>
        </p:nvSpPr>
        <p:spPr>
          <a:xfrm>
            <a:off x="609600" y="647700"/>
            <a:ext cx="10953750" cy="571500"/>
          </a:xfrm>
          <a:prstGeom prst="rect">
            <a:avLst/>
          </a:prstGeom>
          <a:noFill/>
          <a:ln w="0">
            <a:noFill/>
          </a:ln>
        </p:spPr>
        <p:txBody>
          <a:bodyPr anchor="ctr">
            <a:normAutofit/>
          </a:bodyPr>
          <a:lstStyle/>
          <a:p>
            <a:pPr algn="l">
              <a:defRPr sz="3075" b="1">
                <a:solidFill>
                  <a:srgbClr val="102A56"/>
                </a:solidFill>
                <a:latin typeface="Arial"/>
                <a:ea typeface="Arial"/>
                <a:cs typeface="Arial"/>
              </a:defRPr>
            </a:pPr>
            <a:r>
              <a:rPr sz="3075" b="1">
                <a:solidFill>
                  <a:srgbClr val="102A56"/>
                </a:solidFill>
                <a:latin typeface="Arial"/>
                <a:ea typeface="Arial"/>
                <a:cs typeface="Arial"/>
              </a:rPr>
              <a:t>Primitive types and wrapper classes</a:t>
            </a:r>
          </a:p>
        </p:txBody>
      </p:sp>
      <p:sp>
        <p:nvSpPr>
          <p:cNvPr id="179" name="Rectangle 178">
            <a:extLst>
              <a:ext uri="{FF2B5EF4-FFF2-40B4-BE49-F238E27FC236}">
                <a16:creationId xmlns:a16="http://schemas.microsoft.com/office/drawing/2014/main" id="{1D8F2601-0F33-7885-1565-20361C268C65}"/>
              </a:ext>
            </a:extLst>
          </p:cNvPr>
          <p:cNvSpPr>
            <a:spLocks noGrp="1"/>
          </p:cNvSpPr>
          <p:nvPr/>
        </p:nvSpPr>
        <p:spPr>
          <a:xfrm>
            <a:off x="628650" y="1266825"/>
            <a:ext cx="10477500" cy="342900"/>
          </a:xfrm>
          <a:prstGeom prst="rect">
            <a:avLst/>
          </a:prstGeom>
          <a:noFill/>
          <a:ln w="0">
            <a:noFill/>
          </a:ln>
        </p:spPr>
        <p:txBody>
          <a:bodyPr anchor="ctr">
            <a:normAutofit fontScale="95652"/>
          </a:bodyPr>
          <a:lstStyle/>
          <a:p>
            <a:pPr algn="l">
              <a:defRPr sz="1725" b="0">
                <a:solidFill>
                  <a:srgbClr val="51647C"/>
                </a:solidFill>
                <a:latin typeface="Arial"/>
                <a:ea typeface="Arial"/>
                <a:cs typeface="Arial"/>
              </a:defRPr>
            </a:pPr>
            <a:r>
              <a:rPr sz="1725" b="0">
                <a:solidFill>
                  <a:srgbClr val="51647C"/>
                </a:solidFill>
                <a:latin typeface="Arial"/>
                <a:ea typeface="Arial"/>
                <a:cs typeface="Arial"/>
              </a:rPr>
              <a:t>Each Java primitive has a corresponding wrapper class.</a:t>
            </a:r>
          </a:p>
        </p:txBody>
      </p:sp>
      <p:sp>
        <p:nvSpPr>
          <p:cNvPr id="181" name="Rectangle 180">
            <a:extLst>
              <a:ext uri="{FF2B5EF4-FFF2-40B4-BE49-F238E27FC236}">
                <a16:creationId xmlns:a16="http://schemas.microsoft.com/office/drawing/2014/main" id="{AB3BE51C-913C-E394-6343-EE6512DD9DD7}"/>
              </a:ext>
            </a:extLst>
          </p:cNvPr>
          <p:cNvSpPr>
            <a:spLocks noGrp="1"/>
          </p:cNvSpPr>
          <p:nvPr/>
        </p:nvSpPr>
        <p:spPr>
          <a:xfrm>
            <a:off x="609600" y="1781175"/>
            <a:ext cx="10972800" cy="19050"/>
          </a:xfrm>
          <a:prstGeom prst="rect">
            <a:avLst/>
          </a:prstGeom>
          <a:solidFill>
            <a:srgbClr val="D7E0EA"/>
          </a:solidFill>
          <a:ln w="0">
            <a:noFill/>
          </a:ln>
        </p:spPr>
        <p:txBody>
          <a:bodyPr/>
          <a:lstStyle/>
          <a:p>
            <a:endParaRPr lang="en-IN"/>
          </a:p>
        </p:txBody>
      </p:sp>
      <p:sp>
        <p:nvSpPr>
          <p:cNvPr id="183" name="Rectangle 182">
            <a:extLst>
              <a:ext uri="{FF2B5EF4-FFF2-40B4-BE49-F238E27FC236}">
                <a16:creationId xmlns:a16="http://schemas.microsoft.com/office/drawing/2014/main" id="{ECBCB9DE-C949-C32C-93C9-9FC4B07F92B9}"/>
              </a:ext>
            </a:extLst>
          </p:cNvPr>
          <p:cNvSpPr>
            <a:spLocks noGrp="1"/>
          </p:cNvSpPr>
          <p:nvPr/>
        </p:nvSpPr>
        <p:spPr>
          <a:xfrm>
            <a:off x="609600" y="2095500"/>
            <a:ext cx="1524000" cy="466725"/>
          </a:xfrm>
          <a:prstGeom prst="rect">
            <a:avLst/>
          </a:prstGeom>
          <a:solidFill>
            <a:srgbClr val="102A56"/>
          </a:solidFill>
          <a:ln w="9525">
            <a:solidFill>
              <a:srgbClr val="FFFFFF"/>
            </a:solidFill>
          </a:ln>
        </p:spPr>
        <p:txBody>
          <a:bodyPr/>
          <a:lstStyle/>
          <a:p>
            <a:endParaRPr lang="en-IN"/>
          </a:p>
        </p:txBody>
      </p:sp>
      <p:sp>
        <p:nvSpPr>
          <p:cNvPr id="185" name="Rectangle 184">
            <a:extLst>
              <a:ext uri="{FF2B5EF4-FFF2-40B4-BE49-F238E27FC236}">
                <a16:creationId xmlns:a16="http://schemas.microsoft.com/office/drawing/2014/main" id="{6DABDDC1-F773-BA10-6C2A-DD2E2FEE572C}"/>
              </a:ext>
            </a:extLst>
          </p:cNvPr>
          <p:cNvSpPr>
            <a:spLocks noGrp="1"/>
          </p:cNvSpPr>
          <p:nvPr/>
        </p:nvSpPr>
        <p:spPr>
          <a:xfrm>
            <a:off x="723900" y="2114550"/>
            <a:ext cx="1295400" cy="428625"/>
          </a:xfrm>
          <a:prstGeom prst="rect">
            <a:avLst/>
          </a:prstGeom>
          <a:noFill/>
          <a:ln w="0">
            <a:noFill/>
          </a:ln>
        </p:spPr>
        <p:txBody>
          <a:bodyPr anchor="ctr">
            <a:normAutofit/>
          </a:bodyPr>
          <a:lstStyle/>
          <a:p>
            <a:pPr algn="l">
              <a:defRPr sz="1200" b="1">
                <a:solidFill>
                  <a:srgbClr val="FFFFFF"/>
                </a:solidFill>
                <a:latin typeface="Arial"/>
                <a:ea typeface="Arial"/>
                <a:cs typeface="Arial"/>
              </a:defRPr>
            </a:pPr>
            <a:r>
              <a:rPr sz="1200" b="1">
                <a:solidFill>
                  <a:srgbClr val="FFFFFF"/>
                </a:solidFill>
                <a:latin typeface="Arial"/>
                <a:ea typeface="Arial"/>
                <a:cs typeface="Arial"/>
              </a:rPr>
              <a:t>Primitive type</a:t>
            </a:r>
          </a:p>
        </p:txBody>
      </p:sp>
      <p:sp>
        <p:nvSpPr>
          <p:cNvPr id="187" name="Rectangle 186">
            <a:extLst>
              <a:ext uri="{FF2B5EF4-FFF2-40B4-BE49-F238E27FC236}">
                <a16:creationId xmlns:a16="http://schemas.microsoft.com/office/drawing/2014/main" id="{3F2AF303-5BF5-2BD0-24FD-2FB2ECF7DBD3}"/>
              </a:ext>
            </a:extLst>
          </p:cNvPr>
          <p:cNvSpPr>
            <a:spLocks noGrp="1"/>
          </p:cNvSpPr>
          <p:nvPr/>
        </p:nvSpPr>
        <p:spPr>
          <a:xfrm>
            <a:off x="2133600" y="2095500"/>
            <a:ext cx="1524000" cy="466725"/>
          </a:xfrm>
          <a:prstGeom prst="rect">
            <a:avLst/>
          </a:prstGeom>
          <a:solidFill>
            <a:srgbClr val="102A56"/>
          </a:solidFill>
          <a:ln w="9525">
            <a:solidFill>
              <a:srgbClr val="FFFFFF"/>
            </a:solidFill>
          </a:ln>
        </p:spPr>
        <p:txBody>
          <a:bodyPr/>
          <a:lstStyle/>
          <a:p>
            <a:endParaRPr lang="en-IN"/>
          </a:p>
        </p:txBody>
      </p:sp>
      <p:sp>
        <p:nvSpPr>
          <p:cNvPr id="189" name="Rectangle 188">
            <a:extLst>
              <a:ext uri="{FF2B5EF4-FFF2-40B4-BE49-F238E27FC236}">
                <a16:creationId xmlns:a16="http://schemas.microsoft.com/office/drawing/2014/main" id="{D0D33266-1A14-52D8-497B-62CE302398DF}"/>
              </a:ext>
            </a:extLst>
          </p:cNvPr>
          <p:cNvSpPr>
            <a:spLocks noGrp="1"/>
          </p:cNvSpPr>
          <p:nvPr/>
        </p:nvSpPr>
        <p:spPr>
          <a:xfrm>
            <a:off x="2247900" y="2114550"/>
            <a:ext cx="1295400" cy="428625"/>
          </a:xfrm>
          <a:prstGeom prst="rect">
            <a:avLst/>
          </a:prstGeom>
          <a:noFill/>
          <a:ln w="0">
            <a:noFill/>
          </a:ln>
        </p:spPr>
        <p:txBody>
          <a:bodyPr anchor="ctr">
            <a:normAutofit/>
          </a:bodyPr>
          <a:lstStyle/>
          <a:p>
            <a:pPr algn="l">
              <a:defRPr sz="1200" b="1">
                <a:solidFill>
                  <a:srgbClr val="FFFFFF"/>
                </a:solidFill>
                <a:latin typeface="Arial"/>
                <a:ea typeface="Arial"/>
                <a:cs typeface="Arial"/>
              </a:defRPr>
            </a:pPr>
            <a:r>
              <a:rPr sz="1200" b="1">
                <a:solidFill>
                  <a:srgbClr val="FFFFFF"/>
                </a:solidFill>
                <a:latin typeface="Arial"/>
                <a:ea typeface="Arial"/>
                <a:cs typeface="Arial"/>
              </a:rPr>
              <a:t>Size</a:t>
            </a:r>
          </a:p>
        </p:txBody>
      </p:sp>
      <p:sp>
        <p:nvSpPr>
          <p:cNvPr id="191" name="Rectangle 190">
            <a:extLst>
              <a:ext uri="{FF2B5EF4-FFF2-40B4-BE49-F238E27FC236}">
                <a16:creationId xmlns:a16="http://schemas.microsoft.com/office/drawing/2014/main" id="{422D694F-3B59-1C4D-0B9E-E4CF57ACFF6D}"/>
              </a:ext>
            </a:extLst>
          </p:cNvPr>
          <p:cNvSpPr>
            <a:spLocks noGrp="1"/>
          </p:cNvSpPr>
          <p:nvPr/>
        </p:nvSpPr>
        <p:spPr>
          <a:xfrm>
            <a:off x="3657600" y="2095500"/>
            <a:ext cx="1809750" cy="466725"/>
          </a:xfrm>
          <a:prstGeom prst="rect">
            <a:avLst/>
          </a:prstGeom>
          <a:solidFill>
            <a:srgbClr val="102A56"/>
          </a:solidFill>
          <a:ln w="9525">
            <a:solidFill>
              <a:srgbClr val="FFFFFF"/>
            </a:solidFill>
          </a:ln>
        </p:spPr>
        <p:txBody>
          <a:bodyPr/>
          <a:lstStyle/>
          <a:p>
            <a:endParaRPr lang="en-IN"/>
          </a:p>
        </p:txBody>
      </p:sp>
      <p:sp>
        <p:nvSpPr>
          <p:cNvPr id="193" name="Rectangle 192">
            <a:extLst>
              <a:ext uri="{FF2B5EF4-FFF2-40B4-BE49-F238E27FC236}">
                <a16:creationId xmlns:a16="http://schemas.microsoft.com/office/drawing/2014/main" id="{FDF3E005-68F3-F0F3-02E6-1DA1A0FA242D}"/>
              </a:ext>
            </a:extLst>
          </p:cNvPr>
          <p:cNvSpPr>
            <a:spLocks noGrp="1"/>
          </p:cNvSpPr>
          <p:nvPr/>
        </p:nvSpPr>
        <p:spPr>
          <a:xfrm>
            <a:off x="3771900" y="2114550"/>
            <a:ext cx="1581150" cy="428625"/>
          </a:xfrm>
          <a:prstGeom prst="rect">
            <a:avLst/>
          </a:prstGeom>
          <a:noFill/>
          <a:ln w="0">
            <a:noFill/>
          </a:ln>
        </p:spPr>
        <p:txBody>
          <a:bodyPr anchor="ctr">
            <a:normAutofit/>
          </a:bodyPr>
          <a:lstStyle/>
          <a:p>
            <a:pPr algn="l">
              <a:defRPr sz="1200" b="1">
                <a:solidFill>
                  <a:srgbClr val="FFFFFF"/>
                </a:solidFill>
                <a:latin typeface="Arial"/>
                <a:ea typeface="Arial"/>
                <a:cs typeface="Arial"/>
              </a:defRPr>
            </a:pPr>
            <a:r>
              <a:rPr sz="1200" b="1">
                <a:solidFill>
                  <a:srgbClr val="FFFFFF"/>
                </a:solidFill>
                <a:latin typeface="Arial"/>
                <a:ea typeface="Arial"/>
                <a:cs typeface="Arial"/>
              </a:rPr>
              <a:t>Wrapper class</a:t>
            </a:r>
          </a:p>
        </p:txBody>
      </p:sp>
      <p:sp>
        <p:nvSpPr>
          <p:cNvPr id="195" name="Rectangle 194">
            <a:extLst>
              <a:ext uri="{FF2B5EF4-FFF2-40B4-BE49-F238E27FC236}">
                <a16:creationId xmlns:a16="http://schemas.microsoft.com/office/drawing/2014/main" id="{D3DDAE2A-5569-06AC-8CCD-644F9E01A71C}"/>
              </a:ext>
            </a:extLst>
          </p:cNvPr>
          <p:cNvSpPr>
            <a:spLocks noGrp="1"/>
          </p:cNvSpPr>
          <p:nvPr/>
        </p:nvSpPr>
        <p:spPr>
          <a:xfrm>
            <a:off x="5467350" y="2095500"/>
            <a:ext cx="6115050" cy="466725"/>
          </a:xfrm>
          <a:prstGeom prst="rect">
            <a:avLst/>
          </a:prstGeom>
          <a:solidFill>
            <a:srgbClr val="102A56"/>
          </a:solidFill>
          <a:ln w="9525">
            <a:solidFill>
              <a:srgbClr val="FFFFFF"/>
            </a:solidFill>
          </a:ln>
        </p:spPr>
        <p:txBody>
          <a:bodyPr/>
          <a:lstStyle/>
          <a:p>
            <a:endParaRPr lang="en-IN"/>
          </a:p>
        </p:txBody>
      </p:sp>
      <p:sp>
        <p:nvSpPr>
          <p:cNvPr id="197" name="Rectangle 196">
            <a:extLst>
              <a:ext uri="{FF2B5EF4-FFF2-40B4-BE49-F238E27FC236}">
                <a16:creationId xmlns:a16="http://schemas.microsoft.com/office/drawing/2014/main" id="{85DFC1F4-9359-F1BC-8128-9ED64D4D9FD1}"/>
              </a:ext>
            </a:extLst>
          </p:cNvPr>
          <p:cNvSpPr>
            <a:spLocks noGrp="1"/>
          </p:cNvSpPr>
          <p:nvPr/>
        </p:nvSpPr>
        <p:spPr>
          <a:xfrm>
            <a:off x="5581650" y="2114550"/>
            <a:ext cx="5886450" cy="428625"/>
          </a:xfrm>
          <a:prstGeom prst="rect">
            <a:avLst/>
          </a:prstGeom>
          <a:noFill/>
          <a:ln w="0">
            <a:noFill/>
          </a:ln>
        </p:spPr>
        <p:txBody>
          <a:bodyPr anchor="ctr">
            <a:normAutofit/>
          </a:bodyPr>
          <a:lstStyle/>
          <a:p>
            <a:pPr algn="l">
              <a:defRPr sz="1200" b="1">
                <a:solidFill>
                  <a:srgbClr val="FFFFFF"/>
                </a:solidFill>
                <a:latin typeface="Arial"/>
                <a:ea typeface="Arial"/>
                <a:cs typeface="Arial"/>
              </a:defRPr>
            </a:pPr>
            <a:r>
              <a:rPr sz="1200" b="1">
                <a:solidFill>
                  <a:srgbClr val="FFFFFF"/>
                </a:solidFill>
                <a:latin typeface="Arial"/>
                <a:ea typeface="Arial"/>
                <a:cs typeface="Arial"/>
              </a:rPr>
              <a:t>Example</a:t>
            </a:r>
          </a:p>
        </p:txBody>
      </p:sp>
      <p:sp>
        <p:nvSpPr>
          <p:cNvPr id="199" name="Rectangle 198">
            <a:extLst>
              <a:ext uri="{FF2B5EF4-FFF2-40B4-BE49-F238E27FC236}">
                <a16:creationId xmlns:a16="http://schemas.microsoft.com/office/drawing/2014/main" id="{3741AEFE-99D2-B243-3944-A00F46EA37A6}"/>
              </a:ext>
            </a:extLst>
          </p:cNvPr>
          <p:cNvSpPr>
            <a:spLocks noGrp="1"/>
          </p:cNvSpPr>
          <p:nvPr/>
        </p:nvSpPr>
        <p:spPr>
          <a:xfrm>
            <a:off x="609600" y="2562225"/>
            <a:ext cx="1524000" cy="428625"/>
          </a:xfrm>
          <a:prstGeom prst="rect">
            <a:avLst/>
          </a:prstGeom>
          <a:solidFill>
            <a:srgbClr val="F0F4F8"/>
          </a:solidFill>
          <a:ln w="9525">
            <a:solidFill>
              <a:srgbClr val="D7E0EA"/>
            </a:solidFill>
          </a:ln>
        </p:spPr>
        <p:txBody>
          <a:bodyPr/>
          <a:lstStyle/>
          <a:p>
            <a:endParaRPr lang="en-IN"/>
          </a:p>
        </p:txBody>
      </p:sp>
      <p:sp>
        <p:nvSpPr>
          <p:cNvPr id="201" name="Rectangle 200">
            <a:extLst>
              <a:ext uri="{FF2B5EF4-FFF2-40B4-BE49-F238E27FC236}">
                <a16:creationId xmlns:a16="http://schemas.microsoft.com/office/drawing/2014/main" id="{9F9751FE-1724-4E2B-DC2D-325DF50523A2}"/>
              </a:ext>
            </a:extLst>
          </p:cNvPr>
          <p:cNvSpPr>
            <a:spLocks noGrp="1"/>
          </p:cNvSpPr>
          <p:nvPr/>
        </p:nvSpPr>
        <p:spPr>
          <a:xfrm>
            <a:off x="723900" y="2581275"/>
            <a:ext cx="1295400" cy="390525"/>
          </a:xfrm>
          <a:prstGeom prst="rect">
            <a:avLst/>
          </a:prstGeom>
          <a:noFill/>
          <a:ln w="0">
            <a:noFill/>
          </a:ln>
        </p:spPr>
        <p:txBody>
          <a:bodyPr anchor="ctr">
            <a:normAutofit/>
          </a:bodyPr>
          <a:lstStyle/>
          <a:p>
            <a:pPr algn="l">
              <a:defRPr sz="1200" b="1">
                <a:solidFill>
                  <a:srgbClr val="102A56"/>
                </a:solidFill>
                <a:latin typeface="Arial"/>
                <a:ea typeface="Arial"/>
                <a:cs typeface="Arial"/>
              </a:defRPr>
            </a:pPr>
            <a:r>
              <a:rPr sz="1200" b="1">
                <a:solidFill>
                  <a:srgbClr val="102A56"/>
                </a:solidFill>
                <a:latin typeface="Arial"/>
                <a:ea typeface="Arial"/>
                <a:cs typeface="Arial"/>
              </a:rPr>
              <a:t>boolean</a:t>
            </a:r>
          </a:p>
        </p:txBody>
      </p:sp>
      <p:sp>
        <p:nvSpPr>
          <p:cNvPr id="203" name="Rectangle 202">
            <a:extLst>
              <a:ext uri="{FF2B5EF4-FFF2-40B4-BE49-F238E27FC236}">
                <a16:creationId xmlns:a16="http://schemas.microsoft.com/office/drawing/2014/main" id="{CCA28112-E946-608C-2272-B128A110B02B}"/>
              </a:ext>
            </a:extLst>
          </p:cNvPr>
          <p:cNvSpPr>
            <a:spLocks noGrp="1"/>
          </p:cNvSpPr>
          <p:nvPr/>
        </p:nvSpPr>
        <p:spPr>
          <a:xfrm>
            <a:off x="2133600" y="2562225"/>
            <a:ext cx="1524000" cy="428625"/>
          </a:xfrm>
          <a:prstGeom prst="rect">
            <a:avLst/>
          </a:prstGeom>
          <a:solidFill>
            <a:srgbClr val="F0F4F8"/>
          </a:solidFill>
          <a:ln w="9525">
            <a:solidFill>
              <a:srgbClr val="D7E0EA"/>
            </a:solidFill>
          </a:ln>
        </p:spPr>
        <p:txBody>
          <a:bodyPr/>
          <a:lstStyle/>
          <a:p>
            <a:endParaRPr lang="en-IN"/>
          </a:p>
        </p:txBody>
      </p:sp>
      <p:sp>
        <p:nvSpPr>
          <p:cNvPr id="205" name="Rectangle 204">
            <a:extLst>
              <a:ext uri="{FF2B5EF4-FFF2-40B4-BE49-F238E27FC236}">
                <a16:creationId xmlns:a16="http://schemas.microsoft.com/office/drawing/2014/main" id="{8748292A-30C2-D0E9-FC17-EBF7C0BBC34B}"/>
              </a:ext>
            </a:extLst>
          </p:cNvPr>
          <p:cNvSpPr>
            <a:spLocks noGrp="1"/>
          </p:cNvSpPr>
          <p:nvPr/>
        </p:nvSpPr>
        <p:spPr>
          <a:xfrm>
            <a:off x="2247900" y="2581275"/>
            <a:ext cx="1295400" cy="390525"/>
          </a:xfrm>
          <a:prstGeom prst="rect">
            <a:avLst/>
          </a:prstGeom>
          <a:noFill/>
          <a:ln w="0">
            <a:noFill/>
          </a:ln>
        </p:spPr>
        <p:txBody>
          <a:bodyPr anchor="ctr">
            <a:normAutofit fontScale="94809"/>
          </a:bodyPr>
          <a:lstStyle/>
          <a:p>
            <a:pPr algn="l">
              <a:defRPr sz="1200" b="0">
                <a:solidFill>
                  <a:srgbClr val="172B45"/>
                </a:solidFill>
                <a:latin typeface="Arial"/>
                <a:ea typeface="Arial"/>
                <a:cs typeface="Arial"/>
              </a:defRPr>
            </a:pPr>
            <a:r>
              <a:rPr sz="1200" b="0">
                <a:solidFill>
                  <a:srgbClr val="172B45"/>
                </a:solidFill>
                <a:latin typeface="Arial"/>
                <a:ea typeface="Arial"/>
                <a:cs typeface="Arial"/>
              </a:rPr>
              <a:t>Not fixed by Java</a:t>
            </a:r>
          </a:p>
        </p:txBody>
      </p:sp>
      <p:sp>
        <p:nvSpPr>
          <p:cNvPr id="207" name="Rectangle 206">
            <a:extLst>
              <a:ext uri="{FF2B5EF4-FFF2-40B4-BE49-F238E27FC236}">
                <a16:creationId xmlns:a16="http://schemas.microsoft.com/office/drawing/2014/main" id="{564F640C-6365-74F0-2CD2-8CB79A72B520}"/>
              </a:ext>
            </a:extLst>
          </p:cNvPr>
          <p:cNvSpPr>
            <a:spLocks noGrp="1"/>
          </p:cNvSpPr>
          <p:nvPr/>
        </p:nvSpPr>
        <p:spPr>
          <a:xfrm>
            <a:off x="3657600" y="2562225"/>
            <a:ext cx="1809750" cy="428625"/>
          </a:xfrm>
          <a:prstGeom prst="rect">
            <a:avLst/>
          </a:prstGeom>
          <a:solidFill>
            <a:srgbClr val="F0F4F8"/>
          </a:solidFill>
          <a:ln w="9525">
            <a:solidFill>
              <a:srgbClr val="D7E0EA"/>
            </a:solidFill>
          </a:ln>
        </p:spPr>
        <p:txBody>
          <a:bodyPr/>
          <a:lstStyle/>
          <a:p>
            <a:endParaRPr lang="en-IN"/>
          </a:p>
        </p:txBody>
      </p:sp>
      <p:sp>
        <p:nvSpPr>
          <p:cNvPr id="209" name="Rectangle 208">
            <a:extLst>
              <a:ext uri="{FF2B5EF4-FFF2-40B4-BE49-F238E27FC236}">
                <a16:creationId xmlns:a16="http://schemas.microsoft.com/office/drawing/2014/main" id="{4888ED51-AC06-34E5-0F3B-0AB76C6B4578}"/>
              </a:ext>
            </a:extLst>
          </p:cNvPr>
          <p:cNvSpPr>
            <a:spLocks noGrp="1"/>
          </p:cNvSpPr>
          <p:nvPr/>
        </p:nvSpPr>
        <p:spPr>
          <a:xfrm>
            <a:off x="3771900" y="2581275"/>
            <a:ext cx="1581150" cy="390525"/>
          </a:xfrm>
          <a:prstGeom prst="rect">
            <a:avLst/>
          </a:prstGeom>
          <a:noFill/>
          <a:ln w="0">
            <a:noFill/>
          </a:ln>
        </p:spPr>
        <p:txBody>
          <a:bodyPr anchor="ctr">
            <a:normAutofit/>
          </a:bodyPr>
          <a:lstStyle/>
          <a:p>
            <a:pPr algn="l">
              <a:defRPr sz="1200" b="1">
                <a:solidFill>
                  <a:srgbClr val="285E91"/>
                </a:solidFill>
                <a:latin typeface="Arial"/>
                <a:ea typeface="Arial"/>
                <a:cs typeface="Arial"/>
              </a:defRPr>
            </a:pPr>
            <a:r>
              <a:rPr sz="1200" b="1">
                <a:solidFill>
                  <a:srgbClr val="285E91"/>
                </a:solidFill>
                <a:latin typeface="Arial"/>
                <a:ea typeface="Arial"/>
                <a:cs typeface="Arial"/>
              </a:rPr>
              <a:t>Boolean</a:t>
            </a:r>
          </a:p>
        </p:txBody>
      </p:sp>
      <p:sp>
        <p:nvSpPr>
          <p:cNvPr id="211" name="Rectangle 210">
            <a:extLst>
              <a:ext uri="{FF2B5EF4-FFF2-40B4-BE49-F238E27FC236}">
                <a16:creationId xmlns:a16="http://schemas.microsoft.com/office/drawing/2014/main" id="{297A5FDA-F97E-A2F5-EED3-C6ABE9F206E0}"/>
              </a:ext>
            </a:extLst>
          </p:cNvPr>
          <p:cNvSpPr>
            <a:spLocks noGrp="1"/>
          </p:cNvSpPr>
          <p:nvPr/>
        </p:nvSpPr>
        <p:spPr>
          <a:xfrm>
            <a:off x="5467350" y="2562225"/>
            <a:ext cx="6115050" cy="428625"/>
          </a:xfrm>
          <a:prstGeom prst="rect">
            <a:avLst/>
          </a:prstGeom>
          <a:solidFill>
            <a:srgbClr val="F0F4F8"/>
          </a:solidFill>
          <a:ln w="9525">
            <a:solidFill>
              <a:srgbClr val="D7E0EA"/>
            </a:solidFill>
          </a:ln>
        </p:spPr>
        <p:txBody>
          <a:bodyPr/>
          <a:lstStyle/>
          <a:p>
            <a:endParaRPr lang="en-IN"/>
          </a:p>
        </p:txBody>
      </p:sp>
      <p:sp>
        <p:nvSpPr>
          <p:cNvPr id="213" name="Rectangle 212">
            <a:extLst>
              <a:ext uri="{FF2B5EF4-FFF2-40B4-BE49-F238E27FC236}">
                <a16:creationId xmlns:a16="http://schemas.microsoft.com/office/drawing/2014/main" id="{DD3C5D8C-7DD8-D7E2-2FA6-04ED2262D916}"/>
              </a:ext>
            </a:extLst>
          </p:cNvPr>
          <p:cNvSpPr>
            <a:spLocks noGrp="1"/>
          </p:cNvSpPr>
          <p:nvPr/>
        </p:nvSpPr>
        <p:spPr>
          <a:xfrm>
            <a:off x="5581650" y="2581275"/>
            <a:ext cx="5886450" cy="390525"/>
          </a:xfrm>
          <a:prstGeom prst="rect">
            <a:avLst/>
          </a:prstGeom>
          <a:noFill/>
          <a:ln w="0">
            <a:noFill/>
          </a:ln>
        </p:spPr>
        <p:txBody>
          <a:bodyPr anchor="ctr">
            <a:normAutofit/>
          </a:bodyPr>
          <a:lstStyle/>
          <a:p>
            <a:pPr algn="l">
              <a:defRPr sz="1275" b="0">
                <a:solidFill>
                  <a:srgbClr val="172B45"/>
                </a:solidFill>
                <a:latin typeface="Consolas"/>
                <a:ea typeface="Consolas"/>
                <a:cs typeface="Consolas"/>
              </a:defRPr>
            </a:pPr>
            <a:r>
              <a:rPr sz="1275" b="0">
                <a:solidFill>
                  <a:srgbClr val="172B45"/>
                </a:solidFill>
                <a:latin typeface="Consolas"/>
                <a:ea typeface="Consolas"/>
                <a:cs typeface="Consolas"/>
              </a:rPr>
              <a:t>boolean ready = true;</a:t>
            </a:r>
          </a:p>
        </p:txBody>
      </p:sp>
      <p:sp>
        <p:nvSpPr>
          <p:cNvPr id="215" name="Rectangle 214">
            <a:extLst>
              <a:ext uri="{FF2B5EF4-FFF2-40B4-BE49-F238E27FC236}">
                <a16:creationId xmlns:a16="http://schemas.microsoft.com/office/drawing/2014/main" id="{3FE3F70B-8D62-AD74-4027-B7C5B5C54B1A}"/>
              </a:ext>
            </a:extLst>
          </p:cNvPr>
          <p:cNvSpPr>
            <a:spLocks noGrp="1"/>
          </p:cNvSpPr>
          <p:nvPr/>
        </p:nvSpPr>
        <p:spPr>
          <a:xfrm>
            <a:off x="609600" y="2990850"/>
            <a:ext cx="1524000" cy="428625"/>
          </a:xfrm>
          <a:prstGeom prst="rect">
            <a:avLst/>
          </a:prstGeom>
          <a:solidFill>
            <a:srgbClr val="FFFFFF"/>
          </a:solidFill>
          <a:ln w="9525">
            <a:solidFill>
              <a:srgbClr val="D7E0EA"/>
            </a:solidFill>
          </a:ln>
        </p:spPr>
        <p:txBody>
          <a:bodyPr/>
          <a:lstStyle/>
          <a:p>
            <a:endParaRPr lang="en-IN"/>
          </a:p>
        </p:txBody>
      </p:sp>
      <p:sp>
        <p:nvSpPr>
          <p:cNvPr id="217" name="Rectangle 216">
            <a:extLst>
              <a:ext uri="{FF2B5EF4-FFF2-40B4-BE49-F238E27FC236}">
                <a16:creationId xmlns:a16="http://schemas.microsoft.com/office/drawing/2014/main" id="{9FB3C05E-A11F-6A89-1452-E93CB38E6D74}"/>
              </a:ext>
            </a:extLst>
          </p:cNvPr>
          <p:cNvSpPr>
            <a:spLocks noGrp="1"/>
          </p:cNvSpPr>
          <p:nvPr/>
        </p:nvSpPr>
        <p:spPr>
          <a:xfrm>
            <a:off x="723900" y="3009900"/>
            <a:ext cx="1295400" cy="390525"/>
          </a:xfrm>
          <a:prstGeom prst="rect">
            <a:avLst/>
          </a:prstGeom>
          <a:noFill/>
          <a:ln w="0">
            <a:noFill/>
          </a:ln>
        </p:spPr>
        <p:txBody>
          <a:bodyPr anchor="ctr">
            <a:normAutofit/>
          </a:bodyPr>
          <a:lstStyle/>
          <a:p>
            <a:pPr algn="l">
              <a:defRPr sz="1200" b="1">
                <a:solidFill>
                  <a:srgbClr val="102A56"/>
                </a:solidFill>
                <a:latin typeface="Arial"/>
                <a:ea typeface="Arial"/>
                <a:cs typeface="Arial"/>
              </a:defRPr>
            </a:pPr>
            <a:r>
              <a:rPr sz="1200" b="1">
                <a:solidFill>
                  <a:srgbClr val="102A56"/>
                </a:solidFill>
                <a:latin typeface="Arial"/>
                <a:ea typeface="Arial"/>
                <a:cs typeface="Arial"/>
              </a:rPr>
              <a:t>char</a:t>
            </a:r>
          </a:p>
        </p:txBody>
      </p:sp>
      <p:sp>
        <p:nvSpPr>
          <p:cNvPr id="219" name="Rectangle 218">
            <a:extLst>
              <a:ext uri="{FF2B5EF4-FFF2-40B4-BE49-F238E27FC236}">
                <a16:creationId xmlns:a16="http://schemas.microsoft.com/office/drawing/2014/main" id="{417D9D92-31C9-E5E1-D6D1-C28F546DE222}"/>
              </a:ext>
            </a:extLst>
          </p:cNvPr>
          <p:cNvSpPr>
            <a:spLocks noGrp="1"/>
          </p:cNvSpPr>
          <p:nvPr/>
        </p:nvSpPr>
        <p:spPr>
          <a:xfrm>
            <a:off x="2133600" y="2990850"/>
            <a:ext cx="1524000" cy="428625"/>
          </a:xfrm>
          <a:prstGeom prst="rect">
            <a:avLst/>
          </a:prstGeom>
          <a:solidFill>
            <a:srgbClr val="FFFFFF"/>
          </a:solidFill>
          <a:ln w="9525">
            <a:solidFill>
              <a:srgbClr val="D7E0EA"/>
            </a:solidFill>
          </a:ln>
        </p:spPr>
        <p:txBody>
          <a:bodyPr/>
          <a:lstStyle/>
          <a:p>
            <a:endParaRPr lang="en-IN"/>
          </a:p>
        </p:txBody>
      </p:sp>
      <p:sp>
        <p:nvSpPr>
          <p:cNvPr id="221" name="Rectangle 220">
            <a:extLst>
              <a:ext uri="{FF2B5EF4-FFF2-40B4-BE49-F238E27FC236}">
                <a16:creationId xmlns:a16="http://schemas.microsoft.com/office/drawing/2014/main" id="{A2D4FF21-FD4F-7729-3385-A108760473CE}"/>
              </a:ext>
            </a:extLst>
          </p:cNvPr>
          <p:cNvSpPr>
            <a:spLocks noGrp="1"/>
          </p:cNvSpPr>
          <p:nvPr/>
        </p:nvSpPr>
        <p:spPr>
          <a:xfrm>
            <a:off x="2247900" y="3009900"/>
            <a:ext cx="1295400" cy="390525"/>
          </a:xfrm>
          <a:prstGeom prst="rect">
            <a:avLst/>
          </a:prstGeom>
          <a:noFill/>
          <a:ln w="0">
            <a:noFill/>
          </a:ln>
        </p:spPr>
        <p:txBody>
          <a:bodyPr anchor="ctr">
            <a:normAutofit/>
          </a:bodyPr>
          <a:lstStyle/>
          <a:p>
            <a:pPr algn="l">
              <a:defRPr sz="1200" b="0">
                <a:solidFill>
                  <a:srgbClr val="172B45"/>
                </a:solidFill>
                <a:latin typeface="Arial"/>
                <a:ea typeface="Arial"/>
                <a:cs typeface="Arial"/>
              </a:defRPr>
            </a:pPr>
            <a:r>
              <a:rPr sz="1200" b="0">
                <a:solidFill>
                  <a:srgbClr val="172B45"/>
                </a:solidFill>
                <a:latin typeface="Arial"/>
                <a:ea typeface="Arial"/>
                <a:cs typeface="Arial"/>
              </a:rPr>
              <a:t>16 bits</a:t>
            </a:r>
          </a:p>
        </p:txBody>
      </p:sp>
      <p:sp>
        <p:nvSpPr>
          <p:cNvPr id="223" name="Rectangle 222">
            <a:extLst>
              <a:ext uri="{FF2B5EF4-FFF2-40B4-BE49-F238E27FC236}">
                <a16:creationId xmlns:a16="http://schemas.microsoft.com/office/drawing/2014/main" id="{12B0E076-5B3D-3D09-59B6-E079BA2E5031}"/>
              </a:ext>
            </a:extLst>
          </p:cNvPr>
          <p:cNvSpPr>
            <a:spLocks noGrp="1"/>
          </p:cNvSpPr>
          <p:nvPr/>
        </p:nvSpPr>
        <p:spPr>
          <a:xfrm>
            <a:off x="3657600" y="2990850"/>
            <a:ext cx="1809750" cy="428625"/>
          </a:xfrm>
          <a:prstGeom prst="rect">
            <a:avLst/>
          </a:prstGeom>
          <a:solidFill>
            <a:srgbClr val="FFFFFF"/>
          </a:solidFill>
          <a:ln w="9525">
            <a:solidFill>
              <a:srgbClr val="D7E0EA"/>
            </a:solidFill>
          </a:ln>
        </p:spPr>
        <p:txBody>
          <a:bodyPr/>
          <a:lstStyle/>
          <a:p>
            <a:endParaRPr lang="en-IN"/>
          </a:p>
        </p:txBody>
      </p:sp>
      <p:sp>
        <p:nvSpPr>
          <p:cNvPr id="225" name="Rectangle 224">
            <a:extLst>
              <a:ext uri="{FF2B5EF4-FFF2-40B4-BE49-F238E27FC236}">
                <a16:creationId xmlns:a16="http://schemas.microsoft.com/office/drawing/2014/main" id="{C09AC123-7C52-BBB8-08EA-01985680A82C}"/>
              </a:ext>
            </a:extLst>
          </p:cNvPr>
          <p:cNvSpPr>
            <a:spLocks noGrp="1"/>
          </p:cNvSpPr>
          <p:nvPr/>
        </p:nvSpPr>
        <p:spPr>
          <a:xfrm>
            <a:off x="3771900" y="3009900"/>
            <a:ext cx="1581150" cy="390525"/>
          </a:xfrm>
          <a:prstGeom prst="rect">
            <a:avLst/>
          </a:prstGeom>
          <a:noFill/>
          <a:ln w="0">
            <a:noFill/>
          </a:ln>
        </p:spPr>
        <p:txBody>
          <a:bodyPr anchor="ctr">
            <a:normAutofit/>
          </a:bodyPr>
          <a:lstStyle/>
          <a:p>
            <a:pPr algn="l">
              <a:defRPr sz="1200" b="1">
                <a:solidFill>
                  <a:srgbClr val="285E91"/>
                </a:solidFill>
                <a:latin typeface="Arial"/>
                <a:ea typeface="Arial"/>
                <a:cs typeface="Arial"/>
              </a:defRPr>
            </a:pPr>
            <a:r>
              <a:rPr sz="1200" b="1">
                <a:solidFill>
                  <a:srgbClr val="285E91"/>
                </a:solidFill>
                <a:latin typeface="Arial"/>
                <a:ea typeface="Arial"/>
                <a:cs typeface="Arial"/>
              </a:rPr>
              <a:t>Character</a:t>
            </a:r>
          </a:p>
        </p:txBody>
      </p:sp>
      <p:sp>
        <p:nvSpPr>
          <p:cNvPr id="227" name="Rectangle 226">
            <a:extLst>
              <a:ext uri="{FF2B5EF4-FFF2-40B4-BE49-F238E27FC236}">
                <a16:creationId xmlns:a16="http://schemas.microsoft.com/office/drawing/2014/main" id="{FD9D90C7-3151-F215-63E1-F58B32F028AD}"/>
              </a:ext>
            </a:extLst>
          </p:cNvPr>
          <p:cNvSpPr>
            <a:spLocks noGrp="1"/>
          </p:cNvSpPr>
          <p:nvPr/>
        </p:nvSpPr>
        <p:spPr>
          <a:xfrm>
            <a:off x="5467350" y="2990850"/>
            <a:ext cx="6115050" cy="428625"/>
          </a:xfrm>
          <a:prstGeom prst="rect">
            <a:avLst/>
          </a:prstGeom>
          <a:solidFill>
            <a:srgbClr val="FFFFFF"/>
          </a:solidFill>
          <a:ln w="9525">
            <a:solidFill>
              <a:srgbClr val="D7E0EA"/>
            </a:solidFill>
          </a:ln>
        </p:spPr>
        <p:txBody>
          <a:bodyPr/>
          <a:lstStyle/>
          <a:p>
            <a:endParaRPr lang="en-IN"/>
          </a:p>
        </p:txBody>
      </p:sp>
      <p:sp>
        <p:nvSpPr>
          <p:cNvPr id="229" name="Rectangle 228">
            <a:extLst>
              <a:ext uri="{FF2B5EF4-FFF2-40B4-BE49-F238E27FC236}">
                <a16:creationId xmlns:a16="http://schemas.microsoft.com/office/drawing/2014/main" id="{E8216955-95AD-C768-F6F9-604E1C05B799}"/>
              </a:ext>
            </a:extLst>
          </p:cNvPr>
          <p:cNvSpPr>
            <a:spLocks noGrp="1"/>
          </p:cNvSpPr>
          <p:nvPr/>
        </p:nvSpPr>
        <p:spPr>
          <a:xfrm>
            <a:off x="5581650" y="3009900"/>
            <a:ext cx="5886450" cy="390525"/>
          </a:xfrm>
          <a:prstGeom prst="rect">
            <a:avLst/>
          </a:prstGeom>
          <a:noFill/>
          <a:ln w="0">
            <a:noFill/>
          </a:ln>
        </p:spPr>
        <p:txBody>
          <a:bodyPr anchor="ctr">
            <a:normAutofit/>
          </a:bodyPr>
          <a:lstStyle/>
          <a:p>
            <a:pPr algn="l">
              <a:defRPr sz="1275" b="0">
                <a:solidFill>
                  <a:srgbClr val="172B45"/>
                </a:solidFill>
                <a:latin typeface="Consolas"/>
                <a:ea typeface="Consolas"/>
                <a:cs typeface="Consolas"/>
              </a:defRPr>
            </a:pPr>
            <a:r>
              <a:rPr sz="1275" b="0">
                <a:solidFill>
                  <a:srgbClr val="172B45"/>
                </a:solidFill>
                <a:latin typeface="Consolas"/>
                <a:ea typeface="Consolas"/>
                <a:cs typeface="Consolas"/>
              </a:rPr>
              <a:t>char grade = 'A';</a:t>
            </a:r>
          </a:p>
        </p:txBody>
      </p:sp>
      <p:sp>
        <p:nvSpPr>
          <p:cNvPr id="231" name="Rectangle 230">
            <a:extLst>
              <a:ext uri="{FF2B5EF4-FFF2-40B4-BE49-F238E27FC236}">
                <a16:creationId xmlns:a16="http://schemas.microsoft.com/office/drawing/2014/main" id="{E81402A2-E39D-A9AE-43F4-F86A06022035}"/>
              </a:ext>
            </a:extLst>
          </p:cNvPr>
          <p:cNvSpPr>
            <a:spLocks noGrp="1"/>
          </p:cNvSpPr>
          <p:nvPr/>
        </p:nvSpPr>
        <p:spPr>
          <a:xfrm>
            <a:off x="609600" y="3419475"/>
            <a:ext cx="1524000" cy="428625"/>
          </a:xfrm>
          <a:prstGeom prst="rect">
            <a:avLst/>
          </a:prstGeom>
          <a:solidFill>
            <a:srgbClr val="F0F4F8"/>
          </a:solidFill>
          <a:ln w="9525">
            <a:solidFill>
              <a:srgbClr val="D7E0EA"/>
            </a:solidFill>
          </a:ln>
        </p:spPr>
        <p:txBody>
          <a:bodyPr/>
          <a:lstStyle/>
          <a:p>
            <a:endParaRPr lang="en-IN"/>
          </a:p>
        </p:txBody>
      </p:sp>
      <p:sp>
        <p:nvSpPr>
          <p:cNvPr id="233" name="Rectangle 232">
            <a:extLst>
              <a:ext uri="{FF2B5EF4-FFF2-40B4-BE49-F238E27FC236}">
                <a16:creationId xmlns:a16="http://schemas.microsoft.com/office/drawing/2014/main" id="{C2323FCF-BF95-555F-1EAB-B9C91BFF29E9}"/>
              </a:ext>
            </a:extLst>
          </p:cNvPr>
          <p:cNvSpPr>
            <a:spLocks noGrp="1"/>
          </p:cNvSpPr>
          <p:nvPr/>
        </p:nvSpPr>
        <p:spPr>
          <a:xfrm>
            <a:off x="723900" y="3438525"/>
            <a:ext cx="1295400" cy="390525"/>
          </a:xfrm>
          <a:prstGeom prst="rect">
            <a:avLst/>
          </a:prstGeom>
          <a:noFill/>
          <a:ln w="0">
            <a:noFill/>
          </a:ln>
        </p:spPr>
        <p:txBody>
          <a:bodyPr anchor="ctr">
            <a:normAutofit/>
          </a:bodyPr>
          <a:lstStyle/>
          <a:p>
            <a:pPr algn="l">
              <a:defRPr sz="1200" b="1">
                <a:solidFill>
                  <a:srgbClr val="102A56"/>
                </a:solidFill>
                <a:latin typeface="Arial"/>
                <a:ea typeface="Arial"/>
                <a:cs typeface="Arial"/>
              </a:defRPr>
            </a:pPr>
            <a:r>
              <a:rPr sz="1200" b="1">
                <a:solidFill>
                  <a:srgbClr val="102A56"/>
                </a:solidFill>
                <a:latin typeface="Arial"/>
                <a:ea typeface="Arial"/>
                <a:cs typeface="Arial"/>
              </a:rPr>
              <a:t>byte</a:t>
            </a:r>
          </a:p>
        </p:txBody>
      </p:sp>
      <p:sp>
        <p:nvSpPr>
          <p:cNvPr id="235" name="Rectangle 234">
            <a:extLst>
              <a:ext uri="{FF2B5EF4-FFF2-40B4-BE49-F238E27FC236}">
                <a16:creationId xmlns:a16="http://schemas.microsoft.com/office/drawing/2014/main" id="{5DD5BB3E-81AF-2A82-5619-CBF6FA5F99D8}"/>
              </a:ext>
            </a:extLst>
          </p:cNvPr>
          <p:cNvSpPr>
            <a:spLocks noGrp="1"/>
          </p:cNvSpPr>
          <p:nvPr/>
        </p:nvSpPr>
        <p:spPr>
          <a:xfrm>
            <a:off x="2133600" y="3419475"/>
            <a:ext cx="1524000" cy="428625"/>
          </a:xfrm>
          <a:prstGeom prst="rect">
            <a:avLst/>
          </a:prstGeom>
          <a:solidFill>
            <a:srgbClr val="F0F4F8"/>
          </a:solidFill>
          <a:ln w="9525">
            <a:solidFill>
              <a:srgbClr val="D7E0EA"/>
            </a:solidFill>
          </a:ln>
        </p:spPr>
        <p:txBody>
          <a:bodyPr/>
          <a:lstStyle/>
          <a:p>
            <a:endParaRPr lang="en-IN"/>
          </a:p>
        </p:txBody>
      </p:sp>
      <p:sp>
        <p:nvSpPr>
          <p:cNvPr id="237" name="Rectangle 236">
            <a:extLst>
              <a:ext uri="{FF2B5EF4-FFF2-40B4-BE49-F238E27FC236}">
                <a16:creationId xmlns:a16="http://schemas.microsoft.com/office/drawing/2014/main" id="{2E395D10-2106-C652-B65C-9AC9638B32E5}"/>
              </a:ext>
            </a:extLst>
          </p:cNvPr>
          <p:cNvSpPr>
            <a:spLocks noGrp="1"/>
          </p:cNvSpPr>
          <p:nvPr/>
        </p:nvSpPr>
        <p:spPr>
          <a:xfrm>
            <a:off x="2247900" y="3438525"/>
            <a:ext cx="1295400" cy="390525"/>
          </a:xfrm>
          <a:prstGeom prst="rect">
            <a:avLst/>
          </a:prstGeom>
          <a:noFill/>
          <a:ln w="0">
            <a:noFill/>
          </a:ln>
        </p:spPr>
        <p:txBody>
          <a:bodyPr anchor="ctr">
            <a:normAutofit/>
          </a:bodyPr>
          <a:lstStyle/>
          <a:p>
            <a:pPr algn="l">
              <a:defRPr sz="1200" b="0">
                <a:solidFill>
                  <a:srgbClr val="172B45"/>
                </a:solidFill>
                <a:latin typeface="Arial"/>
                <a:ea typeface="Arial"/>
                <a:cs typeface="Arial"/>
              </a:defRPr>
            </a:pPr>
            <a:r>
              <a:rPr sz="1200" b="0">
                <a:solidFill>
                  <a:srgbClr val="172B45"/>
                </a:solidFill>
                <a:latin typeface="Arial"/>
                <a:ea typeface="Arial"/>
                <a:cs typeface="Arial"/>
              </a:rPr>
              <a:t>8 bits</a:t>
            </a:r>
          </a:p>
        </p:txBody>
      </p:sp>
      <p:sp>
        <p:nvSpPr>
          <p:cNvPr id="239" name="Rectangle 238">
            <a:extLst>
              <a:ext uri="{FF2B5EF4-FFF2-40B4-BE49-F238E27FC236}">
                <a16:creationId xmlns:a16="http://schemas.microsoft.com/office/drawing/2014/main" id="{8B01FD26-B58B-56FF-A750-CC56161AC8D6}"/>
              </a:ext>
            </a:extLst>
          </p:cNvPr>
          <p:cNvSpPr>
            <a:spLocks noGrp="1"/>
          </p:cNvSpPr>
          <p:nvPr/>
        </p:nvSpPr>
        <p:spPr>
          <a:xfrm>
            <a:off x="3657600" y="3419475"/>
            <a:ext cx="1809750" cy="428625"/>
          </a:xfrm>
          <a:prstGeom prst="rect">
            <a:avLst/>
          </a:prstGeom>
          <a:solidFill>
            <a:srgbClr val="F0F4F8"/>
          </a:solidFill>
          <a:ln w="9525">
            <a:solidFill>
              <a:srgbClr val="D7E0EA"/>
            </a:solidFill>
          </a:ln>
        </p:spPr>
        <p:txBody>
          <a:bodyPr/>
          <a:lstStyle/>
          <a:p>
            <a:endParaRPr lang="en-IN"/>
          </a:p>
        </p:txBody>
      </p:sp>
      <p:sp>
        <p:nvSpPr>
          <p:cNvPr id="241" name="Rectangle 240">
            <a:extLst>
              <a:ext uri="{FF2B5EF4-FFF2-40B4-BE49-F238E27FC236}">
                <a16:creationId xmlns:a16="http://schemas.microsoft.com/office/drawing/2014/main" id="{C2D791E5-F309-E724-1DBE-39DAD20E99D3}"/>
              </a:ext>
            </a:extLst>
          </p:cNvPr>
          <p:cNvSpPr>
            <a:spLocks noGrp="1"/>
          </p:cNvSpPr>
          <p:nvPr/>
        </p:nvSpPr>
        <p:spPr>
          <a:xfrm>
            <a:off x="3771900" y="3438525"/>
            <a:ext cx="1581150" cy="390525"/>
          </a:xfrm>
          <a:prstGeom prst="rect">
            <a:avLst/>
          </a:prstGeom>
          <a:noFill/>
          <a:ln w="0">
            <a:noFill/>
          </a:ln>
        </p:spPr>
        <p:txBody>
          <a:bodyPr anchor="ctr">
            <a:normAutofit/>
          </a:bodyPr>
          <a:lstStyle/>
          <a:p>
            <a:pPr algn="l">
              <a:defRPr sz="1200" b="1">
                <a:solidFill>
                  <a:srgbClr val="285E91"/>
                </a:solidFill>
                <a:latin typeface="Arial"/>
                <a:ea typeface="Arial"/>
                <a:cs typeface="Arial"/>
              </a:defRPr>
            </a:pPr>
            <a:r>
              <a:rPr sz="1200" b="1">
                <a:solidFill>
                  <a:srgbClr val="285E91"/>
                </a:solidFill>
                <a:latin typeface="Arial"/>
                <a:ea typeface="Arial"/>
                <a:cs typeface="Arial"/>
              </a:rPr>
              <a:t>Byte</a:t>
            </a:r>
          </a:p>
        </p:txBody>
      </p:sp>
      <p:sp>
        <p:nvSpPr>
          <p:cNvPr id="243" name="Rectangle 242">
            <a:extLst>
              <a:ext uri="{FF2B5EF4-FFF2-40B4-BE49-F238E27FC236}">
                <a16:creationId xmlns:a16="http://schemas.microsoft.com/office/drawing/2014/main" id="{7CA7FB35-9F32-43C9-6888-770580794FBD}"/>
              </a:ext>
            </a:extLst>
          </p:cNvPr>
          <p:cNvSpPr>
            <a:spLocks noGrp="1"/>
          </p:cNvSpPr>
          <p:nvPr/>
        </p:nvSpPr>
        <p:spPr>
          <a:xfrm>
            <a:off x="5467350" y="3419475"/>
            <a:ext cx="6115050" cy="428625"/>
          </a:xfrm>
          <a:prstGeom prst="rect">
            <a:avLst/>
          </a:prstGeom>
          <a:solidFill>
            <a:srgbClr val="F0F4F8"/>
          </a:solidFill>
          <a:ln w="9525">
            <a:solidFill>
              <a:srgbClr val="D7E0EA"/>
            </a:solidFill>
          </a:ln>
        </p:spPr>
        <p:txBody>
          <a:bodyPr/>
          <a:lstStyle/>
          <a:p>
            <a:endParaRPr lang="en-IN"/>
          </a:p>
        </p:txBody>
      </p:sp>
      <p:sp>
        <p:nvSpPr>
          <p:cNvPr id="245" name="Rectangle 244">
            <a:extLst>
              <a:ext uri="{FF2B5EF4-FFF2-40B4-BE49-F238E27FC236}">
                <a16:creationId xmlns:a16="http://schemas.microsoft.com/office/drawing/2014/main" id="{34E220C3-08E2-5A0C-38D2-503F727F719C}"/>
              </a:ext>
            </a:extLst>
          </p:cNvPr>
          <p:cNvSpPr>
            <a:spLocks noGrp="1"/>
          </p:cNvSpPr>
          <p:nvPr/>
        </p:nvSpPr>
        <p:spPr>
          <a:xfrm>
            <a:off x="5581650" y="3438525"/>
            <a:ext cx="5886450" cy="390525"/>
          </a:xfrm>
          <a:prstGeom prst="rect">
            <a:avLst/>
          </a:prstGeom>
          <a:noFill/>
          <a:ln w="0">
            <a:noFill/>
          </a:ln>
        </p:spPr>
        <p:txBody>
          <a:bodyPr anchor="ctr">
            <a:normAutofit/>
          </a:bodyPr>
          <a:lstStyle/>
          <a:p>
            <a:pPr algn="l">
              <a:defRPr sz="1275" b="0">
                <a:solidFill>
                  <a:srgbClr val="172B45"/>
                </a:solidFill>
                <a:latin typeface="Consolas"/>
                <a:ea typeface="Consolas"/>
                <a:cs typeface="Consolas"/>
              </a:defRPr>
            </a:pPr>
            <a:r>
              <a:rPr sz="1275" b="0">
                <a:solidFill>
                  <a:srgbClr val="172B45"/>
                </a:solidFill>
                <a:latin typeface="Consolas"/>
                <a:ea typeface="Consolas"/>
                <a:cs typeface="Consolas"/>
              </a:rPr>
              <a:t>byte age = 18;</a:t>
            </a:r>
          </a:p>
        </p:txBody>
      </p:sp>
      <p:sp>
        <p:nvSpPr>
          <p:cNvPr id="247" name="Rectangle 246">
            <a:extLst>
              <a:ext uri="{FF2B5EF4-FFF2-40B4-BE49-F238E27FC236}">
                <a16:creationId xmlns:a16="http://schemas.microsoft.com/office/drawing/2014/main" id="{C72E0167-7F7D-CF77-3F1B-3B461D50AC7C}"/>
              </a:ext>
            </a:extLst>
          </p:cNvPr>
          <p:cNvSpPr>
            <a:spLocks noGrp="1"/>
          </p:cNvSpPr>
          <p:nvPr/>
        </p:nvSpPr>
        <p:spPr>
          <a:xfrm>
            <a:off x="609600" y="3848100"/>
            <a:ext cx="1524000" cy="428625"/>
          </a:xfrm>
          <a:prstGeom prst="rect">
            <a:avLst/>
          </a:prstGeom>
          <a:solidFill>
            <a:srgbClr val="FFFFFF"/>
          </a:solidFill>
          <a:ln w="9525">
            <a:solidFill>
              <a:srgbClr val="D7E0EA"/>
            </a:solidFill>
          </a:ln>
        </p:spPr>
        <p:txBody>
          <a:bodyPr/>
          <a:lstStyle/>
          <a:p>
            <a:endParaRPr lang="en-IN"/>
          </a:p>
        </p:txBody>
      </p:sp>
      <p:sp>
        <p:nvSpPr>
          <p:cNvPr id="249" name="Rectangle 248">
            <a:extLst>
              <a:ext uri="{FF2B5EF4-FFF2-40B4-BE49-F238E27FC236}">
                <a16:creationId xmlns:a16="http://schemas.microsoft.com/office/drawing/2014/main" id="{59CFBB1A-1980-4CAF-3CBA-F3366E01F598}"/>
              </a:ext>
            </a:extLst>
          </p:cNvPr>
          <p:cNvSpPr>
            <a:spLocks noGrp="1"/>
          </p:cNvSpPr>
          <p:nvPr/>
        </p:nvSpPr>
        <p:spPr>
          <a:xfrm>
            <a:off x="723900" y="3867150"/>
            <a:ext cx="1295400" cy="390525"/>
          </a:xfrm>
          <a:prstGeom prst="rect">
            <a:avLst/>
          </a:prstGeom>
          <a:noFill/>
          <a:ln w="0">
            <a:noFill/>
          </a:ln>
        </p:spPr>
        <p:txBody>
          <a:bodyPr anchor="ctr">
            <a:normAutofit/>
          </a:bodyPr>
          <a:lstStyle/>
          <a:p>
            <a:pPr algn="l">
              <a:defRPr sz="1200" b="1">
                <a:solidFill>
                  <a:srgbClr val="102A56"/>
                </a:solidFill>
                <a:latin typeface="Arial"/>
                <a:ea typeface="Arial"/>
                <a:cs typeface="Arial"/>
              </a:defRPr>
            </a:pPr>
            <a:r>
              <a:rPr sz="1200" b="1">
                <a:solidFill>
                  <a:srgbClr val="102A56"/>
                </a:solidFill>
                <a:latin typeface="Arial"/>
                <a:ea typeface="Arial"/>
                <a:cs typeface="Arial"/>
              </a:rPr>
              <a:t>short</a:t>
            </a:r>
          </a:p>
        </p:txBody>
      </p:sp>
      <p:sp>
        <p:nvSpPr>
          <p:cNvPr id="251" name="Rectangle 250">
            <a:extLst>
              <a:ext uri="{FF2B5EF4-FFF2-40B4-BE49-F238E27FC236}">
                <a16:creationId xmlns:a16="http://schemas.microsoft.com/office/drawing/2014/main" id="{E7AC1E15-51FD-1920-1710-E59B67C43155}"/>
              </a:ext>
            </a:extLst>
          </p:cNvPr>
          <p:cNvSpPr>
            <a:spLocks noGrp="1"/>
          </p:cNvSpPr>
          <p:nvPr/>
        </p:nvSpPr>
        <p:spPr>
          <a:xfrm>
            <a:off x="2133600" y="3848100"/>
            <a:ext cx="1524000" cy="428625"/>
          </a:xfrm>
          <a:prstGeom prst="rect">
            <a:avLst/>
          </a:prstGeom>
          <a:solidFill>
            <a:srgbClr val="FFFFFF"/>
          </a:solidFill>
          <a:ln w="9525">
            <a:solidFill>
              <a:srgbClr val="D7E0EA"/>
            </a:solidFill>
          </a:ln>
        </p:spPr>
        <p:txBody>
          <a:bodyPr/>
          <a:lstStyle/>
          <a:p>
            <a:endParaRPr lang="en-IN"/>
          </a:p>
        </p:txBody>
      </p:sp>
      <p:sp>
        <p:nvSpPr>
          <p:cNvPr id="253" name="Rectangle 252">
            <a:extLst>
              <a:ext uri="{FF2B5EF4-FFF2-40B4-BE49-F238E27FC236}">
                <a16:creationId xmlns:a16="http://schemas.microsoft.com/office/drawing/2014/main" id="{C8BB6AD0-FC01-755E-EA9A-4350D1580E23}"/>
              </a:ext>
            </a:extLst>
          </p:cNvPr>
          <p:cNvSpPr>
            <a:spLocks noGrp="1"/>
          </p:cNvSpPr>
          <p:nvPr/>
        </p:nvSpPr>
        <p:spPr>
          <a:xfrm>
            <a:off x="2247900" y="3867150"/>
            <a:ext cx="1295400" cy="390525"/>
          </a:xfrm>
          <a:prstGeom prst="rect">
            <a:avLst/>
          </a:prstGeom>
          <a:noFill/>
          <a:ln w="0">
            <a:noFill/>
          </a:ln>
        </p:spPr>
        <p:txBody>
          <a:bodyPr anchor="ctr">
            <a:normAutofit/>
          </a:bodyPr>
          <a:lstStyle/>
          <a:p>
            <a:pPr algn="l">
              <a:defRPr sz="1200" b="0">
                <a:solidFill>
                  <a:srgbClr val="172B45"/>
                </a:solidFill>
                <a:latin typeface="Arial"/>
                <a:ea typeface="Arial"/>
                <a:cs typeface="Arial"/>
              </a:defRPr>
            </a:pPr>
            <a:r>
              <a:rPr sz="1200" b="0">
                <a:solidFill>
                  <a:srgbClr val="172B45"/>
                </a:solidFill>
                <a:latin typeface="Arial"/>
                <a:ea typeface="Arial"/>
                <a:cs typeface="Arial"/>
              </a:rPr>
              <a:t>16 bits</a:t>
            </a:r>
          </a:p>
        </p:txBody>
      </p:sp>
      <p:sp>
        <p:nvSpPr>
          <p:cNvPr id="255" name="Rectangle 254">
            <a:extLst>
              <a:ext uri="{FF2B5EF4-FFF2-40B4-BE49-F238E27FC236}">
                <a16:creationId xmlns:a16="http://schemas.microsoft.com/office/drawing/2014/main" id="{6F8F9957-D4FA-B736-081F-CBF01DFD26F0}"/>
              </a:ext>
            </a:extLst>
          </p:cNvPr>
          <p:cNvSpPr>
            <a:spLocks noGrp="1"/>
          </p:cNvSpPr>
          <p:nvPr/>
        </p:nvSpPr>
        <p:spPr>
          <a:xfrm>
            <a:off x="3657600" y="3848100"/>
            <a:ext cx="1809750" cy="428625"/>
          </a:xfrm>
          <a:prstGeom prst="rect">
            <a:avLst/>
          </a:prstGeom>
          <a:solidFill>
            <a:srgbClr val="FFFFFF"/>
          </a:solidFill>
          <a:ln w="9525">
            <a:solidFill>
              <a:srgbClr val="D7E0EA"/>
            </a:solidFill>
          </a:ln>
        </p:spPr>
        <p:txBody>
          <a:bodyPr/>
          <a:lstStyle/>
          <a:p>
            <a:endParaRPr lang="en-IN"/>
          </a:p>
        </p:txBody>
      </p:sp>
      <p:sp>
        <p:nvSpPr>
          <p:cNvPr id="257" name="Rectangle 256">
            <a:extLst>
              <a:ext uri="{FF2B5EF4-FFF2-40B4-BE49-F238E27FC236}">
                <a16:creationId xmlns:a16="http://schemas.microsoft.com/office/drawing/2014/main" id="{96E0871F-A2D6-F2D8-EFD2-EB62F0AAD01F}"/>
              </a:ext>
            </a:extLst>
          </p:cNvPr>
          <p:cNvSpPr>
            <a:spLocks noGrp="1"/>
          </p:cNvSpPr>
          <p:nvPr/>
        </p:nvSpPr>
        <p:spPr>
          <a:xfrm>
            <a:off x="3771900" y="3867150"/>
            <a:ext cx="1581150" cy="390525"/>
          </a:xfrm>
          <a:prstGeom prst="rect">
            <a:avLst/>
          </a:prstGeom>
          <a:noFill/>
          <a:ln w="0">
            <a:noFill/>
          </a:ln>
        </p:spPr>
        <p:txBody>
          <a:bodyPr anchor="ctr">
            <a:normAutofit/>
          </a:bodyPr>
          <a:lstStyle/>
          <a:p>
            <a:pPr algn="l">
              <a:defRPr sz="1200" b="1">
                <a:solidFill>
                  <a:srgbClr val="285E91"/>
                </a:solidFill>
                <a:latin typeface="Arial"/>
                <a:ea typeface="Arial"/>
                <a:cs typeface="Arial"/>
              </a:defRPr>
            </a:pPr>
            <a:r>
              <a:rPr sz="1200" b="1">
                <a:solidFill>
                  <a:srgbClr val="285E91"/>
                </a:solidFill>
                <a:latin typeface="Arial"/>
                <a:ea typeface="Arial"/>
                <a:cs typeface="Arial"/>
              </a:rPr>
              <a:t>Short</a:t>
            </a:r>
          </a:p>
        </p:txBody>
      </p:sp>
      <p:sp>
        <p:nvSpPr>
          <p:cNvPr id="259" name="Rectangle 258">
            <a:extLst>
              <a:ext uri="{FF2B5EF4-FFF2-40B4-BE49-F238E27FC236}">
                <a16:creationId xmlns:a16="http://schemas.microsoft.com/office/drawing/2014/main" id="{F16EC4FB-BAE5-A482-622F-3909445D6331}"/>
              </a:ext>
            </a:extLst>
          </p:cNvPr>
          <p:cNvSpPr>
            <a:spLocks noGrp="1"/>
          </p:cNvSpPr>
          <p:nvPr/>
        </p:nvSpPr>
        <p:spPr>
          <a:xfrm>
            <a:off x="5467350" y="3848100"/>
            <a:ext cx="6115050" cy="428625"/>
          </a:xfrm>
          <a:prstGeom prst="rect">
            <a:avLst/>
          </a:prstGeom>
          <a:solidFill>
            <a:srgbClr val="FFFFFF"/>
          </a:solidFill>
          <a:ln w="9525">
            <a:solidFill>
              <a:srgbClr val="D7E0EA"/>
            </a:solidFill>
          </a:ln>
        </p:spPr>
        <p:txBody>
          <a:bodyPr/>
          <a:lstStyle/>
          <a:p>
            <a:endParaRPr lang="en-IN"/>
          </a:p>
        </p:txBody>
      </p:sp>
      <p:sp>
        <p:nvSpPr>
          <p:cNvPr id="261" name="Rectangle 260">
            <a:extLst>
              <a:ext uri="{FF2B5EF4-FFF2-40B4-BE49-F238E27FC236}">
                <a16:creationId xmlns:a16="http://schemas.microsoft.com/office/drawing/2014/main" id="{2F6DAA31-4749-F726-089A-FDD9A20A64C7}"/>
              </a:ext>
            </a:extLst>
          </p:cNvPr>
          <p:cNvSpPr>
            <a:spLocks noGrp="1"/>
          </p:cNvSpPr>
          <p:nvPr/>
        </p:nvSpPr>
        <p:spPr>
          <a:xfrm>
            <a:off x="5581650" y="3867150"/>
            <a:ext cx="5886450" cy="390525"/>
          </a:xfrm>
          <a:prstGeom prst="rect">
            <a:avLst/>
          </a:prstGeom>
          <a:noFill/>
          <a:ln w="0">
            <a:noFill/>
          </a:ln>
        </p:spPr>
        <p:txBody>
          <a:bodyPr anchor="ctr">
            <a:normAutofit/>
          </a:bodyPr>
          <a:lstStyle/>
          <a:p>
            <a:pPr algn="l">
              <a:defRPr sz="1275" b="0">
                <a:solidFill>
                  <a:srgbClr val="172B45"/>
                </a:solidFill>
                <a:latin typeface="Consolas"/>
                <a:ea typeface="Consolas"/>
                <a:cs typeface="Consolas"/>
              </a:defRPr>
            </a:pPr>
            <a:r>
              <a:rPr sz="1275" b="0">
                <a:solidFill>
                  <a:srgbClr val="172B45"/>
                </a:solidFill>
                <a:latin typeface="Consolas"/>
                <a:ea typeface="Consolas"/>
                <a:cs typeface="Consolas"/>
              </a:rPr>
              <a:t>short year = 2026;</a:t>
            </a:r>
          </a:p>
        </p:txBody>
      </p:sp>
      <p:sp>
        <p:nvSpPr>
          <p:cNvPr id="263" name="Rectangle 262">
            <a:extLst>
              <a:ext uri="{FF2B5EF4-FFF2-40B4-BE49-F238E27FC236}">
                <a16:creationId xmlns:a16="http://schemas.microsoft.com/office/drawing/2014/main" id="{251A41B6-0C33-D4F1-9F6B-EA8D45B2622E}"/>
              </a:ext>
            </a:extLst>
          </p:cNvPr>
          <p:cNvSpPr>
            <a:spLocks noGrp="1"/>
          </p:cNvSpPr>
          <p:nvPr/>
        </p:nvSpPr>
        <p:spPr>
          <a:xfrm>
            <a:off x="609600" y="4276725"/>
            <a:ext cx="1524000" cy="428625"/>
          </a:xfrm>
          <a:prstGeom prst="rect">
            <a:avLst/>
          </a:prstGeom>
          <a:solidFill>
            <a:srgbClr val="F0F4F8"/>
          </a:solidFill>
          <a:ln w="9525">
            <a:solidFill>
              <a:srgbClr val="D7E0EA"/>
            </a:solidFill>
          </a:ln>
        </p:spPr>
        <p:txBody>
          <a:bodyPr/>
          <a:lstStyle/>
          <a:p>
            <a:endParaRPr lang="en-IN"/>
          </a:p>
        </p:txBody>
      </p:sp>
      <p:sp>
        <p:nvSpPr>
          <p:cNvPr id="265" name="Rectangle 264">
            <a:extLst>
              <a:ext uri="{FF2B5EF4-FFF2-40B4-BE49-F238E27FC236}">
                <a16:creationId xmlns:a16="http://schemas.microsoft.com/office/drawing/2014/main" id="{D189C6CD-AC72-BCCD-07B1-766E14699EB0}"/>
              </a:ext>
            </a:extLst>
          </p:cNvPr>
          <p:cNvSpPr>
            <a:spLocks noGrp="1"/>
          </p:cNvSpPr>
          <p:nvPr/>
        </p:nvSpPr>
        <p:spPr>
          <a:xfrm>
            <a:off x="723900" y="4295775"/>
            <a:ext cx="1295400" cy="390525"/>
          </a:xfrm>
          <a:prstGeom prst="rect">
            <a:avLst/>
          </a:prstGeom>
          <a:noFill/>
          <a:ln w="0">
            <a:noFill/>
          </a:ln>
        </p:spPr>
        <p:txBody>
          <a:bodyPr anchor="ctr">
            <a:normAutofit/>
          </a:bodyPr>
          <a:lstStyle/>
          <a:p>
            <a:pPr algn="l">
              <a:defRPr sz="1200" b="1">
                <a:solidFill>
                  <a:srgbClr val="102A56"/>
                </a:solidFill>
                <a:latin typeface="Arial"/>
                <a:ea typeface="Arial"/>
                <a:cs typeface="Arial"/>
              </a:defRPr>
            </a:pPr>
            <a:r>
              <a:rPr sz="1200" b="1">
                <a:solidFill>
                  <a:srgbClr val="102A56"/>
                </a:solidFill>
                <a:latin typeface="Arial"/>
                <a:ea typeface="Arial"/>
                <a:cs typeface="Arial"/>
              </a:rPr>
              <a:t>int</a:t>
            </a:r>
          </a:p>
        </p:txBody>
      </p:sp>
      <p:sp>
        <p:nvSpPr>
          <p:cNvPr id="267" name="Rectangle 266">
            <a:extLst>
              <a:ext uri="{FF2B5EF4-FFF2-40B4-BE49-F238E27FC236}">
                <a16:creationId xmlns:a16="http://schemas.microsoft.com/office/drawing/2014/main" id="{06DA630D-2C01-5A9F-E0FB-E33D5AA8AF60}"/>
              </a:ext>
            </a:extLst>
          </p:cNvPr>
          <p:cNvSpPr>
            <a:spLocks noGrp="1"/>
          </p:cNvSpPr>
          <p:nvPr/>
        </p:nvSpPr>
        <p:spPr>
          <a:xfrm>
            <a:off x="2133600" y="4276725"/>
            <a:ext cx="1524000" cy="428625"/>
          </a:xfrm>
          <a:prstGeom prst="rect">
            <a:avLst/>
          </a:prstGeom>
          <a:solidFill>
            <a:srgbClr val="F0F4F8"/>
          </a:solidFill>
          <a:ln w="9525">
            <a:solidFill>
              <a:srgbClr val="D7E0EA"/>
            </a:solidFill>
          </a:ln>
        </p:spPr>
        <p:txBody>
          <a:bodyPr/>
          <a:lstStyle/>
          <a:p>
            <a:endParaRPr lang="en-IN"/>
          </a:p>
        </p:txBody>
      </p:sp>
      <p:sp>
        <p:nvSpPr>
          <p:cNvPr id="269" name="Rectangle 268">
            <a:extLst>
              <a:ext uri="{FF2B5EF4-FFF2-40B4-BE49-F238E27FC236}">
                <a16:creationId xmlns:a16="http://schemas.microsoft.com/office/drawing/2014/main" id="{4F91365A-0D11-18BE-93A0-D6F36A17240F}"/>
              </a:ext>
            </a:extLst>
          </p:cNvPr>
          <p:cNvSpPr>
            <a:spLocks noGrp="1"/>
          </p:cNvSpPr>
          <p:nvPr/>
        </p:nvSpPr>
        <p:spPr>
          <a:xfrm>
            <a:off x="2247900" y="4295775"/>
            <a:ext cx="1295400" cy="390525"/>
          </a:xfrm>
          <a:prstGeom prst="rect">
            <a:avLst/>
          </a:prstGeom>
          <a:noFill/>
          <a:ln w="0">
            <a:noFill/>
          </a:ln>
        </p:spPr>
        <p:txBody>
          <a:bodyPr anchor="ctr">
            <a:normAutofit/>
          </a:bodyPr>
          <a:lstStyle/>
          <a:p>
            <a:pPr algn="l">
              <a:defRPr sz="1200" b="0">
                <a:solidFill>
                  <a:srgbClr val="172B45"/>
                </a:solidFill>
                <a:latin typeface="Arial"/>
                <a:ea typeface="Arial"/>
                <a:cs typeface="Arial"/>
              </a:defRPr>
            </a:pPr>
            <a:r>
              <a:rPr sz="1200" b="0">
                <a:solidFill>
                  <a:srgbClr val="172B45"/>
                </a:solidFill>
                <a:latin typeface="Arial"/>
                <a:ea typeface="Arial"/>
                <a:cs typeface="Arial"/>
              </a:rPr>
              <a:t>32 bits</a:t>
            </a:r>
          </a:p>
        </p:txBody>
      </p:sp>
      <p:sp>
        <p:nvSpPr>
          <p:cNvPr id="271" name="Rectangle 270">
            <a:extLst>
              <a:ext uri="{FF2B5EF4-FFF2-40B4-BE49-F238E27FC236}">
                <a16:creationId xmlns:a16="http://schemas.microsoft.com/office/drawing/2014/main" id="{A6663963-117F-C708-1C1C-07067A204431}"/>
              </a:ext>
            </a:extLst>
          </p:cNvPr>
          <p:cNvSpPr>
            <a:spLocks noGrp="1"/>
          </p:cNvSpPr>
          <p:nvPr/>
        </p:nvSpPr>
        <p:spPr>
          <a:xfrm>
            <a:off x="3657600" y="4276725"/>
            <a:ext cx="1809750" cy="428625"/>
          </a:xfrm>
          <a:prstGeom prst="rect">
            <a:avLst/>
          </a:prstGeom>
          <a:solidFill>
            <a:srgbClr val="F0F4F8"/>
          </a:solidFill>
          <a:ln w="9525">
            <a:solidFill>
              <a:srgbClr val="D7E0EA"/>
            </a:solidFill>
          </a:ln>
        </p:spPr>
        <p:txBody>
          <a:bodyPr/>
          <a:lstStyle/>
          <a:p>
            <a:endParaRPr lang="en-IN"/>
          </a:p>
        </p:txBody>
      </p:sp>
      <p:sp>
        <p:nvSpPr>
          <p:cNvPr id="273" name="Rectangle 272">
            <a:extLst>
              <a:ext uri="{FF2B5EF4-FFF2-40B4-BE49-F238E27FC236}">
                <a16:creationId xmlns:a16="http://schemas.microsoft.com/office/drawing/2014/main" id="{80EB8026-4D6E-0FC6-CE2E-37AD907E57F2}"/>
              </a:ext>
            </a:extLst>
          </p:cNvPr>
          <p:cNvSpPr>
            <a:spLocks noGrp="1"/>
          </p:cNvSpPr>
          <p:nvPr/>
        </p:nvSpPr>
        <p:spPr>
          <a:xfrm>
            <a:off x="3771900" y="4295775"/>
            <a:ext cx="1581150" cy="390525"/>
          </a:xfrm>
          <a:prstGeom prst="rect">
            <a:avLst/>
          </a:prstGeom>
          <a:noFill/>
          <a:ln w="0">
            <a:noFill/>
          </a:ln>
        </p:spPr>
        <p:txBody>
          <a:bodyPr anchor="ctr">
            <a:normAutofit/>
          </a:bodyPr>
          <a:lstStyle/>
          <a:p>
            <a:pPr algn="l">
              <a:defRPr sz="1200" b="1">
                <a:solidFill>
                  <a:srgbClr val="285E91"/>
                </a:solidFill>
                <a:latin typeface="Arial"/>
                <a:ea typeface="Arial"/>
                <a:cs typeface="Arial"/>
              </a:defRPr>
            </a:pPr>
            <a:r>
              <a:rPr sz="1200" b="1">
                <a:solidFill>
                  <a:srgbClr val="285E91"/>
                </a:solidFill>
                <a:latin typeface="Arial"/>
                <a:ea typeface="Arial"/>
                <a:cs typeface="Arial"/>
              </a:rPr>
              <a:t>Integer</a:t>
            </a:r>
          </a:p>
        </p:txBody>
      </p:sp>
      <p:sp>
        <p:nvSpPr>
          <p:cNvPr id="275" name="Rectangle 274">
            <a:extLst>
              <a:ext uri="{FF2B5EF4-FFF2-40B4-BE49-F238E27FC236}">
                <a16:creationId xmlns:a16="http://schemas.microsoft.com/office/drawing/2014/main" id="{EDEAC1B4-AE1F-B8CD-38F3-A2C3C733B29D}"/>
              </a:ext>
            </a:extLst>
          </p:cNvPr>
          <p:cNvSpPr>
            <a:spLocks noGrp="1"/>
          </p:cNvSpPr>
          <p:nvPr/>
        </p:nvSpPr>
        <p:spPr>
          <a:xfrm>
            <a:off x="5467350" y="4276725"/>
            <a:ext cx="6115050" cy="428625"/>
          </a:xfrm>
          <a:prstGeom prst="rect">
            <a:avLst/>
          </a:prstGeom>
          <a:solidFill>
            <a:srgbClr val="F0F4F8"/>
          </a:solidFill>
          <a:ln w="9525">
            <a:solidFill>
              <a:srgbClr val="D7E0EA"/>
            </a:solidFill>
          </a:ln>
        </p:spPr>
        <p:txBody>
          <a:bodyPr/>
          <a:lstStyle/>
          <a:p>
            <a:endParaRPr lang="en-IN"/>
          </a:p>
        </p:txBody>
      </p:sp>
      <p:sp>
        <p:nvSpPr>
          <p:cNvPr id="277" name="Rectangle 276">
            <a:extLst>
              <a:ext uri="{FF2B5EF4-FFF2-40B4-BE49-F238E27FC236}">
                <a16:creationId xmlns:a16="http://schemas.microsoft.com/office/drawing/2014/main" id="{CFA13F2F-4D7F-7676-92E8-F69BA040AA5A}"/>
              </a:ext>
            </a:extLst>
          </p:cNvPr>
          <p:cNvSpPr>
            <a:spLocks noGrp="1"/>
          </p:cNvSpPr>
          <p:nvPr/>
        </p:nvSpPr>
        <p:spPr>
          <a:xfrm>
            <a:off x="5581650" y="4295775"/>
            <a:ext cx="5886450" cy="390525"/>
          </a:xfrm>
          <a:prstGeom prst="rect">
            <a:avLst/>
          </a:prstGeom>
          <a:noFill/>
          <a:ln w="0">
            <a:noFill/>
          </a:ln>
        </p:spPr>
        <p:txBody>
          <a:bodyPr anchor="ctr">
            <a:normAutofit/>
          </a:bodyPr>
          <a:lstStyle/>
          <a:p>
            <a:pPr algn="l">
              <a:defRPr sz="1275" b="0">
                <a:solidFill>
                  <a:srgbClr val="172B45"/>
                </a:solidFill>
                <a:latin typeface="Consolas"/>
                <a:ea typeface="Consolas"/>
                <a:cs typeface="Consolas"/>
              </a:defRPr>
            </a:pPr>
            <a:r>
              <a:rPr sz="1275" b="0">
                <a:solidFill>
                  <a:srgbClr val="172B45"/>
                </a:solidFill>
                <a:latin typeface="Consolas"/>
                <a:ea typeface="Consolas"/>
                <a:cs typeface="Consolas"/>
              </a:rPr>
              <a:t>int count = 42;</a:t>
            </a:r>
          </a:p>
        </p:txBody>
      </p:sp>
      <p:sp>
        <p:nvSpPr>
          <p:cNvPr id="279" name="Rectangle 278">
            <a:extLst>
              <a:ext uri="{FF2B5EF4-FFF2-40B4-BE49-F238E27FC236}">
                <a16:creationId xmlns:a16="http://schemas.microsoft.com/office/drawing/2014/main" id="{F9A94F80-582A-D8C9-374F-97196E966F43}"/>
              </a:ext>
            </a:extLst>
          </p:cNvPr>
          <p:cNvSpPr>
            <a:spLocks noGrp="1"/>
          </p:cNvSpPr>
          <p:nvPr/>
        </p:nvSpPr>
        <p:spPr>
          <a:xfrm>
            <a:off x="609600" y="4705350"/>
            <a:ext cx="1524000" cy="428625"/>
          </a:xfrm>
          <a:prstGeom prst="rect">
            <a:avLst/>
          </a:prstGeom>
          <a:solidFill>
            <a:srgbClr val="FFFFFF"/>
          </a:solidFill>
          <a:ln w="9525">
            <a:solidFill>
              <a:srgbClr val="D7E0EA"/>
            </a:solidFill>
          </a:ln>
        </p:spPr>
        <p:txBody>
          <a:bodyPr/>
          <a:lstStyle/>
          <a:p>
            <a:endParaRPr lang="en-IN"/>
          </a:p>
        </p:txBody>
      </p:sp>
      <p:sp>
        <p:nvSpPr>
          <p:cNvPr id="281" name="Rectangle 280">
            <a:extLst>
              <a:ext uri="{FF2B5EF4-FFF2-40B4-BE49-F238E27FC236}">
                <a16:creationId xmlns:a16="http://schemas.microsoft.com/office/drawing/2014/main" id="{7EB5880B-340C-CB46-6926-4C2E187EA793}"/>
              </a:ext>
            </a:extLst>
          </p:cNvPr>
          <p:cNvSpPr>
            <a:spLocks noGrp="1"/>
          </p:cNvSpPr>
          <p:nvPr/>
        </p:nvSpPr>
        <p:spPr>
          <a:xfrm>
            <a:off x="723900" y="4724400"/>
            <a:ext cx="1295400" cy="390525"/>
          </a:xfrm>
          <a:prstGeom prst="rect">
            <a:avLst/>
          </a:prstGeom>
          <a:noFill/>
          <a:ln w="0">
            <a:noFill/>
          </a:ln>
        </p:spPr>
        <p:txBody>
          <a:bodyPr anchor="ctr">
            <a:normAutofit/>
          </a:bodyPr>
          <a:lstStyle/>
          <a:p>
            <a:pPr algn="l">
              <a:defRPr sz="1200" b="1">
                <a:solidFill>
                  <a:srgbClr val="102A56"/>
                </a:solidFill>
                <a:latin typeface="Arial"/>
                <a:ea typeface="Arial"/>
                <a:cs typeface="Arial"/>
              </a:defRPr>
            </a:pPr>
            <a:r>
              <a:rPr sz="1200" b="1">
                <a:solidFill>
                  <a:srgbClr val="102A56"/>
                </a:solidFill>
                <a:latin typeface="Arial"/>
                <a:ea typeface="Arial"/>
                <a:cs typeface="Arial"/>
              </a:rPr>
              <a:t>long</a:t>
            </a:r>
          </a:p>
        </p:txBody>
      </p:sp>
      <p:sp>
        <p:nvSpPr>
          <p:cNvPr id="283" name="Rectangle 282">
            <a:extLst>
              <a:ext uri="{FF2B5EF4-FFF2-40B4-BE49-F238E27FC236}">
                <a16:creationId xmlns:a16="http://schemas.microsoft.com/office/drawing/2014/main" id="{7762D1B5-C3AE-54B7-D6C8-915A25F9D02E}"/>
              </a:ext>
            </a:extLst>
          </p:cNvPr>
          <p:cNvSpPr>
            <a:spLocks noGrp="1"/>
          </p:cNvSpPr>
          <p:nvPr/>
        </p:nvSpPr>
        <p:spPr>
          <a:xfrm>
            <a:off x="2133600" y="4705350"/>
            <a:ext cx="1524000" cy="428625"/>
          </a:xfrm>
          <a:prstGeom prst="rect">
            <a:avLst/>
          </a:prstGeom>
          <a:solidFill>
            <a:srgbClr val="FFFFFF"/>
          </a:solidFill>
          <a:ln w="9525">
            <a:solidFill>
              <a:srgbClr val="D7E0EA"/>
            </a:solidFill>
          </a:ln>
        </p:spPr>
        <p:txBody>
          <a:bodyPr/>
          <a:lstStyle/>
          <a:p>
            <a:endParaRPr lang="en-IN"/>
          </a:p>
        </p:txBody>
      </p:sp>
      <p:sp>
        <p:nvSpPr>
          <p:cNvPr id="285" name="Rectangle 284">
            <a:extLst>
              <a:ext uri="{FF2B5EF4-FFF2-40B4-BE49-F238E27FC236}">
                <a16:creationId xmlns:a16="http://schemas.microsoft.com/office/drawing/2014/main" id="{A9DD5F4A-D896-3E77-E027-30BFD2DEE62E}"/>
              </a:ext>
            </a:extLst>
          </p:cNvPr>
          <p:cNvSpPr>
            <a:spLocks noGrp="1"/>
          </p:cNvSpPr>
          <p:nvPr/>
        </p:nvSpPr>
        <p:spPr>
          <a:xfrm>
            <a:off x="2247900" y="4724400"/>
            <a:ext cx="1295400" cy="390525"/>
          </a:xfrm>
          <a:prstGeom prst="rect">
            <a:avLst/>
          </a:prstGeom>
          <a:noFill/>
          <a:ln w="0">
            <a:noFill/>
          </a:ln>
        </p:spPr>
        <p:txBody>
          <a:bodyPr anchor="ctr">
            <a:normAutofit/>
          </a:bodyPr>
          <a:lstStyle/>
          <a:p>
            <a:pPr algn="l">
              <a:defRPr sz="1200" b="0">
                <a:solidFill>
                  <a:srgbClr val="172B45"/>
                </a:solidFill>
                <a:latin typeface="Arial"/>
                <a:ea typeface="Arial"/>
                <a:cs typeface="Arial"/>
              </a:defRPr>
            </a:pPr>
            <a:r>
              <a:rPr sz="1200" b="0">
                <a:solidFill>
                  <a:srgbClr val="172B45"/>
                </a:solidFill>
                <a:latin typeface="Arial"/>
                <a:ea typeface="Arial"/>
                <a:cs typeface="Arial"/>
              </a:rPr>
              <a:t>64 bits</a:t>
            </a:r>
          </a:p>
        </p:txBody>
      </p:sp>
      <p:sp>
        <p:nvSpPr>
          <p:cNvPr id="287" name="Rectangle 286">
            <a:extLst>
              <a:ext uri="{FF2B5EF4-FFF2-40B4-BE49-F238E27FC236}">
                <a16:creationId xmlns:a16="http://schemas.microsoft.com/office/drawing/2014/main" id="{819690F7-65C2-2843-B8CF-08A5ECDFD9A1}"/>
              </a:ext>
            </a:extLst>
          </p:cNvPr>
          <p:cNvSpPr>
            <a:spLocks noGrp="1"/>
          </p:cNvSpPr>
          <p:nvPr/>
        </p:nvSpPr>
        <p:spPr>
          <a:xfrm>
            <a:off x="3657600" y="4705350"/>
            <a:ext cx="1809750" cy="428625"/>
          </a:xfrm>
          <a:prstGeom prst="rect">
            <a:avLst/>
          </a:prstGeom>
          <a:solidFill>
            <a:srgbClr val="FFFFFF"/>
          </a:solidFill>
          <a:ln w="9525">
            <a:solidFill>
              <a:srgbClr val="D7E0EA"/>
            </a:solidFill>
          </a:ln>
        </p:spPr>
        <p:txBody>
          <a:bodyPr/>
          <a:lstStyle/>
          <a:p>
            <a:endParaRPr lang="en-IN"/>
          </a:p>
        </p:txBody>
      </p:sp>
      <p:sp>
        <p:nvSpPr>
          <p:cNvPr id="289" name="Rectangle 288">
            <a:extLst>
              <a:ext uri="{FF2B5EF4-FFF2-40B4-BE49-F238E27FC236}">
                <a16:creationId xmlns:a16="http://schemas.microsoft.com/office/drawing/2014/main" id="{63CA4289-7009-07DC-7A13-27708C1DFB38}"/>
              </a:ext>
            </a:extLst>
          </p:cNvPr>
          <p:cNvSpPr>
            <a:spLocks noGrp="1"/>
          </p:cNvSpPr>
          <p:nvPr/>
        </p:nvSpPr>
        <p:spPr>
          <a:xfrm>
            <a:off x="3771900" y="4724400"/>
            <a:ext cx="1581150" cy="390525"/>
          </a:xfrm>
          <a:prstGeom prst="rect">
            <a:avLst/>
          </a:prstGeom>
          <a:noFill/>
          <a:ln w="0">
            <a:noFill/>
          </a:ln>
        </p:spPr>
        <p:txBody>
          <a:bodyPr anchor="ctr">
            <a:normAutofit/>
          </a:bodyPr>
          <a:lstStyle/>
          <a:p>
            <a:pPr algn="l">
              <a:defRPr sz="1200" b="1">
                <a:solidFill>
                  <a:srgbClr val="285E91"/>
                </a:solidFill>
                <a:latin typeface="Arial"/>
                <a:ea typeface="Arial"/>
                <a:cs typeface="Arial"/>
              </a:defRPr>
            </a:pPr>
            <a:r>
              <a:rPr sz="1200" b="1">
                <a:solidFill>
                  <a:srgbClr val="285E91"/>
                </a:solidFill>
                <a:latin typeface="Arial"/>
                <a:ea typeface="Arial"/>
                <a:cs typeface="Arial"/>
              </a:rPr>
              <a:t>Long</a:t>
            </a:r>
          </a:p>
        </p:txBody>
      </p:sp>
      <p:sp>
        <p:nvSpPr>
          <p:cNvPr id="291" name="Rectangle 290">
            <a:extLst>
              <a:ext uri="{FF2B5EF4-FFF2-40B4-BE49-F238E27FC236}">
                <a16:creationId xmlns:a16="http://schemas.microsoft.com/office/drawing/2014/main" id="{80FCC01B-37C2-44E1-D38E-A7BF4C9E3434}"/>
              </a:ext>
            </a:extLst>
          </p:cNvPr>
          <p:cNvSpPr>
            <a:spLocks noGrp="1"/>
          </p:cNvSpPr>
          <p:nvPr/>
        </p:nvSpPr>
        <p:spPr>
          <a:xfrm>
            <a:off x="5467350" y="4705350"/>
            <a:ext cx="6115050" cy="428625"/>
          </a:xfrm>
          <a:prstGeom prst="rect">
            <a:avLst/>
          </a:prstGeom>
          <a:solidFill>
            <a:srgbClr val="FFFFFF"/>
          </a:solidFill>
          <a:ln w="9525">
            <a:solidFill>
              <a:srgbClr val="D7E0EA"/>
            </a:solidFill>
          </a:ln>
        </p:spPr>
        <p:txBody>
          <a:bodyPr/>
          <a:lstStyle/>
          <a:p>
            <a:endParaRPr lang="en-IN"/>
          </a:p>
        </p:txBody>
      </p:sp>
      <p:sp>
        <p:nvSpPr>
          <p:cNvPr id="293" name="Rectangle 292">
            <a:extLst>
              <a:ext uri="{FF2B5EF4-FFF2-40B4-BE49-F238E27FC236}">
                <a16:creationId xmlns:a16="http://schemas.microsoft.com/office/drawing/2014/main" id="{14999209-5AD1-0247-34DC-3ACA5F73D1C5}"/>
              </a:ext>
            </a:extLst>
          </p:cNvPr>
          <p:cNvSpPr>
            <a:spLocks noGrp="1"/>
          </p:cNvSpPr>
          <p:nvPr/>
        </p:nvSpPr>
        <p:spPr>
          <a:xfrm>
            <a:off x="5581650" y="4724400"/>
            <a:ext cx="5886450" cy="390525"/>
          </a:xfrm>
          <a:prstGeom prst="rect">
            <a:avLst/>
          </a:prstGeom>
          <a:noFill/>
          <a:ln w="0">
            <a:noFill/>
          </a:ln>
        </p:spPr>
        <p:txBody>
          <a:bodyPr anchor="ctr">
            <a:normAutofit/>
          </a:bodyPr>
          <a:lstStyle/>
          <a:p>
            <a:pPr algn="l">
              <a:defRPr sz="1275" b="0">
                <a:solidFill>
                  <a:srgbClr val="172B45"/>
                </a:solidFill>
                <a:latin typeface="Consolas"/>
                <a:ea typeface="Consolas"/>
                <a:cs typeface="Consolas"/>
              </a:defRPr>
            </a:pPr>
            <a:r>
              <a:rPr sz="1275" b="0">
                <a:solidFill>
                  <a:srgbClr val="172B45"/>
                </a:solidFill>
                <a:latin typeface="Consolas"/>
                <a:ea typeface="Consolas"/>
                <a:cs typeface="Consolas"/>
              </a:rPr>
              <a:t>long distance = 9_000_000_000L;</a:t>
            </a:r>
          </a:p>
        </p:txBody>
      </p:sp>
      <p:sp>
        <p:nvSpPr>
          <p:cNvPr id="295" name="Rectangle 294">
            <a:extLst>
              <a:ext uri="{FF2B5EF4-FFF2-40B4-BE49-F238E27FC236}">
                <a16:creationId xmlns:a16="http://schemas.microsoft.com/office/drawing/2014/main" id="{AC031234-1247-0939-C52E-AACC8DFB5748}"/>
              </a:ext>
            </a:extLst>
          </p:cNvPr>
          <p:cNvSpPr>
            <a:spLocks noGrp="1"/>
          </p:cNvSpPr>
          <p:nvPr/>
        </p:nvSpPr>
        <p:spPr>
          <a:xfrm>
            <a:off x="609600" y="5133975"/>
            <a:ext cx="1524000" cy="428625"/>
          </a:xfrm>
          <a:prstGeom prst="rect">
            <a:avLst/>
          </a:prstGeom>
          <a:solidFill>
            <a:srgbClr val="F0F4F8"/>
          </a:solidFill>
          <a:ln w="9525">
            <a:solidFill>
              <a:srgbClr val="D7E0EA"/>
            </a:solidFill>
          </a:ln>
        </p:spPr>
        <p:txBody>
          <a:bodyPr/>
          <a:lstStyle/>
          <a:p>
            <a:endParaRPr lang="en-IN"/>
          </a:p>
        </p:txBody>
      </p:sp>
      <p:sp>
        <p:nvSpPr>
          <p:cNvPr id="297" name="Rectangle 296">
            <a:extLst>
              <a:ext uri="{FF2B5EF4-FFF2-40B4-BE49-F238E27FC236}">
                <a16:creationId xmlns:a16="http://schemas.microsoft.com/office/drawing/2014/main" id="{82614B05-16FF-655C-0437-FB509FC1552D}"/>
              </a:ext>
            </a:extLst>
          </p:cNvPr>
          <p:cNvSpPr>
            <a:spLocks noGrp="1"/>
          </p:cNvSpPr>
          <p:nvPr/>
        </p:nvSpPr>
        <p:spPr>
          <a:xfrm>
            <a:off x="723900" y="5153025"/>
            <a:ext cx="1295400" cy="390525"/>
          </a:xfrm>
          <a:prstGeom prst="rect">
            <a:avLst/>
          </a:prstGeom>
          <a:noFill/>
          <a:ln w="0">
            <a:noFill/>
          </a:ln>
        </p:spPr>
        <p:txBody>
          <a:bodyPr anchor="ctr">
            <a:normAutofit/>
          </a:bodyPr>
          <a:lstStyle/>
          <a:p>
            <a:pPr algn="l">
              <a:defRPr sz="1200" b="1">
                <a:solidFill>
                  <a:srgbClr val="102A56"/>
                </a:solidFill>
                <a:latin typeface="Arial"/>
                <a:ea typeface="Arial"/>
                <a:cs typeface="Arial"/>
              </a:defRPr>
            </a:pPr>
            <a:r>
              <a:rPr sz="1200" b="1">
                <a:solidFill>
                  <a:srgbClr val="102A56"/>
                </a:solidFill>
                <a:latin typeface="Arial"/>
                <a:ea typeface="Arial"/>
                <a:cs typeface="Arial"/>
              </a:rPr>
              <a:t>float</a:t>
            </a:r>
          </a:p>
        </p:txBody>
      </p:sp>
      <p:sp>
        <p:nvSpPr>
          <p:cNvPr id="299" name="Rectangle 298">
            <a:extLst>
              <a:ext uri="{FF2B5EF4-FFF2-40B4-BE49-F238E27FC236}">
                <a16:creationId xmlns:a16="http://schemas.microsoft.com/office/drawing/2014/main" id="{ECEEA51E-0FCB-09D6-31C2-ECB4BF222EC2}"/>
              </a:ext>
            </a:extLst>
          </p:cNvPr>
          <p:cNvSpPr>
            <a:spLocks noGrp="1"/>
          </p:cNvSpPr>
          <p:nvPr/>
        </p:nvSpPr>
        <p:spPr>
          <a:xfrm>
            <a:off x="2133600" y="5133975"/>
            <a:ext cx="1524000" cy="428625"/>
          </a:xfrm>
          <a:prstGeom prst="rect">
            <a:avLst/>
          </a:prstGeom>
          <a:solidFill>
            <a:srgbClr val="F0F4F8"/>
          </a:solidFill>
          <a:ln w="9525">
            <a:solidFill>
              <a:srgbClr val="D7E0EA"/>
            </a:solidFill>
          </a:ln>
        </p:spPr>
        <p:txBody>
          <a:bodyPr/>
          <a:lstStyle/>
          <a:p>
            <a:endParaRPr lang="en-IN"/>
          </a:p>
        </p:txBody>
      </p:sp>
      <p:sp>
        <p:nvSpPr>
          <p:cNvPr id="301" name="Rectangle 300">
            <a:extLst>
              <a:ext uri="{FF2B5EF4-FFF2-40B4-BE49-F238E27FC236}">
                <a16:creationId xmlns:a16="http://schemas.microsoft.com/office/drawing/2014/main" id="{766AC40F-4391-A2D2-D509-2F3522C8D267}"/>
              </a:ext>
            </a:extLst>
          </p:cNvPr>
          <p:cNvSpPr>
            <a:spLocks noGrp="1"/>
          </p:cNvSpPr>
          <p:nvPr/>
        </p:nvSpPr>
        <p:spPr>
          <a:xfrm>
            <a:off x="2247900" y="5153025"/>
            <a:ext cx="1295400" cy="390525"/>
          </a:xfrm>
          <a:prstGeom prst="rect">
            <a:avLst/>
          </a:prstGeom>
          <a:noFill/>
          <a:ln w="0">
            <a:noFill/>
          </a:ln>
        </p:spPr>
        <p:txBody>
          <a:bodyPr anchor="ctr">
            <a:normAutofit/>
          </a:bodyPr>
          <a:lstStyle/>
          <a:p>
            <a:pPr algn="l">
              <a:defRPr sz="1200" b="0">
                <a:solidFill>
                  <a:srgbClr val="172B45"/>
                </a:solidFill>
                <a:latin typeface="Arial"/>
                <a:ea typeface="Arial"/>
                <a:cs typeface="Arial"/>
              </a:defRPr>
            </a:pPr>
            <a:r>
              <a:rPr sz="1200" b="0">
                <a:solidFill>
                  <a:srgbClr val="172B45"/>
                </a:solidFill>
                <a:latin typeface="Arial"/>
                <a:ea typeface="Arial"/>
                <a:cs typeface="Arial"/>
              </a:rPr>
              <a:t>32 bits</a:t>
            </a:r>
          </a:p>
        </p:txBody>
      </p:sp>
      <p:sp>
        <p:nvSpPr>
          <p:cNvPr id="303" name="Rectangle 302">
            <a:extLst>
              <a:ext uri="{FF2B5EF4-FFF2-40B4-BE49-F238E27FC236}">
                <a16:creationId xmlns:a16="http://schemas.microsoft.com/office/drawing/2014/main" id="{905BBACB-3051-64E8-E51D-A5A16B14D82B}"/>
              </a:ext>
            </a:extLst>
          </p:cNvPr>
          <p:cNvSpPr>
            <a:spLocks noGrp="1"/>
          </p:cNvSpPr>
          <p:nvPr/>
        </p:nvSpPr>
        <p:spPr>
          <a:xfrm>
            <a:off x="3657600" y="5133975"/>
            <a:ext cx="1809750" cy="428625"/>
          </a:xfrm>
          <a:prstGeom prst="rect">
            <a:avLst/>
          </a:prstGeom>
          <a:solidFill>
            <a:srgbClr val="F0F4F8"/>
          </a:solidFill>
          <a:ln w="9525">
            <a:solidFill>
              <a:srgbClr val="D7E0EA"/>
            </a:solidFill>
          </a:ln>
        </p:spPr>
        <p:txBody>
          <a:bodyPr/>
          <a:lstStyle/>
          <a:p>
            <a:endParaRPr lang="en-IN"/>
          </a:p>
        </p:txBody>
      </p:sp>
      <p:sp>
        <p:nvSpPr>
          <p:cNvPr id="305" name="Rectangle 304">
            <a:extLst>
              <a:ext uri="{FF2B5EF4-FFF2-40B4-BE49-F238E27FC236}">
                <a16:creationId xmlns:a16="http://schemas.microsoft.com/office/drawing/2014/main" id="{2E3DDF1F-CEDA-43CF-5313-C16DC2055C6E}"/>
              </a:ext>
            </a:extLst>
          </p:cNvPr>
          <p:cNvSpPr>
            <a:spLocks noGrp="1"/>
          </p:cNvSpPr>
          <p:nvPr/>
        </p:nvSpPr>
        <p:spPr>
          <a:xfrm>
            <a:off x="3771900" y="5153025"/>
            <a:ext cx="1581150" cy="390525"/>
          </a:xfrm>
          <a:prstGeom prst="rect">
            <a:avLst/>
          </a:prstGeom>
          <a:noFill/>
          <a:ln w="0">
            <a:noFill/>
          </a:ln>
        </p:spPr>
        <p:txBody>
          <a:bodyPr anchor="ctr">
            <a:normAutofit/>
          </a:bodyPr>
          <a:lstStyle/>
          <a:p>
            <a:pPr algn="l">
              <a:defRPr sz="1200" b="1">
                <a:solidFill>
                  <a:srgbClr val="285E91"/>
                </a:solidFill>
                <a:latin typeface="Arial"/>
                <a:ea typeface="Arial"/>
                <a:cs typeface="Arial"/>
              </a:defRPr>
            </a:pPr>
            <a:r>
              <a:rPr sz="1200" b="1">
                <a:solidFill>
                  <a:srgbClr val="285E91"/>
                </a:solidFill>
                <a:latin typeface="Arial"/>
                <a:ea typeface="Arial"/>
                <a:cs typeface="Arial"/>
              </a:rPr>
              <a:t>Float</a:t>
            </a:r>
          </a:p>
        </p:txBody>
      </p:sp>
      <p:sp>
        <p:nvSpPr>
          <p:cNvPr id="307" name="Rectangle 306">
            <a:extLst>
              <a:ext uri="{FF2B5EF4-FFF2-40B4-BE49-F238E27FC236}">
                <a16:creationId xmlns:a16="http://schemas.microsoft.com/office/drawing/2014/main" id="{70D63095-F187-7D7D-41FC-B92FC5794776}"/>
              </a:ext>
            </a:extLst>
          </p:cNvPr>
          <p:cNvSpPr>
            <a:spLocks noGrp="1"/>
          </p:cNvSpPr>
          <p:nvPr/>
        </p:nvSpPr>
        <p:spPr>
          <a:xfrm>
            <a:off x="5467350" y="5133975"/>
            <a:ext cx="6115050" cy="428625"/>
          </a:xfrm>
          <a:prstGeom prst="rect">
            <a:avLst/>
          </a:prstGeom>
          <a:solidFill>
            <a:srgbClr val="F0F4F8"/>
          </a:solidFill>
          <a:ln w="9525">
            <a:solidFill>
              <a:srgbClr val="D7E0EA"/>
            </a:solidFill>
          </a:ln>
        </p:spPr>
        <p:txBody>
          <a:bodyPr/>
          <a:lstStyle/>
          <a:p>
            <a:endParaRPr lang="en-IN"/>
          </a:p>
        </p:txBody>
      </p:sp>
      <p:sp>
        <p:nvSpPr>
          <p:cNvPr id="309" name="Rectangle 308">
            <a:extLst>
              <a:ext uri="{FF2B5EF4-FFF2-40B4-BE49-F238E27FC236}">
                <a16:creationId xmlns:a16="http://schemas.microsoft.com/office/drawing/2014/main" id="{891F18D0-C6BE-8A6C-1E1E-0C2808CEB84E}"/>
              </a:ext>
            </a:extLst>
          </p:cNvPr>
          <p:cNvSpPr>
            <a:spLocks noGrp="1"/>
          </p:cNvSpPr>
          <p:nvPr/>
        </p:nvSpPr>
        <p:spPr>
          <a:xfrm>
            <a:off x="5581650" y="5153025"/>
            <a:ext cx="5886450" cy="390525"/>
          </a:xfrm>
          <a:prstGeom prst="rect">
            <a:avLst/>
          </a:prstGeom>
          <a:noFill/>
          <a:ln w="0">
            <a:noFill/>
          </a:ln>
        </p:spPr>
        <p:txBody>
          <a:bodyPr anchor="ctr">
            <a:normAutofit/>
          </a:bodyPr>
          <a:lstStyle/>
          <a:p>
            <a:pPr algn="l">
              <a:defRPr sz="1275" b="0">
                <a:solidFill>
                  <a:srgbClr val="172B45"/>
                </a:solidFill>
                <a:latin typeface="Consolas"/>
                <a:ea typeface="Consolas"/>
                <a:cs typeface="Consolas"/>
              </a:defRPr>
            </a:pPr>
            <a:r>
              <a:rPr sz="1275" b="0">
                <a:solidFill>
                  <a:srgbClr val="172B45"/>
                </a:solidFill>
                <a:latin typeface="Consolas"/>
                <a:ea typeface="Consolas"/>
                <a:cs typeface="Consolas"/>
              </a:rPr>
              <a:t>float price = 19.99F;</a:t>
            </a:r>
          </a:p>
        </p:txBody>
      </p:sp>
      <p:sp>
        <p:nvSpPr>
          <p:cNvPr id="311" name="Rectangle 310">
            <a:extLst>
              <a:ext uri="{FF2B5EF4-FFF2-40B4-BE49-F238E27FC236}">
                <a16:creationId xmlns:a16="http://schemas.microsoft.com/office/drawing/2014/main" id="{7C4F132B-AA26-B7B1-D796-304CB6F65A53}"/>
              </a:ext>
            </a:extLst>
          </p:cNvPr>
          <p:cNvSpPr>
            <a:spLocks noGrp="1"/>
          </p:cNvSpPr>
          <p:nvPr/>
        </p:nvSpPr>
        <p:spPr>
          <a:xfrm>
            <a:off x="609600" y="5562600"/>
            <a:ext cx="1524000" cy="428625"/>
          </a:xfrm>
          <a:prstGeom prst="rect">
            <a:avLst/>
          </a:prstGeom>
          <a:solidFill>
            <a:srgbClr val="FFFFFF"/>
          </a:solidFill>
          <a:ln w="9525">
            <a:solidFill>
              <a:srgbClr val="D7E0EA"/>
            </a:solidFill>
          </a:ln>
        </p:spPr>
        <p:txBody>
          <a:bodyPr/>
          <a:lstStyle/>
          <a:p>
            <a:endParaRPr lang="en-IN"/>
          </a:p>
        </p:txBody>
      </p:sp>
      <p:sp>
        <p:nvSpPr>
          <p:cNvPr id="313" name="Rectangle 312">
            <a:extLst>
              <a:ext uri="{FF2B5EF4-FFF2-40B4-BE49-F238E27FC236}">
                <a16:creationId xmlns:a16="http://schemas.microsoft.com/office/drawing/2014/main" id="{F754F753-2D3F-B947-2806-C6824E327ECE}"/>
              </a:ext>
            </a:extLst>
          </p:cNvPr>
          <p:cNvSpPr>
            <a:spLocks noGrp="1"/>
          </p:cNvSpPr>
          <p:nvPr/>
        </p:nvSpPr>
        <p:spPr>
          <a:xfrm>
            <a:off x="723900" y="5581650"/>
            <a:ext cx="1295400" cy="390525"/>
          </a:xfrm>
          <a:prstGeom prst="rect">
            <a:avLst/>
          </a:prstGeom>
          <a:noFill/>
          <a:ln w="0">
            <a:noFill/>
          </a:ln>
        </p:spPr>
        <p:txBody>
          <a:bodyPr anchor="ctr">
            <a:normAutofit/>
          </a:bodyPr>
          <a:lstStyle/>
          <a:p>
            <a:pPr algn="l">
              <a:defRPr sz="1200" b="1">
                <a:solidFill>
                  <a:srgbClr val="102A56"/>
                </a:solidFill>
                <a:latin typeface="Arial"/>
                <a:ea typeface="Arial"/>
                <a:cs typeface="Arial"/>
              </a:defRPr>
            </a:pPr>
            <a:r>
              <a:rPr sz="1200" b="1">
                <a:solidFill>
                  <a:srgbClr val="102A56"/>
                </a:solidFill>
                <a:latin typeface="Arial"/>
                <a:ea typeface="Arial"/>
                <a:cs typeface="Arial"/>
              </a:rPr>
              <a:t>double</a:t>
            </a:r>
          </a:p>
        </p:txBody>
      </p:sp>
      <p:sp>
        <p:nvSpPr>
          <p:cNvPr id="315" name="Rectangle 314">
            <a:extLst>
              <a:ext uri="{FF2B5EF4-FFF2-40B4-BE49-F238E27FC236}">
                <a16:creationId xmlns:a16="http://schemas.microsoft.com/office/drawing/2014/main" id="{63735444-D1E2-F567-6F24-C14F3F1D2896}"/>
              </a:ext>
            </a:extLst>
          </p:cNvPr>
          <p:cNvSpPr>
            <a:spLocks noGrp="1"/>
          </p:cNvSpPr>
          <p:nvPr/>
        </p:nvSpPr>
        <p:spPr>
          <a:xfrm>
            <a:off x="2133600" y="5562600"/>
            <a:ext cx="1524000" cy="428625"/>
          </a:xfrm>
          <a:prstGeom prst="rect">
            <a:avLst/>
          </a:prstGeom>
          <a:solidFill>
            <a:srgbClr val="FFFFFF"/>
          </a:solidFill>
          <a:ln w="9525">
            <a:solidFill>
              <a:srgbClr val="D7E0EA"/>
            </a:solidFill>
          </a:ln>
        </p:spPr>
        <p:txBody>
          <a:bodyPr/>
          <a:lstStyle/>
          <a:p>
            <a:endParaRPr lang="en-IN"/>
          </a:p>
        </p:txBody>
      </p:sp>
      <p:sp>
        <p:nvSpPr>
          <p:cNvPr id="317" name="Rectangle 316">
            <a:extLst>
              <a:ext uri="{FF2B5EF4-FFF2-40B4-BE49-F238E27FC236}">
                <a16:creationId xmlns:a16="http://schemas.microsoft.com/office/drawing/2014/main" id="{1517845A-0812-E899-E587-7C260A9A086D}"/>
              </a:ext>
            </a:extLst>
          </p:cNvPr>
          <p:cNvSpPr>
            <a:spLocks noGrp="1"/>
          </p:cNvSpPr>
          <p:nvPr/>
        </p:nvSpPr>
        <p:spPr>
          <a:xfrm>
            <a:off x="2247900" y="5581650"/>
            <a:ext cx="1295400" cy="390525"/>
          </a:xfrm>
          <a:prstGeom prst="rect">
            <a:avLst/>
          </a:prstGeom>
          <a:noFill/>
          <a:ln w="0">
            <a:noFill/>
          </a:ln>
        </p:spPr>
        <p:txBody>
          <a:bodyPr anchor="ctr">
            <a:normAutofit/>
          </a:bodyPr>
          <a:lstStyle/>
          <a:p>
            <a:pPr algn="l">
              <a:defRPr sz="1200" b="0">
                <a:solidFill>
                  <a:srgbClr val="172B45"/>
                </a:solidFill>
                <a:latin typeface="Arial"/>
                <a:ea typeface="Arial"/>
                <a:cs typeface="Arial"/>
              </a:defRPr>
            </a:pPr>
            <a:r>
              <a:rPr sz="1200" b="0">
                <a:solidFill>
                  <a:srgbClr val="172B45"/>
                </a:solidFill>
                <a:latin typeface="Arial"/>
                <a:ea typeface="Arial"/>
                <a:cs typeface="Arial"/>
              </a:rPr>
              <a:t>64 bits</a:t>
            </a:r>
          </a:p>
        </p:txBody>
      </p:sp>
      <p:sp>
        <p:nvSpPr>
          <p:cNvPr id="319" name="Rectangle 318">
            <a:extLst>
              <a:ext uri="{FF2B5EF4-FFF2-40B4-BE49-F238E27FC236}">
                <a16:creationId xmlns:a16="http://schemas.microsoft.com/office/drawing/2014/main" id="{65F8B77D-C9E7-87E3-9F6B-55922340F1DD}"/>
              </a:ext>
            </a:extLst>
          </p:cNvPr>
          <p:cNvSpPr>
            <a:spLocks noGrp="1"/>
          </p:cNvSpPr>
          <p:nvPr/>
        </p:nvSpPr>
        <p:spPr>
          <a:xfrm>
            <a:off x="3657600" y="5562600"/>
            <a:ext cx="1809750" cy="428625"/>
          </a:xfrm>
          <a:prstGeom prst="rect">
            <a:avLst/>
          </a:prstGeom>
          <a:solidFill>
            <a:srgbClr val="FFFFFF"/>
          </a:solidFill>
          <a:ln w="9525">
            <a:solidFill>
              <a:srgbClr val="D7E0EA"/>
            </a:solidFill>
          </a:ln>
        </p:spPr>
        <p:txBody>
          <a:bodyPr/>
          <a:lstStyle/>
          <a:p>
            <a:endParaRPr lang="en-IN"/>
          </a:p>
        </p:txBody>
      </p:sp>
      <p:sp>
        <p:nvSpPr>
          <p:cNvPr id="321" name="Rectangle 320">
            <a:extLst>
              <a:ext uri="{FF2B5EF4-FFF2-40B4-BE49-F238E27FC236}">
                <a16:creationId xmlns:a16="http://schemas.microsoft.com/office/drawing/2014/main" id="{1B6F543D-9A66-3664-44E4-16A8A7BDA5A2}"/>
              </a:ext>
            </a:extLst>
          </p:cNvPr>
          <p:cNvSpPr>
            <a:spLocks noGrp="1"/>
          </p:cNvSpPr>
          <p:nvPr/>
        </p:nvSpPr>
        <p:spPr>
          <a:xfrm>
            <a:off x="3771900" y="5581650"/>
            <a:ext cx="1581150" cy="390525"/>
          </a:xfrm>
          <a:prstGeom prst="rect">
            <a:avLst/>
          </a:prstGeom>
          <a:noFill/>
          <a:ln w="0">
            <a:noFill/>
          </a:ln>
        </p:spPr>
        <p:txBody>
          <a:bodyPr anchor="ctr">
            <a:normAutofit/>
          </a:bodyPr>
          <a:lstStyle/>
          <a:p>
            <a:pPr algn="l">
              <a:defRPr sz="1200" b="1">
                <a:solidFill>
                  <a:srgbClr val="285E91"/>
                </a:solidFill>
                <a:latin typeface="Arial"/>
                <a:ea typeface="Arial"/>
                <a:cs typeface="Arial"/>
              </a:defRPr>
            </a:pPr>
            <a:r>
              <a:rPr sz="1200" b="1">
                <a:solidFill>
                  <a:srgbClr val="285E91"/>
                </a:solidFill>
                <a:latin typeface="Arial"/>
                <a:ea typeface="Arial"/>
                <a:cs typeface="Arial"/>
              </a:rPr>
              <a:t>Double</a:t>
            </a:r>
          </a:p>
        </p:txBody>
      </p:sp>
      <p:sp>
        <p:nvSpPr>
          <p:cNvPr id="323" name="Rectangle 322">
            <a:extLst>
              <a:ext uri="{FF2B5EF4-FFF2-40B4-BE49-F238E27FC236}">
                <a16:creationId xmlns:a16="http://schemas.microsoft.com/office/drawing/2014/main" id="{4012571B-BBFF-F3AB-2137-9E2D0AC2709F}"/>
              </a:ext>
            </a:extLst>
          </p:cNvPr>
          <p:cNvSpPr>
            <a:spLocks noGrp="1"/>
          </p:cNvSpPr>
          <p:nvPr/>
        </p:nvSpPr>
        <p:spPr>
          <a:xfrm>
            <a:off x="5467350" y="5562600"/>
            <a:ext cx="6115050" cy="428625"/>
          </a:xfrm>
          <a:prstGeom prst="rect">
            <a:avLst/>
          </a:prstGeom>
          <a:solidFill>
            <a:srgbClr val="FFFFFF"/>
          </a:solidFill>
          <a:ln w="9525">
            <a:solidFill>
              <a:srgbClr val="D7E0EA"/>
            </a:solidFill>
          </a:ln>
        </p:spPr>
        <p:txBody>
          <a:bodyPr/>
          <a:lstStyle/>
          <a:p>
            <a:endParaRPr lang="en-IN"/>
          </a:p>
        </p:txBody>
      </p:sp>
      <p:sp>
        <p:nvSpPr>
          <p:cNvPr id="325" name="Rectangle 324">
            <a:extLst>
              <a:ext uri="{FF2B5EF4-FFF2-40B4-BE49-F238E27FC236}">
                <a16:creationId xmlns:a16="http://schemas.microsoft.com/office/drawing/2014/main" id="{96690A87-E713-54BD-DB4F-2DDC74763726}"/>
              </a:ext>
            </a:extLst>
          </p:cNvPr>
          <p:cNvSpPr>
            <a:spLocks noGrp="1"/>
          </p:cNvSpPr>
          <p:nvPr/>
        </p:nvSpPr>
        <p:spPr>
          <a:xfrm>
            <a:off x="5581650" y="5581650"/>
            <a:ext cx="5886450" cy="390525"/>
          </a:xfrm>
          <a:prstGeom prst="rect">
            <a:avLst/>
          </a:prstGeom>
          <a:noFill/>
          <a:ln w="0">
            <a:noFill/>
          </a:ln>
        </p:spPr>
        <p:txBody>
          <a:bodyPr anchor="ctr">
            <a:normAutofit/>
          </a:bodyPr>
          <a:lstStyle/>
          <a:p>
            <a:pPr algn="l">
              <a:defRPr sz="1275" b="0">
                <a:solidFill>
                  <a:srgbClr val="172B45"/>
                </a:solidFill>
                <a:latin typeface="Consolas"/>
                <a:ea typeface="Consolas"/>
                <a:cs typeface="Consolas"/>
              </a:defRPr>
            </a:pPr>
            <a:r>
              <a:rPr sz="1275" b="0">
                <a:solidFill>
                  <a:srgbClr val="172B45"/>
                </a:solidFill>
                <a:latin typeface="Consolas"/>
                <a:ea typeface="Consolas"/>
                <a:cs typeface="Consolas"/>
              </a:rPr>
              <a:t>double rate = 3.14159;</a:t>
            </a:r>
          </a:p>
        </p:txBody>
      </p:sp>
      <p:sp>
        <p:nvSpPr>
          <p:cNvPr id="327" name="Rectangle: Rounded Corners 326">
            <a:extLst>
              <a:ext uri="{FF2B5EF4-FFF2-40B4-BE49-F238E27FC236}">
                <a16:creationId xmlns:a16="http://schemas.microsoft.com/office/drawing/2014/main" id="{66BCE1BA-FE05-1398-87A7-8300D31BC1CC}"/>
              </a:ext>
            </a:extLst>
          </p:cNvPr>
          <p:cNvSpPr>
            <a:spLocks noGrp="1"/>
          </p:cNvSpPr>
          <p:nvPr/>
        </p:nvSpPr>
        <p:spPr>
          <a:xfrm>
            <a:off x="609600" y="6076950"/>
            <a:ext cx="10972800" cy="619125"/>
          </a:xfrm>
          <a:prstGeom prst="roundRect">
            <a:avLst>
              <a:gd name="adj" fmla="val 12308"/>
            </a:avLst>
          </a:prstGeom>
          <a:solidFill>
            <a:srgbClr val="E6F3F1"/>
          </a:solidFill>
          <a:ln w="0">
            <a:noFill/>
          </a:ln>
        </p:spPr>
        <p:txBody>
          <a:bodyPr/>
          <a:lstStyle/>
          <a:p>
            <a:endParaRPr lang="en-IN"/>
          </a:p>
        </p:txBody>
      </p:sp>
      <p:sp>
        <p:nvSpPr>
          <p:cNvPr id="329" name="Rectangle 328">
            <a:extLst>
              <a:ext uri="{FF2B5EF4-FFF2-40B4-BE49-F238E27FC236}">
                <a16:creationId xmlns:a16="http://schemas.microsoft.com/office/drawing/2014/main" id="{7D730AAA-F52E-2145-A539-B00F4602E3A3}"/>
              </a:ext>
            </a:extLst>
          </p:cNvPr>
          <p:cNvSpPr>
            <a:spLocks noGrp="1"/>
          </p:cNvSpPr>
          <p:nvPr/>
        </p:nvSpPr>
        <p:spPr>
          <a:xfrm>
            <a:off x="819150" y="6134100"/>
            <a:ext cx="1190625" cy="257175"/>
          </a:xfrm>
          <a:prstGeom prst="rect">
            <a:avLst/>
          </a:prstGeom>
          <a:noFill/>
          <a:ln w="0">
            <a:noFill/>
          </a:ln>
        </p:spPr>
        <p:txBody>
          <a:bodyPr anchor="ctr">
            <a:normAutofit fontScale="90625" lnSpcReduction="10000"/>
          </a:bodyPr>
          <a:lstStyle/>
          <a:p>
            <a:pPr algn="l">
              <a:defRPr sz="1200" b="1">
                <a:solidFill>
                  <a:srgbClr val="147D7A"/>
                </a:solidFill>
                <a:latin typeface="Arial"/>
                <a:ea typeface="Arial"/>
                <a:cs typeface="Arial"/>
              </a:defRPr>
            </a:pPr>
            <a:r>
              <a:rPr sz="1200" b="1">
                <a:solidFill>
                  <a:srgbClr val="147D7A"/>
                </a:solidFill>
                <a:latin typeface="Arial"/>
                <a:ea typeface="Arial"/>
                <a:cs typeface="Arial"/>
              </a:rPr>
              <a:t>Autoboxing</a:t>
            </a:r>
          </a:p>
        </p:txBody>
      </p:sp>
      <p:sp>
        <p:nvSpPr>
          <p:cNvPr id="331" name="Rectangle 330">
            <a:extLst>
              <a:ext uri="{FF2B5EF4-FFF2-40B4-BE49-F238E27FC236}">
                <a16:creationId xmlns:a16="http://schemas.microsoft.com/office/drawing/2014/main" id="{E845F964-8A41-EB7A-ED56-CF2847CDC403}"/>
              </a:ext>
            </a:extLst>
          </p:cNvPr>
          <p:cNvSpPr>
            <a:spLocks noGrp="1"/>
          </p:cNvSpPr>
          <p:nvPr/>
        </p:nvSpPr>
        <p:spPr>
          <a:xfrm>
            <a:off x="2038350" y="6134100"/>
            <a:ext cx="2286000" cy="257175"/>
          </a:xfrm>
          <a:prstGeom prst="rect">
            <a:avLst/>
          </a:prstGeom>
          <a:noFill/>
          <a:ln w="0">
            <a:noFill/>
          </a:ln>
        </p:spPr>
        <p:txBody>
          <a:bodyPr anchor="ctr">
            <a:normAutofit fontScale="90625" lnSpcReduction="10000"/>
          </a:bodyPr>
          <a:lstStyle/>
          <a:p>
            <a:pPr algn="l">
              <a:defRPr sz="1200" b="0">
                <a:solidFill>
                  <a:srgbClr val="172B45"/>
                </a:solidFill>
                <a:latin typeface="Arial"/>
                <a:ea typeface="Arial"/>
                <a:cs typeface="Arial"/>
              </a:defRPr>
            </a:pPr>
            <a:r>
              <a:rPr sz="1200" b="0" dirty="0">
                <a:solidFill>
                  <a:srgbClr val="172B45"/>
                </a:solidFill>
                <a:latin typeface="Arial"/>
                <a:ea typeface="Arial"/>
                <a:cs typeface="Arial"/>
              </a:rPr>
              <a:t>primitive → wrapper</a:t>
            </a:r>
          </a:p>
        </p:txBody>
      </p:sp>
      <p:sp>
        <p:nvSpPr>
          <p:cNvPr id="333" name="Rectangle 332">
            <a:extLst>
              <a:ext uri="{FF2B5EF4-FFF2-40B4-BE49-F238E27FC236}">
                <a16:creationId xmlns:a16="http://schemas.microsoft.com/office/drawing/2014/main" id="{21AD2F11-5405-6A07-FE7D-35407B02DE75}"/>
              </a:ext>
            </a:extLst>
          </p:cNvPr>
          <p:cNvSpPr>
            <a:spLocks noGrp="1"/>
          </p:cNvSpPr>
          <p:nvPr/>
        </p:nvSpPr>
        <p:spPr>
          <a:xfrm>
            <a:off x="4667250" y="6134100"/>
            <a:ext cx="971550" cy="257175"/>
          </a:xfrm>
          <a:prstGeom prst="rect">
            <a:avLst/>
          </a:prstGeom>
          <a:noFill/>
          <a:ln w="0">
            <a:noFill/>
          </a:ln>
        </p:spPr>
        <p:txBody>
          <a:bodyPr anchor="ctr">
            <a:normAutofit fontScale="90625" lnSpcReduction="10000"/>
          </a:bodyPr>
          <a:lstStyle/>
          <a:p>
            <a:pPr algn="l">
              <a:defRPr sz="1200" b="1">
                <a:solidFill>
                  <a:srgbClr val="147D7A"/>
                </a:solidFill>
                <a:latin typeface="Arial"/>
                <a:ea typeface="Arial"/>
                <a:cs typeface="Arial"/>
              </a:defRPr>
            </a:pPr>
            <a:r>
              <a:rPr sz="1200" b="1">
                <a:solidFill>
                  <a:srgbClr val="147D7A"/>
                </a:solidFill>
                <a:latin typeface="Arial"/>
                <a:ea typeface="Arial"/>
                <a:cs typeface="Arial"/>
              </a:rPr>
              <a:t>Unboxing</a:t>
            </a:r>
          </a:p>
        </p:txBody>
      </p:sp>
      <p:sp>
        <p:nvSpPr>
          <p:cNvPr id="335" name="Rectangle 334">
            <a:extLst>
              <a:ext uri="{FF2B5EF4-FFF2-40B4-BE49-F238E27FC236}">
                <a16:creationId xmlns:a16="http://schemas.microsoft.com/office/drawing/2014/main" id="{1764D54F-8EF4-E5C9-7C9B-CCF032475B2F}"/>
              </a:ext>
            </a:extLst>
          </p:cNvPr>
          <p:cNvSpPr>
            <a:spLocks noGrp="1"/>
          </p:cNvSpPr>
          <p:nvPr/>
        </p:nvSpPr>
        <p:spPr>
          <a:xfrm>
            <a:off x="5676900" y="6134100"/>
            <a:ext cx="2381250" cy="257175"/>
          </a:xfrm>
          <a:prstGeom prst="rect">
            <a:avLst/>
          </a:prstGeom>
          <a:noFill/>
          <a:ln w="0">
            <a:noFill/>
          </a:ln>
        </p:spPr>
        <p:txBody>
          <a:bodyPr anchor="ctr">
            <a:normAutofit fontScale="90625" lnSpcReduction="10000"/>
          </a:bodyPr>
          <a:lstStyle/>
          <a:p>
            <a:pPr algn="l">
              <a:defRPr sz="1200" b="0">
                <a:solidFill>
                  <a:srgbClr val="172B45"/>
                </a:solidFill>
                <a:latin typeface="Arial"/>
                <a:ea typeface="Arial"/>
                <a:cs typeface="Arial"/>
              </a:defRPr>
            </a:pPr>
            <a:r>
              <a:rPr sz="1200" b="0" dirty="0">
                <a:solidFill>
                  <a:srgbClr val="172B45"/>
                </a:solidFill>
                <a:latin typeface="Arial"/>
                <a:ea typeface="Arial"/>
                <a:cs typeface="Arial"/>
              </a:rPr>
              <a:t>wrapper → primitive</a:t>
            </a:r>
          </a:p>
        </p:txBody>
      </p:sp>
      <p:sp>
        <p:nvSpPr>
          <p:cNvPr id="337" name="Rectangle 336">
            <a:extLst>
              <a:ext uri="{FF2B5EF4-FFF2-40B4-BE49-F238E27FC236}">
                <a16:creationId xmlns:a16="http://schemas.microsoft.com/office/drawing/2014/main" id="{6A4278D3-80C9-8E73-C366-289D700D9FC8}"/>
              </a:ext>
            </a:extLst>
          </p:cNvPr>
          <p:cNvSpPr>
            <a:spLocks noGrp="1"/>
          </p:cNvSpPr>
          <p:nvPr/>
        </p:nvSpPr>
        <p:spPr>
          <a:xfrm>
            <a:off x="819150" y="6419850"/>
            <a:ext cx="10382250" cy="228600"/>
          </a:xfrm>
          <a:prstGeom prst="rect">
            <a:avLst/>
          </a:prstGeom>
          <a:noFill/>
          <a:ln w="0">
            <a:noFill/>
          </a:ln>
        </p:spPr>
        <p:txBody>
          <a:bodyPr anchor="ctr">
            <a:normAutofit fontScale="90000" lnSpcReduction="20000"/>
          </a:bodyPr>
          <a:lstStyle/>
          <a:p>
            <a:pPr algn="l">
              <a:defRPr sz="1200" b="0">
                <a:solidFill>
                  <a:srgbClr val="51647C"/>
                </a:solidFill>
                <a:latin typeface="Arial"/>
                <a:ea typeface="Arial"/>
                <a:cs typeface="Arial"/>
              </a:defRPr>
            </a:pPr>
            <a:r>
              <a:rPr sz="1200" b="0">
                <a:solidFill>
                  <a:srgbClr val="51647C"/>
                </a:solidFill>
                <a:latin typeface="Arial"/>
                <a:ea typeface="Arial"/>
                <a:cs typeface="Arial"/>
              </a:rPr>
              <a:t>Wrappers are useful where Java APIs require objects, such as ArrayList&lt;Integer&gt;.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96744" y="341121"/>
            <a:ext cx="5988050" cy="3087879"/>
          </a:xfrm>
          <a:prstGeom prst="rect">
            <a:avLst/>
          </a:prstGeom>
        </p:spPr>
        <p:txBody>
          <a:bodyPr vert="horz" wrap="none" lIns="0" tIns="12700" rIns="0" bIns="0" rtlCol="0">
            <a:normAutofit/>
          </a:bodyPr>
          <a:lstStyle/>
          <a:p>
            <a:pPr marL="12700"/>
            <a:r>
              <a:rPr sz="1600" b="1" dirty="0">
                <a:solidFill>
                  <a:srgbClr val="2E7D32"/>
                </a:solidFill>
                <a:latin typeface="Courier New"/>
                <a:cs typeface="Courier New"/>
              </a:rPr>
              <a:t>//AutoBoxing</a:t>
            </a:r>
            <a:r>
              <a:rPr sz="1600" b="1" dirty="0">
                <a:solidFill>
                  <a:srgbClr val="C00000"/>
                </a:solidFill>
                <a:latin typeface="Courier New"/>
                <a:cs typeface="Courier New"/>
              </a:rPr>
              <a:t> Example</a:t>
            </a:r>
            <a:endParaRPr sz="1600" b="1" dirty="0">
              <a:solidFill>
                <a:srgbClr val="001F5F"/>
              </a:solidFill>
              <a:latin typeface="Courier New"/>
              <a:cs typeface="Courier New"/>
            </a:endParaRPr>
          </a:p>
          <a:p>
            <a:pPr marL="12700"/>
            <a:r>
              <a:rPr sz="1600" b="1" dirty="0">
                <a:solidFill>
                  <a:srgbClr val="001F5F"/>
                </a:solidFill>
                <a:latin typeface="Courier New"/>
                <a:cs typeface="Courier New"/>
              </a:rPr>
              <a:t>class BoxingExample</a:t>
            </a:r>
          </a:p>
          <a:p>
            <a:pPr marL="12700"/>
            <a:r>
              <a:rPr sz="1600" b="1" dirty="0">
                <a:solidFill>
                  <a:srgbClr val="001F5F"/>
                </a:solidFill>
                <a:latin typeface="Courier New"/>
                <a:cs typeface="Courier New"/>
              </a:rPr>
              <a:t>{</a:t>
            </a:r>
          </a:p>
          <a:p>
            <a:pPr marL="143510"/>
            <a:r>
              <a:rPr sz="1600" b="1" dirty="0">
                <a:solidFill>
                  <a:srgbClr val="001F5F"/>
                </a:solidFill>
                <a:latin typeface="Courier New"/>
                <a:cs typeface="Courier New"/>
              </a:rPr>
              <a:t>public static void main(String args[])</a:t>
            </a:r>
          </a:p>
          <a:p>
            <a:pPr marL="143510"/>
            <a:r>
              <a:rPr sz="1600" b="1" dirty="0">
                <a:solidFill>
                  <a:srgbClr val="001F5F"/>
                </a:solidFill>
                <a:latin typeface="Courier New"/>
                <a:cs typeface="Courier New"/>
              </a:rPr>
              <a:t>{</a:t>
            </a:r>
          </a:p>
          <a:p>
            <a:pPr marL="539750"/>
            <a:r>
              <a:rPr sz="1600" b="1" dirty="0">
                <a:solidFill>
                  <a:srgbClr val="001F5F"/>
                </a:solidFill>
                <a:latin typeface="Courier New"/>
                <a:cs typeface="Courier New"/>
              </a:rPr>
              <a:t>int a=50;</a:t>
            </a:r>
          </a:p>
          <a:p>
            <a:pPr marL="539750"/>
            <a:r>
              <a:rPr sz="1600" b="1" dirty="0">
                <a:solidFill>
                  <a:srgbClr val="001F5F"/>
                </a:solidFill>
                <a:latin typeface="Courier New"/>
                <a:cs typeface="Courier New"/>
              </a:rPr>
              <a:t>Integer obj=new Integer(a);//Boxing</a:t>
            </a:r>
          </a:p>
          <a:p>
            <a:pPr marL="539750"/>
            <a:r>
              <a:rPr sz="1600" b="1" dirty="0">
                <a:solidFill>
                  <a:srgbClr val="001F5F"/>
                </a:solidFill>
                <a:latin typeface="Courier New"/>
                <a:cs typeface="Courier New"/>
              </a:rPr>
              <a:t>System.out.println("Boxing: "+obj);</a:t>
            </a:r>
          </a:p>
          <a:p>
            <a:pPr>
              <a:lnSpc>
                <a:spcPct val="110000"/>
              </a:lnSpc>
              <a:spcBef>
                <a:spcPts val="0"/>
              </a:spcBef>
              <a:spcAft>
                <a:spcPts val="600"/>
              </a:spcAft>
            </a:pPr>
            <a:endParaRPr sz="2000" b="1" dirty="0">
              <a:solidFill>
                <a:srgbClr val="001F5F"/>
              </a:solidFill>
              <a:latin typeface="Calibri"/>
              <a:cs typeface="Calibri"/>
            </a:endParaRPr>
          </a:p>
          <a:p>
            <a:pPr marL="143510"/>
            <a:r>
              <a:rPr sz="1600" b="1" dirty="0">
                <a:solidFill>
                  <a:srgbClr val="001F5F"/>
                </a:solidFill>
                <a:latin typeface="Courier New"/>
                <a:cs typeface="Courier New"/>
              </a:rPr>
              <a:t>}</a:t>
            </a:r>
          </a:p>
        </p:txBody>
      </p:sp>
      <p:pic>
        <p:nvPicPr>
          <p:cNvPr id="3" name="object 3"/>
          <p:cNvPicPr/>
          <p:nvPr/>
        </p:nvPicPr>
        <p:blipFill>
          <a:blip r:embed="rId2" cstate="print"/>
          <a:stretch>
            <a:fillRect/>
          </a:stretch>
        </p:blipFill>
        <p:spPr>
          <a:xfrm>
            <a:off x="2514600" y="3765204"/>
            <a:ext cx="3953255" cy="1008888"/>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133600" y="1066800"/>
            <a:ext cx="5950585" cy="2523364"/>
          </a:xfrm>
          <a:prstGeom prst="rect">
            <a:avLst/>
          </a:prstGeom>
        </p:spPr>
        <p:txBody>
          <a:bodyPr vert="horz" wrap="none" lIns="0" tIns="12700" rIns="0" bIns="0" rtlCol="0">
            <a:normAutofit/>
          </a:bodyPr>
          <a:lstStyle/>
          <a:p>
            <a:pPr marL="12700"/>
            <a:r>
              <a:rPr lang="en-IN" sz="1600" b="1" dirty="0">
                <a:solidFill>
                  <a:srgbClr val="2E7D32"/>
                </a:solidFill>
                <a:latin typeface="Courier New"/>
                <a:cs typeface="Courier New"/>
              </a:rPr>
              <a:t>//</a:t>
            </a:r>
            <a:r>
              <a:rPr lang="en-IN" sz="1600" b="1" dirty="0" err="1">
                <a:solidFill>
                  <a:srgbClr val="2E7D32"/>
                </a:solidFill>
                <a:latin typeface="Courier New"/>
                <a:cs typeface="Courier New"/>
              </a:rPr>
              <a:t>UnBoxing</a:t>
            </a:r>
            <a:r>
              <a:rPr lang="en-IN" sz="1600" b="1" dirty="0">
                <a:solidFill>
                  <a:srgbClr val="001F5F"/>
                </a:solidFill>
                <a:latin typeface="Courier New"/>
                <a:cs typeface="Courier New"/>
              </a:rPr>
              <a:t> Example</a:t>
            </a:r>
          </a:p>
          <a:p>
            <a:pPr marL="12700"/>
            <a:r>
              <a:rPr lang="en-IN" sz="1600" b="1" dirty="0">
                <a:solidFill>
                  <a:srgbClr val="001F5F"/>
                </a:solidFill>
                <a:latin typeface="Courier New"/>
                <a:cs typeface="Courier New"/>
              </a:rPr>
              <a:t>class </a:t>
            </a:r>
            <a:r>
              <a:rPr lang="en-IN" sz="1600" b="1" dirty="0" err="1">
                <a:solidFill>
                  <a:srgbClr val="001F5F"/>
                </a:solidFill>
                <a:latin typeface="Courier New"/>
                <a:cs typeface="Courier New"/>
              </a:rPr>
              <a:t>UnboxingExample</a:t>
            </a:r>
            <a:endParaRPr lang="en-IN" sz="1600" b="1" dirty="0">
              <a:solidFill>
                <a:srgbClr val="001F5F"/>
              </a:solidFill>
              <a:latin typeface="Courier New"/>
              <a:cs typeface="Courier New"/>
            </a:endParaRP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public static void main(String args[])</a:t>
            </a:r>
          </a:p>
          <a:p>
            <a:pPr marL="12700"/>
            <a:r>
              <a:rPr sz="1600" b="1" dirty="0">
                <a:solidFill>
                  <a:srgbClr val="001F5F"/>
                </a:solidFill>
                <a:latin typeface="Courier New"/>
                <a:cs typeface="Courier New"/>
              </a:rPr>
              <a:t>{</a:t>
            </a:r>
          </a:p>
          <a:p>
            <a:pPr marL="539750" marR="1012190"/>
            <a:r>
              <a:rPr sz="1600" b="1" dirty="0">
                <a:solidFill>
                  <a:srgbClr val="001F5F"/>
                </a:solidFill>
                <a:latin typeface="Courier New"/>
                <a:cs typeface="Courier New"/>
              </a:rPr>
              <a:t>Integer obj=new Integer(50); </a:t>
            </a:r>
            <a:endParaRPr lang="en-IN" sz="1600" b="1" dirty="0">
              <a:solidFill>
                <a:srgbClr val="001F5F"/>
              </a:solidFill>
              <a:latin typeface="Courier New"/>
              <a:cs typeface="Courier New"/>
            </a:endParaRPr>
          </a:p>
          <a:p>
            <a:pPr marL="539750" marR="1012190"/>
            <a:r>
              <a:rPr sz="1600" b="1" dirty="0">
                <a:solidFill>
                  <a:srgbClr val="001F5F"/>
                </a:solidFill>
                <a:latin typeface="Courier New"/>
                <a:cs typeface="Courier New"/>
              </a:rPr>
              <a:t>int a=obj;</a:t>
            </a:r>
          </a:p>
          <a:p>
            <a:pPr marL="539750"/>
            <a:r>
              <a:rPr sz="1600" b="1" dirty="0">
                <a:solidFill>
                  <a:srgbClr val="001F5F"/>
                </a:solidFill>
                <a:latin typeface="Courier New"/>
                <a:cs typeface="Courier New"/>
              </a:rPr>
              <a:t>System.out.println("Unboxing :" +a);</a:t>
            </a:r>
          </a:p>
          <a:p>
            <a:pPr marL="12700"/>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pic>
        <p:nvPicPr>
          <p:cNvPr id="4" name="object 4"/>
          <p:cNvPicPr/>
          <p:nvPr/>
        </p:nvPicPr>
        <p:blipFill>
          <a:blip r:embed="rId2" cstate="print"/>
          <a:stretch>
            <a:fillRect/>
          </a:stretch>
        </p:blipFill>
        <p:spPr>
          <a:xfrm>
            <a:off x="2133600" y="4114800"/>
            <a:ext cx="4123944" cy="1030224"/>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5319" y="2209927"/>
            <a:ext cx="2713990" cy="391160"/>
          </a:xfrm>
          <a:prstGeom prst="rect">
            <a:avLst/>
          </a:prstGeom>
        </p:spPr>
        <p:txBody>
          <a:bodyPr vert="horz" wrap="square" lIns="0" tIns="12700" rIns="0" bIns="0" rtlCol="0">
            <a:normAutofit/>
          </a:bodyPr>
          <a:lstStyle/>
          <a:p>
            <a:pPr marL="12700">
              <a:lnSpc>
                <a:spcPct val="110000"/>
              </a:lnSpc>
              <a:spcBef>
                <a:spcPts val="0"/>
              </a:spcBef>
              <a:spcAft>
                <a:spcPts val="600"/>
              </a:spcAft>
            </a:pPr>
            <a:r>
              <a:rPr sz="2000" b="1" dirty="0">
                <a:solidFill>
                  <a:srgbClr val="C00000"/>
                </a:solidFill>
                <a:latin typeface="Calibri"/>
                <a:cs typeface="Calibri"/>
              </a:rPr>
              <a:t>UNIT-04 PART-C</a:t>
            </a:r>
            <a:endParaRPr sz="2000">
              <a:solidFill>
                <a:srgbClr val="001F5F"/>
              </a:solidFill>
              <a:latin typeface="Calibri"/>
              <a:cs typeface="Calibri"/>
            </a:endParaRPr>
          </a:p>
        </p:txBody>
      </p:sp>
      <p:sp>
        <p:nvSpPr>
          <p:cNvPr id="3" name="object 3"/>
          <p:cNvSpPr txBox="1"/>
          <p:nvPr/>
        </p:nvSpPr>
        <p:spPr>
          <a:xfrm>
            <a:off x="4352035" y="2936188"/>
            <a:ext cx="4053840" cy="454025"/>
          </a:xfrm>
          <a:prstGeom prst="rect">
            <a:avLst/>
          </a:prstGeom>
        </p:spPr>
        <p:txBody>
          <a:bodyPr vert="horz" wrap="square" lIns="0" tIns="13970" rIns="0" bIns="0" rtlCol="0">
            <a:spAutoFit/>
          </a:bodyPr>
          <a:lstStyle/>
          <a:p>
            <a:pPr marL="12700">
              <a:lnSpc>
                <a:spcPct val="100000"/>
              </a:lnSpc>
              <a:spcBef>
                <a:spcPts val="110"/>
              </a:spcBef>
            </a:pPr>
            <a:r>
              <a:rPr sz="2800" b="1" dirty="0">
                <a:solidFill>
                  <a:srgbClr val="001F5F"/>
                </a:solidFill>
                <a:latin typeface="Calibri"/>
                <a:cs typeface="Calibri"/>
              </a:rPr>
              <a:t>Concept-07 Math Class</a:t>
            </a:r>
            <a:endParaRPr sz="2800" b="1">
              <a:solidFill>
                <a:srgbClr val="001F5F"/>
              </a:solidFill>
              <a:latin typeface="Calibri"/>
              <a:cs typeface="Calibri"/>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1000" y="762001"/>
            <a:ext cx="11311890" cy="2133600"/>
          </a:xfrm>
          <a:prstGeom prst="rect">
            <a:avLst/>
          </a:prstGeom>
        </p:spPr>
        <p:txBody>
          <a:bodyPr vert="horz" wrap="square" lIns="0" tIns="12700" rIns="0" bIns="0" rtlCol="0">
            <a:normAutofit/>
          </a:bodyPr>
          <a:lstStyle/>
          <a:p>
            <a:pPr marL="355600" marR="5080" indent="-343535" algn="l">
              <a:lnSpc>
                <a:spcPct val="110000"/>
              </a:lnSpc>
              <a:spcBef>
                <a:spcPts val="0"/>
              </a:spcBef>
              <a:spcAft>
                <a:spcPts val="600"/>
              </a:spcAft>
              <a:buFont typeface="Wingdings"/>
              <a:buChar char=""/>
              <a:tabLst>
                <a:tab pos="356870" algn="l"/>
              </a:tabLst>
            </a:pPr>
            <a:r>
              <a:rPr sz="1800" b="1" dirty="0">
                <a:latin typeface="Calibri"/>
                <a:cs typeface="Calibri"/>
              </a:rPr>
              <a:t>Java Math Class in Java contains certain methods to perform different numeric operations, is exponential, square root, logarithmic, trigonometric functions.</a:t>
            </a:r>
            <a:endParaRPr sz="1800" dirty="0">
              <a:latin typeface="Calibri"/>
              <a:cs typeface="Calibri"/>
            </a:endParaRPr>
          </a:p>
          <a:p>
            <a:pPr marL="356870" marR="6985" indent="-344805" algn="l">
              <a:lnSpc>
                <a:spcPct val="110000"/>
              </a:lnSpc>
              <a:spcBef>
                <a:spcPts val="0"/>
              </a:spcBef>
              <a:spcAft>
                <a:spcPts val="600"/>
              </a:spcAft>
              <a:buFont typeface="Wingdings"/>
              <a:buChar char=""/>
              <a:tabLst>
                <a:tab pos="356870" algn="l"/>
              </a:tabLst>
            </a:pPr>
            <a:r>
              <a:rPr sz="1800" b="1" dirty="0">
                <a:latin typeface="Calibri"/>
                <a:cs typeface="Calibri"/>
              </a:rPr>
              <a:t>Java Math class provides several methods to work on math calculations like sqrt(),min(), max(),avg(), sin(), cos(), tan(), round(),floor(), abs() etc.</a:t>
            </a:r>
            <a:endParaRPr sz="1800" dirty="0">
              <a:latin typeface="Calibri"/>
              <a:cs typeface="Calibri"/>
            </a:endParaRPr>
          </a:p>
          <a:p>
            <a:pPr marL="355600" marR="7620" indent="-343535" algn="l">
              <a:lnSpc>
                <a:spcPct val="110000"/>
              </a:lnSpc>
              <a:spcBef>
                <a:spcPts val="0"/>
              </a:spcBef>
              <a:spcAft>
                <a:spcPts val="600"/>
              </a:spcAft>
              <a:buFont typeface="Wingdings"/>
              <a:buChar char=""/>
              <a:tabLst>
                <a:tab pos="356870" algn="l"/>
              </a:tabLst>
            </a:pPr>
            <a:r>
              <a:rPr sz="1800" b="1" dirty="0">
                <a:latin typeface="Calibri"/>
                <a:cs typeface="Calibri"/>
              </a:rPr>
              <a:t>Arithmetic operations like increment, decrement, divide, absolute value, It should be checked against the maximum and minimum value as appropriate.</a:t>
            </a:r>
            <a:endParaRPr sz="1800" dirty="0">
              <a:latin typeface="Calibri"/>
              <a:cs typeface="Calibri"/>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A2E4B88-19DF-B354-D023-6B20C0342C0F}"/>
              </a:ext>
            </a:extLst>
          </p:cNvPr>
          <p:cNvSpPr>
            <a:spLocks noGrp="1"/>
          </p:cNvSpPr>
          <p:nvPr/>
        </p:nvSpPr>
        <p:spPr>
          <a:xfrm>
            <a:off x="609600" y="647700"/>
            <a:ext cx="10953750" cy="571500"/>
          </a:xfrm>
          <a:prstGeom prst="rect">
            <a:avLst/>
          </a:prstGeom>
          <a:noFill/>
          <a:ln w="0">
            <a:noFill/>
          </a:ln>
        </p:spPr>
        <p:txBody>
          <a:bodyPr anchor="ctr">
            <a:normAutofit/>
          </a:bodyPr>
          <a:lstStyle/>
          <a:p>
            <a:pPr algn="l">
              <a:defRPr sz="3075" b="1">
                <a:solidFill>
                  <a:srgbClr val="102A56"/>
                </a:solidFill>
                <a:latin typeface="Arial"/>
                <a:ea typeface="Arial"/>
                <a:cs typeface="Arial"/>
              </a:defRPr>
            </a:pPr>
            <a:r>
              <a:rPr sz="3075" b="1">
                <a:solidFill>
                  <a:srgbClr val="102A56"/>
                </a:solidFill>
                <a:latin typeface="Arial"/>
                <a:ea typeface="Arial"/>
                <a:cs typeface="Arial"/>
              </a:rPr>
              <a:t>Common methods in java.lang.Math</a:t>
            </a:r>
          </a:p>
        </p:txBody>
      </p:sp>
      <p:sp>
        <p:nvSpPr>
          <p:cNvPr id="9" name="Rectangle 8">
            <a:extLst>
              <a:ext uri="{FF2B5EF4-FFF2-40B4-BE49-F238E27FC236}">
                <a16:creationId xmlns:a16="http://schemas.microsoft.com/office/drawing/2014/main" id="{A26C07D7-31C2-4135-9AF5-64C3C80ABCAD}"/>
              </a:ext>
            </a:extLst>
          </p:cNvPr>
          <p:cNvSpPr>
            <a:spLocks noGrp="1"/>
          </p:cNvSpPr>
          <p:nvPr/>
        </p:nvSpPr>
        <p:spPr>
          <a:xfrm>
            <a:off x="628650" y="1266825"/>
            <a:ext cx="10477500" cy="342900"/>
          </a:xfrm>
          <a:prstGeom prst="rect">
            <a:avLst/>
          </a:prstGeom>
          <a:noFill/>
          <a:ln w="0">
            <a:noFill/>
          </a:ln>
        </p:spPr>
        <p:txBody>
          <a:bodyPr anchor="ctr">
            <a:normAutofit fontScale="95652"/>
          </a:bodyPr>
          <a:lstStyle/>
          <a:p>
            <a:pPr algn="l">
              <a:defRPr sz="1725" b="0">
                <a:solidFill>
                  <a:srgbClr val="51647C"/>
                </a:solidFill>
                <a:latin typeface="Arial"/>
                <a:ea typeface="Arial"/>
                <a:cs typeface="Arial"/>
              </a:defRPr>
            </a:pPr>
            <a:r>
              <a:rPr sz="1725" b="0">
                <a:solidFill>
                  <a:srgbClr val="51647C"/>
                </a:solidFill>
                <a:latin typeface="Arial"/>
                <a:ea typeface="Arial"/>
                <a:cs typeface="Arial"/>
              </a:rPr>
              <a:t>Call each static method as Math.method(...).</a:t>
            </a:r>
          </a:p>
        </p:txBody>
      </p:sp>
      <p:sp>
        <p:nvSpPr>
          <p:cNvPr id="11" name="Rectangle 10">
            <a:extLst>
              <a:ext uri="{FF2B5EF4-FFF2-40B4-BE49-F238E27FC236}">
                <a16:creationId xmlns:a16="http://schemas.microsoft.com/office/drawing/2014/main" id="{E90C9B03-1932-024F-6D71-149A5677DFDD}"/>
              </a:ext>
            </a:extLst>
          </p:cNvPr>
          <p:cNvSpPr>
            <a:spLocks noGrp="1"/>
          </p:cNvSpPr>
          <p:nvPr/>
        </p:nvSpPr>
        <p:spPr>
          <a:xfrm>
            <a:off x="609600" y="1781175"/>
            <a:ext cx="10972800" cy="19050"/>
          </a:xfrm>
          <a:prstGeom prst="rect">
            <a:avLst/>
          </a:prstGeom>
          <a:solidFill>
            <a:srgbClr val="D7E0EA"/>
          </a:solidFill>
          <a:ln w="0">
            <a:noFill/>
          </a:ln>
        </p:spPr>
        <p:txBody>
          <a:bodyPr/>
          <a:lstStyle/>
          <a:p>
            <a:endParaRPr lang="en-IN"/>
          </a:p>
        </p:txBody>
      </p:sp>
      <p:sp>
        <p:nvSpPr>
          <p:cNvPr id="13" name="Rectangle 12">
            <a:extLst>
              <a:ext uri="{FF2B5EF4-FFF2-40B4-BE49-F238E27FC236}">
                <a16:creationId xmlns:a16="http://schemas.microsoft.com/office/drawing/2014/main" id="{55E9B574-2EE9-F5D8-1306-3FF51E8015C8}"/>
              </a:ext>
            </a:extLst>
          </p:cNvPr>
          <p:cNvSpPr>
            <a:spLocks noGrp="1"/>
          </p:cNvSpPr>
          <p:nvPr/>
        </p:nvSpPr>
        <p:spPr>
          <a:xfrm>
            <a:off x="609600" y="2009775"/>
            <a:ext cx="2238375" cy="409575"/>
          </a:xfrm>
          <a:prstGeom prst="rect">
            <a:avLst/>
          </a:prstGeom>
          <a:solidFill>
            <a:srgbClr val="102A56"/>
          </a:solidFill>
          <a:ln w="9525">
            <a:solidFill>
              <a:srgbClr val="FFFFFF"/>
            </a:solidFill>
          </a:ln>
        </p:spPr>
        <p:txBody>
          <a:bodyPr/>
          <a:lstStyle/>
          <a:p>
            <a:endParaRPr lang="en-IN"/>
          </a:p>
        </p:txBody>
      </p:sp>
      <p:sp>
        <p:nvSpPr>
          <p:cNvPr id="15" name="Rectangle 14">
            <a:extLst>
              <a:ext uri="{FF2B5EF4-FFF2-40B4-BE49-F238E27FC236}">
                <a16:creationId xmlns:a16="http://schemas.microsoft.com/office/drawing/2014/main" id="{92D3A56D-C698-3B07-3AF0-8D9F6BC95E9A}"/>
              </a:ext>
            </a:extLst>
          </p:cNvPr>
          <p:cNvSpPr>
            <a:spLocks noGrp="1"/>
          </p:cNvSpPr>
          <p:nvPr/>
        </p:nvSpPr>
        <p:spPr>
          <a:xfrm>
            <a:off x="723900" y="2028825"/>
            <a:ext cx="2009775" cy="371475"/>
          </a:xfrm>
          <a:prstGeom prst="rect">
            <a:avLst/>
          </a:prstGeom>
          <a:noFill/>
          <a:ln w="0">
            <a:noFill/>
          </a:ln>
        </p:spPr>
        <p:txBody>
          <a:bodyPr anchor="ctr">
            <a:normAutofit/>
          </a:bodyPr>
          <a:lstStyle/>
          <a:p>
            <a:pPr algn="l">
              <a:defRPr sz="1200" b="1">
                <a:solidFill>
                  <a:srgbClr val="FFFFFF"/>
                </a:solidFill>
                <a:latin typeface="Arial"/>
                <a:ea typeface="Arial"/>
                <a:cs typeface="Arial"/>
              </a:defRPr>
            </a:pPr>
            <a:r>
              <a:rPr sz="1200" b="1">
                <a:solidFill>
                  <a:srgbClr val="FFFFFF"/>
                </a:solidFill>
                <a:latin typeface="Arial"/>
                <a:ea typeface="Arial"/>
                <a:cs typeface="Arial"/>
              </a:rPr>
              <a:t>Method</a:t>
            </a:r>
          </a:p>
        </p:txBody>
      </p:sp>
      <p:sp>
        <p:nvSpPr>
          <p:cNvPr id="17" name="Rectangle 16">
            <a:extLst>
              <a:ext uri="{FF2B5EF4-FFF2-40B4-BE49-F238E27FC236}">
                <a16:creationId xmlns:a16="http://schemas.microsoft.com/office/drawing/2014/main" id="{02D4C252-964D-2B5B-7721-60369ACEB530}"/>
              </a:ext>
            </a:extLst>
          </p:cNvPr>
          <p:cNvSpPr>
            <a:spLocks noGrp="1"/>
          </p:cNvSpPr>
          <p:nvPr/>
        </p:nvSpPr>
        <p:spPr>
          <a:xfrm>
            <a:off x="2847975" y="2009775"/>
            <a:ext cx="3143250" cy="409575"/>
          </a:xfrm>
          <a:prstGeom prst="rect">
            <a:avLst/>
          </a:prstGeom>
          <a:solidFill>
            <a:srgbClr val="102A56"/>
          </a:solidFill>
          <a:ln w="9525">
            <a:solidFill>
              <a:srgbClr val="FFFFFF"/>
            </a:solidFill>
          </a:ln>
        </p:spPr>
        <p:txBody>
          <a:bodyPr/>
          <a:lstStyle/>
          <a:p>
            <a:endParaRPr lang="en-IN"/>
          </a:p>
        </p:txBody>
      </p:sp>
      <p:sp>
        <p:nvSpPr>
          <p:cNvPr id="19" name="Rectangle 18">
            <a:extLst>
              <a:ext uri="{FF2B5EF4-FFF2-40B4-BE49-F238E27FC236}">
                <a16:creationId xmlns:a16="http://schemas.microsoft.com/office/drawing/2014/main" id="{6C334BC3-1D23-605A-275F-5E19C3937052}"/>
              </a:ext>
            </a:extLst>
          </p:cNvPr>
          <p:cNvSpPr>
            <a:spLocks noGrp="1"/>
          </p:cNvSpPr>
          <p:nvPr/>
        </p:nvSpPr>
        <p:spPr>
          <a:xfrm>
            <a:off x="2962275" y="2028825"/>
            <a:ext cx="2914650" cy="371475"/>
          </a:xfrm>
          <a:prstGeom prst="rect">
            <a:avLst/>
          </a:prstGeom>
          <a:noFill/>
          <a:ln w="0">
            <a:noFill/>
          </a:ln>
        </p:spPr>
        <p:txBody>
          <a:bodyPr anchor="ctr">
            <a:normAutofit/>
          </a:bodyPr>
          <a:lstStyle/>
          <a:p>
            <a:pPr algn="l">
              <a:defRPr sz="1200" b="1">
                <a:solidFill>
                  <a:srgbClr val="FFFFFF"/>
                </a:solidFill>
                <a:latin typeface="Arial"/>
                <a:ea typeface="Arial"/>
                <a:cs typeface="Arial"/>
              </a:defRPr>
            </a:pPr>
            <a:r>
              <a:rPr sz="1200" b="1">
                <a:solidFill>
                  <a:srgbClr val="FFFFFF"/>
                </a:solidFill>
                <a:latin typeface="Arial"/>
                <a:ea typeface="Arial"/>
                <a:cs typeface="Arial"/>
              </a:rPr>
              <a:t>What it does</a:t>
            </a:r>
          </a:p>
        </p:txBody>
      </p:sp>
      <p:sp>
        <p:nvSpPr>
          <p:cNvPr id="21" name="Rectangle 20">
            <a:extLst>
              <a:ext uri="{FF2B5EF4-FFF2-40B4-BE49-F238E27FC236}">
                <a16:creationId xmlns:a16="http://schemas.microsoft.com/office/drawing/2014/main" id="{FA13303B-336A-47C0-AE9F-481402690216}"/>
              </a:ext>
            </a:extLst>
          </p:cNvPr>
          <p:cNvSpPr>
            <a:spLocks noGrp="1"/>
          </p:cNvSpPr>
          <p:nvPr/>
        </p:nvSpPr>
        <p:spPr>
          <a:xfrm>
            <a:off x="5991225" y="2009775"/>
            <a:ext cx="5591175" cy="409575"/>
          </a:xfrm>
          <a:prstGeom prst="rect">
            <a:avLst/>
          </a:prstGeom>
          <a:solidFill>
            <a:srgbClr val="102A56"/>
          </a:solidFill>
          <a:ln w="9525">
            <a:solidFill>
              <a:srgbClr val="FFFFFF"/>
            </a:solidFill>
          </a:ln>
        </p:spPr>
        <p:txBody>
          <a:bodyPr/>
          <a:lstStyle/>
          <a:p>
            <a:endParaRPr lang="en-IN"/>
          </a:p>
        </p:txBody>
      </p:sp>
      <p:sp>
        <p:nvSpPr>
          <p:cNvPr id="23" name="Rectangle 22">
            <a:extLst>
              <a:ext uri="{FF2B5EF4-FFF2-40B4-BE49-F238E27FC236}">
                <a16:creationId xmlns:a16="http://schemas.microsoft.com/office/drawing/2014/main" id="{B5A1CCED-C578-AC21-FBCD-AE0BAF2752E4}"/>
              </a:ext>
            </a:extLst>
          </p:cNvPr>
          <p:cNvSpPr>
            <a:spLocks noGrp="1"/>
          </p:cNvSpPr>
          <p:nvPr/>
        </p:nvSpPr>
        <p:spPr>
          <a:xfrm>
            <a:off x="6105525" y="2028825"/>
            <a:ext cx="5362575" cy="371475"/>
          </a:xfrm>
          <a:prstGeom prst="rect">
            <a:avLst/>
          </a:prstGeom>
          <a:noFill/>
          <a:ln w="0">
            <a:noFill/>
          </a:ln>
        </p:spPr>
        <p:txBody>
          <a:bodyPr anchor="ctr">
            <a:normAutofit/>
          </a:bodyPr>
          <a:lstStyle/>
          <a:p>
            <a:pPr algn="l">
              <a:defRPr sz="1200" b="1">
                <a:solidFill>
                  <a:srgbClr val="FFFFFF"/>
                </a:solidFill>
                <a:latin typeface="Arial"/>
                <a:ea typeface="Arial"/>
                <a:cs typeface="Arial"/>
              </a:defRPr>
            </a:pPr>
            <a:r>
              <a:rPr sz="1200" b="1">
                <a:solidFill>
                  <a:srgbClr val="FFFFFF"/>
                </a:solidFill>
                <a:latin typeface="Arial"/>
                <a:ea typeface="Arial"/>
                <a:cs typeface="Arial"/>
              </a:rPr>
              <a:t>Example → result</a:t>
            </a:r>
          </a:p>
        </p:txBody>
      </p:sp>
      <p:sp>
        <p:nvSpPr>
          <p:cNvPr id="25" name="Rectangle 24">
            <a:extLst>
              <a:ext uri="{FF2B5EF4-FFF2-40B4-BE49-F238E27FC236}">
                <a16:creationId xmlns:a16="http://schemas.microsoft.com/office/drawing/2014/main" id="{9B925FBE-F638-E4F9-D904-A21AA912C16D}"/>
              </a:ext>
            </a:extLst>
          </p:cNvPr>
          <p:cNvSpPr>
            <a:spLocks noGrp="1"/>
          </p:cNvSpPr>
          <p:nvPr/>
        </p:nvSpPr>
        <p:spPr>
          <a:xfrm>
            <a:off x="609600" y="2419350"/>
            <a:ext cx="2238375" cy="361950"/>
          </a:xfrm>
          <a:prstGeom prst="rect">
            <a:avLst/>
          </a:prstGeom>
          <a:solidFill>
            <a:srgbClr val="F0F4F8"/>
          </a:solidFill>
          <a:ln w="9525">
            <a:solidFill>
              <a:srgbClr val="D7E0EA"/>
            </a:solidFill>
          </a:ln>
        </p:spPr>
        <p:txBody>
          <a:bodyPr/>
          <a:lstStyle/>
          <a:p>
            <a:endParaRPr lang="en-IN"/>
          </a:p>
        </p:txBody>
      </p:sp>
      <p:sp>
        <p:nvSpPr>
          <p:cNvPr id="27" name="Rectangle 26">
            <a:extLst>
              <a:ext uri="{FF2B5EF4-FFF2-40B4-BE49-F238E27FC236}">
                <a16:creationId xmlns:a16="http://schemas.microsoft.com/office/drawing/2014/main" id="{2D6EA0CD-29BA-F2B0-9BDF-3352521F31E6}"/>
              </a:ext>
            </a:extLst>
          </p:cNvPr>
          <p:cNvSpPr>
            <a:spLocks noGrp="1"/>
          </p:cNvSpPr>
          <p:nvPr/>
        </p:nvSpPr>
        <p:spPr>
          <a:xfrm>
            <a:off x="723900" y="2438400"/>
            <a:ext cx="2009775" cy="323850"/>
          </a:xfrm>
          <a:prstGeom prst="rect">
            <a:avLst/>
          </a:prstGeom>
          <a:noFill/>
          <a:ln w="0">
            <a:noFill/>
          </a:ln>
        </p:spPr>
        <p:txBody>
          <a:bodyPr anchor="ctr">
            <a:normAutofit/>
          </a:bodyPr>
          <a:lstStyle/>
          <a:p>
            <a:pPr algn="l">
              <a:defRPr sz="1125" b="1">
                <a:solidFill>
                  <a:srgbClr val="102A56"/>
                </a:solidFill>
                <a:latin typeface="Arial"/>
                <a:ea typeface="Arial"/>
                <a:cs typeface="Arial"/>
              </a:defRPr>
            </a:pPr>
            <a:r>
              <a:rPr sz="1125" b="1">
                <a:solidFill>
                  <a:srgbClr val="102A56"/>
                </a:solidFill>
                <a:latin typeface="Arial"/>
                <a:ea typeface="Arial"/>
                <a:cs typeface="Arial"/>
              </a:rPr>
              <a:t>Math.abs(x)</a:t>
            </a:r>
          </a:p>
        </p:txBody>
      </p:sp>
      <p:sp>
        <p:nvSpPr>
          <p:cNvPr id="29" name="Rectangle 28">
            <a:extLst>
              <a:ext uri="{FF2B5EF4-FFF2-40B4-BE49-F238E27FC236}">
                <a16:creationId xmlns:a16="http://schemas.microsoft.com/office/drawing/2014/main" id="{8897A445-EFEB-3010-1511-A48F34D57F6D}"/>
              </a:ext>
            </a:extLst>
          </p:cNvPr>
          <p:cNvSpPr>
            <a:spLocks noGrp="1"/>
          </p:cNvSpPr>
          <p:nvPr/>
        </p:nvSpPr>
        <p:spPr>
          <a:xfrm>
            <a:off x="2847975" y="2419350"/>
            <a:ext cx="3143250" cy="361950"/>
          </a:xfrm>
          <a:prstGeom prst="rect">
            <a:avLst/>
          </a:prstGeom>
          <a:solidFill>
            <a:srgbClr val="F0F4F8"/>
          </a:solidFill>
          <a:ln w="9525">
            <a:solidFill>
              <a:srgbClr val="D7E0EA"/>
            </a:solidFill>
          </a:ln>
        </p:spPr>
        <p:txBody>
          <a:bodyPr/>
          <a:lstStyle/>
          <a:p>
            <a:endParaRPr lang="en-IN"/>
          </a:p>
        </p:txBody>
      </p:sp>
      <p:sp>
        <p:nvSpPr>
          <p:cNvPr id="31" name="Rectangle 30">
            <a:extLst>
              <a:ext uri="{FF2B5EF4-FFF2-40B4-BE49-F238E27FC236}">
                <a16:creationId xmlns:a16="http://schemas.microsoft.com/office/drawing/2014/main" id="{74CF430A-CC16-DBC1-EC0C-210ACCA4333D}"/>
              </a:ext>
            </a:extLst>
          </p:cNvPr>
          <p:cNvSpPr>
            <a:spLocks noGrp="1"/>
          </p:cNvSpPr>
          <p:nvPr/>
        </p:nvSpPr>
        <p:spPr>
          <a:xfrm>
            <a:off x="2962275" y="2438400"/>
            <a:ext cx="2914650" cy="323850"/>
          </a:xfrm>
          <a:prstGeom prst="rect">
            <a:avLst/>
          </a:prstGeom>
          <a:noFill/>
          <a:ln w="0">
            <a:noFill/>
          </a:ln>
        </p:spPr>
        <p:txBody>
          <a:bodyPr anchor="ctr">
            <a:normAutofit/>
          </a:bodyPr>
          <a:lstStyle/>
          <a:p>
            <a:pPr algn="l">
              <a:defRPr sz="1125" b="0">
                <a:solidFill>
                  <a:srgbClr val="172B45"/>
                </a:solidFill>
                <a:latin typeface="Arial"/>
                <a:ea typeface="Arial"/>
                <a:cs typeface="Arial"/>
              </a:defRPr>
            </a:pPr>
            <a:r>
              <a:rPr sz="1125" b="0">
                <a:solidFill>
                  <a:srgbClr val="172B45"/>
                </a:solidFill>
                <a:latin typeface="Arial"/>
                <a:ea typeface="Arial"/>
                <a:cs typeface="Arial"/>
              </a:rPr>
              <a:t>Returns the absolute value</a:t>
            </a:r>
          </a:p>
        </p:txBody>
      </p:sp>
      <p:sp>
        <p:nvSpPr>
          <p:cNvPr id="33" name="Rectangle 32">
            <a:extLst>
              <a:ext uri="{FF2B5EF4-FFF2-40B4-BE49-F238E27FC236}">
                <a16:creationId xmlns:a16="http://schemas.microsoft.com/office/drawing/2014/main" id="{8A1472E7-A47C-1147-D6AC-42EC145EA713}"/>
              </a:ext>
            </a:extLst>
          </p:cNvPr>
          <p:cNvSpPr>
            <a:spLocks noGrp="1"/>
          </p:cNvSpPr>
          <p:nvPr/>
        </p:nvSpPr>
        <p:spPr>
          <a:xfrm>
            <a:off x="5991225" y="2419350"/>
            <a:ext cx="5591175" cy="361950"/>
          </a:xfrm>
          <a:prstGeom prst="rect">
            <a:avLst/>
          </a:prstGeom>
          <a:solidFill>
            <a:srgbClr val="F0F4F8"/>
          </a:solidFill>
          <a:ln w="9525">
            <a:solidFill>
              <a:srgbClr val="D7E0EA"/>
            </a:solidFill>
          </a:ln>
        </p:spPr>
        <p:txBody>
          <a:bodyPr/>
          <a:lstStyle/>
          <a:p>
            <a:endParaRPr lang="en-IN"/>
          </a:p>
        </p:txBody>
      </p:sp>
      <p:sp>
        <p:nvSpPr>
          <p:cNvPr id="35" name="Rectangle 34">
            <a:extLst>
              <a:ext uri="{FF2B5EF4-FFF2-40B4-BE49-F238E27FC236}">
                <a16:creationId xmlns:a16="http://schemas.microsoft.com/office/drawing/2014/main" id="{28460CA2-D2F6-6EC2-7C1D-888B8F500979}"/>
              </a:ext>
            </a:extLst>
          </p:cNvPr>
          <p:cNvSpPr>
            <a:spLocks noGrp="1"/>
          </p:cNvSpPr>
          <p:nvPr/>
        </p:nvSpPr>
        <p:spPr>
          <a:xfrm>
            <a:off x="6105525" y="2438400"/>
            <a:ext cx="5362575" cy="323850"/>
          </a:xfrm>
          <a:prstGeom prst="rect">
            <a:avLst/>
          </a:prstGeom>
          <a:noFill/>
          <a:ln w="0">
            <a:noFill/>
          </a:ln>
        </p:spPr>
        <p:txBody>
          <a:bodyPr anchor="ctr">
            <a:normAutofit/>
          </a:bodyPr>
          <a:lstStyle/>
          <a:p>
            <a:pPr algn="l">
              <a:defRPr sz="1200" b="0">
                <a:solidFill>
                  <a:srgbClr val="172B45"/>
                </a:solidFill>
                <a:latin typeface="Consolas"/>
                <a:ea typeface="Consolas"/>
                <a:cs typeface="Consolas"/>
              </a:defRPr>
            </a:pPr>
            <a:r>
              <a:rPr sz="1200" b="0">
                <a:solidFill>
                  <a:srgbClr val="172B45"/>
                </a:solidFill>
                <a:latin typeface="Consolas"/>
                <a:ea typeface="Consolas"/>
                <a:cs typeface="Consolas"/>
              </a:rPr>
              <a:t>Math.abs(-7) → 7</a:t>
            </a:r>
          </a:p>
        </p:txBody>
      </p:sp>
      <p:sp>
        <p:nvSpPr>
          <p:cNvPr id="37" name="Rectangle 36">
            <a:extLst>
              <a:ext uri="{FF2B5EF4-FFF2-40B4-BE49-F238E27FC236}">
                <a16:creationId xmlns:a16="http://schemas.microsoft.com/office/drawing/2014/main" id="{01B98A54-8363-B15C-DEC5-A35280353747}"/>
              </a:ext>
            </a:extLst>
          </p:cNvPr>
          <p:cNvSpPr>
            <a:spLocks noGrp="1"/>
          </p:cNvSpPr>
          <p:nvPr/>
        </p:nvSpPr>
        <p:spPr>
          <a:xfrm>
            <a:off x="609600" y="2781300"/>
            <a:ext cx="2238375" cy="361950"/>
          </a:xfrm>
          <a:prstGeom prst="rect">
            <a:avLst/>
          </a:prstGeom>
          <a:solidFill>
            <a:srgbClr val="FFFFFF"/>
          </a:solidFill>
          <a:ln w="9525">
            <a:solidFill>
              <a:srgbClr val="D7E0EA"/>
            </a:solidFill>
          </a:ln>
        </p:spPr>
        <p:txBody>
          <a:bodyPr/>
          <a:lstStyle/>
          <a:p>
            <a:endParaRPr lang="en-IN"/>
          </a:p>
        </p:txBody>
      </p:sp>
      <p:sp>
        <p:nvSpPr>
          <p:cNvPr id="39" name="Rectangle 38">
            <a:extLst>
              <a:ext uri="{FF2B5EF4-FFF2-40B4-BE49-F238E27FC236}">
                <a16:creationId xmlns:a16="http://schemas.microsoft.com/office/drawing/2014/main" id="{47DA5DE6-53D9-8AD5-1869-72F7DEE945D1}"/>
              </a:ext>
            </a:extLst>
          </p:cNvPr>
          <p:cNvSpPr>
            <a:spLocks noGrp="1"/>
          </p:cNvSpPr>
          <p:nvPr/>
        </p:nvSpPr>
        <p:spPr>
          <a:xfrm>
            <a:off x="723900" y="2800350"/>
            <a:ext cx="2009775" cy="323850"/>
          </a:xfrm>
          <a:prstGeom prst="rect">
            <a:avLst/>
          </a:prstGeom>
          <a:noFill/>
          <a:ln w="0">
            <a:noFill/>
          </a:ln>
        </p:spPr>
        <p:txBody>
          <a:bodyPr anchor="ctr">
            <a:normAutofit/>
          </a:bodyPr>
          <a:lstStyle/>
          <a:p>
            <a:pPr algn="l">
              <a:defRPr sz="1125" b="1">
                <a:solidFill>
                  <a:srgbClr val="102A56"/>
                </a:solidFill>
                <a:latin typeface="Arial"/>
                <a:ea typeface="Arial"/>
                <a:cs typeface="Arial"/>
              </a:defRPr>
            </a:pPr>
            <a:r>
              <a:rPr sz="1125" b="1">
                <a:solidFill>
                  <a:srgbClr val="102A56"/>
                </a:solidFill>
                <a:latin typeface="Arial"/>
                <a:ea typeface="Arial"/>
                <a:cs typeface="Arial"/>
              </a:rPr>
              <a:t>Math.max(a, b)</a:t>
            </a:r>
          </a:p>
        </p:txBody>
      </p:sp>
      <p:sp>
        <p:nvSpPr>
          <p:cNvPr id="41" name="Rectangle 40">
            <a:extLst>
              <a:ext uri="{FF2B5EF4-FFF2-40B4-BE49-F238E27FC236}">
                <a16:creationId xmlns:a16="http://schemas.microsoft.com/office/drawing/2014/main" id="{DAE503E2-181C-99C7-34A3-B6EAF5A1F4E5}"/>
              </a:ext>
            </a:extLst>
          </p:cNvPr>
          <p:cNvSpPr>
            <a:spLocks noGrp="1"/>
          </p:cNvSpPr>
          <p:nvPr/>
        </p:nvSpPr>
        <p:spPr>
          <a:xfrm>
            <a:off x="2847975" y="2781300"/>
            <a:ext cx="3143250" cy="361950"/>
          </a:xfrm>
          <a:prstGeom prst="rect">
            <a:avLst/>
          </a:prstGeom>
          <a:solidFill>
            <a:srgbClr val="FFFFFF"/>
          </a:solidFill>
          <a:ln w="9525">
            <a:solidFill>
              <a:srgbClr val="D7E0EA"/>
            </a:solidFill>
          </a:ln>
        </p:spPr>
        <p:txBody>
          <a:bodyPr/>
          <a:lstStyle/>
          <a:p>
            <a:endParaRPr lang="en-IN"/>
          </a:p>
        </p:txBody>
      </p:sp>
      <p:sp>
        <p:nvSpPr>
          <p:cNvPr id="43" name="Rectangle 42">
            <a:extLst>
              <a:ext uri="{FF2B5EF4-FFF2-40B4-BE49-F238E27FC236}">
                <a16:creationId xmlns:a16="http://schemas.microsoft.com/office/drawing/2014/main" id="{417B5630-9538-FC97-1A37-7647352D4119}"/>
              </a:ext>
            </a:extLst>
          </p:cNvPr>
          <p:cNvSpPr>
            <a:spLocks noGrp="1"/>
          </p:cNvSpPr>
          <p:nvPr/>
        </p:nvSpPr>
        <p:spPr>
          <a:xfrm>
            <a:off x="2962275" y="2800350"/>
            <a:ext cx="2914650" cy="323850"/>
          </a:xfrm>
          <a:prstGeom prst="rect">
            <a:avLst/>
          </a:prstGeom>
          <a:noFill/>
          <a:ln w="0">
            <a:noFill/>
          </a:ln>
        </p:spPr>
        <p:txBody>
          <a:bodyPr anchor="ctr">
            <a:normAutofit/>
          </a:bodyPr>
          <a:lstStyle/>
          <a:p>
            <a:pPr algn="l">
              <a:defRPr sz="1125" b="0">
                <a:solidFill>
                  <a:srgbClr val="172B45"/>
                </a:solidFill>
                <a:latin typeface="Arial"/>
                <a:ea typeface="Arial"/>
                <a:cs typeface="Arial"/>
              </a:defRPr>
            </a:pPr>
            <a:r>
              <a:rPr sz="1125" b="0">
                <a:solidFill>
                  <a:srgbClr val="172B45"/>
                </a:solidFill>
                <a:latin typeface="Arial"/>
                <a:ea typeface="Arial"/>
                <a:cs typeface="Arial"/>
              </a:rPr>
              <a:t>Returns the larger value</a:t>
            </a:r>
          </a:p>
        </p:txBody>
      </p:sp>
      <p:sp>
        <p:nvSpPr>
          <p:cNvPr id="45" name="Rectangle 44">
            <a:extLst>
              <a:ext uri="{FF2B5EF4-FFF2-40B4-BE49-F238E27FC236}">
                <a16:creationId xmlns:a16="http://schemas.microsoft.com/office/drawing/2014/main" id="{15A59742-6E96-6E1C-6032-B70291B62A33}"/>
              </a:ext>
            </a:extLst>
          </p:cNvPr>
          <p:cNvSpPr>
            <a:spLocks noGrp="1"/>
          </p:cNvSpPr>
          <p:nvPr/>
        </p:nvSpPr>
        <p:spPr>
          <a:xfrm>
            <a:off x="5991225" y="2781300"/>
            <a:ext cx="5591175" cy="361950"/>
          </a:xfrm>
          <a:prstGeom prst="rect">
            <a:avLst/>
          </a:prstGeom>
          <a:solidFill>
            <a:srgbClr val="FFFFFF"/>
          </a:solidFill>
          <a:ln w="9525">
            <a:solidFill>
              <a:srgbClr val="D7E0EA"/>
            </a:solidFill>
          </a:ln>
        </p:spPr>
        <p:txBody>
          <a:bodyPr/>
          <a:lstStyle/>
          <a:p>
            <a:endParaRPr lang="en-IN"/>
          </a:p>
        </p:txBody>
      </p:sp>
      <p:sp>
        <p:nvSpPr>
          <p:cNvPr id="47" name="Rectangle 46">
            <a:extLst>
              <a:ext uri="{FF2B5EF4-FFF2-40B4-BE49-F238E27FC236}">
                <a16:creationId xmlns:a16="http://schemas.microsoft.com/office/drawing/2014/main" id="{264087D2-53BF-D41B-ABA3-750ACB2041A8}"/>
              </a:ext>
            </a:extLst>
          </p:cNvPr>
          <p:cNvSpPr>
            <a:spLocks noGrp="1"/>
          </p:cNvSpPr>
          <p:nvPr/>
        </p:nvSpPr>
        <p:spPr>
          <a:xfrm>
            <a:off x="6105525" y="2800350"/>
            <a:ext cx="5362575" cy="323850"/>
          </a:xfrm>
          <a:prstGeom prst="rect">
            <a:avLst/>
          </a:prstGeom>
          <a:noFill/>
          <a:ln w="0">
            <a:noFill/>
          </a:ln>
        </p:spPr>
        <p:txBody>
          <a:bodyPr anchor="ctr">
            <a:normAutofit/>
          </a:bodyPr>
          <a:lstStyle/>
          <a:p>
            <a:pPr algn="l">
              <a:defRPr sz="1200" b="0">
                <a:solidFill>
                  <a:srgbClr val="172B45"/>
                </a:solidFill>
                <a:latin typeface="Consolas"/>
                <a:ea typeface="Consolas"/>
                <a:cs typeface="Consolas"/>
              </a:defRPr>
            </a:pPr>
            <a:r>
              <a:rPr sz="1200" b="0">
                <a:solidFill>
                  <a:srgbClr val="172B45"/>
                </a:solidFill>
                <a:latin typeface="Consolas"/>
                <a:ea typeface="Consolas"/>
                <a:cs typeface="Consolas"/>
              </a:rPr>
              <a:t>Math.max(12, 20) → 20</a:t>
            </a:r>
          </a:p>
        </p:txBody>
      </p:sp>
      <p:sp>
        <p:nvSpPr>
          <p:cNvPr id="49" name="Rectangle 48">
            <a:extLst>
              <a:ext uri="{FF2B5EF4-FFF2-40B4-BE49-F238E27FC236}">
                <a16:creationId xmlns:a16="http://schemas.microsoft.com/office/drawing/2014/main" id="{926CC88D-0DA6-DFAC-059B-68734F0355C7}"/>
              </a:ext>
            </a:extLst>
          </p:cNvPr>
          <p:cNvSpPr>
            <a:spLocks noGrp="1"/>
          </p:cNvSpPr>
          <p:nvPr/>
        </p:nvSpPr>
        <p:spPr>
          <a:xfrm>
            <a:off x="609600" y="3143250"/>
            <a:ext cx="2238375" cy="361950"/>
          </a:xfrm>
          <a:prstGeom prst="rect">
            <a:avLst/>
          </a:prstGeom>
          <a:solidFill>
            <a:srgbClr val="F0F4F8"/>
          </a:solidFill>
          <a:ln w="9525">
            <a:solidFill>
              <a:srgbClr val="D7E0EA"/>
            </a:solidFill>
          </a:ln>
        </p:spPr>
        <p:txBody>
          <a:bodyPr/>
          <a:lstStyle/>
          <a:p>
            <a:endParaRPr lang="en-IN"/>
          </a:p>
        </p:txBody>
      </p:sp>
      <p:sp>
        <p:nvSpPr>
          <p:cNvPr id="51" name="Rectangle 50">
            <a:extLst>
              <a:ext uri="{FF2B5EF4-FFF2-40B4-BE49-F238E27FC236}">
                <a16:creationId xmlns:a16="http://schemas.microsoft.com/office/drawing/2014/main" id="{C5AACDAE-FCE0-95C8-28BC-2EC3AD2E1CCE}"/>
              </a:ext>
            </a:extLst>
          </p:cNvPr>
          <p:cNvSpPr>
            <a:spLocks noGrp="1"/>
          </p:cNvSpPr>
          <p:nvPr/>
        </p:nvSpPr>
        <p:spPr>
          <a:xfrm>
            <a:off x="723900" y="3162300"/>
            <a:ext cx="2009775" cy="323850"/>
          </a:xfrm>
          <a:prstGeom prst="rect">
            <a:avLst/>
          </a:prstGeom>
          <a:noFill/>
          <a:ln w="0">
            <a:noFill/>
          </a:ln>
        </p:spPr>
        <p:txBody>
          <a:bodyPr anchor="ctr">
            <a:normAutofit/>
          </a:bodyPr>
          <a:lstStyle/>
          <a:p>
            <a:pPr algn="l">
              <a:defRPr sz="1125" b="1">
                <a:solidFill>
                  <a:srgbClr val="102A56"/>
                </a:solidFill>
                <a:latin typeface="Arial"/>
                <a:ea typeface="Arial"/>
                <a:cs typeface="Arial"/>
              </a:defRPr>
            </a:pPr>
            <a:r>
              <a:rPr sz="1125" b="1">
                <a:solidFill>
                  <a:srgbClr val="102A56"/>
                </a:solidFill>
                <a:latin typeface="Arial"/>
                <a:ea typeface="Arial"/>
                <a:cs typeface="Arial"/>
              </a:rPr>
              <a:t>Math.min(a, b)</a:t>
            </a:r>
          </a:p>
        </p:txBody>
      </p:sp>
      <p:sp>
        <p:nvSpPr>
          <p:cNvPr id="53" name="Rectangle 52">
            <a:extLst>
              <a:ext uri="{FF2B5EF4-FFF2-40B4-BE49-F238E27FC236}">
                <a16:creationId xmlns:a16="http://schemas.microsoft.com/office/drawing/2014/main" id="{0167DF66-A70C-7B5C-B430-AF689A0B24F8}"/>
              </a:ext>
            </a:extLst>
          </p:cNvPr>
          <p:cNvSpPr>
            <a:spLocks noGrp="1"/>
          </p:cNvSpPr>
          <p:nvPr/>
        </p:nvSpPr>
        <p:spPr>
          <a:xfrm>
            <a:off x="2847975" y="3143250"/>
            <a:ext cx="3143250" cy="361950"/>
          </a:xfrm>
          <a:prstGeom prst="rect">
            <a:avLst/>
          </a:prstGeom>
          <a:solidFill>
            <a:srgbClr val="F0F4F8"/>
          </a:solidFill>
          <a:ln w="9525">
            <a:solidFill>
              <a:srgbClr val="D7E0EA"/>
            </a:solidFill>
          </a:ln>
        </p:spPr>
        <p:txBody>
          <a:bodyPr/>
          <a:lstStyle/>
          <a:p>
            <a:endParaRPr lang="en-IN"/>
          </a:p>
        </p:txBody>
      </p:sp>
      <p:sp>
        <p:nvSpPr>
          <p:cNvPr id="55" name="Rectangle 54">
            <a:extLst>
              <a:ext uri="{FF2B5EF4-FFF2-40B4-BE49-F238E27FC236}">
                <a16:creationId xmlns:a16="http://schemas.microsoft.com/office/drawing/2014/main" id="{3F861936-AE0E-D394-62B3-4BC867515E25}"/>
              </a:ext>
            </a:extLst>
          </p:cNvPr>
          <p:cNvSpPr>
            <a:spLocks noGrp="1"/>
          </p:cNvSpPr>
          <p:nvPr/>
        </p:nvSpPr>
        <p:spPr>
          <a:xfrm>
            <a:off x="2962275" y="3162300"/>
            <a:ext cx="2914650" cy="323850"/>
          </a:xfrm>
          <a:prstGeom prst="rect">
            <a:avLst/>
          </a:prstGeom>
          <a:noFill/>
          <a:ln w="0">
            <a:noFill/>
          </a:ln>
        </p:spPr>
        <p:txBody>
          <a:bodyPr anchor="ctr">
            <a:normAutofit/>
          </a:bodyPr>
          <a:lstStyle/>
          <a:p>
            <a:pPr algn="l">
              <a:defRPr sz="1125" b="0">
                <a:solidFill>
                  <a:srgbClr val="172B45"/>
                </a:solidFill>
                <a:latin typeface="Arial"/>
                <a:ea typeface="Arial"/>
                <a:cs typeface="Arial"/>
              </a:defRPr>
            </a:pPr>
            <a:r>
              <a:rPr sz="1125" b="0">
                <a:solidFill>
                  <a:srgbClr val="172B45"/>
                </a:solidFill>
                <a:latin typeface="Arial"/>
                <a:ea typeface="Arial"/>
                <a:cs typeface="Arial"/>
              </a:rPr>
              <a:t>Returns the smaller value</a:t>
            </a:r>
          </a:p>
        </p:txBody>
      </p:sp>
      <p:sp>
        <p:nvSpPr>
          <p:cNvPr id="57" name="Rectangle 56">
            <a:extLst>
              <a:ext uri="{FF2B5EF4-FFF2-40B4-BE49-F238E27FC236}">
                <a16:creationId xmlns:a16="http://schemas.microsoft.com/office/drawing/2014/main" id="{DFECB677-2588-AA84-AE2A-FD9787A13215}"/>
              </a:ext>
            </a:extLst>
          </p:cNvPr>
          <p:cNvSpPr>
            <a:spLocks noGrp="1"/>
          </p:cNvSpPr>
          <p:nvPr/>
        </p:nvSpPr>
        <p:spPr>
          <a:xfrm>
            <a:off x="5991225" y="3143250"/>
            <a:ext cx="5591175" cy="361950"/>
          </a:xfrm>
          <a:prstGeom prst="rect">
            <a:avLst/>
          </a:prstGeom>
          <a:solidFill>
            <a:srgbClr val="F0F4F8"/>
          </a:solidFill>
          <a:ln w="9525">
            <a:solidFill>
              <a:srgbClr val="D7E0EA"/>
            </a:solidFill>
          </a:ln>
        </p:spPr>
        <p:txBody>
          <a:bodyPr/>
          <a:lstStyle/>
          <a:p>
            <a:endParaRPr lang="en-IN"/>
          </a:p>
        </p:txBody>
      </p:sp>
      <p:sp>
        <p:nvSpPr>
          <p:cNvPr id="59" name="Rectangle 58">
            <a:extLst>
              <a:ext uri="{FF2B5EF4-FFF2-40B4-BE49-F238E27FC236}">
                <a16:creationId xmlns:a16="http://schemas.microsoft.com/office/drawing/2014/main" id="{9F42972B-A9A0-331C-A26A-60F1D56525BE}"/>
              </a:ext>
            </a:extLst>
          </p:cNvPr>
          <p:cNvSpPr>
            <a:spLocks noGrp="1"/>
          </p:cNvSpPr>
          <p:nvPr/>
        </p:nvSpPr>
        <p:spPr>
          <a:xfrm>
            <a:off x="6105525" y="3162300"/>
            <a:ext cx="5362575" cy="323850"/>
          </a:xfrm>
          <a:prstGeom prst="rect">
            <a:avLst/>
          </a:prstGeom>
          <a:noFill/>
          <a:ln w="0">
            <a:noFill/>
          </a:ln>
        </p:spPr>
        <p:txBody>
          <a:bodyPr anchor="ctr">
            <a:normAutofit/>
          </a:bodyPr>
          <a:lstStyle/>
          <a:p>
            <a:pPr algn="l">
              <a:defRPr sz="1200" b="0">
                <a:solidFill>
                  <a:srgbClr val="172B45"/>
                </a:solidFill>
                <a:latin typeface="Consolas"/>
                <a:ea typeface="Consolas"/>
                <a:cs typeface="Consolas"/>
              </a:defRPr>
            </a:pPr>
            <a:r>
              <a:rPr sz="1200" b="0">
                <a:solidFill>
                  <a:srgbClr val="172B45"/>
                </a:solidFill>
                <a:latin typeface="Consolas"/>
                <a:ea typeface="Consolas"/>
                <a:cs typeface="Consolas"/>
              </a:rPr>
              <a:t>Math.min(12, 20) → 12</a:t>
            </a:r>
          </a:p>
        </p:txBody>
      </p:sp>
      <p:sp>
        <p:nvSpPr>
          <p:cNvPr id="61" name="Rectangle 60">
            <a:extLst>
              <a:ext uri="{FF2B5EF4-FFF2-40B4-BE49-F238E27FC236}">
                <a16:creationId xmlns:a16="http://schemas.microsoft.com/office/drawing/2014/main" id="{188E321B-566C-76A5-C03F-63A21416E652}"/>
              </a:ext>
            </a:extLst>
          </p:cNvPr>
          <p:cNvSpPr>
            <a:spLocks noGrp="1"/>
          </p:cNvSpPr>
          <p:nvPr/>
        </p:nvSpPr>
        <p:spPr>
          <a:xfrm>
            <a:off x="609600" y="3505200"/>
            <a:ext cx="2238375" cy="361950"/>
          </a:xfrm>
          <a:prstGeom prst="rect">
            <a:avLst/>
          </a:prstGeom>
          <a:solidFill>
            <a:srgbClr val="FFFFFF"/>
          </a:solidFill>
          <a:ln w="9525">
            <a:solidFill>
              <a:srgbClr val="D7E0EA"/>
            </a:solidFill>
          </a:ln>
        </p:spPr>
        <p:txBody>
          <a:bodyPr/>
          <a:lstStyle/>
          <a:p>
            <a:endParaRPr lang="en-IN"/>
          </a:p>
        </p:txBody>
      </p:sp>
      <p:sp>
        <p:nvSpPr>
          <p:cNvPr id="63" name="Rectangle 62">
            <a:extLst>
              <a:ext uri="{FF2B5EF4-FFF2-40B4-BE49-F238E27FC236}">
                <a16:creationId xmlns:a16="http://schemas.microsoft.com/office/drawing/2014/main" id="{9CDFFE9B-79C1-9BC2-9DF7-E427548E6574}"/>
              </a:ext>
            </a:extLst>
          </p:cNvPr>
          <p:cNvSpPr>
            <a:spLocks noGrp="1"/>
          </p:cNvSpPr>
          <p:nvPr/>
        </p:nvSpPr>
        <p:spPr>
          <a:xfrm>
            <a:off x="723900" y="3524250"/>
            <a:ext cx="2009775" cy="323850"/>
          </a:xfrm>
          <a:prstGeom prst="rect">
            <a:avLst/>
          </a:prstGeom>
          <a:noFill/>
          <a:ln w="0">
            <a:noFill/>
          </a:ln>
        </p:spPr>
        <p:txBody>
          <a:bodyPr anchor="ctr">
            <a:normAutofit/>
          </a:bodyPr>
          <a:lstStyle/>
          <a:p>
            <a:pPr algn="l">
              <a:defRPr sz="1125" b="1">
                <a:solidFill>
                  <a:srgbClr val="102A56"/>
                </a:solidFill>
                <a:latin typeface="Arial"/>
                <a:ea typeface="Arial"/>
                <a:cs typeface="Arial"/>
              </a:defRPr>
            </a:pPr>
            <a:r>
              <a:rPr sz="1125" b="1">
                <a:solidFill>
                  <a:srgbClr val="102A56"/>
                </a:solidFill>
                <a:latin typeface="Arial"/>
                <a:ea typeface="Arial"/>
                <a:cs typeface="Arial"/>
              </a:rPr>
              <a:t>Math.round(x)</a:t>
            </a:r>
          </a:p>
        </p:txBody>
      </p:sp>
      <p:sp>
        <p:nvSpPr>
          <p:cNvPr id="65" name="Rectangle 64">
            <a:extLst>
              <a:ext uri="{FF2B5EF4-FFF2-40B4-BE49-F238E27FC236}">
                <a16:creationId xmlns:a16="http://schemas.microsoft.com/office/drawing/2014/main" id="{EA34F32A-EC2D-997F-981E-15439EB6097A}"/>
              </a:ext>
            </a:extLst>
          </p:cNvPr>
          <p:cNvSpPr>
            <a:spLocks noGrp="1"/>
          </p:cNvSpPr>
          <p:nvPr/>
        </p:nvSpPr>
        <p:spPr>
          <a:xfrm>
            <a:off x="2847975" y="3505200"/>
            <a:ext cx="3143250" cy="361950"/>
          </a:xfrm>
          <a:prstGeom prst="rect">
            <a:avLst/>
          </a:prstGeom>
          <a:solidFill>
            <a:srgbClr val="FFFFFF"/>
          </a:solidFill>
          <a:ln w="9525">
            <a:solidFill>
              <a:srgbClr val="D7E0EA"/>
            </a:solidFill>
          </a:ln>
        </p:spPr>
        <p:txBody>
          <a:bodyPr/>
          <a:lstStyle/>
          <a:p>
            <a:endParaRPr lang="en-IN"/>
          </a:p>
        </p:txBody>
      </p:sp>
      <p:sp>
        <p:nvSpPr>
          <p:cNvPr id="67" name="Rectangle 66">
            <a:extLst>
              <a:ext uri="{FF2B5EF4-FFF2-40B4-BE49-F238E27FC236}">
                <a16:creationId xmlns:a16="http://schemas.microsoft.com/office/drawing/2014/main" id="{F586CBA1-7FA3-C525-54A5-72D255FB4B37}"/>
              </a:ext>
            </a:extLst>
          </p:cNvPr>
          <p:cNvSpPr>
            <a:spLocks noGrp="1"/>
          </p:cNvSpPr>
          <p:nvPr/>
        </p:nvSpPr>
        <p:spPr>
          <a:xfrm>
            <a:off x="2962275" y="3524250"/>
            <a:ext cx="2914650" cy="323850"/>
          </a:xfrm>
          <a:prstGeom prst="rect">
            <a:avLst/>
          </a:prstGeom>
          <a:noFill/>
          <a:ln w="0">
            <a:noFill/>
          </a:ln>
        </p:spPr>
        <p:txBody>
          <a:bodyPr anchor="ctr">
            <a:normAutofit/>
          </a:bodyPr>
          <a:lstStyle/>
          <a:p>
            <a:pPr algn="l">
              <a:defRPr sz="1125" b="0">
                <a:solidFill>
                  <a:srgbClr val="172B45"/>
                </a:solidFill>
                <a:latin typeface="Arial"/>
                <a:ea typeface="Arial"/>
                <a:cs typeface="Arial"/>
              </a:defRPr>
            </a:pPr>
            <a:r>
              <a:rPr sz="1125" b="0">
                <a:solidFill>
                  <a:srgbClr val="172B45"/>
                </a:solidFill>
                <a:latin typeface="Arial"/>
                <a:ea typeface="Arial"/>
                <a:cs typeface="Arial"/>
              </a:rPr>
              <a:t>Rounds to the nearest integer</a:t>
            </a:r>
          </a:p>
        </p:txBody>
      </p:sp>
      <p:sp>
        <p:nvSpPr>
          <p:cNvPr id="69" name="Rectangle 68">
            <a:extLst>
              <a:ext uri="{FF2B5EF4-FFF2-40B4-BE49-F238E27FC236}">
                <a16:creationId xmlns:a16="http://schemas.microsoft.com/office/drawing/2014/main" id="{F156A437-F683-5F2B-2D83-E0902D5B19B0}"/>
              </a:ext>
            </a:extLst>
          </p:cNvPr>
          <p:cNvSpPr>
            <a:spLocks noGrp="1"/>
          </p:cNvSpPr>
          <p:nvPr/>
        </p:nvSpPr>
        <p:spPr>
          <a:xfrm>
            <a:off x="5991225" y="3505200"/>
            <a:ext cx="5591175" cy="361950"/>
          </a:xfrm>
          <a:prstGeom prst="rect">
            <a:avLst/>
          </a:prstGeom>
          <a:solidFill>
            <a:srgbClr val="FFFFFF"/>
          </a:solidFill>
          <a:ln w="9525">
            <a:solidFill>
              <a:srgbClr val="D7E0EA"/>
            </a:solidFill>
          </a:ln>
        </p:spPr>
        <p:txBody>
          <a:bodyPr/>
          <a:lstStyle/>
          <a:p>
            <a:endParaRPr lang="en-IN"/>
          </a:p>
        </p:txBody>
      </p:sp>
      <p:sp>
        <p:nvSpPr>
          <p:cNvPr id="71" name="Rectangle 70">
            <a:extLst>
              <a:ext uri="{FF2B5EF4-FFF2-40B4-BE49-F238E27FC236}">
                <a16:creationId xmlns:a16="http://schemas.microsoft.com/office/drawing/2014/main" id="{B6F235AC-2249-1F3B-27EE-5BE677826434}"/>
              </a:ext>
            </a:extLst>
          </p:cNvPr>
          <p:cNvSpPr>
            <a:spLocks noGrp="1"/>
          </p:cNvSpPr>
          <p:nvPr/>
        </p:nvSpPr>
        <p:spPr>
          <a:xfrm>
            <a:off x="6105525" y="3524250"/>
            <a:ext cx="5362575" cy="323850"/>
          </a:xfrm>
          <a:prstGeom prst="rect">
            <a:avLst/>
          </a:prstGeom>
          <a:noFill/>
          <a:ln w="0">
            <a:noFill/>
          </a:ln>
        </p:spPr>
        <p:txBody>
          <a:bodyPr anchor="ctr">
            <a:normAutofit/>
          </a:bodyPr>
          <a:lstStyle/>
          <a:p>
            <a:pPr algn="l">
              <a:defRPr sz="1200" b="0">
                <a:solidFill>
                  <a:srgbClr val="172B45"/>
                </a:solidFill>
                <a:latin typeface="Consolas"/>
                <a:ea typeface="Consolas"/>
                <a:cs typeface="Consolas"/>
              </a:defRPr>
            </a:pPr>
            <a:r>
              <a:rPr sz="1200" b="0">
                <a:solidFill>
                  <a:srgbClr val="172B45"/>
                </a:solidFill>
                <a:latin typeface="Consolas"/>
                <a:ea typeface="Consolas"/>
                <a:cs typeface="Consolas"/>
              </a:rPr>
              <a:t>Math.round(4.6) → 5L</a:t>
            </a:r>
          </a:p>
        </p:txBody>
      </p:sp>
      <p:sp>
        <p:nvSpPr>
          <p:cNvPr id="73" name="Rectangle 72">
            <a:extLst>
              <a:ext uri="{FF2B5EF4-FFF2-40B4-BE49-F238E27FC236}">
                <a16:creationId xmlns:a16="http://schemas.microsoft.com/office/drawing/2014/main" id="{3489608D-1B12-FC73-E5B2-34013DC52BF1}"/>
              </a:ext>
            </a:extLst>
          </p:cNvPr>
          <p:cNvSpPr>
            <a:spLocks noGrp="1"/>
          </p:cNvSpPr>
          <p:nvPr/>
        </p:nvSpPr>
        <p:spPr>
          <a:xfrm>
            <a:off x="609600" y="3867150"/>
            <a:ext cx="2238375" cy="361950"/>
          </a:xfrm>
          <a:prstGeom prst="rect">
            <a:avLst/>
          </a:prstGeom>
          <a:solidFill>
            <a:srgbClr val="F0F4F8"/>
          </a:solidFill>
          <a:ln w="9525">
            <a:solidFill>
              <a:srgbClr val="D7E0EA"/>
            </a:solidFill>
          </a:ln>
        </p:spPr>
        <p:txBody>
          <a:bodyPr/>
          <a:lstStyle/>
          <a:p>
            <a:endParaRPr lang="en-IN"/>
          </a:p>
        </p:txBody>
      </p:sp>
      <p:sp>
        <p:nvSpPr>
          <p:cNvPr id="75" name="Rectangle 74">
            <a:extLst>
              <a:ext uri="{FF2B5EF4-FFF2-40B4-BE49-F238E27FC236}">
                <a16:creationId xmlns:a16="http://schemas.microsoft.com/office/drawing/2014/main" id="{E7943DF3-AD96-8826-36A5-2DE6AFA03421}"/>
              </a:ext>
            </a:extLst>
          </p:cNvPr>
          <p:cNvSpPr>
            <a:spLocks noGrp="1"/>
          </p:cNvSpPr>
          <p:nvPr/>
        </p:nvSpPr>
        <p:spPr>
          <a:xfrm>
            <a:off x="723900" y="3886200"/>
            <a:ext cx="2009775" cy="323850"/>
          </a:xfrm>
          <a:prstGeom prst="rect">
            <a:avLst/>
          </a:prstGeom>
          <a:noFill/>
          <a:ln w="0">
            <a:noFill/>
          </a:ln>
        </p:spPr>
        <p:txBody>
          <a:bodyPr anchor="ctr">
            <a:normAutofit/>
          </a:bodyPr>
          <a:lstStyle/>
          <a:p>
            <a:pPr algn="l">
              <a:defRPr sz="1125" b="1">
                <a:solidFill>
                  <a:srgbClr val="102A56"/>
                </a:solidFill>
                <a:latin typeface="Arial"/>
                <a:ea typeface="Arial"/>
                <a:cs typeface="Arial"/>
              </a:defRPr>
            </a:pPr>
            <a:r>
              <a:rPr sz="1125" b="1">
                <a:solidFill>
                  <a:srgbClr val="102A56"/>
                </a:solidFill>
                <a:latin typeface="Arial"/>
                <a:ea typeface="Arial"/>
                <a:cs typeface="Arial"/>
              </a:rPr>
              <a:t>Math.sqrt(x)</a:t>
            </a:r>
          </a:p>
        </p:txBody>
      </p:sp>
      <p:sp>
        <p:nvSpPr>
          <p:cNvPr id="77" name="Rectangle 76">
            <a:extLst>
              <a:ext uri="{FF2B5EF4-FFF2-40B4-BE49-F238E27FC236}">
                <a16:creationId xmlns:a16="http://schemas.microsoft.com/office/drawing/2014/main" id="{5AEDDA15-1C80-FD6C-4BC6-790E69CB6492}"/>
              </a:ext>
            </a:extLst>
          </p:cNvPr>
          <p:cNvSpPr>
            <a:spLocks noGrp="1"/>
          </p:cNvSpPr>
          <p:nvPr/>
        </p:nvSpPr>
        <p:spPr>
          <a:xfrm>
            <a:off x="2847975" y="3867150"/>
            <a:ext cx="3143250" cy="361950"/>
          </a:xfrm>
          <a:prstGeom prst="rect">
            <a:avLst/>
          </a:prstGeom>
          <a:solidFill>
            <a:srgbClr val="F0F4F8"/>
          </a:solidFill>
          <a:ln w="9525">
            <a:solidFill>
              <a:srgbClr val="D7E0EA"/>
            </a:solidFill>
          </a:ln>
        </p:spPr>
        <p:txBody>
          <a:bodyPr/>
          <a:lstStyle/>
          <a:p>
            <a:endParaRPr lang="en-IN"/>
          </a:p>
        </p:txBody>
      </p:sp>
      <p:sp>
        <p:nvSpPr>
          <p:cNvPr id="79" name="Rectangle 78">
            <a:extLst>
              <a:ext uri="{FF2B5EF4-FFF2-40B4-BE49-F238E27FC236}">
                <a16:creationId xmlns:a16="http://schemas.microsoft.com/office/drawing/2014/main" id="{BD3D3F6C-971B-ED3E-34B6-030629DFC9F0}"/>
              </a:ext>
            </a:extLst>
          </p:cNvPr>
          <p:cNvSpPr>
            <a:spLocks noGrp="1"/>
          </p:cNvSpPr>
          <p:nvPr/>
        </p:nvSpPr>
        <p:spPr>
          <a:xfrm>
            <a:off x="2962275" y="3886200"/>
            <a:ext cx="2914650" cy="323850"/>
          </a:xfrm>
          <a:prstGeom prst="rect">
            <a:avLst/>
          </a:prstGeom>
          <a:noFill/>
          <a:ln w="0">
            <a:noFill/>
          </a:ln>
        </p:spPr>
        <p:txBody>
          <a:bodyPr anchor="ctr">
            <a:normAutofit/>
          </a:bodyPr>
          <a:lstStyle/>
          <a:p>
            <a:pPr algn="l">
              <a:defRPr sz="1125" b="0">
                <a:solidFill>
                  <a:srgbClr val="172B45"/>
                </a:solidFill>
                <a:latin typeface="Arial"/>
                <a:ea typeface="Arial"/>
                <a:cs typeface="Arial"/>
              </a:defRPr>
            </a:pPr>
            <a:r>
              <a:rPr sz="1125" b="0">
                <a:solidFill>
                  <a:srgbClr val="172B45"/>
                </a:solidFill>
                <a:latin typeface="Arial"/>
                <a:ea typeface="Arial"/>
                <a:cs typeface="Arial"/>
              </a:rPr>
              <a:t>Returns the square root</a:t>
            </a:r>
          </a:p>
        </p:txBody>
      </p:sp>
      <p:sp>
        <p:nvSpPr>
          <p:cNvPr id="81" name="Rectangle 80">
            <a:extLst>
              <a:ext uri="{FF2B5EF4-FFF2-40B4-BE49-F238E27FC236}">
                <a16:creationId xmlns:a16="http://schemas.microsoft.com/office/drawing/2014/main" id="{7305EA6B-7440-D8F9-1A68-86ABF4993A6D}"/>
              </a:ext>
            </a:extLst>
          </p:cNvPr>
          <p:cNvSpPr>
            <a:spLocks noGrp="1"/>
          </p:cNvSpPr>
          <p:nvPr/>
        </p:nvSpPr>
        <p:spPr>
          <a:xfrm>
            <a:off x="5991225" y="3867150"/>
            <a:ext cx="5591175" cy="361950"/>
          </a:xfrm>
          <a:prstGeom prst="rect">
            <a:avLst/>
          </a:prstGeom>
          <a:solidFill>
            <a:srgbClr val="F0F4F8"/>
          </a:solidFill>
          <a:ln w="9525">
            <a:solidFill>
              <a:srgbClr val="D7E0EA"/>
            </a:solidFill>
          </a:ln>
        </p:spPr>
        <p:txBody>
          <a:bodyPr/>
          <a:lstStyle/>
          <a:p>
            <a:endParaRPr lang="en-IN"/>
          </a:p>
        </p:txBody>
      </p:sp>
      <p:sp>
        <p:nvSpPr>
          <p:cNvPr id="83" name="Rectangle 82">
            <a:extLst>
              <a:ext uri="{FF2B5EF4-FFF2-40B4-BE49-F238E27FC236}">
                <a16:creationId xmlns:a16="http://schemas.microsoft.com/office/drawing/2014/main" id="{CE1ABC6A-EA67-BAF0-F0C7-C7BCDA5E4110}"/>
              </a:ext>
            </a:extLst>
          </p:cNvPr>
          <p:cNvSpPr>
            <a:spLocks noGrp="1"/>
          </p:cNvSpPr>
          <p:nvPr/>
        </p:nvSpPr>
        <p:spPr>
          <a:xfrm>
            <a:off x="6105525" y="3886200"/>
            <a:ext cx="5362575" cy="323850"/>
          </a:xfrm>
          <a:prstGeom prst="rect">
            <a:avLst/>
          </a:prstGeom>
          <a:noFill/>
          <a:ln w="0">
            <a:noFill/>
          </a:ln>
        </p:spPr>
        <p:txBody>
          <a:bodyPr anchor="ctr">
            <a:normAutofit/>
          </a:bodyPr>
          <a:lstStyle/>
          <a:p>
            <a:pPr algn="l">
              <a:defRPr sz="1200" b="0">
                <a:solidFill>
                  <a:srgbClr val="172B45"/>
                </a:solidFill>
                <a:latin typeface="Consolas"/>
                <a:ea typeface="Consolas"/>
                <a:cs typeface="Consolas"/>
              </a:defRPr>
            </a:pPr>
            <a:r>
              <a:rPr sz="1200" b="0">
                <a:solidFill>
                  <a:srgbClr val="172B45"/>
                </a:solidFill>
                <a:latin typeface="Consolas"/>
                <a:ea typeface="Consolas"/>
                <a:cs typeface="Consolas"/>
              </a:rPr>
              <a:t>Math.sqrt(81) → 9.0</a:t>
            </a:r>
          </a:p>
        </p:txBody>
      </p:sp>
      <p:sp>
        <p:nvSpPr>
          <p:cNvPr id="85" name="Rectangle 84">
            <a:extLst>
              <a:ext uri="{FF2B5EF4-FFF2-40B4-BE49-F238E27FC236}">
                <a16:creationId xmlns:a16="http://schemas.microsoft.com/office/drawing/2014/main" id="{54114CA0-4D2B-9D92-315E-9E965D2FF581}"/>
              </a:ext>
            </a:extLst>
          </p:cNvPr>
          <p:cNvSpPr>
            <a:spLocks noGrp="1"/>
          </p:cNvSpPr>
          <p:nvPr/>
        </p:nvSpPr>
        <p:spPr>
          <a:xfrm>
            <a:off x="609600" y="4229100"/>
            <a:ext cx="2238375" cy="361950"/>
          </a:xfrm>
          <a:prstGeom prst="rect">
            <a:avLst/>
          </a:prstGeom>
          <a:solidFill>
            <a:srgbClr val="FFFFFF"/>
          </a:solidFill>
          <a:ln w="9525">
            <a:solidFill>
              <a:srgbClr val="D7E0EA"/>
            </a:solidFill>
          </a:ln>
        </p:spPr>
        <p:txBody>
          <a:bodyPr/>
          <a:lstStyle/>
          <a:p>
            <a:endParaRPr lang="en-IN"/>
          </a:p>
        </p:txBody>
      </p:sp>
      <p:sp>
        <p:nvSpPr>
          <p:cNvPr id="87" name="Rectangle 86">
            <a:extLst>
              <a:ext uri="{FF2B5EF4-FFF2-40B4-BE49-F238E27FC236}">
                <a16:creationId xmlns:a16="http://schemas.microsoft.com/office/drawing/2014/main" id="{4FDE2DDA-50FC-A440-A1DA-54C2988D78FF}"/>
              </a:ext>
            </a:extLst>
          </p:cNvPr>
          <p:cNvSpPr>
            <a:spLocks noGrp="1"/>
          </p:cNvSpPr>
          <p:nvPr/>
        </p:nvSpPr>
        <p:spPr>
          <a:xfrm>
            <a:off x="723900" y="4248150"/>
            <a:ext cx="2009775" cy="323850"/>
          </a:xfrm>
          <a:prstGeom prst="rect">
            <a:avLst/>
          </a:prstGeom>
          <a:noFill/>
          <a:ln w="0">
            <a:noFill/>
          </a:ln>
        </p:spPr>
        <p:txBody>
          <a:bodyPr anchor="ctr">
            <a:normAutofit/>
          </a:bodyPr>
          <a:lstStyle/>
          <a:p>
            <a:pPr algn="l">
              <a:defRPr sz="1125" b="1">
                <a:solidFill>
                  <a:srgbClr val="102A56"/>
                </a:solidFill>
                <a:latin typeface="Arial"/>
                <a:ea typeface="Arial"/>
                <a:cs typeface="Arial"/>
              </a:defRPr>
            </a:pPr>
            <a:r>
              <a:rPr sz="1125" b="1">
                <a:solidFill>
                  <a:srgbClr val="102A56"/>
                </a:solidFill>
                <a:latin typeface="Arial"/>
                <a:ea typeface="Arial"/>
                <a:cs typeface="Arial"/>
              </a:rPr>
              <a:t>Math.cbrt(x)</a:t>
            </a:r>
          </a:p>
        </p:txBody>
      </p:sp>
      <p:sp>
        <p:nvSpPr>
          <p:cNvPr id="89" name="Rectangle 88">
            <a:extLst>
              <a:ext uri="{FF2B5EF4-FFF2-40B4-BE49-F238E27FC236}">
                <a16:creationId xmlns:a16="http://schemas.microsoft.com/office/drawing/2014/main" id="{F4D9EA6B-1A51-6900-AB9B-6F16D3E95FCD}"/>
              </a:ext>
            </a:extLst>
          </p:cNvPr>
          <p:cNvSpPr>
            <a:spLocks noGrp="1"/>
          </p:cNvSpPr>
          <p:nvPr/>
        </p:nvSpPr>
        <p:spPr>
          <a:xfrm>
            <a:off x="2847975" y="4229100"/>
            <a:ext cx="3143250" cy="361950"/>
          </a:xfrm>
          <a:prstGeom prst="rect">
            <a:avLst/>
          </a:prstGeom>
          <a:solidFill>
            <a:srgbClr val="FFFFFF"/>
          </a:solidFill>
          <a:ln w="9525">
            <a:solidFill>
              <a:srgbClr val="D7E0EA"/>
            </a:solidFill>
          </a:ln>
        </p:spPr>
        <p:txBody>
          <a:bodyPr/>
          <a:lstStyle/>
          <a:p>
            <a:endParaRPr lang="en-IN"/>
          </a:p>
        </p:txBody>
      </p:sp>
      <p:sp>
        <p:nvSpPr>
          <p:cNvPr id="91" name="Rectangle 90">
            <a:extLst>
              <a:ext uri="{FF2B5EF4-FFF2-40B4-BE49-F238E27FC236}">
                <a16:creationId xmlns:a16="http://schemas.microsoft.com/office/drawing/2014/main" id="{C738468E-5089-50B5-B747-022A1569EFB4}"/>
              </a:ext>
            </a:extLst>
          </p:cNvPr>
          <p:cNvSpPr>
            <a:spLocks noGrp="1"/>
          </p:cNvSpPr>
          <p:nvPr/>
        </p:nvSpPr>
        <p:spPr>
          <a:xfrm>
            <a:off x="2962275" y="4248150"/>
            <a:ext cx="2914650" cy="323850"/>
          </a:xfrm>
          <a:prstGeom prst="rect">
            <a:avLst/>
          </a:prstGeom>
          <a:noFill/>
          <a:ln w="0">
            <a:noFill/>
          </a:ln>
        </p:spPr>
        <p:txBody>
          <a:bodyPr anchor="ctr">
            <a:normAutofit/>
          </a:bodyPr>
          <a:lstStyle/>
          <a:p>
            <a:pPr algn="l">
              <a:defRPr sz="1125" b="0">
                <a:solidFill>
                  <a:srgbClr val="172B45"/>
                </a:solidFill>
                <a:latin typeface="Arial"/>
                <a:ea typeface="Arial"/>
                <a:cs typeface="Arial"/>
              </a:defRPr>
            </a:pPr>
            <a:r>
              <a:rPr sz="1125" b="0">
                <a:solidFill>
                  <a:srgbClr val="172B45"/>
                </a:solidFill>
                <a:latin typeface="Arial"/>
                <a:ea typeface="Arial"/>
                <a:cs typeface="Arial"/>
              </a:rPr>
              <a:t>Returns the cube root</a:t>
            </a:r>
          </a:p>
        </p:txBody>
      </p:sp>
      <p:sp>
        <p:nvSpPr>
          <p:cNvPr id="93" name="Rectangle 92">
            <a:extLst>
              <a:ext uri="{FF2B5EF4-FFF2-40B4-BE49-F238E27FC236}">
                <a16:creationId xmlns:a16="http://schemas.microsoft.com/office/drawing/2014/main" id="{2A30F2B4-545F-32B7-E49E-CBC4D7870CE3}"/>
              </a:ext>
            </a:extLst>
          </p:cNvPr>
          <p:cNvSpPr>
            <a:spLocks noGrp="1"/>
          </p:cNvSpPr>
          <p:nvPr/>
        </p:nvSpPr>
        <p:spPr>
          <a:xfrm>
            <a:off x="5991225" y="4229100"/>
            <a:ext cx="5591175" cy="361950"/>
          </a:xfrm>
          <a:prstGeom prst="rect">
            <a:avLst/>
          </a:prstGeom>
          <a:solidFill>
            <a:srgbClr val="FFFFFF"/>
          </a:solidFill>
          <a:ln w="9525">
            <a:solidFill>
              <a:srgbClr val="D7E0EA"/>
            </a:solidFill>
          </a:ln>
        </p:spPr>
        <p:txBody>
          <a:bodyPr/>
          <a:lstStyle/>
          <a:p>
            <a:endParaRPr lang="en-IN"/>
          </a:p>
        </p:txBody>
      </p:sp>
      <p:sp>
        <p:nvSpPr>
          <p:cNvPr id="95" name="Rectangle 94">
            <a:extLst>
              <a:ext uri="{FF2B5EF4-FFF2-40B4-BE49-F238E27FC236}">
                <a16:creationId xmlns:a16="http://schemas.microsoft.com/office/drawing/2014/main" id="{17D75D1A-A9F8-75DE-5811-FF1BB196DF1E}"/>
              </a:ext>
            </a:extLst>
          </p:cNvPr>
          <p:cNvSpPr>
            <a:spLocks noGrp="1"/>
          </p:cNvSpPr>
          <p:nvPr/>
        </p:nvSpPr>
        <p:spPr>
          <a:xfrm>
            <a:off x="6105525" y="4248150"/>
            <a:ext cx="5362575" cy="323850"/>
          </a:xfrm>
          <a:prstGeom prst="rect">
            <a:avLst/>
          </a:prstGeom>
          <a:noFill/>
          <a:ln w="0">
            <a:noFill/>
          </a:ln>
        </p:spPr>
        <p:txBody>
          <a:bodyPr anchor="ctr">
            <a:normAutofit/>
          </a:bodyPr>
          <a:lstStyle/>
          <a:p>
            <a:pPr algn="l">
              <a:defRPr sz="1200" b="0">
                <a:solidFill>
                  <a:srgbClr val="172B45"/>
                </a:solidFill>
                <a:latin typeface="Consolas"/>
                <a:ea typeface="Consolas"/>
                <a:cs typeface="Consolas"/>
              </a:defRPr>
            </a:pPr>
            <a:r>
              <a:rPr sz="1200" b="0">
                <a:solidFill>
                  <a:srgbClr val="172B45"/>
                </a:solidFill>
                <a:latin typeface="Consolas"/>
                <a:ea typeface="Consolas"/>
                <a:cs typeface="Consolas"/>
              </a:rPr>
              <a:t>Math.cbrt(27) → 3.0</a:t>
            </a:r>
          </a:p>
        </p:txBody>
      </p:sp>
      <p:sp>
        <p:nvSpPr>
          <p:cNvPr id="97" name="Rectangle 96">
            <a:extLst>
              <a:ext uri="{FF2B5EF4-FFF2-40B4-BE49-F238E27FC236}">
                <a16:creationId xmlns:a16="http://schemas.microsoft.com/office/drawing/2014/main" id="{5C80A049-76CC-13B3-4E95-9C7D0C384139}"/>
              </a:ext>
            </a:extLst>
          </p:cNvPr>
          <p:cNvSpPr>
            <a:spLocks noGrp="1"/>
          </p:cNvSpPr>
          <p:nvPr/>
        </p:nvSpPr>
        <p:spPr>
          <a:xfrm>
            <a:off x="609600" y="4591050"/>
            <a:ext cx="2238375" cy="361950"/>
          </a:xfrm>
          <a:prstGeom prst="rect">
            <a:avLst/>
          </a:prstGeom>
          <a:solidFill>
            <a:srgbClr val="F0F4F8"/>
          </a:solidFill>
          <a:ln w="9525">
            <a:solidFill>
              <a:srgbClr val="D7E0EA"/>
            </a:solidFill>
          </a:ln>
        </p:spPr>
        <p:txBody>
          <a:bodyPr/>
          <a:lstStyle/>
          <a:p>
            <a:endParaRPr lang="en-IN"/>
          </a:p>
        </p:txBody>
      </p:sp>
      <p:sp>
        <p:nvSpPr>
          <p:cNvPr id="99" name="Rectangle 98">
            <a:extLst>
              <a:ext uri="{FF2B5EF4-FFF2-40B4-BE49-F238E27FC236}">
                <a16:creationId xmlns:a16="http://schemas.microsoft.com/office/drawing/2014/main" id="{7F94BBA7-4AD4-5D88-6088-9D4789CF522E}"/>
              </a:ext>
            </a:extLst>
          </p:cNvPr>
          <p:cNvSpPr>
            <a:spLocks noGrp="1"/>
          </p:cNvSpPr>
          <p:nvPr/>
        </p:nvSpPr>
        <p:spPr>
          <a:xfrm>
            <a:off x="723900" y="4610100"/>
            <a:ext cx="2009775" cy="323850"/>
          </a:xfrm>
          <a:prstGeom prst="rect">
            <a:avLst/>
          </a:prstGeom>
          <a:noFill/>
          <a:ln w="0">
            <a:noFill/>
          </a:ln>
        </p:spPr>
        <p:txBody>
          <a:bodyPr anchor="ctr">
            <a:normAutofit/>
          </a:bodyPr>
          <a:lstStyle/>
          <a:p>
            <a:pPr algn="l">
              <a:defRPr sz="1125" b="1">
                <a:solidFill>
                  <a:srgbClr val="102A56"/>
                </a:solidFill>
                <a:latin typeface="Arial"/>
                <a:ea typeface="Arial"/>
                <a:cs typeface="Arial"/>
              </a:defRPr>
            </a:pPr>
            <a:r>
              <a:rPr sz="1125" b="1">
                <a:solidFill>
                  <a:srgbClr val="102A56"/>
                </a:solidFill>
                <a:latin typeface="Arial"/>
                <a:ea typeface="Arial"/>
                <a:cs typeface="Arial"/>
              </a:rPr>
              <a:t>Math.pow(a, b)</a:t>
            </a:r>
          </a:p>
        </p:txBody>
      </p:sp>
      <p:sp>
        <p:nvSpPr>
          <p:cNvPr id="101" name="Rectangle 100">
            <a:extLst>
              <a:ext uri="{FF2B5EF4-FFF2-40B4-BE49-F238E27FC236}">
                <a16:creationId xmlns:a16="http://schemas.microsoft.com/office/drawing/2014/main" id="{0BA843F9-4900-5FC7-A47B-6B3946C50993}"/>
              </a:ext>
            </a:extLst>
          </p:cNvPr>
          <p:cNvSpPr>
            <a:spLocks noGrp="1"/>
          </p:cNvSpPr>
          <p:nvPr/>
        </p:nvSpPr>
        <p:spPr>
          <a:xfrm>
            <a:off x="2847975" y="4591050"/>
            <a:ext cx="3143250" cy="361950"/>
          </a:xfrm>
          <a:prstGeom prst="rect">
            <a:avLst/>
          </a:prstGeom>
          <a:solidFill>
            <a:srgbClr val="F0F4F8"/>
          </a:solidFill>
          <a:ln w="9525">
            <a:solidFill>
              <a:srgbClr val="D7E0EA"/>
            </a:solidFill>
          </a:ln>
        </p:spPr>
        <p:txBody>
          <a:bodyPr/>
          <a:lstStyle/>
          <a:p>
            <a:endParaRPr lang="en-IN"/>
          </a:p>
        </p:txBody>
      </p:sp>
      <p:sp>
        <p:nvSpPr>
          <p:cNvPr id="103" name="Rectangle 102">
            <a:extLst>
              <a:ext uri="{FF2B5EF4-FFF2-40B4-BE49-F238E27FC236}">
                <a16:creationId xmlns:a16="http://schemas.microsoft.com/office/drawing/2014/main" id="{DEA405CB-A013-73C4-1CF8-BC31D4F67DD7}"/>
              </a:ext>
            </a:extLst>
          </p:cNvPr>
          <p:cNvSpPr>
            <a:spLocks noGrp="1"/>
          </p:cNvSpPr>
          <p:nvPr/>
        </p:nvSpPr>
        <p:spPr>
          <a:xfrm>
            <a:off x="2962275" y="4610100"/>
            <a:ext cx="2914650" cy="323850"/>
          </a:xfrm>
          <a:prstGeom prst="rect">
            <a:avLst/>
          </a:prstGeom>
          <a:noFill/>
          <a:ln w="0">
            <a:noFill/>
          </a:ln>
        </p:spPr>
        <p:txBody>
          <a:bodyPr anchor="ctr">
            <a:normAutofit/>
          </a:bodyPr>
          <a:lstStyle/>
          <a:p>
            <a:pPr algn="l">
              <a:defRPr sz="1125" b="0">
                <a:solidFill>
                  <a:srgbClr val="172B45"/>
                </a:solidFill>
                <a:latin typeface="Arial"/>
                <a:ea typeface="Arial"/>
                <a:cs typeface="Arial"/>
              </a:defRPr>
            </a:pPr>
            <a:r>
              <a:rPr sz="1125" b="0">
                <a:solidFill>
                  <a:srgbClr val="172B45"/>
                </a:solidFill>
                <a:latin typeface="Arial"/>
                <a:ea typeface="Arial"/>
                <a:cs typeface="Arial"/>
              </a:rPr>
              <a:t>Raises a to the power b</a:t>
            </a:r>
          </a:p>
        </p:txBody>
      </p:sp>
      <p:sp>
        <p:nvSpPr>
          <p:cNvPr id="105" name="Rectangle 104">
            <a:extLst>
              <a:ext uri="{FF2B5EF4-FFF2-40B4-BE49-F238E27FC236}">
                <a16:creationId xmlns:a16="http://schemas.microsoft.com/office/drawing/2014/main" id="{EAA18403-02A2-777F-E491-FA3D110A462F}"/>
              </a:ext>
            </a:extLst>
          </p:cNvPr>
          <p:cNvSpPr>
            <a:spLocks noGrp="1"/>
          </p:cNvSpPr>
          <p:nvPr/>
        </p:nvSpPr>
        <p:spPr>
          <a:xfrm>
            <a:off x="5991225" y="4591050"/>
            <a:ext cx="5591175" cy="361950"/>
          </a:xfrm>
          <a:prstGeom prst="rect">
            <a:avLst/>
          </a:prstGeom>
          <a:solidFill>
            <a:srgbClr val="F0F4F8"/>
          </a:solidFill>
          <a:ln w="9525">
            <a:solidFill>
              <a:srgbClr val="D7E0EA"/>
            </a:solidFill>
          </a:ln>
        </p:spPr>
        <p:txBody>
          <a:bodyPr/>
          <a:lstStyle/>
          <a:p>
            <a:endParaRPr lang="en-IN"/>
          </a:p>
        </p:txBody>
      </p:sp>
      <p:sp>
        <p:nvSpPr>
          <p:cNvPr id="107" name="Rectangle 106">
            <a:extLst>
              <a:ext uri="{FF2B5EF4-FFF2-40B4-BE49-F238E27FC236}">
                <a16:creationId xmlns:a16="http://schemas.microsoft.com/office/drawing/2014/main" id="{2E3DF3CF-66EE-B143-CC80-38301D0D364B}"/>
              </a:ext>
            </a:extLst>
          </p:cNvPr>
          <p:cNvSpPr>
            <a:spLocks noGrp="1"/>
          </p:cNvSpPr>
          <p:nvPr/>
        </p:nvSpPr>
        <p:spPr>
          <a:xfrm>
            <a:off x="6105525" y="4610100"/>
            <a:ext cx="5362575" cy="323850"/>
          </a:xfrm>
          <a:prstGeom prst="rect">
            <a:avLst/>
          </a:prstGeom>
          <a:noFill/>
          <a:ln w="0">
            <a:noFill/>
          </a:ln>
        </p:spPr>
        <p:txBody>
          <a:bodyPr anchor="ctr">
            <a:normAutofit/>
          </a:bodyPr>
          <a:lstStyle/>
          <a:p>
            <a:pPr algn="l">
              <a:defRPr sz="1200" b="0">
                <a:solidFill>
                  <a:srgbClr val="172B45"/>
                </a:solidFill>
                <a:latin typeface="Consolas"/>
                <a:ea typeface="Consolas"/>
                <a:cs typeface="Consolas"/>
              </a:defRPr>
            </a:pPr>
            <a:r>
              <a:rPr sz="1200" b="0">
                <a:solidFill>
                  <a:srgbClr val="172B45"/>
                </a:solidFill>
                <a:latin typeface="Consolas"/>
                <a:ea typeface="Consolas"/>
                <a:cs typeface="Consolas"/>
              </a:rPr>
              <a:t>Math.pow(2, 3) → 8.0</a:t>
            </a:r>
          </a:p>
        </p:txBody>
      </p:sp>
      <p:sp>
        <p:nvSpPr>
          <p:cNvPr id="109" name="Rectangle 108">
            <a:extLst>
              <a:ext uri="{FF2B5EF4-FFF2-40B4-BE49-F238E27FC236}">
                <a16:creationId xmlns:a16="http://schemas.microsoft.com/office/drawing/2014/main" id="{26CD7451-9907-4721-37DA-8A8C0D3FC880}"/>
              </a:ext>
            </a:extLst>
          </p:cNvPr>
          <p:cNvSpPr>
            <a:spLocks noGrp="1"/>
          </p:cNvSpPr>
          <p:nvPr/>
        </p:nvSpPr>
        <p:spPr>
          <a:xfrm>
            <a:off x="609600" y="4953000"/>
            <a:ext cx="2238375" cy="361950"/>
          </a:xfrm>
          <a:prstGeom prst="rect">
            <a:avLst/>
          </a:prstGeom>
          <a:solidFill>
            <a:srgbClr val="FFFFFF"/>
          </a:solidFill>
          <a:ln w="9525">
            <a:solidFill>
              <a:srgbClr val="D7E0EA"/>
            </a:solidFill>
          </a:ln>
        </p:spPr>
        <p:txBody>
          <a:bodyPr/>
          <a:lstStyle/>
          <a:p>
            <a:endParaRPr lang="en-IN"/>
          </a:p>
        </p:txBody>
      </p:sp>
      <p:sp>
        <p:nvSpPr>
          <p:cNvPr id="111" name="Rectangle 110">
            <a:extLst>
              <a:ext uri="{FF2B5EF4-FFF2-40B4-BE49-F238E27FC236}">
                <a16:creationId xmlns:a16="http://schemas.microsoft.com/office/drawing/2014/main" id="{BF97E064-2833-AD9E-68A5-D82DC9B6D4BC}"/>
              </a:ext>
            </a:extLst>
          </p:cNvPr>
          <p:cNvSpPr>
            <a:spLocks noGrp="1"/>
          </p:cNvSpPr>
          <p:nvPr/>
        </p:nvSpPr>
        <p:spPr>
          <a:xfrm>
            <a:off x="723900" y="4972050"/>
            <a:ext cx="2009775" cy="323850"/>
          </a:xfrm>
          <a:prstGeom prst="rect">
            <a:avLst/>
          </a:prstGeom>
          <a:noFill/>
          <a:ln w="0">
            <a:noFill/>
          </a:ln>
        </p:spPr>
        <p:txBody>
          <a:bodyPr anchor="ctr">
            <a:normAutofit/>
          </a:bodyPr>
          <a:lstStyle/>
          <a:p>
            <a:pPr algn="l">
              <a:defRPr sz="1125" b="1">
                <a:solidFill>
                  <a:srgbClr val="102A56"/>
                </a:solidFill>
                <a:latin typeface="Arial"/>
                <a:ea typeface="Arial"/>
                <a:cs typeface="Arial"/>
              </a:defRPr>
            </a:pPr>
            <a:r>
              <a:rPr sz="1125" b="1">
                <a:solidFill>
                  <a:srgbClr val="102A56"/>
                </a:solidFill>
                <a:latin typeface="Arial"/>
                <a:ea typeface="Arial"/>
                <a:cs typeface="Arial"/>
              </a:rPr>
              <a:t>Math.sin(x)</a:t>
            </a:r>
          </a:p>
        </p:txBody>
      </p:sp>
      <p:sp>
        <p:nvSpPr>
          <p:cNvPr id="113" name="Rectangle 112">
            <a:extLst>
              <a:ext uri="{FF2B5EF4-FFF2-40B4-BE49-F238E27FC236}">
                <a16:creationId xmlns:a16="http://schemas.microsoft.com/office/drawing/2014/main" id="{BE00DAC6-41AF-4C54-E3F1-C02F033752D7}"/>
              </a:ext>
            </a:extLst>
          </p:cNvPr>
          <p:cNvSpPr>
            <a:spLocks noGrp="1"/>
          </p:cNvSpPr>
          <p:nvPr/>
        </p:nvSpPr>
        <p:spPr>
          <a:xfrm>
            <a:off x="2847975" y="4953000"/>
            <a:ext cx="3143250" cy="361950"/>
          </a:xfrm>
          <a:prstGeom prst="rect">
            <a:avLst/>
          </a:prstGeom>
          <a:solidFill>
            <a:srgbClr val="FFFFFF"/>
          </a:solidFill>
          <a:ln w="9525">
            <a:solidFill>
              <a:srgbClr val="D7E0EA"/>
            </a:solidFill>
          </a:ln>
        </p:spPr>
        <p:txBody>
          <a:bodyPr/>
          <a:lstStyle/>
          <a:p>
            <a:endParaRPr lang="en-IN"/>
          </a:p>
        </p:txBody>
      </p:sp>
      <p:sp>
        <p:nvSpPr>
          <p:cNvPr id="115" name="Rectangle 114">
            <a:extLst>
              <a:ext uri="{FF2B5EF4-FFF2-40B4-BE49-F238E27FC236}">
                <a16:creationId xmlns:a16="http://schemas.microsoft.com/office/drawing/2014/main" id="{1F2E82D0-ADF3-6F44-5941-F4C134E1F961}"/>
              </a:ext>
            </a:extLst>
          </p:cNvPr>
          <p:cNvSpPr>
            <a:spLocks noGrp="1"/>
          </p:cNvSpPr>
          <p:nvPr/>
        </p:nvSpPr>
        <p:spPr>
          <a:xfrm>
            <a:off x="2962275" y="4972050"/>
            <a:ext cx="2914650" cy="323850"/>
          </a:xfrm>
          <a:prstGeom prst="rect">
            <a:avLst/>
          </a:prstGeom>
          <a:noFill/>
          <a:ln w="0">
            <a:noFill/>
          </a:ln>
        </p:spPr>
        <p:txBody>
          <a:bodyPr anchor="ctr">
            <a:normAutofit/>
          </a:bodyPr>
          <a:lstStyle/>
          <a:p>
            <a:pPr algn="l">
              <a:defRPr sz="1125" b="0">
                <a:solidFill>
                  <a:srgbClr val="172B45"/>
                </a:solidFill>
                <a:latin typeface="Arial"/>
                <a:ea typeface="Arial"/>
                <a:cs typeface="Arial"/>
              </a:defRPr>
            </a:pPr>
            <a:r>
              <a:rPr sz="1125" b="0">
                <a:solidFill>
                  <a:srgbClr val="172B45"/>
                </a:solidFill>
                <a:latin typeface="Arial"/>
                <a:ea typeface="Arial"/>
                <a:cs typeface="Arial"/>
              </a:rPr>
              <a:t>Returns the sine of x</a:t>
            </a:r>
          </a:p>
        </p:txBody>
      </p:sp>
      <p:sp>
        <p:nvSpPr>
          <p:cNvPr id="117" name="Rectangle 116">
            <a:extLst>
              <a:ext uri="{FF2B5EF4-FFF2-40B4-BE49-F238E27FC236}">
                <a16:creationId xmlns:a16="http://schemas.microsoft.com/office/drawing/2014/main" id="{D3434F3D-F72A-5E11-532C-47214AA2C6A1}"/>
              </a:ext>
            </a:extLst>
          </p:cNvPr>
          <p:cNvSpPr>
            <a:spLocks noGrp="1"/>
          </p:cNvSpPr>
          <p:nvPr/>
        </p:nvSpPr>
        <p:spPr>
          <a:xfrm>
            <a:off x="5991225" y="4953000"/>
            <a:ext cx="5591175" cy="361950"/>
          </a:xfrm>
          <a:prstGeom prst="rect">
            <a:avLst/>
          </a:prstGeom>
          <a:solidFill>
            <a:srgbClr val="FFFFFF"/>
          </a:solidFill>
          <a:ln w="9525">
            <a:solidFill>
              <a:srgbClr val="D7E0EA"/>
            </a:solidFill>
          </a:ln>
        </p:spPr>
        <p:txBody>
          <a:bodyPr/>
          <a:lstStyle/>
          <a:p>
            <a:endParaRPr lang="en-IN"/>
          </a:p>
        </p:txBody>
      </p:sp>
      <p:sp>
        <p:nvSpPr>
          <p:cNvPr id="119" name="Rectangle 118">
            <a:extLst>
              <a:ext uri="{FF2B5EF4-FFF2-40B4-BE49-F238E27FC236}">
                <a16:creationId xmlns:a16="http://schemas.microsoft.com/office/drawing/2014/main" id="{EE438A3C-1D53-7AC0-B9C1-CCCF3C3E4B37}"/>
              </a:ext>
            </a:extLst>
          </p:cNvPr>
          <p:cNvSpPr>
            <a:spLocks noGrp="1"/>
          </p:cNvSpPr>
          <p:nvPr/>
        </p:nvSpPr>
        <p:spPr>
          <a:xfrm>
            <a:off x="6105525" y="4972050"/>
            <a:ext cx="5362575" cy="323850"/>
          </a:xfrm>
          <a:prstGeom prst="rect">
            <a:avLst/>
          </a:prstGeom>
          <a:noFill/>
          <a:ln w="0">
            <a:noFill/>
          </a:ln>
        </p:spPr>
        <p:txBody>
          <a:bodyPr anchor="ctr">
            <a:normAutofit/>
          </a:bodyPr>
          <a:lstStyle/>
          <a:p>
            <a:pPr algn="l">
              <a:defRPr sz="1200" b="0">
                <a:solidFill>
                  <a:srgbClr val="172B45"/>
                </a:solidFill>
                <a:latin typeface="Consolas"/>
                <a:ea typeface="Consolas"/>
                <a:cs typeface="Consolas"/>
              </a:defRPr>
            </a:pPr>
            <a:r>
              <a:rPr sz="1200" b="0">
                <a:solidFill>
                  <a:srgbClr val="172B45"/>
                </a:solidFill>
                <a:latin typeface="Consolas"/>
                <a:ea typeface="Consolas"/>
                <a:cs typeface="Consolas"/>
              </a:rPr>
              <a:t>Math.sin(Math.toRadians(30)) ≈ 0.5</a:t>
            </a:r>
          </a:p>
        </p:txBody>
      </p:sp>
      <p:sp>
        <p:nvSpPr>
          <p:cNvPr id="121" name="Rectangle 120">
            <a:extLst>
              <a:ext uri="{FF2B5EF4-FFF2-40B4-BE49-F238E27FC236}">
                <a16:creationId xmlns:a16="http://schemas.microsoft.com/office/drawing/2014/main" id="{56167E2A-3383-B636-F63D-4B1151008F30}"/>
              </a:ext>
            </a:extLst>
          </p:cNvPr>
          <p:cNvSpPr>
            <a:spLocks noGrp="1"/>
          </p:cNvSpPr>
          <p:nvPr/>
        </p:nvSpPr>
        <p:spPr>
          <a:xfrm>
            <a:off x="609600" y="5314950"/>
            <a:ext cx="2238375" cy="361950"/>
          </a:xfrm>
          <a:prstGeom prst="rect">
            <a:avLst/>
          </a:prstGeom>
          <a:solidFill>
            <a:srgbClr val="F0F4F8"/>
          </a:solidFill>
          <a:ln w="9525">
            <a:solidFill>
              <a:srgbClr val="D7E0EA"/>
            </a:solidFill>
          </a:ln>
        </p:spPr>
        <p:txBody>
          <a:bodyPr/>
          <a:lstStyle/>
          <a:p>
            <a:endParaRPr lang="en-IN"/>
          </a:p>
        </p:txBody>
      </p:sp>
      <p:sp>
        <p:nvSpPr>
          <p:cNvPr id="123" name="Rectangle 122">
            <a:extLst>
              <a:ext uri="{FF2B5EF4-FFF2-40B4-BE49-F238E27FC236}">
                <a16:creationId xmlns:a16="http://schemas.microsoft.com/office/drawing/2014/main" id="{87C9E2C7-6729-24D0-D61A-A51570F495CF}"/>
              </a:ext>
            </a:extLst>
          </p:cNvPr>
          <p:cNvSpPr>
            <a:spLocks noGrp="1"/>
          </p:cNvSpPr>
          <p:nvPr/>
        </p:nvSpPr>
        <p:spPr>
          <a:xfrm>
            <a:off x="723900" y="5334000"/>
            <a:ext cx="2009775" cy="323850"/>
          </a:xfrm>
          <a:prstGeom prst="rect">
            <a:avLst/>
          </a:prstGeom>
          <a:noFill/>
          <a:ln w="0">
            <a:noFill/>
          </a:ln>
        </p:spPr>
        <p:txBody>
          <a:bodyPr anchor="ctr">
            <a:normAutofit/>
          </a:bodyPr>
          <a:lstStyle/>
          <a:p>
            <a:pPr algn="l">
              <a:defRPr sz="1125" b="1">
                <a:solidFill>
                  <a:srgbClr val="102A56"/>
                </a:solidFill>
                <a:latin typeface="Arial"/>
                <a:ea typeface="Arial"/>
                <a:cs typeface="Arial"/>
              </a:defRPr>
            </a:pPr>
            <a:r>
              <a:rPr sz="1125" b="1">
                <a:solidFill>
                  <a:srgbClr val="102A56"/>
                </a:solidFill>
                <a:latin typeface="Arial"/>
                <a:ea typeface="Arial"/>
                <a:cs typeface="Arial"/>
              </a:rPr>
              <a:t>Math.cos(x)</a:t>
            </a:r>
          </a:p>
        </p:txBody>
      </p:sp>
      <p:sp>
        <p:nvSpPr>
          <p:cNvPr id="125" name="Rectangle 124">
            <a:extLst>
              <a:ext uri="{FF2B5EF4-FFF2-40B4-BE49-F238E27FC236}">
                <a16:creationId xmlns:a16="http://schemas.microsoft.com/office/drawing/2014/main" id="{842FF2B2-594B-0284-23CA-1FFA575630A4}"/>
              </a:ext>
            </a:extLst>
          </p:cNvPr>
          <p:cNvSpPr>
            <a:spLocks noGrp="1"/>
          </p:cNvSpPr>
          <p:nvPr/>
        </p:nvSpPr>
        <p:spPr>
          <a:xfrm>
            <a:off x="2847975" y="5314950"/>
            <a:ext cx="3143250" cy="361950"/>
          </a:xfrm>
          <a:prstGeom prst="rect">
            <a:avLst/>
          </a:prstGeom>
          <a:solidFill>
            <a:srgbClr val="F0F4F8"/>
          </a:solidFill>
          <a:ln w="9525">
            <a:solidFill>
              <a:srgbClr val="D7E0EA"/>
            </a:solidFill>
          </a:ln>
        </p:spPr>
        <p:txBody>
          <a:bodyPr/>
          <a:lstStyle/>
          <a:p>
            <a:endParaRPr lang="en-IN"/>
          </a:p>
        </p:txBody>
      </p:sp>
      <p:sp>
        <p:nvSpPr>
          <p:cNvPr id="127" name="Rectangle 126">
            <a:extLst>
              <a:ext uri="{FF2B5EF4-FFF2-40B4-BE49-F238E27FC236}">
                <a16:creationId xmlns:a16="http://schemas.microsoft.com/office/drawing/2014/main" id="{480E449C-7354-7C74-36A7-EE99D83D09C7}"/>
              </a:ext>
            </a:extLst>
          </p:cNvPr>
          <p:cNvSpPr>
            <a:spLocks noGrp="1"/>
          </p:cNvSpPr>
          <p:nvPr/>
        </p:nvSpPr>
        <p:spPr>
          <a:xfrm>
            <a:off x="2962275" y="5334000"/>
            <a:ext cx="2914650" cy="323850"/>
          </a:xfrm>
          <a:prstGeom prst="rect">
            <a:avLst/>
          </a:prstGeom>
          <a:noFill/>
          <a:ln w="0">
            <a:noFill/>
          </a:ln>
        </p:spPr>
        <p:txBody>
          <a:bodyPr anchor="ctr">
            <a:normAutofit/>
          </a:bodyPr>
          <a:lstStyle/>
          <a:p>
            <a:pPr algn="l">
              <a:defRPr sz="1125" b="0">
                <a:solidFill>
                  <a:srgbClr val="172B45"/>
                </a:solidFill>
                <a:latin typeface="Arial"/>
                <a:ea typeface="Arial"/>
                <a:cs typeface="Arial"/>
              </a:defRPr>
            </a:pPr>
            <a:r>
              <a:rPr sz="1125" b="0">
                <a:solidFill>
                  <a:srgbClr val="172B45"/>
                </a:solidFill>
                <a:latin typeface="Arial"/>
                <a:ea typeface="Arial"/>
                <a:cs typeface="Arial"/>
              </a:rPr>
              <a:t>Returns the cosine of x</a:t>
            </a:r>
          </a:p>
        </p:txBody>
      </p:sp>
      <p:sp>
        <p:nvSpPr>
          <p:cNvPr id="129" name="Rectangle 128">
            <a:extLst>
              <a:ext uri="{FF2B5EF4-FFF2-40B4-BE49-F238E27FC236}">
                <a16:creationId xmlns:a16="http://schemas.microsoft.com/office/drawing/2014/main" id="{F952AFE8-D8DF-74EE-98F0-E18244E10211}"/>
              </a:ext>
            </a:extLst>
          </p:cNvPr>
          <p:cNvSpPr>
            <a:spLocks noGrp="1"/>
          </p:cNvSpPr>
          <p:nvPr/>
        </p:nvSpPr>
        <p:spPr>
          <a:xfrm>
            <a:off x="5991225" y="5314950"/>
            <a:ext cx="5591175" cy="361950"/>
          </a:xfrm>
          <a:prstGeom prst="rect">
            <a:avLst/>
          </a:prstGeom>
          <a:solidFill>
            <a:srgbClr val="F0F4F8"/>
          </a:solidFill>
          <a:ln w="9525">
            <a:solidFill>
              <a:srgbClr val="D7E0EA"/>
            </a:solidFill>
          </a:ln>
        </p:spPr>
        <p:txBody>
          <a:bodyPr/>
          <a:lstStyle/>
          <a:p>
            <a:endParaRPr lang="en-IN"/>
          </a:p>
        </p:txBody>
      </p:sp>
      <p:sp>
        <p:nvSpPr>
          <p:cNvPr id="131" name="Rectangle 130">
            <a:extLst>
              <a:ext uri="{FF2B5EF4-FFF2-40B4-BE49-F238E27FC236}">
                <a16:creationId xmlns:a16="http://schemas.microsoft.com/office/drawing/2014/main" id="{AF53C552-35B5-B35D-9D9E-D9930640C5D6}"/>
              </a:ext>
            </a:extLst>
          </p:cNvPr>
          <p:cNvSpPr>
            <a:spLocks noGrp="1"/>
          </p:cNvSpPr>
          <p:nvPr/>
        </p:nvSpPr>
        <p:spPr>
          <a:xfrm>
            <a:off x="6105525" y="5334000"/>
            <a:ext cx="5362575" cy="323850"/>
          </a:xfrm>
          <a:prstGeom prst="rect">
            <a:avLst/>
          </a:prstGeom>
          <a:noFill/>
          <a:ln w="0">
            <a:noFill/>
          </a:ln>
        </p:spPr>
        <p:txBody>
          <a:bodyPr anchor="ctr">
            <a:normAutofit/>
          </a:bodyPr>
          <a:lstStyle/>
          <a:p>
            <a:pPr algn="l">
              <a:defRPr sz="1200" b="0">
                <a:solidFill>
                  <a:srgbClr val="172B45"/>
                </a:solidFill>
                <a:latin typeface="Consolas"/>
                <a:ea typeface="Consolas"/>
                <a:cs typeface="Consolas"/>
              </a:defRPr>
            </a:pPr>
            <a:r>
              <a:rPr sz="1200" b="0">
                <a:solidFill>
                  <a:srgbClr val="172B45"/>
                </a:solidFill>
                <a:latin typeface="Consolas"/>
                <a:ea typeface="Consolas"/>
                <a:cs typeface="Consolas"/>
              </a:rPr>
              <a:t>Math.cos(Math.toRadians(60)) ≈ 0.5</a:t>
            </a:r>
          </a:p>
        </p:txBody>
      </p:sp>
      <p:sp>
        <p:nvSpPr>
          <p:cNvPr id="133" name="Rectangle 132">
            <a:extLst>
              <a:ext uri="{FF2B5EF4-FFF2-40B4-BE49-F238E27FC236}">
                <a16:creationId xmlns:a16="http://schemas.microsoft.com/office/drawing/2014/main" id="{D99CB241-C539-F92F-F84C-965AF3C6FBDC}"/>
              </a:ext>
            </a:extLst>
          </p:cNvPr>
          <p:cNvSpPr>
            <a:spLocks noGrp="1"/>
          </p:cNvSpPr>
          <p:nvPr/>
        </p:nvSpPr>
        <p:spPr>
          <a:xfrm>
            <a:off x="609600" y="5676900"/>
            <a:ext cx="2238375" cy="361950"/>
          </a:xfrm>
          <a:prstGeom prst="rect">
            <a:avLst/>
          </a:prstGeom>
          <a:solidFill>
            <a:srgbClr val="FFFFFF"/>
          </a:solidFill>
          <a:ln w="9525">
            <a:solidFill>
              <a:srgbClr val="D7E0EA"/>
            </a:solidFill>
          </a:ln>
        </p:spPr>
        <p:txBody>
          <a:bodyPr/>
          <a:lstStyle/>
          <a:p>
            <a:endParaRPr lang="en-IN"/>
          </a:p>
        </p:txBody>
      </p:sp>
      <p:sp>
        <p:nvSpPr>
          <p:cNvPr id="135" name="Rectangle 134">
            <a:extLst>
              <a:ext uri="{FF2B5EF4-FFF2-40B4-BE49-F238E27FC236}">
                <a16:creationId xmlns:a16="http://schemas.microsoft.com/office/drawing/2014/main" id="{E6F9BE6C-A97A-2996-D420-D60394FE2C0A}"/>
              </a:ext>
            </a:extLst>
          </p:cNvPr>
          <p:cNvSpPr>
            <a:spLocks noGrp="1"/>
          </p:cNvSpPr>
          <p:nvPr/>
        </p:nvSpPr>
        <p:spPr>
          <a:xfrm>
            <a:off x="723900" y="5695950"/>
            <a:ext cx="2009775" cy="323850"/>
          </a:xfrm>
          <a:prstGeom prst="rect">
            <a:avLst/>
          </a:prstGeom>
          <a:noFill/>
          <a:ln w="0">
            <a:noFill/>
          </a:ln>
        </p:spPr>
        <p:txBody>
          <a:bodyPr anchor="ctr">
            <a:normAutofit/>
          </a:bodyPr>
          <a:lstStyle/>
          <a:p>
            <a:pPr algn="l">
              <a:defRPr sz="1125" b="1">
                <a:solidFill>
                  <a:srgbClr val="102A56"/>
                </a:solidFill>
                <a:latin typeface="Arial"/>
                <a:ea typeface="Arial"/>
                <a:cs typeface="Arial"/>
              </a:defRPr>
            </a:pPr>
            <a:r>
              <a:rPr sz="1125" b="1">
                <a:solidFill>
                  <a:srgbClr val="102A56"/>
                </a:solidFill>
                <a:latin typeface="Arial"/>
                <a:ea typeface="Arial"/>
                <a:cs typeface="Arial"/>
              </a:rPr>
              <a:t>Math.tan(x)</a:t>
            </a:r>
          </a:p>
        </p:txBody>
      </p:sp>
      <p:sp>
        <p:nvSpPr>
          <p:cNvPr id="137" name="Rectangle 136">
            <a:extLst>
              <a:ext uri="{FF2B5EF4-FFF2-40B4-BE49-F238E27FC236}">
                <a16:creationId xmlns:a16="http://schemas.microsoft.com/office/drawing/2014/main" id="{451E6937-598A-4FB9-053A-E4BC1AFC8BB5}"/>
              </a:ext>
            </a:extLst>
          </p:cNvPr>
          <p:cNvSpPr>
            <a:spLocks noGrp="1"/>
          </p:cNvSpPr>
          <p:nvPr/>
        </p:nvSpPr>
        <p:spPr>
          <a:xfrm>
            <a:off x="2847975" y="5676900"/>
            <a:ext cx="3143250" cy="361950"/>
          </a:xfrm>
          <a:prstGeom prst="rect">
            <a:avLst/>
          </a:prstGeom>
          <a:solidFill>
            <a:srgbClr val="FFFFFF"/>
          </a:solidFill>
          <a:ln w="9525">
            <a:solidFill>
              <a:srgbClr val="D7E0EA"/>
            </a:solidFill>
          </a:ln>
        </p:spPr>
        <p:txBody>
          <a:bodyPr/>
          <a:lstStyle/>
          <a:p>
            <a:endParaRPr lang="en-IN"/>
          </a:p>
        </p:txBody>
      </p:sp>
      <p:sp>
        <p:nvSpPr>
          <p:cNvPr id="139" name="Rectangle 138">
            <a:extLst>
              <a:ext uri="{FF2B5EF4-FFF2-40B4-BE49-F238E27FC236}">
                <a16:creationId xmlns:a16="http://schemas.microsoft.com/office/drawing/2014/main" id="{BDE14D01-F756-0037-7670-5ECC9B92347E}"/>
              </a:ext>
            </a:extLst>
          </p:cNvPr>
          <p:cNvSpPr>
            <a:spLocks noGrp="1"/>
          </p:cNvSpPr>
          <p:nvPr/>
        </p:nvSpPr>
        <p:spPr>
          <a:xfrm>
            <a:off x="2962275" y="5695950"/>
            <a:ext cx="2914650" cy="323850"/>
          </a:xfrm>
          <a:prstGeom prst="rect">
            <a:avLst/>
          </a:prstGeom>
          <a:noFill/>
          <a:ln w="0">
            <a:noFill/>
          </a:ln>
        </p:spPr>
        <p:txBody>
          <a:bodyPr anchor="ctr">
            <a:normAutofit/>
          </a:bodyPr>
          <a:lstStyle/>
          <a:p>
            <a:pPr algn="l">
              <a:defRPr sz="1125" b="0">
                <a:solidFill>
                  <a:srgbClr val="172B45"/>
                </a:solidFill>
                <a:latin typeface="Arial"/>
                <a:ea typeface="Arial"/>
                <a:cs typeface="Arial"/>
              </a:defRPr>
            </a:pPr>
            <a:r>
              <a:rPr sz="1125" b="0">
                <a:solidFill>
                  <a:srgbClr val="172B45"/>
                </a:solidFill>
                <a:latin typeface="Arial"/>
                <a:ea typeface="Arial"/>
                <a:cs typeface="Arial"/>
              </a:rPr>
              <a:t>Returns the tangent of x</a:t>
            </a:r>
          </a:p>
        </p:txBody>
      </p:sp>
      <p:sp>
        <p:nvSpPr>
          <p:cNvPr id="141" name="Rectangle 140">
            <a:extLst>
              <a:ext uri="{FF2B5EF4-FFF2-40B4-BE49-F238E27FC236}">
                <a16:creationId xmlns:a16="http://schemas.microsoft.com/office/drawing/2014/main" id="{1D79F0A0-E6CF-992F-5E9F-13EF955871F2}"/>
              </a:ext>
            </a:extLst>
          </p:cNvPr>
          <p:cNvSpPr>
            <a:spLocks noGrp="1"/>
          </p:cNvSpPr>
          <p:nvPr/>
        </p:nvSpPr>
        <p:spPr>
          <a:xfrm>
            <a:off x="5991225" y="5676900"/>
            <a:ext cx="5591175" cy="361950"/>
          </a:xfrm>
          <a:prstGeom prst="rect">
            <a:avLst/>
          </a:prstGeom>
          <a:solidFill>
            <a:srgbClr val="FFFFFF"/>
          </a:solidFill>
          <a:ln w="9525">
            <a:solidFill>
              <a:srgbClr val="D7E0EA"/>
            </a:solidFill>
          </a:ln>
        </p:spPr>
        <p:txBody>
          <a:bodyPr/>
          <a:lstStyle/>
          <a:p>
            <a:endParaRPr lang="en-IN"/>
          </a:p>
        </p:txBody>
      </p:sp>
      <p:sp>
        <p:nvSpPr>
          <p:cNvPr id="143" name="Rectangle 142">
            <a:extLst>
              <a:ext uri="{FF2B5EF4-FFF2-40B4-BE49-F238E27FC236}">
                <a16:creationId xmlns:a16="http://schemas.microsoft.com/office/drawing/2014/main" id="{81F2CF49-D9A5-DE60-E360-0B7A17A776B9}"/>
              </a:ext>
            </a:extLst>
          </p:cNvPr>
          <p:cNvSpPr>
            <a:spLocks noGrp="1"/>
          </p:cNvSpPr>
          <p:nvPr/>
        </p:nvSpPr>
        <p:spPr>
          <a:xfrm>
            <a:off x="6105525" y="5695950"/>
            <a:ext cx="5362575" cy="323850"/>
          </a:xfrm>
          <a:prstGeom prst="rect">
            <a:avLst/>
          </a:prstGeom>
          <a:noFill/>
          <a:ln w="0">
            <a:noFill/>
          </a:ln>
        </p:spPr>
        <p:txBody>
          <a:bodyPr anchor="ctr">
            <a:normAutofit/>
          </a:bodyPr>
          <a:lstStyle/>
          <a:p>
            <a:pPr algn="l">
              <a:defRPr sz="1200" b="0">
                <a:solidFill>
                  <a:srgbClr val="172B45"/>
                </a:solidFill>
                <a:latin typeface="Consolas"/>
                <a:ea typeface="Consolas"/>
                <a:cs typeface="Consolas"/>
              </a:defRPr>
            </a:pPr>
            <a:r>
              <a:rPr sz="1200" b="0">
                <a:solidFill>
                  <a:srgbClr val="172B45"/>
                </a:solidFill>
                <a:latin typeface="Consolas"/>
                <a:ea typeface="Consolas"/>
                <a:cs typeface="Consolas"/>
              </a:rPr>
              <a:t>Math.tan(Math.toRadians(45)) ≈ 1.0</a:t>
            </a:r>
          </a:p>
        </p:txBody>
      </p:sp>
      <p:sp>
        <p:nvSpPr>
          <p:cNvPr id="145" name="Rectangle: Rounded Corners 144">
            <a:extLst>
              <a:ext uri="{FF2B5EF4-FFF2-40B4-BE49-F238E27FC236}">
                <a16:creationId xmlns:a16="http://schemas.microsoft.com/office/drawing/2014/main" id="{11A83C45-0159-B907-980A-A68D35D10901}"/>
              </a:ext>
            </a:extLst>
          </p:cNvPr>
          <p:cNvSpPr>
            <a:spLocks noGrp="1"/>
          </p:cNvSpPr>
          <p:nvPr/>
        </p:nvSpPr>
        <p:spPr>
          <a:xfrm>
            <a:off x="609600" y="6191250"/>
            <a:ext cx="10972800" cy="504825"/>
          </a:xfrm>
          <a:prstGeom prst="roundRect">
            <a:avLst>
              <a:gd name="adj" fmla="val 15094"/>
            </a:avLst>
          </a:prstGeom>
          <a:solidFill>
            <a:srgbClr val="E6F3F1"/>
          </a:solidFill>
          <a:ln w="0">
            <a:noFill/>
          </a:ln>
        </p:spPr>
        <p:txBody>
          <a:bodyPr/>
          <a:lstStyle/>
          <a:p>
            <a:endParaRPr lang="en-IN"/>
          </a:p>
        </p:txBody>
      </p:sp>
      <p:sp>
        <p:nvSpPr>
          <p:cNvPr id="147" name="Rectangle 146">
            <a:extLst>
              <a:ext uri="{FF2B5EF4-FFF2-40B4-BE49-F238E27FC236}">
                <a16:creationId xmlns:a16="http://schemas.microsoft.com/office/drawing/2014/main" id="{A20940EA-3E8B-AF37-F01C-275C0C904704}"/>
              </a:ext>
            </a:extLst>
          </p:cNvPr>
          <p:cNvSpPr>
            <a:spLocks noGrp="1"/>
          </p:cNvSpPr>
          <p:nvPr/>
        </p:nvSpPr>
        <p:spPr>
          <a:xfrm>
            <a:off x="800100" y="6286500"/>
            <a:ext cx="1066800" cy="266700"/>
          </a:xfrm>
          <a:prstGeom prst="rect">
            <a:avLst/>
          </a:prstGeom>
          <a:noFill/>
          <a:ln w="0">
            <a:noFill/>
          </a:ln>
        </p:spPr>
        <p:txBody>
          <a:bodyPr anchor="ctr">
            <a:normAutofit fontScale="95833"/>
          </a:bodyPr>
          <a:lstStyle/>
          <a:p>
            <a:pPr algn="l">
              <a:defRPr sz="1200" b="1">
                <a:solidFill>
                  <a:srgbClr val="147D7A"/>
                </a:solidFill>
                <a:latin typeface="Arial"/>
                <a:ea typeface="Arial"/>
                <a:cs typeface="Arial"/>
              </a:defRPr>
            </a:pPr>
            <a:r>
              <a:rPr sz="1200" b="1">
                <a:solidFill>
                  <a:srgbClr val="147D7A"/>
                </a:solidFill>
                <a:latin typeface="Arial"/>
                <a:ea typeface="Arial"/>
                <a:cs typeface="Arial"/>
              </a:rPr>
              <a:t>Radians</a:t>
            </a:r>
          </a:p>
        </p:txBody>
      </p:sp>
      <p:sp>
        <p:nvSpPr>
          <p:cNvPr id="149" name="Rectangle 148">
            <a:extLst>
              <a:ext uri="{FF2B5EF4-FFF2-40B4-BE49-F238E27FC236}">
                <a16:creationId xmlns:a16="http://schemas.microsoft.com/office/drawing/2014/main" id="{F708A2BD-4BFD-4EFD-9B6A-11E409F1A51F}"/>
              </a:ext>
            </a:extLst>
          </p:cNvPr>
          <p:cNvSpPr>
            <a:spLocks noGrp="1"/>
          </p:cNvSpPr>
          <p:nvPr/>
        </p:nvSpPr>
        <p:spPr>
          <a:xfrm>
            <a:off x="1866900" y="6248400"/>
            <a:ext cx="9477375" cy="342900"/>
          </a:xfrm>
          <a:prstGeom prst="rect">
            <a:avLst/>
          </a:prstGeom>
          <a:noFill/>
          <a:ln w="0">
            <a:noFill/>
          </a:ln>
        </p:spPr>
        <p:txBody>
          <a:bodyPr anchor="ctr">
            <a:normAutofit/>
          </a:bodyPr>
          <a:lstStyle/>
          <a:p>
            <a:pPr algn="l">
              <a:defRPr sz="1275" b="0">
                <a:solidFill>
                  <a:srgbClr val="172B45"/>
                </a:solidFill>
                <a:latin typeface="Arial"/>
                <a:ea typeface="Arial"/>
                <a:cs typeface="Arial"/>
              </a:defRPr>
            </a:pPr>
            <a:r>
              <a:rPr sz="1275" b="0">
                <a:solidFill>
                  <a:srgbClr val="172B45"/>
                </a:solidFill>
                <a:latin typeface="Arial"/>
                <a:ea typeface="Arial"/>
                <a:cs typeface="Arial"/>
              </a:rPr>
              <a:t>sin, cos, and tan expect radians. Use Math.toRadians(degrees) to convert degrees.</a:t>
            </a:r>
          </a:p>
        </p:txBody>
      </p:sp>
    </p:spTree>
    <p:extLst>
      <p:ext uri="{BB962C8B-B14F-4D97-AF65-F5344CB8AC3E}">
        <p14:creationId xmlns:p14="http://schemas.microsoft.com/office/powerpoint/2010/main" val="126391999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631060" y="100025"/>
            <a:ext cx="2654935" cy="300355"/>
          </a:xfrm>
          <a:prstGeom prst="rect">
            <a:avLst/>
          </a:prstGeom>
        </p:spPr>
        <p:txBody>
          <a:bodyPr vert="horz" wrap="none" lIns="0" tIns="12700" rIns="0" bIns="0" rtlCol="0">
            <a:normAutofit/>
          </a:bodyPr>
          <a:lstStyle/>
          <a:p>
            <a:pPr marL="12700"/>
            <a:r>
              <a:rPr lang="en-IN" sz="1600">
                <a:solidFill>
                  <a:srgbClr val="001F5F"/>
                </a:solidFill>
                <a:latin typeface="Courier New"/>
                <a:cs typeface="Courier New"/>
              </a:rPr>
              <a:t>class MathClassExample</a:t>
            </a:r>
          </a:p>
        </p:txBody>
      </p:sp>
      <p:sp>
        <p:nvSpPr>
          <p:cNvPr id="4" name="object 4"/>
          <p:cNvSpPr txBox="1"/>
          <p:nvPr/>
        </p:nvSpPr>
        <p:spPr>
          <a:xfrm>
            <a:off x="1631060" y="370789"/>
            <a:ext cx="8277225" cy="5741035"/>
          </a:xfrm>
          <a:prstGeom prst="rect">
            <a:avLst/>
          </a:prstGeom>
        </p:spPr>
        <p:txBody>
          <a:bodyPr vert="horz" wrap="none" lIns="0" tIns="153670" rIns="0" bIns="0" rtlCol="0">
            <a:normAutofit/>
          </a:bodyPr>
          <a:lstStyle/>
          <a:p>
            <a:pPr marL="109855"/>
            <a:r>
              <a:rPr lang="en-IN" sz="1600">
                <a:solidFill>
                  <a:srgbClr val="001F5F"/>
                </a:solidFill>
                <a:latin typeface="Courier New"/>
                <a:cs typeface="Courier New"/>
              </a:rPr>
              <a:t>{</a:t>
            </a:r>
          </a:p>
          <a:p>
            <a:pPr marL="12700"/>
            <a:r>
              <a:rPr lang="en-IN" sz="1600">
                <a:solidFill>
                  <a:srgbClr val="001F5F"/>
                </a:solidFill>
                <a:latin typeface="Courier New"/>
                <a:cs typeface="Courier New"/>
              </a:rPr>
              <a:t>public static void main(String args[])</a:t>
            </a:r>
          </a:p>
          <a:p>
            <a:pPr marL="12700"/>
            <a:r>
              <a:rPr lang="en-IN" sz="1600">
                <a:solidFill>
                  <a:srgbClr val="001F5F"/>
                </a:solidFill>
                <a:latin typeface="Courier New"/>
                <a:cs typeface="Courier New"/>
              </a:rPr>
              <a:t>{</a:t>
            </a:r>
          </a:p>
          <a:p>
            <a:pPr marL="109855"/>
            <a:r>
              <a:rPr lang="en-IN" sz="1600">
                <a:solidFill>
                  <a:srgbClr val="001F5F"/>
                </a:solidFill>
                <a:latin typeface="Courier New"/>
                <a:cs typeface="Courier New"/>
              </a:rPr>
              <a:t>double x = 28;</a:t>
            </a:r>
          </a:p>
          <a:p>
            <a:pPr marL="109855"/>
            <a:r>
              <a:rPr lang="en-IN" sz="1600">
                <a:solidFill>
                  <a:srgbClr val="001F5F"/>
                </a:solidFill>
                <a:latin typeface="Courier New"/>
                <a:cs typeface="Courier New"/>
              </a:rPr>
              <a:t>double y = 4;</a:t>
            </a:r>
          </a:p>
          <a:p>
            <a:pPr marL="109855" marR="5080"/>
            <a:r>
              <a:rPr lang="en-IN" sz="1600">
                <a:solidFill>
                  <a:srgbClr val="001F5F"/>
                </a:solidFill>
                <a:latin typeface="Courier New"/>
                <a:cs typeface="Courier New"/>
              </a:rPr>
              <a:t>System.out.println("Maximum number of x and y is: " + Math.max(x, y)); </a:t>
            </a:r>
          </a:p>
          <a:p>
            <a:pPr marL="109855" marR="5080"/>
            <a:r>
              <a:rPr lang="en-IN" sz="1600">
                <a:solidFill>
                  <a:srgbClr val="001F5F"/>
                </a:solidFill>
                <a:latin typeface="Courier New"/>
                <a:cs typeface="Courier New"/>
              </a:rPr>
              <a:t>System.out.println("Square root of y is: " + Math.sqrt(y)); </a:t>
            </a:r>
          </a:p>
          <a:p>
            <a:pPr marL="109855" marR="5080"/>
            <a:r>
              <a:rPr lang="en-IN" sz="1600">
                <a:solidFill>
                  <a:srgbClr val="001F5F"/>
                </a:solidFill>
                <a:latin typeface="Courier New"/>
                <a:cs typeface="Courier New"/>
              </a:rPr>
              <a:t>System.out.println("Power of x and y is: " + Math.pow(x, y)); </a:t>
            </a:r>
          </a:p>
          <a:p>
            <a:pPr marL="109855" marR="5080"/>
            <a:r>
              <a:rPr lang="en-IN" sz="1600">
                <a:solidFill>
                  <a:srgbClr val="001F5F"/>
                </a:solidFill>
                <a:latin typeface="Courier New"/>
                <a:cs typeface="Courier New"/>
              </a:rPr>
              <a:t>System.out.println("Logarithm of x is: " + Math.log(x));</a:t>
            </a:r>
          </a:p>
          <a:p>
            <a:pPr marL="109855"/>
            <a:r>
              <a:rPr lang="en-IN" sz="1600">
                <a:solidFill>
                  <a:srgbClr val="001F5F"/>
                </a:solidFill>
                <a:latin typeface="Courier New"/>
                <a:cs typeface="Courier New"/>
              </a:rPr>
              <a:t>System.out.println("Logarithm of y is: " + Math.log(y));</a:t>
            </a:r>
          </a:p>
          <a:p>
            <a:pPr marL="109855" marR="1581785"/>
            <a:r>
              <a:rPr lang="en-IN" sz="1600">
                <a:solidFill>
                  <a:srgbClr val="001F5F"/>
                </a:solidFill>
                <a:latin typeface="Courier New"/>
                <a:cs typeface="Courier New"/>
              </a:rPr>
              <a:t>System.out.println("Cube root of x is: " + Math.cbrt(x)); </a:t>
            </a:r>
          </a:p>
          <a:p>
            <a:pPr marL="109855" marR="1581785"/>
            <a:r>
              <a:rPr lang="en-IN" sz="1600">
                <a:solidFill>
                  <a:srgbClr val="001F5F"/>
                </a:solidFill>
                <a:latin typeface="Courier New"/>
                <a:cs typeface="Courier New"/>
              </a:rPr>
              <a:t>System.out.println("Round of y is: " + Math.round(11.78)); </a:t>
            </a:r>
          </a:p>
          <a:p>
            <a:pPr marL="109855" marR="1581785"/>
            <a:r>
              <a:rPr lang="en-IN" sz="1600">
                <a:solidFill>
                  <a:srgbClr val="001F5F"/>
                </a:solidFill>
                <a:latin typeface="Courier New"/>
                <a:cs typeface="Courier New"/>
              </a:rPr>
              <a:t>System.out.println("Sin of x is: " + Math.sin(90)); </a:t>
            </a:r>
          </a:p>
          <a:p>
            <a:pPr marL="109855" marR="1581785"/>
            <a:r>
              <a:rPr lang="en-IN" sz="1600">
                <a:solidFill>
                  <a:srgbClr val="001F5F"/>
                </a:solidFill>
                <a:latin typeface="Courier New"/>
                <a:cs typeface="Courier New"/>
              </a:rPr>
              <a:t>System.out.println("Cos of x is: " + Math.cos(0));</a:t>
            </a:r>
          </a:p>
          <a:p>
            <a:pPr marL="109855" marR="1581785"/>
            <a:r>
              <a:rPr lang="en-IN" sz="1600">
                <a:solidFill>
                  <a:srgbClr val="001F5F"/>
                </a:solidFill>
                <a:latin typeface="Courier New"/>
                <a:cs typeface="Courier New"/>
              </a:rPr>
              <a:t>}</a:t>
            </a:r>
          </a:p>
          <a:p>
            <a:pPr marL="109855" marR="1581785"/>
            <a:r>
              <a:rPr lang="en-IN" sz="1600">
                <a:solidFill>
                  <a:srgbClr val="001F5F"/>
                </a:solidFill>
                <a:latin typeface="Courier New"/>
                <a:cs typeface="Courier New"/>
              </a:rPr>
              <a:t>}</a:t>
            </a:r>
            <a:endParaRPr lang="en-IN" sz="1600" dirty="0">
              <a:solidFill>
                <a:srgbClr val="001F5F"/>
              </a:solidFill>
              <a:latin typeface="Courier New"/>
              <a:cs typeface="Courier New"/>
            </a:endParaRPr>
          </a:p>
        </p:txBody>
      </p:sp>
      <p:pic>
        <p:nvPicPr>
          <p:cNvPr id="6" name="object 2">
            <a:extLst>
              <a:ext uri="{FF2B5EF4-FFF2-40B4-BE49-F238E27FC236}">
                <a16:creationId xmlns:a16="http://schemas.microsoft.com/office/drawing/2014/main" id="{3824FF65-3B04-9DB8-BD83-541E74B474A4}"/>
              </a:ext>
            </a:extLst>
          </p:cNvPr>
          <p:cNvPicPr/>
          <p:nvPr/>
        </p:nvPicPr>
        <p:blipFill>
          <a:blip r:embed="rId2" cstate="print"/>
          <a:stretch>
            <a:fillRect/>
          </a:stretch>
        </p:blipFill>
        <p:spPr>
          <a:xfrm>
            <a:off x="1143000" y="4572000"/>
            <a:ext cx="10357105" cy="2033016"/>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91000" y="2590800"/>
            <a:ext cx="3657600" cy="640080"/>
          </a:xfrm>
          <a:prstGeom prst="rect">
            <a:avLst/>
          </a:prstGeom>
        </p:spPr>
        <p:txBody>
          <a:bodyPr vert="horz" wrap="square" rtlCol="0" anchor="ctr">
            <a:normAutofit fontScale="90000"/>
          </a:bodyPr>
          <a:lstStyle/>
          <a:p>
            <a:pPr marR="59055" algn="l">
              <a:lnSpc>
                <a:spcPct val="100000"/>
              </a:lnSpc>
              <a:spcBef>
                <a:spcPts val="100"/>
              </a:spcBef>
            </a:pPr>
            <a:r>
              <a:rPr sz="3100" b="1" dirty="0">
                <a:solidFill>
                  <a:srgbClr val="001F5F"/>
                </a:solidFill>
                <a:latin typeface="Calibri"/>
                <a:cs typeface="Calibri"/>
              </a:rPr>
              <a:t>UNIT-04 PART-C</a:t>
            </a:r>
          </a:p>
          <a:p>
            <a:pPr algn="l">
              <a:lnSpc>
                <a:spcPct val="100000"/>
              </a:lnSpc>
            </a:pPr>
            <a:r>
              <a:rPr sz="2200" b="1" dirty="0">
                <a:solidFill>
                  <a:srgbClr val="C00000"/>
                </a:solidFill>
                <a:latin typeface="Calibri"/>
                <a:cs typeface="Calibri"/>
              </a:rPr>
              <a:t>Concept-08</a:t>
            </a:r>
            <a:r>
              <a:rPr sz="2200" b="1" dirty="0">
                <a:solidFill>
                  <a:srgbClr val="001F5F"/>
                </a:solidFill>
                <a:latin typeface="Calibri"/>
                <a:cs typeface="Calibri"/>
              </a:rPr>
              <a:t> Enumeration in java</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533400"/>
            <a:ext cx="4648200" cy="640080"/>
          </a:xfrm>
          <a:prstGeom prst="rect">
            <a:avLst/>
          </a:prstGeom>
        </p:spPr>
        <p:txBody>
          <a:bodyPr vert="horz" wrap="square" rtlCol="0" anchor="ctr">
            <a:normAutofit fontScale="90000"/>
          </a:bodyPr>
          <a:lstStyle/>
          <a:p>
            <a:pPr marL="1526540" algn="l">
              <a:lnSpc>
                <a:spcPct val="100000"/>
              </a:lnSpc>
              <a:spcBef>
                <a:spcPts val="100"/>
              </a:spcBef>
            </a:pPr>
            <a:r>
              <a:rPr sz="2800" b="1" dirty="0">
                <a:solidFill>
                  <a:srgbClr val="C00000"/>
                </a:solidFill>
                <a:latin typeface="Calibri"/>
                <a:cs typeface="Calibri"/>
              </a:rPr>
              <a:t>Enumeration in java</a:t>
            </a:r>
          </a:p>
        </p:txBody>
      </p:sp>
      <p:sp>
        <p:nvSpPr>
          <p:cNvPr id="3" name="object 3"/>
          <p:cNvSpPr txBox="1"/>
          <p:nvPr/>
        </p:nvSpPr>
        <p:spPr>
          <a:xfrm>
            <a:off x="557884" y="1086689"/>
            <a:ext cx="11405515" cy="1504112"/>
          </a:xfrm>
          <a:prstGeom prst="rect">
            <a:avLst/>
          </a:prstGeom>
        </p:spPr>
        <p:txBody>
          <a:bodyPr vert="horz" wrap="square" lIns="0" tIns="12700" rIns="0" bIns="0" rtlCol="0">
            <a:normAutofit/>
          </a:bodyPr>
          <a:lstStyle/>
          <a:p>
            <a:pPr marL="240029" indent="-227329">
              <a:lnSpc>
                <a:spcPct val="110000"/>
              </a:lnSpc>
              <a:spcBef>
                <a:spcPts val="0"/>
              </a:spcBef>
              <a:spcAft>
                <a:spcPts val="600"/>
              </a:spcAft>
              <a:buFont typeface="Arial MT"/>
              <a:buChar char="•"/>
              <a:tabLst>
                <a:tab pos="240029" algn="l"/>
                <a:tab pos="1033780" algn="l"/>
                <a:tab pos="2009139" algn="l"/>
                <a:tab pos="2487930" algn="l"/>
                <a:tab pos="3411854" algn="l"/>
                <a:tab pos="3877945" algn="l"/>
                <a:tab pos="4280535" algn="l"/>
                <a:tab pos="5179695" algn="l"/>
                <a:tab pos="6054725" algn="l"/>
                <a:tab pos="7091680" algn="l"/>
                <a:tab pos="8509000" algn="l"/>
                <a:tab pos="8911590" algn="l"/>
                <a:tab pos="9914890" algn="l"/>
                <a:tab pos="10609580" algn="l"/>
              </a:tabLst>
            </a:pPr>
            <a:r>
              <a:rPr sz="2000" b="1" dirty="0">
                <a:latin typeface="Calibri"/>
                <a:cs typeface="Calibri"/>
              </a:rPr>
              <a:t>The Enum in Java is a data type which contains a fixed set of</a:t>
            </a:r>
            <a:r>
              <a:rPr lang="en-IN" sz="2000" dirty="0">
                <a:latin typeface="Calibri"/>
                <a:cs typeface="Calibri"/>
              </a:rPr>
              <a:t> </a:t>
            </a:r>
            <a:r>
              <a:rPr sz="2000" b="1" dirty="0">
                <a:latin typeface="Calibri"/>
                <a:cs typeface="Calibri"/>
              </a:rPr>
              <a:t>constants.</a:t>
            </a:r>
            <a:endParaRPr sz="2000" dirty="0">
              <a:latin typeface="Calibri"/>
              <a:cs typeface="Calibri"/>
            </a:endParaRPr>
          </a:p>
          <a:p>
            <a:pPr marL="240029" indent="-227329">
              <a:lnSpc>
                <a:spcPct val="110000"/>
              </a:lnSpc>
              <a:spcBef>
                <a:spcPts val="0"/>
              </a:spcBef>
              <a:spcAft>
                <a:spcPts val="600"/>
              </a:spcAft>
              <a:buFont typeface="Arial MT"/>
              <a:buChar char="•"/>
              <a:tabLst>
                <a:tab pos="240029" algn="l"/>
              </a:tabLst>
            </a:pPr>
            <a:r>
              <a:rPr sz="2000" b="1" dirty="0">
                <a:latin typeface="Calibri"/>
                <a:cs typeface="Calibri"/>
              </a:rPr>
              <a:t>It can be used for days of the week, directions, season, colors etc.</a:t>
            </a:r>
            <a:endParaRPr sz="2000" dirty="0">
              <a:latin typeface="Calibri"/>
              <a:cs typeface="Calibri"/>
            </a:endParaRPr>
          </a:p>
          <a:p>
            <a:pPr marL="240029" indent="-227329">
              <a:lnSpc>
                <a:spcPct val="110000"/>
              </a:lnSpc>
              <a:spcBef>
                <a:spcPts val="0"/>
              </a:spcBef>
              <a:spcAft>
                <a:spcPts val="600"/>
              </a:spcAft>
              <a:buFont typeface="Arial MT"/>
              <a:buChar char="•"/>
              <a:tabLst>
                <a:tab pos="240029" algn="l"/>
              </a:tabLst>
            </a:pPr>
            <a:r>
              <a:rPr sz="2000" b="1" dirty="0" err="1">
                <a:latin typeface="Calibri"/>
                <a:cs typeface="Calibri"/>
              </a:rPr>
              <a:t>enum</a:t>
            </a:r>
            <a:r>
              <a:rPr sz="2000" b="1" dirty="0">
                <a:latin typeface="Calibri"/>
                <a:cs typeface="Calibri"/>
              </a:rPr>
              <a:t> constants in capital letters.</a:t>
            </a:r>
            <a:endParaRPr sz="2000" dirty="0">
              <a:latin typeface="Calibri"/>
              <a:cs typeface="Calibri"/>
            </a:endParaRPr>
          </a:p>
        </p:txBody>
      </p:sp>
      <p:sp>
        <p:nvSpPr>
          <p:cNvPr id="5" name="object 3">
            <a:extLst>
              <a:ext uri="{FF2B5EF4-FFF2-40B4-BE49-F238E27FC236}">
                <a16:creationId xmlns:a16="http://schemas.microsoft.com/office/drawing/2014/main" id="{5AE6576C-E5AB-EE3A-C3A3-34AE0EF966F5}"/>
              </a:ext>
            </a:extLst>
          </p:cNvPr>
          <p:cNvSpPr txBox="1"/>
          <p:nvPr/>
        </p:nvSpPr>
        <p:spPr>
          <a:xfrm>
            <a:off x="441509" y="2590801"/>
            <a:ext cx="11725910" cy="2939415"/>
          </a:xfrm>
          <a:prstGeom prst="rect">
            <a:avLst/>
          </a:prstGeom>
        </p:spPr>
        <p:txBody>
          <a:bodyPr vert="horz" wrap="square" lIns="0" tIns="51435" rIns="0" bIns="0" rtlCol="0">
            <a:normAutofit/>
          </a:bodyPr>
          <a:lstStyle/>
          <a:p>
            <a:pPr marL="240029" marR="5080" indent="-227965">
              <a:lnSpc>
                <a:spcPct val="110000"/>
              </a:lnSpc>
              <a:spcBef>
                <a:spcPts val="0"/>
              </a:spcBef>
              <a:spcAft>
                <a:spcPts val="600"/>
              </a:spcAft>
              <a:buFont typeface="Arial MT"/>
              <a:buChar char="•"/>
              <a:tabLst>
                <a:tab pos="241300" algn="l"/>
              </a:tabLst>
            </a:pPr>
            <a:r>
              <a:rPr sz="2000" b="1" dirty="0">
                <a:latin typeface="Calibri"/>
                <a:cs typeface="Calibri"/>
              </a:rPr>
              <a:t>The enum can be defined within or outside the class because it is similar to a class.</a:t>
            </a:r>
          </a:p>
          <a:p>
            <a:pPr marL="240029" indent="-227329">
              <a:buFont typeface="Arial MT"/>
              <a:buChar char="•"/>
              <a:tabLst>
                <a:tab pos="240029" algn="l"/>
              </a:tabLst>
            </a:pPr>
            <a:r>
              <a:rPr sz="1600" b="1" dirty="0">
                <a:latin typeface="Courier New"/>
                <a:cs typeface="Courier New"/>
              </a:rPr>
              <a:t>The semicolon (;) at the end of the enum constants are optional.</a:t>
            </a:r>
          </a:p>
          <a:p>
            <a:pPr marL="240665" indent="-227965">
              <a:lnSpc>
                <a:spcPct val="110000"/>
              </a:lnSpc>
              <a:spcBef>
                <a:spcPts val="0"/>
              </a:spcBef>
              <a:spcAft>
                <a:spcPts val="600"/>
              </a:spcAft>
              <a:buFont typeface="Arial MT"/>
              <a:buChar char="•"/>
              <a:tabLst>
                <a:tab pos="240665" algn="l"/>
              </a:tabLst>
            </a:pPr>
            <a:r>
              <a:rPr sz="2000" b="1" dirty="0">
                <a:latin typeface="Calibri"/>
                <a:cs typeface="Calibri"/>
              </a:rPr>
              <a:t>For example:</a:t>
            </a:r>
          </a:p>
          <a:p>
            <a:pPr marL="561340"/>
            <a:r>
              <a:rPr sz="1600" b="1" dirty="0" err="1">
                <a:latin typeface="Courier New"/>
                <a:cs typeface="Courier New"/>
              </a:rPr>
              <a:t>enum</a:t>
            </a:r>
            <a:r>
              <a:rPr sz="1600" b="1" dirty="0">
                <a:latin typeface="Courier New"/>
                <a:cs typeface="Courier New"/>
              </a:rPr>
              <a:t> Colors { RED,GREEN,BLUE,BLACK,YELLOW,PURPLE }</a:t>
            </a:r>
          </a:p>
          <a:p>
            <a:pPr marL="518795"/>
            <a:r>
              <a:rPr lang="en-US" sz="1600" b="1" dirty="0" err="1">
                <a:latin typeface="Courier New"/>
                <a:cs typeface="Courier New"/>
              </a:rPr>
              <a:t>enum</a:t>
            </a:r>
            <a:r>
              <a:rPr lang="en-US" sz="1600" b="1" dirty="0">
                <a:latin typeface="Courier New"/>
                <a:cs typeface="Courier New"/>
              </a:rPr>
              <a:t> Day {</a:t>
            </a:r>
          </a:p>
          <a:p>
            <a:pPr marL="518795"/>
            <a:r>
              <a:rPr lang="en-US" sz="1600" b="1" dirty="0">
                <a:latin typeface="Courier New"/>
                <a:cs typeface="Courier New"/>
              </a:rPr>
              <a:t>    MONDAY, TUESDAY, WEDNESDAY, THURSDAY,</a:t>
            </a:r>
          </a:p>
          <a:p>
            <a:pPr marL="518795"/>
            <a:r>
              <a:rPr lang="en-US" sz="1600" b="1" dirty="0">
                <a:latin typeface="Courier New"/>
                <a:cs typeface="Courier New"/>
              </a:rPr>
              <a:t>    FRIDAY, SATURDAY, SUNDAY</a:t>
            </a:r>
          </a:p>
          <a:p>
            <a:pPr marL="518795"/>
            <a:r>
              <a:rPr lang="en-US" sz="1600" b="1" dirty="0">
                <a:latin typeface="Courier New"/>
                <a:cs typeface="Courier New"/>
              </a:rPr>
              <a:t>}</a:t>
            </a:r>
            <a:endParaRPr sz="1600" b="1" dirty="0">
              <a:latin typeface="Courier New"/>
              <a:cs typeface="Courier New"/>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CE1E515-5CE1-CE85-324E-7109746E280B}"/>
              </a:ext>
            </a:extLst>
          </p:cNvPr>
          <p:cNvSpPr txBox="1"/>
          <p:nvPr/>
        </p:nvSpPr>
        <p:spPr>
          <a:xfrm>
            <a:off x="685800" y="609600"/>
            <a:ext cx="9829800" cy="5355312"/>
          </a:xfrm>
          <a:prstGeom prst="rect">
            <a:avLst/>
          </a:prstGeom>
          <a:noFill/>
        </p:spPr>
        <p:txBody>
          <a:bodyPr wrap="square">
            <a:spAutoFit/>
          </a:bodyPr>
          <a:lstStyle/>
          <a:p>
            <a:pPr marL="342900" lvl="0" indent="-34290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Day:</a:t>
            </a:r>
            <a:r>
              <a:rPr lang="en-IN" dirty="0">
                <a:latin typeface="Calibri" panose="020F0502020204030204" pitchFamily="34" charset="0"/>
                <a:ea typeface="Calibri" panose="020F0502020204030204" pitchFamily="34" charset="0"/>
                <a:cs typeface="Calibri" panose="020F0502020204030204" pitchFamily="34" charset="0"/>
              </a:rPr>
              <a:t> MONDAY, TUESDAY, WEDNESDAY, THURSDAY, FRIDAY, SATURDAY, SUNDAY</a:t>
            </a:r>
          </a:p>
          <a:p>
            <a:pPr marL="342900" lvl="0" indent="-34290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Month:</a:t>
            </a:r>
            <a:r>
              <a:rPr lang="en-IN" dirty="0">
                <a:latin typeface="Calibri" panose="020F0502020204030204" pitchFamily="34" charset="0"/>
                <a:ea typeface="Calibri" panose="020F0502020204030204" pitchFamily="34" charset="0"/>
                <a:cs typeface="Calibri" panose="020F0502020204030204" pitchFamily="34" charset="0"/>
              </a:rPr>
              <a:t> JANUARY, FEBRUARY, MARCH, APRIL, MAY, JUNE, JULY, AUGUST, SEPTEMBER, OCTOBER, NOVEMBER, DECEMBER</a:t>
            </a:r>
          </a:p>
          <a:p>
            <a:pPr marL="342900" lvl="0" indent="-34290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Direction:</a:t>
            </a:r>
            <a:r>
              <a:rPr lang="en-IN" dirty="0">
                <a:latin typeface="Calibri" panose="020F0502020204030204" pitchFamily="34" charset="0"/>
                <a:ea typeface="Calibri" panose="020F0502020204030204" pitchFamily="34" charset="0"/>
                <a:cs typeface="Calibri" panose="020F0502020204030204" pitchFamily="34" charset="0"/>
              </a:rPr>
              <a:t> NORTH, SOUTH, EAST, WEST</a:t>
            </a:r>
          </a:p>
          <a:p>
            <a:pPr marL="342900" lvl="0" indent="-342900">
              <a:buFont typeface="Arial" panose="020B0604020202020204" pitchFamily="34" charset="0"/>
              <a:buChar char="•"/>
            </a:pPr>
            <a:r>
              <a:rPr lang="en-IN" b="1" dirty="0" err="1">
                <a:latin typeface="Calibri" panose="020F0502020204030204" pitchFamily="34" charset="0"/>
                <a:ea typeface="Calibri" panose="020F0502020204030204" pitchFamily="34" charset="0"/>
                <a:cs typeface="Calibri" panose="020F0502020204030204" pitchFamily="34" charset="0"/>
              </a:rPr>
              <a:t>TrafficLight</a:t>
            </a:r>
            <a:r>
              <a:rPr lang="en-IN" b="1" dirty="0">
                <a:latin typeface="Calibri" panose="020F0502020204030204" pitchFamily="34" charset="0"/>
                <a:ea typeface="Calibri" panose="020F0502020204030204" pitchFamily="34" charset="0"/>
                <a:cs typeface="Calibri" panose="020F0502020204030204" pitchFamily="34" charset="0"/>
              </a:rPr>
              <a:t>:</a:t>
            </a:r>
            <a:r>
              <a:rPr lang="en-IN" dirty="0">
                <a:latin typeface="Calibri" panose="020F0502020204030204" pitchFamily="34" charset="0"/>
                <a:ea typeface="Calibri" panose="020F0502020204030204" pitchFamily="34" charset="0"/>
                <a:cs typeface="Calibri" panose="020F0502020204030204" pitchFamily="34" charset="0"/>
              </a:rPr>
              <a:t> RED, YELLOW, GREEN</a:t>
            </a:r>
          </a:p>
          <a:p>
            <a:pPr marL="342900" lvl="0" indent="-34290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Season:</a:t>
            </a:r>
            <a:r>
              <a:rPr lang="en-IN" dirty="0">
                <a:latin typeface="Calibri" panose="020F0502020204030204" pitchFamily="34" charset="0"/>
                <a:ea typeface="Calibri" panose="020F0502020204030204" pitchFamily="34" charset="0"/>
                <a:cs typeface="Calibri" panose="020F0502020204030204" pitchFamily="34" charset="0"/>
              </a:rPr>
              <a:t> SPRING, SUMMER, AUTUMN, WINTER</a:t>
            </a:r>
          </a:p>
          <a:p>
            <a:pPr marL="342900" lvl="0" indent="-342900">
              <a:buFont typeface="Arial" panose="020B0604020202020204" pitchFamily="34" charset="0"/>
              <a:buChar char="•"/>
            </a:pPr>
            <a:r>
              <a:rPr lang="en-IN" b="1" dirty="0" err="1">
                <a:latin typeface="Calibri" panose="020F0502020204030204" pitchFamily="34" charset="0"/>
                <a:ea typeface="Calibri" panose="020F0502020204030204" pitchFamily="34" charset="0"/>
                <a:cs typeface="Calibri" panose="020F0502020204030204" pitchFamily="34" charset="0"/>
              </a:rPr>
              <a:t>OrderStatus</a:t>
            </a:r>
            <a:r>
              <a:rPr lang="en-IN" b="1" dirty="0">
                <a:latin typeface="Calibri" panose="020F0502020204030204" pitchFamily="34" charset="0"/>
                <a:ea typeface="Calibri" panose="020F0502020204030204" pitchFamily="34" charset="0"/>
                <a:cs typeface="Calibri" panose="020F0502020204030204" pitchFamily="34" charset="0"/>
              </a:rPr>
              <a:t>:</a:t>
            </a:r>
            <a:r>
              <a:rPr lang="en-IN" dirty="0">
                <a:latin typeface="Calibri" panose="020F0502020204030204" pitchFamily="34" charset="0"/>
                <a:ea typeface="Calibri" panose="020F0502020204030204" pitchFamily="34" charset="0"/>
                <a:cs typeface="Calibri" panose="020F0502020204030204" pitchFamily="34" charset="0"/>
              </a:rPr>
              <a:t> NEW, CONFIRMED, PROCESSING, SHIPPED, DELIVERED, CANCELLED</a:t>
            </a:r>
          </a:p>
          <a:p>
            <a:pPr marL="342900" lvl="0" indent="-342900">
              <a:buFont typeface="Arial" panose="020B0604020202020204" pitchFamily="34" charset="0"/>
              <a:buChar char="•"/>
            </a:pPr>
            <a:r>
              <a:rPr lang="en-IN" b="1" dirty="0" err="1">
                <a:latin typeface="Calibri" panose="020F0502020204030204" pitchFamily="34" charset="0"/>
                <a:ea typeface="Calibri" panose="020F0502020204030204" pitchFamily="34" charset="0"/>
                <a:cs typeface="Calibri" panose="020F0502020204030204" pitchFamily="34" charset="0"/>
              </a:rPr>
              <a:t>PaymentStatus</a:t>
            </a:r>
            <a:r>
              <a:rPr lang="en-IN" b="1" dirty="0">
                <a:latin typeface="Calibri" panose="020F0502020204030204" pitchFamily="34" charset="0"/>
                <a:ea typeface="Calibri" panose="020F0502020204030204" pitchFamily="34" charset="0"/>
                <a:cs typeface="Calibri" panose="020F0502020204030204" pitchFamily="34" charset="0"/>
              </a:rPr>
              <a:t>:</a:t>
            </a:r>
            <a:r>
              <a:rPr lang="en-IN" dirty="0">
                <a:latin typeface="Calibri" panose="020F0502020204030204" pitchFamily="34" charset="0"/>
                <a:ea typeface="Calibri" panose="020F0502020204030204" pitchFamily="34" charset="0"/>
                <a:cs typeface="Calibri" panose="020F0502020204030204" pitchFamily="34" charset="0"/>
              </a:rPr>
              <a:t> PENDING, COMPLETED, FAILED, REFUNDED</a:t>
            </a:r>
          </a:p>
          <a:p>
            <a:pPr marL="342900" lvl="0" indent="-342900">
              <a:buFont typeface="Arial" panose="020B0604020202020204" pitchFamily="34" charset="0"/>
              <a:buChar char="•"/>
            </a:pPr>
            <a:r>
              <a:rPr lang="en-IN" b="1" dirty="0" err="1">
                <a:latin typeface="Calibri" panose="020F0502020204030204" pitchFamily="34" charset="0"/>
                <a:ea typeface="Calibri" panose="020F0502020204030204" pitchFamily="34" charset="0"/>
                <a:cs typeface="Calibri" panose="020F0502020204030204" pitchFamily="34" charset="0"/>
              </a:rPr>
              <a:t>TicketStatus</a:t>
            </a:r>
            <a:r>
              <a:rPr lang="en-IN" b="1" dirty="0">
                <a:latin typeface="Calibri" panose="020F0502020204030204" pitchFamily="34" charset="0"/>
                <a:ea typeface="Calibri" panose="020F0502020204030204" pitchFamily="34" charset="0"/>
                <a:cs typeface="Calibri" panose="020F0502020204030204" pitchFamily="34" charset="0"/>
              </a:rPr>
              <a:t>:</a:t>
            </a:r>
            <a:r>
              <a:rPr lang="en-IN" dirty="0">
                <a:latin typeface="Calibri" panose="020F0502020204030204" pitchFamily="34" charset="0"/>
                <a:ea typeface="Calibri" panose="020F0502020204030204" pitchFamily="34" charset="0"/>
                <a:cs typeface="Calibri" panose="020F0502020204030204" pitchFamily="34" charset="0"/>
              </a:rPr>
              <a:t> OPEN, IN_PROGRESS, RESOLVED, CLOSED</a:t>
            </a:r>
          </a:p>
          <a:p>
            <a:pPr marL="342900" lvl="0" indent="-34290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Priority:</a:t>
            </a:r>
            <a:r>
              <a:rPr lang="en-IN" dirty="0">
                <a:latin typeface="Calibri" panose="020F0502020204030204" pitchFamily="34" charset="0"/>
                <a:ea typeface="Calibri" panose="020F0502020204030204" pitchFamily="34" charset="0"/>
                <a:cs typeface="Calibri" panose="020F0502020204030204" pitchFamily="34" charset="0"/>
              </a:rPr>
              <a:t> LOW, MEDIUM, HIGH, CRITICAL</a:t>
            </a:r>
          </a:p>
          <a:p>
            <a:pPr marL="342900" lvl="0" indent="-342900">
              <a:buFont typeface="Arial" panose="020B0604020202020204" pitchFamily="34" charset="0"/>
              <a:buChar char="•"/>
            </a:pPr>
            <a:r>
              <a:rPr lang="en-IN" b="1" dirty="0" err="1">
                <a:latin typeface="Calibri" panose="020F0502020204030204" pitchFamily="34" charset="0"/>
                <a:ea typeface="Calibri" panose="020F0502020204030204" pitchFamily="34" charset="0"/>
                <a:cs typeface="Calibri" panose="020F0502020204030204" pitchFamily="34" charset="0"/>
              </a:rPr>
              <a:t>UserRole</a:t>
            </a:r>
            <a:r>
              <a:rPr lang="en-IN" b="1" dirty="0">
                <a:latin typeface="Calibri" panose="020F0502020204030204" pitchFamily="34" charset="0"/>
                <a:ea typeface="Calibri" panose="020F0502020204030204" pitchFamily="34" charset="0"/>
                <a:cs typeface="Calibri" panose="020F0502020204030204" pitchFamily="34" charset="0"/>
              </a:rPr>
              <a:t>:</a:t>
            </a:r>
            <a:r>
              <a:rPr lang="en-IN" dirty="0">
                <a:latin typeface="Calibri" panose="020F0502020204030204" pitchFamily="34" charset="0"/>
                <a:ea typeface="Calibri" panose="020F0502020204030204" pitchFamily="34" charset="0"/>
                <a:cs typeface="Calibri" panose="020F0502020204030204" pitchFamily="34" charset="0"/>
              </a:rPr>
              <a:t> ADMIN, MANAGER, TEACHER, STUDENT, GUEST</a:t>
            </a:r>
          </a:p>
          <a:p>
            <a:pPr marL="342900" lvl="0" indent="-342900">
              <a:buFont typeface="Arial" panose="020B0604020202020204" pitchFamily="34" charset="0"/>
              <a:buChar char="•"/>
            </a:pPr>
            <a:r>
              <a:rPr lang="en-IN" b="1" dirty="0" err="1">
                <a:latin typeface="Calibri" panose="020F0502020204030204" pitchFamily="34" charset="0"/>
                <a:ea typeface="Calibri" panose="020F0502020204030204" pitchFamily="34" charset="0"/>
                <a:cs typeface="Calibri" panose="020F0502020204030204" pitchFamily="34" charset="0"/>
              </a:rPr>
              <a:t>FileType</a:t>
            </a:r>
            <a:r>
              <a:rPr lang="en-IN" b="1" dirty="0">
                <a:latin typeface="Calibri" panose="020F0502020204030204" pitchFamily="34" charset="0"/>
                <a:ea typeface="Calibri" panose="020F0502020204030204" pitchFamily="34" charset="0"/>
                <a:cs typeface="Calibri" panose="020F0502020204030204" pitchFamily="34" charset="0"/>
              </a:rPr>
              <a:t>:</a:t>
            </a:r>
            <a:r>
              <a:rPr lang="en-IN" dirty="0">
                <a:latin typeface="Calibri" panose="020F0502020204030204" pitchFamily="34" charset="0"/>
                <a:ea typeface="Calibri" panose="020F0502020204030204" pitchFamily="34" charset="0"/>
                <a:cs typeface="Calibri" panose="020F0502020204030204" pitchFamily="34" charset="0"/>
              </a:rPr>
              <a:t> TXT, PDF, DOCX, JPG, PNG</a:t>
            </a:r>
          </a:p>
          <a:p>
            <a:pPr marL="342900" lvl="0" indent="-34290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Grade:</a:t>
            </a:r>
            <a:r>
              <a:rPr lang="en-IN" dirty="0">
                <a:latin typeface="Calibri" panose="020F0502020204030204" pitchFamily="34" charset="0"/>
                <a:ea typeface="Calibri" panose="020F0502020204030204" pitchFamily="34" charset="0"/>
                <a:cs typeface="Calibri" panose="020F0502020204030204" pitchFamily="34" charset="0"/>
              </a:rPr>
              <a:t> A, B, C, D, F</a:t>
            </a:r>
          </a:p>
          <a:p>
            <a:pPr marL="342900" lvl="0" indent="-34290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Size:</a:t>
            </a:r>
            <a:r>
              <a:rPr lang="en-IN" dirty="0">
                <a:latin typeface="Calibri" panose="020F0502020204030204" pitchFamily="34" charset="0"/>
                <a:ea typeface="Calibri" panose="020F0502020204030204" pitchFamily="34" charset="0"/>
                <a:cs typeface="Calibri" panose="020F0502020204030204" pitchFamily="34" charset="0"/>
              </a:rPr>
              <a:t> SMALL, MEDIUM, LARGE, EXTRA_LARGE</a:t>
            </a:r>
          </a:p>
          <a:p>
            <a:pPr marL="342900" lvl="0" indent="-34290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Operation:</a:t>
            </a:r>
            <a:r>
              <a:rPr lang="en-IN" dirty="0">
                <a:latin typeface="Calibri" panose="020F0502020204030204" pitchFamily="34" charset="0"/>
                <a:ea typeface="Calibri" panose="020F0502020204030204" pitchFamily="34" charset="0"/>
                <a:cs typeface="Calibri" panose="020F0502020204030204" pitchFamily="34" charset="0"/>
              </a:rPr>
              <a:t> ADD, SUBTRACT, MULTIPLY, DIVIDE</a:t>
            </a:r>
          </a:p>
          <a:p>
            <a:pPr marL="342900" lvl="0" indent="-342900">
              <a:buFont typeface="Arial" panose="020B0604020202020204" pitchFamily="34" charset="0"/>
              <a:buChar char="•"/>
            </a:pPr>
            <a:r>
              <a:rPr lang="en-IN" b="1" dirty="0" err="1">
                <a:latin typeface="Calibri" panose="020F0502020204030204" pitchFamily="34" charset="0"/>
                <a:ea typeface="Calibri" panose="020F0502020204030204" pitchFamily="34" charset="0"/>
                <a:cs typeface="Calibri" panose="020F0502020204030204" pitchFamily="34" charset="0"/>
              </a:rPr>
              <a:t>CardSuit</a:t>
            </a:r>
            <a:r>
              <a:rPr lang="en-IN" b="1" dirty="0">
                <a:latin typeface="Calibri" panose="020F0502020204030204" pitchFamily="34" charset="0"/>
                <a:ea typeface="Calibri" panose="020F0502020204030204" pitchFamily="34" charset="0"/>
                <a:cs typeface="Calibri" panose="020F0502020204030204" pitchFamily="34" charset="0"/>
              </a:rPr>
              <a:t>:</a:t>
            </a:r>
            <a:r>
              <a:rPr lang="en-IN" dirty="0">
                <a:latin typeface="Calibri" panose="020F0502020204030204" pitchFamily="34" charset="0"/>
                <a:ea typeface="Calibri" panose="020F0502020204030204" pitchFamily="34" charset="0"/>
                <a:cs typeface="Calibri" panose="020F0502020204030204" pitchFamily="34" charset="0"/>
              </a:rPr>
              <a:t> HEARTS, DIAMONDS, CLUBS, SPADES</a:t>
            </a:r>
          </a:p>
          <a:p>
            <a:pPr marL="342900" lvl="0" indent="-34290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Planet:</a:t>
            </a:r>
            <a:r>
              <a:rPr lang="en-IN" dirty="0">
                <a:latin typeface="Calibri" panose="020F0502020204030204" pitchFamily="34" charset="0"/>
                <a:ea typeface="Calibri" panose="020F0502020204030204" pitchFamily="34" charset="0"/>
                <a:cs typeface="Calibri" panose="020F0502020204030204" pitchFamily="34" charset="0"/>
              </a:rPr>
              <a:t> MERCURY, VENUS, EARTH, MARS, JUPITER, SATURN, URANUS, NEPTUNE</a:t>
            </a:r>
          </a:p>
          <a:p>
            <a:pPr marL="342900" lvl="0" indent="-342900">
              <a:buFont typeface="Arial" panose="020B0604020202020204" pitchFamily="34" charset="0"/>
              <a:buChar char="•"/>
            </a:pPr>
            <a:r>
              <a:rPr lang="en-IN" b="1" dirty="0" err="1">
                <a:latin typeface="Calibri" panose="020F0502020204030204" pitchFamily="34" charset="0"/>
                <a:ea typeface="Calibri" panose="020F0502020204030204" pitchFamily="34" charset="0"/>
                <a:cs typeface="Calibri" panose="020F0502020204030204" pitchFamily="34" charset="0"/>
              </a:rPr>
              <a:t>ConnectionState</a:t>
            </a:r>
            <a:r>
              <a:rPr lang="en-IN" b="1" dirty="0">
                <a:latin typeface="Calibri" panose="020F0502020204030204" pitchFamily="34" charset="0"/>
                <a:ea typeface="Calibri" panose="020F0502020204030204" pitchFamily="34" charset="0"/>
                <a:cs typeface="Calibri" panose="020F0502020204030204" pitchFamily="34" charset="0"/>
              </a:rPr>
              <a:t>:</a:t>
            </a:r>
            <a:r>
              <a:rPr lang="en-IN" dirty="0">
                <a:latin typeface="Calibri" panose="020F0502020204030204" pitchFamily="34" charset="0"/>
                <a:ea typeface="Calibri" panose="020F0502020204030204" pitchFamily="34" charset="0"/>
                <a:cs typeface="Calibri" panose="020F0502020204030204" pitchFamily="34" charset="0"/>
              </a:rPr>
              <a:t> CONNECTED, DISCONNECTED, CONNECTING, FAILED</a:t>
            </a:r>
          </a:p>
          <a:p>
            <a:pPr marL="342900" lvl="0" indent="-342900">
              <a:buFont typeface="Arial" panose="020B0604020202020204" pitchFamily="34" charset="0"/>
              <a:buChar char="•"/>
            </a:pPr>
            <a:r>
              <a:rPr lang="en-IN" b="1" dirty="0" err="1">
                <a:latin typeface="Calibri" panose="020F0502020204030204" pitchFamily="34" charset="0"/>
                <a:ea typeface="Calibri" panose="020F0502020204030204" pitchFamily="34" charset="0"/>
                <a:cs typeface="Calibri" panose="020F0502020204030204" pitchFamily="34" charset="0"/>
              </a:rPr>
              <a:t>HttpMethod</a:t>
            </a:r>
            <a:r>
              <a:rPr lang="en-IN" b="1" dirty="0">
                <a:latin typeface="Calibri" panose="020F0502020204030204" pitchFamily="34" charset="0"/>
                <a:ea typeface="Calibri" panose="020F0502020204030204" pitchFamily="34" charset="0"/>
                <a:cs typeface="Calibri" panose="020F0502020204030204" pitchFamily="34" charset="0"/>
              </a:rPr>
              <a:t>:</a:t>
            </a:r>
            <a:r>
              <a:rPr lang="en-IN" dirty="0">
                <a:latin typeface="Calibri" panose="020F0502020204030204" pitchFamily="34" charset="0"/>
                <a:ea typeface="Calibri" panose="020F0502020204030204" pitchFamily="34" charset="0"/>
                <a:cs typeface="Calibri" panose="020F0502020204030204" pitchFamily="34" charset="0"/>
              </a:rPr>
              <a:t> GET, POST, PUT, PATCH, DELETE</a:t>
            </a:r>
          </a:p>
        </p:txBody>
      </p:sp>
      <p:sp>
        <p:nvSpPr>
          <p:cNvPr id="7" name="TextBox 6">
            <a:extLst>
              <a:ext uri="{FF2B5EF4-FFF2-40B4-BE49-F238E27FC236}">
                <a16:creationId xmlns:a16="http://schemas.microsoft.com/office/drawing/2014/main" id="{4CED6568-7D4C-6D69-9CAB-66B0B345C473}"/>
              </a:ext>
            </a:extLst>
          </p:cNvPr>
          <p:cNvSpPr txBox="1"/>
          <p:nvPr/>
        </p:nvSpPr>
        <p:spPr>
          <a:xfrm>
            <a:off x="685800" y="110961"/>
            <a:ext cx="6096000" cy="461665"/>
          </a:xfrm>
          <a:prstGeom prst="rect">
            <a:avLst/>
          </a:prstGeom>
          <a:noFill/>
        </p:spPr>
        <p:txBody>
          <a:bodyPr wrap="square">
            <a:spAutoFit/>
          </a:bodyPr>
          <a:lstStyle/>
          <a:p>
            <a:r>
              <a:rPr lang="en-IN" sz="2400" b="1" dirty="0">
                <a:solidFill>
                  <a:srgbClr val="C00000"/>
                </a:solidFill>
                <a:latin typeface="Calibri"/>
                <a:cs typeface="Calibri"/>
              </a:rPr>
              <a:t>Few More  Examples </a:t>
            </a:r>
            <a:endParaRPr lang="en-IN" sz="2400" dirty="0"/>
          </a:p>
        </p:txBody>
      </p:sp>
    </p:spTree>
    <p:extLst>
      <p:ext uri="{BB962C8B-B14F-4D97-AF65-F5344CB8AC3E}">
        <p14:creationId xmlns:p14="http://schemas.microsoft.com/office/powerpoint/2010/main" val="362182453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683504" y="710564"/>
            <a:ext cx="8938776" cy="5004435"/>
          </a:xfrm>
          <a:prstGeom prst="rect">
            <a:avLst/>
          </a:prstGeom>
        </p:spPr>
        <p:txBody>
          <a:bodyPr vert="horz" wrap="none" lIns="0" tIns="164465" rIns="0" bIns="0" rtlCol="0">
            <a:normAutofit/>
          </a:bodyPr>
          <a:lstStyle/>
          <a:p>
            <a:pPr marL="121920"/>
            <a:r>
              <a:rPr lang="en-US" sz="1600" b="1" dirty="0" err="1">
                <a:solidFill>
                  <a:srgbClr val="001F5F"/>
                </a:solidFill>
                <a:latin typeface="Courier New"/>
                <a:cs typeface="Courier New"/>
              </a:rPr>
              <a:t>enum</a:t>
            </a:r>
            <a:r>
              <a:rPr lang="en-US" sz="1600" b="1" dirty="0">
                <a:solidFill>
                  <a:srgbClr val="001F5F"/>
                </a:solidFill>
                <a:latin typeface="Courier New"/>
                <a:cs typeface="Courier New"/>
              </a:rPr>
              <a:t> Days{ </a:t>
            </a:r>
            <a:r>
              <a:rPr lang="en-US" sz="1600" b="1" dirty="0" err="1">
                <a:solidFill>
                  <a:srgbClr val="001F5F"/>
                </a:solidFill>
                <a:latin typeface="Courier New"/>
                <a:cs typeface="Courier New"/>
              </a:rPr>
              <a:t>Sunday,Monday,Tuesday,Wdnesday,Thursday,Friday,Saturday</a:t>
            </a:r>
            <a:r>
              <a:rPr lang="en-US" sz="1600" b="1" dirty="0">
                <a:solidFill>
                  <a:srgbClr val="001F5F"/>
                </a:solidFill>
                <a:latin typeface="Courier New"/>
                <a:cs typeface="Courier New"/>
              </a:rPr>
              <a:t>} </a:t>
            </a:r>
            <a:br>
              <a:rPr lang="en-US" sz="1600" b="1" dirty="0">
                <a:solidFill>
                  <a:srgbClr val="001F5F"/>
                </a:solidFill>
                <a:latin typeface="Courier New"/>
                <a:cs typeface="Courier New"/>
              </a:rPr>
            </a:br>
            <a:r>
              <a:rPr lang="en-US" sz="1600" b="1" dirty="0">
                <a:solidFill>
                  <a:srgbClr val="001F5F"/>
                </a:solidFill>
                <a:latin typeface="Courier New"/>
                <a:cs typeface="Courier New"/>
              </a:rPr>
              <a:t>class </a:t>
            </a:r>
            <a:r>
              <a:rPr lang="en-US" sz="1600" b="1" dirty="0" err="1">
                <a:solidFill>
                  <a:srgbClr val="001F5F"/>
                </a:solidFill>
                <a:latin typeface="Courier New"/>
                <a:cs typeface="Courier New"/>
              </a:rPr>
              <a:t>EnumExample</a:t>
            </a:r>
            <a:endParaRPr lang="en-IN" sz="1600" b="1" dirty="0">
              <a:solidFill>
                <a:srgbClr val="001F5F"/>
              </a:solidFill>
              <a:latin typeface="Courier New"/>
              <a:cs typeface="Courier New"/>
            </a:endParaRPr>
          </a:p>
          <a:p>
            <a:pPr marL="121920"/>
            <a:r>
              <a:rPr sz="1600" b="1" dirty="0">
                <a:solidFill>
                  <a:srgbClr val="001F5F"/>
                </a:solidFill>
                <a:latin typeface="Courier New"/>
                <a:cs typeface="Courier New"/>
              </a:rPr>
              <a:t>{</a:t>
            </a:r>
          </a:p>
          <a:p>
            <a:pPr marL="451484"/>
            <a:r>
              <a:rPr sz="1600" b="1" dirty="0">
                <a:solidFill>
                  <a:srgbClr val="001F5F"/>
                </a:solidFill>
                <a:latin typeface="Courier New"/>
                <a:cs typeface="Courier New"/>
              </a:rPr>
              <a:t>public static void main(String args[])</a:t>
            </a:r>
          </a:p>
          <a:p>
            <a:pPr marL="121920"/>
            <a:r>
              <a:rPr sz="1600" b="1" dirty="0">
                <a:solidFill>
                  <a:srgbClr val="001F5F"/>
                </a:solidFill>
                <a:latin typeface="Courier New"/>
                <a:cs typeface="Courier New"/>
              </a:rPr>
              <a:t>{</a:t>
            </a:r>
          </a:p>
          <a:p>
            <a:pPr marL="890269"/>
            <a:r>
              <a:rPr sz="1600" b="1" dirty="0">
                <a:solidFill>
                  <a:srgbClr val="001F5F"/>
                </a:solidFill>
                <a:latin typeface="Courier New"/>
                <a:cs typeface="Courier New"/>
              </a:rPr>
              <a:t>Days a[] = Days.values(); </a:t>
            </a:r>
            <a:r>
              <a:rPr sz="1600" b="1" dirty="0">
                <a:solidFill>
                  <a:srgbClr val="2E7D32"/>
                </a:solidFill>
                <a:latin typeface="Courier New"/>
                <a:cs typeface="Courier New"/>
              </a:rPr>
              <a:t>//</a:t>
            </a:r>
            <a:r>
              <a:rPr sz="1600" b="1" dirty="0">
                <a:solidFill>
                  <a:srgbClr val="001F5F"/>
                </a:solidFill>
                <a:latin typeface="Courier New"/>
                <a:cs typeface="Courier New"/>
              </a:rPr>
              <a:t> get all enum constants</a:t>
            </a:r>
          </a:p>
          <a:p>
            <a:pPr>
              <a:lnSpc>
                <a:spcPct val="110000"/>
              </a:lnSpc>
              <a:spcBef>
                <a:spcPts val="0"/>
              </a:spcBef>
              <a:spcAft>
                <a:spcPts val="600"/>
              </a:spcAft>
            </a:pPr>
            <a:endParaRPr sz="2000" b="1" dirty="0">
              <a:solidFill>
                <a:srgbClr val="001F5F"/>
              </a:solidFill>
              <a:latin typeface="Calibri"/>
              <a:cs typeface="Calibri"/>
            </a:endParaRPr>
          </a:p>
          <a:p>
            <a:pPr marL="890269"/>
            <a:r>
              <a:rPr sz="1600" b="1" dirty="0">
                <a:solidFill>
                  <a:srgbClr val="001F5F"/>
                </a:solidFill>
                <a:latin typeface="Courier New"/>
                <a:cs typeface="Courier New"/>
              </a:rPr>
              <a:t>for (int i = 0; i &lt;a.length; i++)</a:t>
            </a:r>
          </a:p>
          <a:p>
            <a:pPr marL="12700"/>
            <a:r>
              <a:rPr sz="1600" b="1" dirty="0">
                <a:solidFill>
                  <a:srgbClr val="001F5F"/>
                </a:solidFill>
                <a:latin typeface="Courier New"/>
                <a:cs typeface="Courier New"/>
              </a:rPr>
              <a:t>{</a:t>
            </a:r>
          </a:p>
          <a:p>
            <a:pPr marL="1326515"/>
            <a:r>
              <a:rPr sz="1600" b="1" dirty="0">
                <a:solidFill>
                  <a:srgbClr val="001F5F"/>
                </a:solidFill>
                <a:latin typeface="Courier New"/>
                <a:cs typeface="Courier New"/>
              </a:rPr>
              <a:t>System.out.println(a[i]);</a:t>
            </a:r>
          </a:p>
          <a:p>
            <a:pPr marL="890269"/>
            <a:r>
              <a:rPr sz="1600" b="1" dirty="0">
                <a:solidFill>
                  <a:srgbClr val="001F5F"/>
                </a:solidFill>
                <a:latin typeface="Courier New"/>
                <a:cs typeface="Courier New"/>
              </a:rPr>
              <a:t>}</a:t>
            </a:r>
          </a:p>
          <a:p>
            <a:pPr marL="451484"/>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pic>
        <p:nvPicPr>
          <p:cNvPr id="5" name="object 5"/>
          <p:cNvPicPr/>
          <p:nvPr/>
        </p:nvPicPr>
        <p:blipFill>
          <a:blip r:embed="rId2" cstate="print"/>
          <a:stretch>
            <a:fillRect/>
          </a:stretch>
        </p:blipFill>
        <p:spPr>
          <a:xfrm>
            <a:off x="6858000" y="4114800"/>
            <a:ext cx="4398264" cy="2200656"/>
          </a:xfrm>
          <a:prstGeom prst="rect">
            <a:avLst/>
          </a:prstGeom>
        </p:spPr>
      </p:pic>
      <p:sp>
        <p:nvSpPr>
          <p:cNvPr id="6" name="object 6"/>
          <p:cNvSpPr txBox="1"/>
          <p:nvPr/>
        </p:nvSpPr>
        <p:spPr>
          <a:xfrm>
            <a:off x="1712722" y="8076"/>
            <a:ext cx="2291715" cy="300355"/>
          </a:xfrm>
          <a:prstGeom prst="rect">
            <a:avLst/>
          </a:prstGeom>
        </p:spPr>
        <p:txBody>
          <a:bodyPr vert="horz" wrap="square" lIns="0" tIns="12700" rIns="0" bIns="0" rtlCol="0">
            <a:normAutofit fontScale="92500" lnSpcReduction="20000"/>
          </a:bodyPr>
          <a:lstStyle/>
          <a:p>
            <a:pPr marL="12700">
              <a:lnSpc>
                <a:spcPct val="110000"/>
              </a:lnSpc>
              <a:spcBef>
                <a:spcPts val="0"/>
              </a:spcBef>
              <a:spcAft>
                <a:spcPts val="600"/>
              </a:spcAft>
            </a:pPr>
            <a:r>
              <a:rPr sz="2000" b="1" dirty="0">
                <a:solidFill>
                  <a:srgbClr val="C00000"/>
                </a:solidFill>
                <a:latin typeface="Calibri"/>
                <a:cs typeface="Calibri"/>
              </a:rPr>
              <a:t>Java Enum Example:</a:t>
            </a:r>
            <a:endParaRPr sz="2000">
              <a:solidFill>
                <a:srgbClr val="001F5F"/>
              </a:solidFill>
              <a:latin typeface="Calibri"/>
              <a:cs typeface="Calibri"/>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10800000" cy="640080"/>
          </a:xfrm>
          <a:prstGeom prst="rect">
            <a:avLst/>
          </a:prstGeom>
        </p:spPr>
        <p:txBody>
          <a:bodyPr vert="horz" wrap="square" rtlCol="0" anchor="ctr"/>
          <a:lstStyle/>
          <a:p>
            <a:pPr marL="12700" algn="l">
              <a:lnSpc>
                <a:spcPct val="100000"/>
              </a:lnSpc>
              <a:spcBef>
                <a:spcPts val="90"/>
              </a:spcBef>
            </a:pPr>
            <a:r>
              <a:rPr sz="2800" b="1" dirty="0">
                <a:solidFill>
                  <a:srgbClr val="001F5F"/>
                </a:solidFill>
                <a:latin typeface="Calibri"/>
                <a:cs typeface="Calibri"/>
              </a:rPr>
              <a:t>Java Enum Example:</a:t>
            </a:r>
            <a:endParaRPr sz="2800" b="1">
              <a:solidFill>
                <a:srgbClr val="001F5F"/>
              </a:solidFill>
              <a:latin typeface="Calibri"/>
              <a:cs typeface="Calibri"/>
            </a:endParaRPr>
          </a:p>
        </p:txBody>
      </p:sp>
      <p:sp>
        <p:nvSpPr>
          <p:cNvPr id="3" name="object 3"/>
          <p:cNvSpPr txBox="1"/>
          <p:nvPr/>
        </p:nvSpPr>
        <p:spPr>
          <a:xfrm>
            <a:off x="6188332" y="5098805"/>
            <a:ext cx="109855" cy="353060"/>
          </a:xfrm>
          <a:prstGeom prst="rect">
            <a:avLst/>
          </a:prstGeom>
        </p:spPr>
        <p:txBody>
          <a:bodyPr vert="horz" wrap="none" lIns="0" tIns="24765" rIns="0" bIns="0" rtlCol="0">
            <a:normAutofit/>
          </a:bodyPr>
          <a:lstStyle/>
          <a:p>
            <a:r>
              <a:rPr sz="1600" dirty="0">
                <a:solidFill>
                  <a:srgbClr val="001F5F"/>
                </a:solidFill>
                <a:latin typeface="Courier New"/>
                <a:cs typeface="Courier New"/>
              </a:rPr>
              <a:t>;</a:t>
            </a:r>
            <a:endParaRPr sz="1600">
              <a:solidFill>
                <a:srgbClr val="001F5F"/>
              </a:solidFill>
              <a:latin typeface="Courier New"/>
              <a:cs typeface="Courier New"/>
            </a:endParaRPr>
          </a:p>
        </p:txBody>
      </p:sp>
      <p:sp>
        <p:nvSpPr>
          <p:cNvPr id="4" name="object 4"/>
          <p:cNvSpPr txBox="1"/>
          <p:nvPr/>
        </p:nvSpPr>
        <p:spPr>
          <a:xfrm>
            <a:off x="2008758" y="1081977"/>
            <a:ext cx="7529195" cy="5158740"/>
          </a:xfrm>
          <a:prstGeom prst="rect">
            <a:avLst/>
          </a:prstGeom>
        </p:spPr>
        <p:txBody>
          <a:bodyPr vert="horz" wrap="none" lIns="0" tIns="114300" rIns="0" bIns="0" rtlCol="0">
            <a:normAutofit/>
          </a:bodyPr>
          <a:lstStyle/>
          <a:p>
            <a:pPr marL="12700"/>
            <a:r>
              <a:rPr sz="1600" b="1" dirty="0">
                <a:solidFill>
                  <a:srgbClr val="001F5F"/>
                </a:solidFill>
                <a:latin typeface="Courier New"/>
                <a:cs typeface="Courier New"/>
              </a:rPr>
              <a:t>class EnumDemo1</a:t>
            </a:r>
          </a:p>
          <a:p>
            <a:pPr marL="121920"/>
            <a:r>
              <a:rPr sz="1600" b="1" dirty="0">
                <a:solidFill>
                  <a:srgbClr val="001F5F"/>
                </a:solidFill>
                <a:latin typeface="Courier New"/>
                <a:cs typeface="Courier New"/>
              </a:rPr>
              <a:t>{</a:t>
            </a:r>
          </a:p>
          <a:p>
            <a:pPr marL="817244"/>
            <a:r>
              <a:rPr sz="1600" b="1" dirty="0">
                <a:solidFill>
                  <a:srgbClr val="001F5F"/>
                </a:solidFill>
                <a:latin typeface="Courier New"/>
                <a:cs typeface="Courier New"/>
              </a:rPr>
              <a:t>enum Colors{ RED, BLUE, BLACK, GREEN }</a:t>
            </a:r>
          </a:p>
          <a:p>
            <a:pPr>
              <a:lnSpc>
                <a:spcPct val="110000"/>
              </a:lnSpc>
              <a:spcBef>
                <a:spcPts val="0"/>
              </a:spcBef>
              <a:spcAft>
                <a:spcPts val="600"/>
              </a:spcAft>
            </a:pPr>
            <a:endParaRPr sz="2000" b="1" dirty="0">
              <a:solidFill>
                <a:srgbClr val="001F5F"/>
              </a:solidFill>
              <a:latin typeface="Calibri"/>
              <a:cs typeface="Calibri"/>
            </a:endParaRPr>
          </a:p>
          <a:p>
            <a:pPr marL="451484"/>
            <a:r>
              <a:rPr sz="1600" b="1" dirty="0">
                <a:solidFill>
                  <a:srgbClr val="001F5F"/>
                </a:solidFill>
                <a:latin typeface="Courier New"/>
                <a:cs typeface="Courier New"/>
              </a:rPr>
              <a:t>public static void main(String args[])</a:t>
            </a:r>
          </a:p>
          <a:p>
            <a:pPr marL="121920"/>
            <a:r>
              <a:rPr sz="1600" b="1" dirty="0">
                <a:solidFill>
                  <a:srgbClr val="001F5F"/>
                </a:solidFill>
                <a:latin typeface="Courier New"/>
                <a:cs typeface="Courier New"/>
              </a:rPr>
              <a:t>{</a:t>
            </a:r>
          </a:p>
          <a:p>
            <a:pPr marL="890269"/>
            <a:r>
              <a:rPr sz="1600" b="1" dirty="0">
                <a:solidFill>
                  <a:srgbClr val="001F5F"/>
                </a:solidFill>
                <a:latin typeface="Courier New"/>
                <a:cs typeface="Courier New"/>
              </a:rPr>
              <a:t>Colors a[] = Colors.values(); </a:t>
            </a:r>
            <a:r>
              <a:rPr sz="1600" b="1" dirty="0">
                <a:solidFill>
                  <a:srgbClr val="2E7D32"/>
                </a:solidFill>
                <a:latin typeface="Courier New"/>
                <a:cs typeface="Courier New"/>
              </a:rPr>
              <a:t>//</a:t>
            </a:r>
            <a:r>
              <a:rPr sz="1600" b="1" dirty="0">
                <a:solidFill>
                  <a:srgbClr val="001F5F"/>
                </a:solidFill>
                <a:latin typeface="Courier New"/>
                <a:cs typeface="Courier New"/>
              </a:rPr>
              <a:t> get all enum constants</a:t>
            </a:r>
          </a:p>
          <a:p>
            <a:pPr>
              <a:lnSpc>
                <a:spcPct val="110000"/>
              </a:lnSpc>
              <a:spcBef>
                <a:spcPts val="0"/>
              </a:spcBef>
              <a:spcAft>
                <a:spcPts val="600"/>
              </a:spcAft>
            </a:pPr>
            <a:endParaRPr sz="2000" b="1" dirty="0">
              <a:solidFill>
                <a:srgbClr val="001F5F"/>
              </a:solidFill>
              <a:latin typeface="Calibri"/>
              <a:cs typeface="Calibri"/>
            </a:endParaRPr>
          </a:p>
          <a:p>
            <a:pPr marL="890269"/>
            <a:r>
              <a:rPr sz="1600" b="1" dirty="0">
                <a:solidFill>
                  <a:srgbClr val="001F5F"/>
                </a:solidFill>
                <a:latin typeface="Courier New"/>
                <a:cs typeface="Courier New"/>
              </a:rPr>
              <a:t>for (int i = 0; i &lt;a.length; i++)</a:t>
            </a:r>
          </a:p>
          <a:p>
            <a:pPr marL="12700"/>
            <a:r>
              <a:rPr sz="1600" b="1" dirty="0">
                <a:solidFill>
                  <a:srgbClr val="001F5F"/>
                </a:solidFill>
                <a:latin typeface="Courier New"/>
                <a:cs typeface="Courier New"/>
              </a:rPr>
              <a:t>{</a:t>
            </a:r>
          </a:p>
          <a:p>
            <a:pPr marL="1326515"/>
            <a:r>
              <a:rPr sz="1600" b="1" dirty="0">
                <a:solidFill>
                  <a:srgbClr val="001F5F"/>
                </a:solidFill>
                <a:latin typeface="Courier New"/>
                <a:cs typeface="Courier New"/>
              </a:rPr>
              <a:t>System.out.println(a[i])</a:t>
            </a:r>
          </a:p>
          <a:p>
            <a:pPr marL="890269"/>
            <a:r>
              <a:rPr sz="1600" b="1" dirty="0">
                <a:solidFill>
                  <a:srgbClr val="001F5F"/>
                </a:solidFill>
                <a:latin typeface="Courier New"/>
                <a:cs typeface="Courier New"/>
              </a:rPr>
              <a:t>}</a:t>
            </a:r>
          </a:p>
          <a:p>
            <a:pPr marL="451484"/>
            <a:r>
              <a:rPr sz="1600" b="1" dirty="0">
                <a:solidFill>
                  <a:srgbClr val="001F5F"/>
                </a:solidFill>
                <a:latin typeface="Courier New"/>
                <a:cs typeface="Courier New"/>
              </a:rPr>
              <a:t>}</a:t>
            </a:r>
          </a:p>
        </p:txBody>
      </p:sp>
      <p:sp>
        <p:nvSpPr>
          <p:cNvPr id="5" name="object 5"/>
          <p:cNvSpPr txBox="1"/>
          <p:nvPr/>
        </p:nvSpPr>
        <p:spPr>
          <a:xfrm>
            <a:off x="2008758" y="6316776"/>
            <a:ext cx="118110" cy="329565"/>
          </a:xfrm>
          <a:prstGeom prst="rect">
            <a:avLst/>
          </a:prstGeom>
        </p:spPr>
        <p:txBody>
          <a:bodyPr vert="horz" wrap="none" lIns="0" tIns="11430" rIns="0" bIns="0" rtlCol="0">
            <a:normAutofit/>
          </a:bodyPr>
          <a:lstStyle/>
          <a:p>
            <a:pPr marL="12700"/>
            <a:r>
              <a:rPr sz="1600" dirty="0">
                <a:solidFill>
                  <a:srgbClr val="001F5F"/>
                </a:solidFill>
                <a:latin typeface="Courier New"/>
                <a:cs typeface="Courier New"/>
              </a:rPr>
              <a:t>}</a:t>
            </a:r>
            <a:endParaRPr sz="1600">
              <a:solidFill>
                <a:srgbClr val="001F5F"/>
              </a:solidFill>
              <a:latin typeface="Courier New"/>
              <a:cs typeface="Courier New"/>
            </a:endParaRPr>
          </a:p>
        </p:txBody>
      </p:sp>
      <p:pic>
        <p:nvPicPr>
          <p:cNvPr id="6" name="object 6"/>
          <p:cNvPicPr/>
          <p:nvPr/>
        </p:nvPicPr>
        <p:blipFill>
          <a:blip r:embed="rId2" cstate="print"/>
          <a:stretch>
            <a:fillRect/>
          </a:stretch>
        </p:blipFill>
        <p:spPr>
          <a:xfrm>
            <a:off x="6220967" y="5013959"/>
            <a:ext cx="3809999" cy="1676400"/>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12722" y="440624"/>
            <a:ext cx="8814435" cy="4267835"/>
          </a:xfrm>
          <a:prstGeom prst="rect">
            <a:avLst/>
          </a:prstGeom>
        </p:spPr>
        <p:txBody>
          <a:bodyPr vert="horz" wrap="none" lIns="0" tIns="37465" rIns="0" bIns="0" rtlCol="0">
            <a:normAutofit/>
          </a:bodyPr>
          <a:lstStyle/>
          <a:p>
            <a:pPr marL="12700">
              <a:lnSpc>
                <a:spcPct val="110000"/>
              </a:lnSpc>
              <a:spcBef>
                <a:spcPts val="0"/>
              </a:spcBef>
              <a:spcAft>
                <a:spcPts val="600"/>
              </a:spcAft>
            </a:pPr>
            <a:r>
              <a:rPr sz="2000" b="1" dirty="0">
                <a:solidFill>
                  <a:srgbClr val="C00000"/>
                </a:solidFill>
                <a:latin typeface="Calibri"/>
                <a:cs typeface="Calibri"/>
              </a:rPr>
              <a:t>Java Enum Example: Defined inside class</a:t>
            </a:r>
            <a:endParaRPr sz="2000" dirty="0">
              <a:solidFill>
                <a:srgbClr val="001F5F"/>
              </a:solidFill>
              <a:latin typeface="Calibri"/>
              <a:cs typeface="Calibri"/>
            </a:endParaRPr>
          </a:p>
          <a:p>
            <a:pPr marL="12700"/>
            <a:r>
              <a:rPr sz="1600" b="1" dirty="0">
                <a:solidFill>
                  <a:srgbClr val="001F5F"/>
                </a:solidFill>
                <a:latin typeface="Courier New"/>
                <a:cs typeface="Courier New"/>
              </a:rPr>
              <a:t>enum Days{ Sunday,Monday,Tuesday,Wdnesday,Thursday,Friday,Saturday;}</a:t>
            </a:r>
          </a:p>
          <a:p>
            <a:pPr>
              <a:lnSpc>
                <a:spcPct val="110000"/>
              </a:lnSpc>
              <a:spcBef>
                <a:spcPts val="0"/>
              </a:spcBef>
              <a:spcAft>
                <a:spcPts val="600"/>
              </a:spcAft>
            </a:pPr>
            <a:endParaRPr sz="2000" b="1" dirty="0">
              <a:solidFill>
                <a:srgbClr val="001F5F"/>
              </a:solidFill>
              <a:latin typeface="Calibri"/>
              <a:cs typeface="Calibri"/>
            </a:endParaRPr>
          </a:p>
          <a:p>
            <a:pPr marL="12700"/>
            <a:r>
              <a:rPr sz="1600" b="1" dirty="0">
                <a:solidFill>
                  <a:srgbClr val="001F5F"/>
                </a:solidFill>
                <a:latin typeface="Courier New"/>
                <a:cs typeface="Courier New"/>
              </a:rPr>
              <a:t>class EnumSample</a:t>
            </a:r>
          </a:p>
          <a:p>
            <a:pPr marL="133985"/>
            <a:r>
              <a:rPr sz="1600" b="1" dirty="0">
                <a:solidFill>
                  <a:srgbClr val="001F5F"/>
                </a:solidFill>
                <a:latin typeface="Courier New"/>
                <a:cs typeface="Courier New"/>
              </a:rPr>
              <a:t>{</a:t>
            </a:r>
          </a:p>
          <a:p>
            <a:pPr marL="494030"/>
            <a:r>
              <a:rPr sz="1600" b="1" dirty="0">
                <a:solidFill>
                  <a:srgbClr val="001F5F"/>
                </a:solidFill>
                <a:latin typeface="Courier New"/>
                <a:cs typeface="Courier New"/>
              </a:rPr>
              <a:t>public static void main(String args[])</a:t>
            </a:r>
          </a:p>
          <a:p>
            <a:pPr marL="133985"/>
            <a:r>
              <a:rPr sz="1600" b="1" dirty="0">
                <a:solidFill>
                  <a:srgbClr val="001F5F"/>
                </a:solidFill>
                <a:latin typeface="Courier New"/>
                <a:cs typeface="Courier New"/>
              </a:rPr>
              <a:t>{</a:t>
            </a:r>
          </a:p>
          <a:p>
            <a:pPr marL="978535"/>
            <a:r>
              <a:rPr sz="1600" b="1" dirty="0">
                <a:solidFill>
                  <a:srgbClr val="001F5F"/>
                </a:solidFill>
                <a:latin typeface="Courier New"/>
                <a:cs typeface="Courier New"/>
              </a:rPr>
              <a:t>Days a= Days.Thursday; </a:t>
            </a:r>
            <a:r>
              <a:rPr sz="1600" b="1" dirty="0">
                <a:solidFill>
                  <a:srgbClr val="2E7D32"/>
                </a:solidFill>
                <a:latin typeface="Courier New"/>
                <a:cs typeface="Courier New"/>
              </a:rPr>
              <a:t>//</a:t>
            </a:r>
            <a:r>
              <a:rPr sz="1600" b="1" dirty="0">
                <a:solidFill>
                  <a:srgbClr val="001F5F"/>
                </a:solidFill>
                <a:latin typeface="Courier New"/>
                <a:cs typeface="Courier New"/>
              </a:rPr>
              <a:t> get all enum constants</a:t>
            </a:r>
          </a:p>
          <a:p>
            <a:pPr marL="817244"/>
            <a:r>
              <a:rPr sz="1600" b="1" dirty="0">
                <a:solidFill>
                  <a:srgbClr val="001F5F"/>
                </a:solidFill>
                <a:latin typeface="Courier New"/>
                <a:cs typeface="Courier New"/>
              </a:rPr>
              <a:t>System.out.println(a);</a:t>
            </a:r>
          </a:p>
          <a:p>
            <a:pPr marL="978535"/>
            <a:r>
              <a:rPr sz="1600" b="1" dirty="0">
                <a:solidFill>
                  <a:srgbClr val="001F5F"/>
                </a:solidFill>
                <a:latin typeface="Courier New"/>
                <a:cs typeface="Courier New"/>
              </a:rPr>
              <a:t>}</a:t>
            </a:r>
          </a:p>
          <a:p>
            <a:pPr marL="494030"/>
            <a:r>
              <a:rPr sz="1600" b="1" dirty="0">
                <a:solidFill>
                  <a:srgbClr val="001F5F"/>
                </a:solidFill>
                <a:latin typeface="Courier New"/>
                <a:cs typeface="Courier New"/>
              </a:rPr>
              <a:t>}</a:t>
            </a:r>
          </a:p>
        </p:txBody>
      </p:sp>
      <p:pic>
        <p:nvPicPr>
          <p:cNvPr id="3" name="object 3"/>
          <p:cNvPicPr/>
          <p:nvPr/>
        </p:nvPicPr>
        <p:blipFill>
          <a:blip r:embed="rId2" cstate="print"/>
          <a:stretch>
            <a:fillRect/>
          </a:stretch>
        </p:blipFill>
        <p:spPr>
          <a:xfrm>
            <a:off x="5952744" y="5193791"/>
            <a:ext cx="3953255" cy="1115568"/>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2BF59-D13E-27EB-68EF-5DF7EFDF6467}"/>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3FD63843-636C-9048-40C6-C471C6D4C86B}"/>
              </a:ext>
            </a:extLst>
          </p:cNvPr>
          <p:cNvSpPr txBox="1"/>
          <p:nvPr/>
        </p:nvSpPr>
        <p:spPr>
          <a:xfrm>
            <a:off x="2017902" y="464565"/>
            <a:ext cx="4849495" cy="4476225"/>
          </a:xfrm>
          <a:prstGeom prst="rect">
            <a:avLst/>
          </a:prstGeom>
        </p:spPr>
        <p:txBody>
          <a:bodyPr vert="horz" wrap="none" lIns="0" tIns="13335" rIns="0" bIns="0" rtlCol="0">
            <a:normAutofit/>
          </a:bodyPr>
          <a:lstStyle/>
          <a:p>
            <a:pPr marL="12700">
              <a:lnSpc>
                <a:spcPct val="110000"/>
              </a:lnSpc>
              <a:spcBef>
                <a:spcPts val="0"/>
              </a:spcBef>
              <a:spcAft>
                <a:spcPts val="600"/>
              </a:spcAft>
            </a:pPr>
            <a:r>
              <a:rPr sz="2000" b="1" dirty="0">
                <a:solidFill>
                  <a:srgbClr val="C00000"/>
                </a:solidFill>
                <a:latin typeface="Calibri"/>
                <a:cs typeface="Calibri"/>
              </a:rPr>
              <a:t>Java Enum Example: main method inside Enum</a:t>
            </a:r>
            <a:endParaRPr sz="2000" dirty="0">
              <a:solidFill>
                <a:srgbClr val="001F5F"/>
              </a:solidFill>
              <a:latin typeface="Calibri"/>
              <a:cs typeface="Calibri"/>
            </a:endParaRPr>
          </a:p>
          <a:p>
            <a:pPr marL="12700"/>
            <a:r>
              <a:rPr sz="1600" b="1" dirty="0">
                <a:solidFill>
                  <a:srgbClr val="001F5F"/>
                </a:solidFill>
                <a:latin typeface="Courier New"/>
                <a:cs typeface="Courier New"/>
              </a:rPr>
              <a:t>enum Colors{</a:t>
            </a:r>
          </a:p>
          <a:p>
            <a:pPr marL="817244"/>
            <a:r>
              <a:rPr sz="1600" b="1" dirty="0">
                <a:solidFill>
                  <a:srgbClr val="001F5F"/>
                </a:solidFill>
                <a:latin typeface="Courier New"/>
                <a:cs typeface="Courier New"/>
              </a:rPr>
              <a:t>RED,BLUE,BLACK,GREEN;</a:t>
            </a:r>
            <a:endParaRPr lang="en-IN" sz="1600" b="1" dirty="0">
              <a:solidFill>
                <a:srgbClr val="001F5F"/>
              </a:solidFill>
              <a:latin typeface="Courier New"/>
              <a:cs typeface="Courier New"/>
            </a:endParaRPr>
          </a:p>
          <a:p>
            <a:pPr marL="817244"/>
            <a:r>
              <a:rPr lang="en-IN" sz="1600" b="1" dirty="0">
                <a:solidFill>
                  <a:srgbClr val="001F5F"/>
                </a:solidFill>
                <a:latin typeface="Courier New"/>
                <a:cs typeface="Courier New"/>
              </a:rPr>
              <a:t>}</a:t>
            </a:r>
            <a:endParaRPr sz="1600" b="1" dirty="0">
              <a:solidFill>
                <a:srgbClr val="001F5F"/>
              </a:solidFill>
              <a:latin typeface="Courier New"/>
              <a:cs typeface="Courier New"/>
            </a:endParaRPr>
          </a:p>
          <a:p>
            <a:pPr marL="817244"/>
            <a:r>
              <a:rPr sz="1600" b="1" dirty="0">
                <a:solidFill>
                  <a:srgbClr val="001F5F"/>
                </a:solidFill>
                <a:latin typeface="Courier New"/>
                <a:cs typeface="Courier New"/>
              </a:rPr>
              <a:t>public static void main(String[] args)</a:t>
            </a:r>
          </a:p>
          <a:p>
            <a:pPr marL="817244"/>
            <a:r>
              <a:rPr sz="1600" b="1" dirty="0">
                <a:solidFill>
                  <a:srgbClr val="001F5F"/>
                </a:solidFill>
                <a:latin typeface="Courier New"/>
                <a:cs typeface="Courier New"/>
              </a:rPr>
              <a:t>{</a:t>
            </a:r>
          </a:p>
          <a:p>
            <a:pPr marL="1731645"/>
            <a:r>
              <a:rPr sz="1600" b="1" dirty="0">
                <a:solidFill>
                  <a:srgbClr val="001F5F"/>
                </a:solidFill>
                <a:latin typeface="Courier New"/>
                <a:cs typeface="Courier New"/>
              </a:rPr>
              <a:t>Colors c=Colors.RED;</a:t>
            </a:r>
          </a:p>
          <a:p>
            <a:pPr marL="1731645"/>
            <a:r>
              <a:rPr sz="1600" b="1" dirty="0">
                <a:solidFill>
                  <a:srgbClr val="001F5F"/>
                </a:solidFill>
                <a:latin typeface="Courier New"/>
                <a:cs typeface="Courier New"/>
              </a:rPr>
              <a:t>System.out.println(c);</a:t>
            </a:r>
          </a:p>
          <a:p>
            <a:pPr marL="817244"/>
            <a:r>
              <a:rPr sz="1600" b="1" dirty="0">
                <a:solidFill>
                  <a:srgbClr val="001F5F"/>
                </a:solidFill>
                <a:latin typeface="Courier New"/>
                <a:cs typeface="Courier New"/>
              </a:rPr>
              <a:t>}</a:t>
            </a:r>
          </a:p>
          <a:p>
            <a:pPr marL="12700"/>
            <a:r>
              <a:rPr sz="1600" b="1" dirty="0">
                <a:solidFill>
                  <a:srgbClr val="001F5F"/>
                </a:solidFill>
                <a:latin typeface="Courier New"/>
                <a:cs typeface="Courier New"/>
              </a:rPr>
              <a:t>}</a:t>
            </a:r>
          </a:p>
        </p:txBody>
      </p:sp>
      <p:sp>
        <p:nvSpPr>
          <p:cNvPr id="8" name="object 3">
            <a:extLst>
              <a:ext uri="{FF2B5EF4-FFF2-40B4-BE49-F238E27FC236}">
                <a16:creationId xmlns:a16="http://schemas.microsoft.com/office/drawing/2014/main" id="{27F6AC68-606A-D5E4-DBC8-FA054042465F}"/>
              </a:ext>
            </a:extLst>
          </p:cNvPr>
          <p:cNvSpPr txBox="1"/>
          <p:nvPr/>
        </p:nvSpPr>
        <p:spPr>
          <a:xfrm>
            <a:off x="7696200" y="3995928"/>
            <a:ext cx="1981200" cy="750205"/>
          </a:xfrm>
          <a:prstGeom prst="rect">
            <a:avLst/>
          </a:prstGeom>
          <a:ln w="12192">
            <a:solidFill>
              <a:srgbClr val="EB7B2F"/>
            </a:solidFill>
          </a:ln>
        </p:spPr>
        <p:txBody>
          <a:bodyPr vert="horz" wrap="square" lIns="0" tIns="11430" rIns="0" bIns="0" rtlCol="0">
            <a:normAutofit/>
          </a:bodyPr>
          <a:lstStyle/>
          <a:p>
            <a:pPr marL="92710">
              <a:lnSpc>
                <a:spcPct val="110000"/>
              </a:lnSpc>
              <a:spcBef>
                <a:spcPts val="0"/>
              </a:spcBef>
              <a:spcAft>
                <a:spcPts val="600"/>
              </a:spcAft>
            </a:pPr>
            <a:r>
              <a:rPr sz="2000" b="1" dirty="0">
                <a:solidFill>
                  <a:srgbClr val="C00000"/>
                </a:solidFill>
                <a:latin typeface="Calibri"/>
                <a:cs typeface="Calibri"/>
              </a:rPr>
              <a:t>Output:</a:t>
            </a:r>
            <a:endParaRPr sz="2000">
              <a:solidFill>
                <a:srgbClr val="001F5F"/>
              </a:solidFill>
              <a:latin typeface="Calibri"/>
              <a:cs typeface="Calibri"/>
            </a:endParaRPr>
          </a:p>
          <a:p>
            <a:pPr marL="10160" algn="ctr">
              <a:lnSpc>
                <a:spcPct val="110000"/>
              </a:lnSpc>
              <a:spcBef>
                <a:spcPts val="0"/>
              </a:spcBef>
              <a:spcAft>
                <a:spcPts val="600"/>
              </a:spcAft>
            </a:pPr>
            <a:r>
              <a:rPr sz="2000" b="1" dirty="0">
                <a:solidFill>
                  <a:srgbClr val="2E7D32"/>
                </a:solidFill>
                <a:latin typeface="Calibri"/>
                <a:cs typeface="Calibri"/>
              </a:rPr>
              <a:t>RED</a:t>
            </a:r>
            <a:endParaRPr sz="2000">
              <a:solidFill>
                <a:srgbClr val="001F5F"/>
              </a:solidFill>
              <a:latin typeface="Calibri"/>
              <a:cs typeface="Calibri"/>
            </a:endParaRPr>
          </a:p>
        </p:txBody>
      </p:sp>
    </p:spTree>
    <p:extLst>
      <p:ext uri="{BB962C8B-B14F-4D97-AF65-F5344CB8AC3E}">
        <p14:creationId xmlns:p14="http://schemas.microsoft.com/office/powerpoint/2010/main" val="159405837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07056-BCCB-54CE-09DE-D7D2F5CA1C1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211DD68-03F4-D29C-500B-DC39B312E262}"/>
              </a:ext>
            </a:extLst>
          </p:cNvPr>
          <p:cNvSpPr txBox="1">
            <a:spLocks noGrp="1"/>
          </p:cNvSpPr>
          <p:nvPr>
            <p:ph type="ctrTitle"/>
          </p:nvPr>
        </p:nvSpPr>
        <p:spPr>
          <a:xfrm>
            <a:off x="3130969" y="1609049"/>
            <a:ext cx="4648200" cy="640080"/>
          </a:xfrm>
          <a:prstGeom prst="rect">
            <a:avLst/>
          </a:prstGeom>
        </p:spPr>
        <p:txBody>
          <a:bodyPr vert="horz" wrap="square" rtlCol="0" anchor="ctr"/>
          <a:lstStyle/>
          <a:p>
            <a:pPr marL="2031364" algn="l">
              <a:lnSpc>
                <a:spcPct val="100000"/>
              </a:lnSpc>
              <a:spcBef>
                <a:spcPts val="100"/>
              </a:spcBef>
            </a:pPr>
            <a:r>
              <a:rPr sz="2800" b="1" dirty="0">
                <a:solidFill>
                  <a:srgbClr val="001F5F"/>
                </a:solidFill>
                <a:latin typeface="Calibri"/>
                <a:cs typeface="Calibri"/>
              </a:rPr>
              <a:t>UNIT-04 PART-C</a:t>
            </a:r>
          </a:p>
        </p:txBody>
      </p:sp>
      <p:sp>
        <p:nvSpPr>
          <p:cNvPr id="3" name="object 3">
            <a:extLst>
              <a:ext uri="{FF2B5EF4-FFF2-40B4-BE49-F238E27FC236}">
                <a16:creationId xmlns:a16="http://schemas.microsoft.com/office/drawing/2014/main" id="{1324647E-5B6D-3562-B3B3-554C65488637}"/>
              </a:ext>
            </a:extLst>
          </p:cNvPr>
          <p:cNvSpPr txBox="1"/>
          <p:nvPr/>
        </p:nvSpPr>
        <p:spPr>
          <a:xfrm>
            <a:off x="3733800" y="2286000"/>
            <a:ext cx="8134984" cy="321883"/>
          </a:xfrm>
          <a:prstGeom prst="rect">
            <a:avLst/>
          </a:prstGeom>
        </p:spPr>
        <p:txBody>
          <a:bodyPr vert="horz" wrap="square" lIns="0" tIns="13970" rIns="0" bIns="0" rtlCol="0">
            <a:spAutoFit/>
          </a:bodyPr>
          <a:lstStyle/>
          <a:p>
            <a:pPr marL="12700">
              <a:lnSpc>
                <a:spcPct val="100000"/>
              </a:lnSpc>
              <a:spcBef>
                <a:spcPts val="110"/>
              </a:spcBef>
            </a:pPr>
            <a:r>
              <a:rPr sz="2000" b="1" dirty="0">
                <a:solidFill>
                  <a:srgbClr val="C00000"/>
                </a:solidFill>
                <a:latin typeface="Calibri"/>
                <a:cs typeface="Calibri"/>
              </a:rPr>
              <a:t>Concept-09</a:t>
            </a:r>
            <a:r>
              <a:rPr sz="2000" b="1" dirty="0">
                <a:solidFill>
                  <a:srgbClr val="001F5F"/>
                </a:solidFill>
                <a:latin typeface="Calibri"/>
                <a:cs typeface="Calibri"/>
              </a:rPr>
              <a:t> Java. lang Package and its Classes</a:t>
            </a:r>
          </a:p>
        </p:txBody>
      </p:sp>
    </p:spTree>
    <p:extLst>
      <p:ext uri="{BB962C8B-B14F-4D97-AF65-F5344CB8AC3E}">
        <p14:creationId xmlns:p14="http://schemas.microsoft.com/office/powerpoint/2010/main" val="298025590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78BC6-37B1-2ACF-BF6F-04DEECBCBE5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3B7A02A-FF58-13BD-3620-86DB0A42EFA4}"/>
              </a:ext>
            </a:extLst>
          </p:cNvPr>
          <p:cNvSpPr txBox="1">
            <a:spLocks/>
          </p:cNvSpPr>
          <p:nvPr/>
        </p:nvSpPr>
        <p:spPr>
          <a:xfrm>
            <a:off x="0" y="377283"/>
            <a:ext cx="8077200" cy="443711"/>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en-US" sz="2800" b="1" dirty="0">
                <a:solidFill>
                  <a:srgbClr val="C00000"/>
                </a:solidFill>
                <a:latin typeface="Calibri"/>
                <a:cs typeface="Calibri"/>
              </a:rPr>
              <a:t>Commonly used classes of </a:t>
            </a:r>
            <a:r>
              <a:rPr lang="en-US" sz="2800" b="1" dirty="0" err="1">
                <a:solidFill>
                  <a:srgbClr val="C00000"/>
                </a:solidFill>
                <a:latin typeface="Calibri"/>
                <a:cs typeface="Calibri"/>
              </a:rPr>
              <a:t>java.lang</a:t>
            </a:r>
            <a:r>
              <a:rPr lang="en-US" sz="2800" b="1" dirty="0">
                <a:solidFill>
                  <a:srgbClr val="C00000"/>
                </a:solidFill>
                <a:latin typeface="Calibri"/>
                <a:cs typeface="Calibri"/>
              </a:rPr>
              <a:t> package</a:t>
            </a:r>
          </a:p>
        </p:txBody>
      </p:sp>
      <p:sp>
        <p:nvSpPr>
          <p:cNvPr id="3" name="object 3">
            <a:extLst>
              <a:ext uri="{FF2B5EF4-FFF2-40B4-BE49-F238E27FC236}">
                <a16:creationId xmlns:a16="http://schemas.microsoft.com/office/drawing/2014/main" id="{07090A53-DA41-E149-00CF-D120EA5D2521}"/>
              </a:ext>
            </a:extLst>
          </p:cNvPr>
          <p:cNvSpPr txBox="1"/>
          <p:nvPr/>
        </p:nvSpPr>
        <p:spPr>
          <a:xfrm>
            <a:off x="683895" y="838200"/>
            <a:ext cx="10589895" cy="3703577"/>
          </a:xfrm>
          <a:prstGeom prst="rect">
            <a:avLst/>
          </a:prstGeom>
        </p:spPr>
        <p:txBody>
          <a:bodyPr vert="horz" wrap="square" lIns="0" tIns="104139" rIns="0" bIns="0" rtlCol="0">
            <a:normAutofit/>
          </a:bodyPr>
          <a:lstStyle/>
          <a:p>
            <a:pPr marL="355600" indent="-342900">
              <a:lnSpc>
                <a:spcPct val="110000"/>
              </a:lnSpc>
              <a:spcBef>
                <a:spcPts val="0"/>
              </a:spcBef>
              <a:spcAft>
                <a:spcPts val="600"/>
              </a:spcAft>
              <a:buSzPct val="95833"/>
              <a:buFont typeface="Wingdings" panose="05000000000000000000" pitchFamily="2" charset="2"/>
              <a:buChar char="Ø"/>
              <a:tabLst>
                <a:tab pos="255904" algn="l"/>
              </a:tabLst>
            </a:pPr>
            <a:r>
              <a:rPr sz="2000" b="1" dirty="0">
                <a:latin typeface="Calibri" panose="020F0502020204030204" pitchFamily="34" charset="0"/>
                <a:ea typeface="Calibri" panose="020F0502020204030204" pitchFamily="34" charset="0"/>
                <a:cs typeface="Calibri" panose="020F0502020204030204" pitchFamily="34" charset="0"/>
              </a:rPr>
              <a:t>Object Class</a:t>
            </a:r>
          </a:p>
          <a:p>
            <a:pPr marL="354965" marR="5080" indent="-342900">
              <a:buSzPct val="95833"/>
              <a:buFont typeface="Wingdings" panose="05000000000000000000" pitchFamily="2" charset="2"/>
              <a:buChar char="Ø"/>
              <a:tabLst>
                <a:tab pos="243840" algn="l"/>
                <a:tab pos="255270" algn="l"/>
              </a:tabLst>
            </a:pPr>
            <a:r>
              <a:rPr lang="en-US" sz="2000" b="1" dirty="0">
                <a:latin typeface="Calibri" panose="020F0502020204030204" pitchFamily="34" charset="0"/>
                <a:ea typeface="Calibri" panose="020F0502020204030204" pitchFamily="34" charset="0"/>
                <a:cs typeface="Calibri" panose="020F0502020204030204" pitchFamily="34" charset="0"/>
              </a:rPr>
              <a:t>Wrapper Classes(Byte, Short, Integer, Long, Float, Double, Boolean, Character)</a:t>
            </a:r>
            <a:endParaRPr sz="2000" b="1" dirty="0">
              <a:latin typeface="Calibri" panose="020F0502020204030204" pitchFamily="34" charset="0"/>
              <a:ea typeface="Calibri" panose="020F0502020204030204" pitchFamily="34" charset="0"/>
              <a:cs typeface="Calibri" panose="020F0502020204030204" pitchFamily="34" charset="0"/>
            </a:endParaRPr>
          </a:p>
          <a:p>
            <a:pPr marL="355600" indent="-342900">
              <a:lnSpc>
                <a:spcPct val="110000"/>
              </a:lnSpc>
              <a:spcBef>
                <a:spcPts val="0"/>
              </a:spcBef>
              <a:spcAft>
                <a:spcPts val="600"/>
              </a:spcAft>
              <a:buSzPct val="95833"/>
              <a:buFont typeface="Wingdings" panose="05000000000000000000" pitchFamily="2" charset="2"/>
              <a:buChar char="Ø"/>
              <a:tabLst>
                <a:tab pos="255904" algn="l"/>
              </a:tabLst>
            </a:pPr>
            <a:r>
              <a:rPr sz="2000" b="1" dirty="0">
                <a:latin typeface="Calibri" panose="020F0502020204030204" pitchFamily="34" charset="0"/>
                <a:ea typeface="Calibri" panose="020F0502020204030204" pitchFamily="34" charset="0"/>
                <a:cs typeface="Calibri" panose="020F0502020204030204" pitchFamily="34" charset="0"/>
              </a:rPr>
              <a:t>Math Class</a:t>
            </a:r>
          </a:p>
          <a:p>
            <a:pPr marL="355600" indent="-342900">
              <a:lnSpc>
                <a:spcPct val="110000"/>
              </a:lnSpc>
              <a:spcBef>
                <a:spcPts val="0"/>
              </a:spcBef>
              <a:spcAft>
                <a:spcPts val="600"/>
              </a:spcAft>
              <a:buSzPct val="95833"/>
              <a:buFont typeface="Wingdings" panose="05000000000000000000" pitchFamily="2" charset="2"/>
              <a:buChar char="Ø"/>
              <a:tabLst>
                <a:tab pos="255904" algn="l"/>
              </a:tabLst>
            </a:pPr>
            <a:r>
              <a:rPr sz="2000" b="1" dirty="0">
                <a:latin typeface="Calibri" panose="020F0502020204030204" pitchFamily="34" charset="0"/>
                <a:ea typeface="Calibri" panose="020F0502020204030204" pitchFamily="34" charset="0"/>
                <a:cs typeface="Calibri" panose="020F0502020204030204" pitchFamily="34" charset="0"/>
              </a:rPr>
              <a:t>Thread</a:t>
            </a:r>
          </a:p>
          <a:p>
            <a:pPr marL="355600" indent="-342900">
              <a:buSzPct val="95833"/>
              <a:buFont typeface="Wingdings" panose="05000000000000000000" pitchFamily="2" charset="2"/>
              <a:buChar char="Ø"/>
              <a:tabLst>
                <a:tab pos="255904" algn="l"/>
              </a:tabLst>
            </a:pPr>
            <a:r>
              <a:rPr sz="2000" b="1" dirty="0">
                <a:latin typeface="Calibri" panose="020F0502020204030204" pitchFamily="34" charset="0"/>
                <a:ea typeface="Calibri" panose="020F0502020204030204" pitchFamily="34" charset="0"/>
                <a:cs typeface="Calibri" panose="020F0502020204030204" pitchFamily="34" charset="0"/>
              </a:rPr>
              <a:t>String</a:t>
            </a:r>
          </a:p>
          <a:p>
            <a:pPr marL="355600" indent="-342900">
              <a:lnSpc>
                <a:spcPct val="110000"/>
              </a:lnSpc>
              <a:spcBef>
                <a:spcPts val="0"/>
              </a:spcBef>
              <a:spcAft>
                <a:spcPts val="600"/>
              </a:spcAft>
              <a:buSzPct val="95833"/>
              <a:buFont typeface="Wingdings" panose="05000000000000000000" pitchFamily="2" charset="2"/>
              <a:buChar char="Ø"/>
              <a:tabLst>
                <a:tab pos="255904" algn="l"/>
              </a:tabLst>
            </a:pPr>
            <a:r>
              <a:rPr sz="2000" b="1" dirty="0">
                <a:latin typeface="Calibri" panose="020F0502020204030204" pitchFamily="34" charset="0"/>
                <a:ea typeface="Calibri" panose="020F0502020204030204" pitchFamily="34" charset="0"/>
                <a:cs typeface="Calibri" panose="020F0502020204030204" pitchFamily="34" charset="0"/>
              </a:rPr>
              <a:t>StringBuffer</a:t>
            </a:r>
          </a:p>
          <a:p>
            <a:pPr marL="355600" indent="-342900">
              <a:lnSpc>
                <a:spcPct val="110000"/>
              </a:lnSpc>
              <a:spcBef>
                <a:spcPts val="0"/>
              </a:spcBef>
              <a:spcAft>
                <a:spcPts val="600"/>
              </a:spcAft>
              <a:buSzPct val="95833"/>
              <a:buFont typeface="Wingdings" panose="05000000000000000000" pitchFamily="2" charset="2"/>
              <a:buChar char="Ø"/>
              <a:tabLst>
                <a:tab pos="255904" algn="l"/>
              </a:tabLst>
            </a:pPr>
            <a:r>
              <a:rPr sz="2000" b="1" dirty="0">
                <a:latin typeface="Calibri" panose="020F0502020204030204" pitchFamily="34" charset="0"/>
                <a:ea typeface="Calibri" panose="020F0502020204030204" pitchFamily="34" charset="0"/>
                <a:cs typeface="Calibri" panose="020F0502020204030204" pitchFamily="34" charset="0"/>
              </a:rPr>
              <a:t>StringBuilder</a:t>
            </a:r>
          </a:p>
          <a:p>
            <a:pPr marL="355600" indent="-342900">
              <a:lnSpc>
                <a:spcPct val="110000"/>
              </a:lnSpc>
              <a:spcBef>
                <a:spcPts val="0"/>
              </a:spcBef>
              <a:spcAft>
                <a:spcPts val="600"/>
              </a:spcAft>
              <a:buSzPct val="95833"/>
              <a:buFont typeface="Wingdings" panose="05000000000000000000" pitchFamily="2" charset="2"/>
              <a:buChar char="Ø"/>
              <a:tabLst>
                <a:tab pos="255904" algn="l"/>
              </a:tabLst>
            </a:pPr>
            <a:r>
              <a:rPr sz="2000" b="1" dirty="0">
                <a:latin typeface="Calibri" panose="020F0502020204030204" pitchFamily="34" charset="0"/>
                <a:ea typeface="Calibri" panose="020F0502020204030204" pitchFamily="34" charset="0"/>
                <a:cs typeface="Calibri" panose="020F0502020204030204" pitchFamily="34" charset="0"/>
              </a:rPr>
              <a:t>Enum</a:t>
            </a:r>
          </a:p>
        </p:txBody>
      </p:sp>
      <p:pic>
        <p:nvPicPr>
          <p:cNvPr id="5" name="Picture 4">
            <a:extLst>
              <a:ext uri="{FF2B5EF4-FFF2-40B4-BE49-F238E27FC236}">
                <a16:creationId xmlns:a16="http://schemas.microsoft.com/office/drawing/2014/main" id="{BDF30A29-5B05-40FE-FE66-9ABD4EB03B6E}"/>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286730584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31953-893A-BE3F-459A-7D792F5DC61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DE71D04-D06E-27F7-1F9D-BAEEC1A51123}"/>
              </a:ext>
            </a:extLst>
          </p:cNvPr>
          <p:cNvSpPr txBox="1">
            <a:spLocks/>
          </p:cNvSpPr>
          <p:nvPr/>
        </p:nvSpPr>
        <p:spPr>
          <a:xfrm>
            <a:off x="-381000" y="260122"/>
            <a:ext cx="8610600" cy="443711"/>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en-US" sz="2800" b="1" dirty="0">
                <a:solidFill>
                  <a:srgbClr val="C00000"/>
                </a:solidFill>
                <a:latin typeface="Calibri"/>
                <a:cs typeface="Calibri"/>
              </a:rPr>
              <a:t>Interfaces defined in </a:t>
            </a:r>
            <a:r>
              <a:rPr lang="en-US" sz="2800" b="1" dirty="0" err="1">
                <a:solidFill>
                  <a:srgbClr val="C00000"/>
                </a:solidFill>
                <a:latin typeface="Calibri"/>
                <a:cs typeface="Calibri"/>
              </a:rPr>
              <a:t>java.lang</a:t>
            </a:r>
            <a:r>
              <a:rPr lang="en-US" sz="2800" b="1" dirty="0">
                <a:solidFill>
                  <a:srgbClr val="C00000"/>
                </a:solidFill>
                <a:latin typeface="Calibri"/>
                <a:cs typeface="Calibri"/>
              </a:rPr>
              <a:t> package</a:t>
            </a:r>
          </a:p>
        </p:txBody>
      </p:sp>
      <p:sp>
        <p:nvSpPr>
          <p:cNvPr id="3" name="object 3">
            <a:extLst>
              <a:ext uri="{FF2B5EF4-FFF2-40B4-BE49-F238E27FC236}">
                <a16:creationId xmlns:a16="http://schemas.microsoft.com/office/drawing/2014/main" id="{12C063E1-A916-EC7D-3C36-4D75FA301A44}"/>
              </a:ext>
            </a:extLst>
          </p:cNvPr>
          <p:cNvSpPr txBox="1"/>
          <p:nvPr/>
        </p:nvSpPr>
        <p:spPr>
          <a:xfrm>
            <a:off x="1143000" y="990600"/>
            <a:ext cx="3681729" cy="4117975"/>
          </a:xfrm>
          <a:prstGeom prst="rect">
            <a:avLst/>
          </a:prstGeom>
        </p:spPr>
        <p:txBody>
          <a:bodyPr vert="horz" wrap="square" lIns="0" tIns="100965" rIns="0" bIns="0" rtlCol="0">
            <a:normAutofit/>
          </a:bodyPr>
          <a:lstStyle/>
          <a:p>
            <a:pPr marL="355600" indent="-342900">
              <a:lnSpc>
                <a:spcPct val="110000"/>
              </a:lnSpc>
              <a:spcBef>
                <a:spcPts val="0"/>
              </a:spcBef>
              <a:spcAft>
                <a:spcPts val="600"/>
              </a:spcAft>
              <a:buFont typeface="Wingdings" panose="05000000000000000000" pitchFamily="2" charset="2"/>
              <a:buChar char="Ø"/>
              <a:tabLst>
                <a:tab pos="240029" algn="l"/>
              </a:tabLst>
            </a:pPr>
            <a:r>
              <a:rPr sz="2000" b="1" dirty="0">
                <a:latin typeface="Calibri"/>
                <a:cs typeface="Calibri"/>
              </a:rPr>
              <a:t>Throwable</a:t>
            </a:r>
            <a:endParaRPr sz="2000" dirty="0">
              <a:latin typeface="Calibri"/>
              <a:cs typeface="Calibri"/>
            </a:endParaRPr>
          </a:p>
          <a:p>
            <a:pPr marL="355600" indent="-342900">
              <a:lnSpc>
                <a:spcPct val="110000"/>
              </a:lnSpc>
              <a:spcBef>
                <a:spcPts val="0"/>
              </a:spcBef>
              <a:spcAft>
                <a:spcPts val="600"/>
              </a:spcAft>
              <a:buFont typeface="Wingdings" panose="05000000000000000000" pitchFamily="2" charset="2"/>
              <a:buChar char="Ø"/>
              <a:tabLst>
                <a:tab pos="240029" algn="l"/>
              </a:tabLst>
            </a:pPr>
            <a:r>
              <a:rPr sz="2000" b="1" dirty="0">
                <a:latin typeface="Calibri"/>
                <a:cs typeface="Calibri"/>
              </a:rPr>
              <a:t>Runnable</a:t>
            </a:r>
            <a:endParaRPr sz="2000" dirty="0">
              <a:latin typeface="Calibri"/>
              <a:cs typeface="Calibri"/>
            </a:endParaRPr>
          </a:p>
          <a:p>
            <a:pPr marL="355600" indent="-342900">
              <a:lnSpc>
                <a:spcPct val="110000"/>
              </a:lnSpc>
              <a:spcBef>
                <a:spcPts val="0"/>
              </a:spcBef>
              <a:spcAft>
                <a:spcPts val="600"/>
              </a:spcAft>
              <a:buFont typeface="Wingdings" panose="05000000000000000000" pitchFamily="2" charset="2"/>
              <a:buChar char="Ø"/>
              <a:tabLst>
                <a:tab pos="240029" algn="l"/>
              </a:tabLst>
            </a:pPr>
            <a:r>
              <a:rPr sz="2000" b="1" dirty="0">
                <a:latin typeface="Calibri"/>
                <a:cs typeface="Calibri"/>
              </a:rPr>
              <a:t>Comparable</a:t>
            </a:r>
            <a:endParaRPr sz="2000" dirty="0">
              <a:latin typeface="Calibri"/>
              <a:cs typeface="Calibri"/>
            </a:endParaRPr>
          </a:p>
          <a:p>
            <a:pPr marL="355600" indent="-342900">
              <a:lnSpc>
                <a:spcPct val="110000"/>
              </a:lnSpc>
              <a:spcBef>
                <a:spcPts val="0"/>
              </a:spcBef>
              <a:spcAft>
                <a:spcPts val="600"/>
              </a:spcAft>
              <a:buFont typeface="Wingdings" panose="05000000000000000000" pitchFamily="2" charset="2"/>
              <a:buChar char="Ø"/>
              <a:tabLst>
                <a:tab pos="240029" algn="l"/>
              </a:tabLst>
            </a:pPr>
            <a:r>
              <a:rPr sz="2000" b="1" dirty="0">
                <a:latin typeface="Calibri"/>
                <a:cs typeface="Calibri"/>
              </a:rPr>
              <a:t>Iterable</a:t>
            </a:r>
            <a:endParaRPr sz="2000" dirty="0">
              <a:latin typeface="Calibri"/>
              <a:cs typeface="Calibri"/>
            </a:endParaRPr>
          </a:p>
          <a:p>
            <a:pPr marL="355600" indent="-342900">
              <a:lnSpc>
                <a:spcPct val="110000"/>
              </a:lnSpc>
              <a:spcBef>
                <a:spcPts val="0"/>
              </a:spcBef>
              <a:spcAft>
                <a:spcPts val="600"/>
              </a:spcAft>
              <a:buFont typeface="Wingdings" panose="05000000000000000000" pitchFamily="2" charset="2"/>
              <a:buChar char="Ø"/>
              <a:tabLst>
                <a:tab pos="240029" algn="l"/>
              </a:tabLst>
            </a:pPr>
            <a:r>
              <a:rPr sz="2000" b="1" dirty="0">
                <a:latin typeface="Calibri"/>
                <a:cs typeface="Calibri"/>
              </a:rPr>
              <a:t>CharSequence</a:t>
            </a:r>
            <a:endParaRPr sz="2000" dirty="0">
              <a:latin typeface="Calibri"/>
              <a:cs typeface="Calibri"/>
            </a:endParaRPr>
          </a:p>
          <a:p>
            <a:pPr marL="355600" indent="-342900">
              <a:lnSpc>
                <a:spcPct val="110000"/>
              </a:lnSpc>
              <a:spcBef>
                <a:spcPts val="0"/>
              </a:spcBef>
              <a:spcAft>
                <a:spcPts val="600"/>
              </a:spcAft>
              <a:buFont typeface="Wingdings" panose="05000000000000000000" pitchFamily="2" charset="2"/>
              <a:buChar char="Ø"/>
              <a:tabLst>
                <a:tab pos="240029" algn="l"/>
              </a:tabLst>
            </a:pPr>
            <a:r>
              <a:rPr sz="2000" b="1" dirty="0">
                <a:latin typeface="Calibri"/>
                <a:cs typeface="Calibri"/>
              </a:rPr>
              <a:t>Appendable</a:t>
            </a:r>
            <a:endParaRPr sz="2000" dirty="0">
              <a:latin typeface="Calibri"/>
              <a:cs typeface="Calibri"/>
            </a:endParaRPr>
          </a:p>
          <a:p>
            <a:pPr marL="355600" indent="-342900">
              <a:lnSpc>
                <a:spcPct val="110000"/>
              </a:lnSpc>
              <a:spcBef>
                <a:spcPts val="0"/>
              </a:spcBef>
              <a:spcAft>
                <a:spcPts val="600"/>
              </a:spcAft>
              <a:buFont typeface="Wingdings" panose="05000000000000000000" pitchFamily="2" charset="2"/>
              <a:buChar char="Ø"/>
              <a:tabLst>
                <a:tab pos="240029" algn="l"/>
              </a:tabLst>
            </a:pPr>
            <a:r>
              <a:rPr sz="2000" b="1" dirty="0">
                <a:latin typeface="Calibri"/>
                <a:cs typeface="Calibri"/>
              </a:rPr>
              <a:t>Readable</a:t>
            </a:r>
            <a:endParaRPr sz="2000" dirty="0">
              <a:latin typeface="Calibri"/>
              <a:cs typeface="Calibri"/>
            </a:endParaRPr>
          </a:p>
          <a:p>
            <a:pPr marL="355600" indent="-342900">
              <a:lnSpc>
                <a:spcPct val="110000"/>
              </a:lnSpc>
              <a:spcBef>
                <a:spcPts val="0"/>
              </a:spcBef>
              <a:spcAft>
                <a:spcPts val="600"/>
              </a:spcAft>
              <a:buFont typeface="Wingdings" panose="05000000000000000000" pitchFamily="2" charset="2"/>
              <a:buChar char="Ø"/>
              <a:tabLst>
                <a:tab pos="240029" algn="l"/>
              </a:tabLst>
            </a:pPr>
            <a:r>
              <a:rPr sz="2000" b="1" dirty="0">
                <a:latin typeface="Calibri"/>
                <a:cs typeface="Calibri"/>
              </a:rPr>
              <a:t>Void</a:t>
            </a:r>
            <a:endParaRPr sz="2000" dirty="0">
              <a:latin typeface="Calibri"/>
              <a:cs typeface="Calibri"/>
            </a:endParaRPr>
          </a:p>
          <a:p>
            <a:pPr marL="355600" indent="-342900">
              <a:lnSpc>
                <a:spcPct val="110000"/>
              </a:lnSpc>
              <a:spcBef>
                <a:spcPts val="0"/>
              </a:spcBef>
              <a:spcAft>
                <a:spcPts val="600"/>
              </a:spcAft>
              <a:buFont typeface="Wingdings" panose="05000000000000000000" pitchFamily="2" charset="2"/>
              <a:buChar char="Ø"/>
              <a:tabLst>
                <a:tab pos="240029" algn="l"/>
              </a:tabLst>
            </a:pPr>
            <a:r>
              <a:rPr sz="2000" b="1" dirty="0">
                <a:latin typeface="Calibri"/>
                <a:cs typeface="Calibri"/>
              </a:rPr>
              <a:t>InheritableThreadLocal</a:t>
            </a:r>
            <a:endParaRPr sz="2000" dirty="0">
              <a:latin typeface="Calibri"/>
              <a:cs typeface="Calibri"/>
            </a:endParaRPr>
          </a:p>
        </p:txBody>
      </p:sp>
      <p:pic>
        <p:nvPicPr>
          <p:cNvPr id="5" name="Picture 4">
            <a:extLst>
              <a:ext uri="{FF2B5EF4-FFF2-40B4-BE49-F238E27FC236}">
                <a16:creationId xmlns:a16="http://schemas.microsoft.com/office/drawing/2014/main" id="{D6A41B9C-2000-2AE7-99E3-CB62BE50CD0A}"/>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17296299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F463C-84B6-E71A-D1FE-3C2ED73C23A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AB0E8DF-4407-3D9F-9D06-7240D3FE8474}"/>
              </a:ext>
            </a:extLst>
          </p:cNvPr>
          <p:cNvSpPr txBox="1">
            <a:spLocks noGrp="1"/>
          </p:cNvSpPr>
          <p:nvPr>
            <p:ph type="ctrTitle"/>
          </p:nvPr>
        </p:nvSpPr>
        <p:spPr>
          <a:xfrm>
            <a:off x="2590800" y="1751012"/>
            <a:ext cx="5638800" cy="640080"/>
          </a:xfrm>
          <a:prstGeom prst="rect">
            <a:avLst/>
          </a:prstGeom>
        </p:spPr>
        <p:txBody>
          <a:bodyPr vert="horz" wrap="square" rtlCol="0" anchor="ctr">
            <a:normAutofit/>
          </a:bodyPr>
          <a:lstStyle/>
          <a:p>
            <a:pPr marL="2031364" algn="l">
              <a:lnSpc>
                <a:spcPct val="100000"/>
              </a:lnSpc>
              <a:spcBef>
                <a:spcPts val="100"/>
              </a:spcBef>
            </a:pPr>
            <a:r>
              <a:rPr sz="2800" b="1" dirty="0">
                <a:solidFill>
                  <a:srgbClr val="001F5F"/>
                </a:solidFill>
                <a:latin typeface="Calibri"/>
                <a:cs typeface="Calibri"/>
              </a:rPr>
              <a:t>UNIT-04 PART-C</a:t>
            </a:r>
          </a:p>
        </p:txBody>
      </p:sp>
      <p:sp>
        <p:nvSpPr>
          <p:cNvPr id="3" name="object 3">
            <a:extLst>
              <a:ext uri="{FF2B5EF4-FFF2-40B4-BE49-F238E27FC236}">
                <a16:creationId xmlns:a16="http://schemas.microsoft.com/office/drawing/2014/main" id="{2A7F80AF-E4C7-B1E4-E00E-930EC156404B}"/>
              </a:ext>
            </a:extLst>
          </p:cNvPr>
          <p:cNvSpPr txBox="1"/>
          <p:nvPr/>
        </p:nvSpPr>
        <p:spPr>
          <a:xfrm>
            <a:off x="3810000" y="2381260"/>
            <a:ext cx="6019800" cy="321883"/>
          </a:xfrm>
          <a:prstGeom prst="rect">
            <a:avLst/>
          </a:prstGeom>
        </p:spPr>
        <p:txBody>
          <a:bodyPr vert="horz" wrap="square" lIns="0" tIns="13970" rIns="0" bIns="0" rtlCol="0">
            <a:spAutoFit/>
          </a:bodyPr>
          <a:lstStyle/>
          <a:p>
            <a:pPr marL="12700">
              <a:lnSpc>
                <a:spcPct val="100000"/>
              </a:lnSpc>
              <a:spcBef>
                <a:spcPts val="110"/>
              </a:spcBef>
            </a:pPr>
            <a:r>
              <a:rPr sz="2000" b="1" dirty="0">
                <a:solidFill>
                  <a:srgbClr val="C00000"/>
                </a:solidFill>
                <a:latin typeface="Calibri"/>
                <a:cs typeface="Calibri"/>
              </a:rPr>
              <a:t>Concept-10:</a:t>
            </a:r>
            <a:r>
              <a:rPr sz="2000" b="1" dirty="0">
                <a:solidFill>
                  <a:srgbClr val="001F5F"/>
                </a:solidFill>
                <a:latin typeface="Calibri"/>
                <a:cs typeface="Calibri"/>
              </a:rPr>
              <a:t>Java util Classes and Interfaces</a:t>
            </a:r>
          </a:p>
        </p:txBody>
      </p:sp>
    </p:spTree>
    <p:extLst>
      <p:ext uri="{BB962C8B-B14F-4D97-AF65-F5344CB8AC3E}">
        <p14:creationId xmlns:p14="http://schemas.microsoft.com/office/powerpoint/2010/main" val="304657319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7BBC2B-558F-15C5-A866-F6975752DD40}"/>
              </a:ext>
            </a:extLst>
          </p:cNvPr>
          <p:cNvPicPr>
            <a:picLocks noChangeAspect="1"/>
          </p:cNvPicPr>
          <p:nvPr/>
        </p:nvPicPr>
        <p:blipFill>
          <a:blip r:embed="rId2"/>
          <a:stretch>
            <a:fillRect/>
          </a:stretch>
        </p:blipFill>
        <p:spPr>
          <a:xfrm>
            <a:off x="-76200" y="0"/>
            <a:ext cx="12185522" cy="6858000"/>
          </a:xfrm>
          <a:prstGeom prst="rect">
            <a:avLst/>
          </a:prstGeom>
        </p:spPr>
      </p:pic>
    </p:spTree>
    <p:extLst>
      <p:ext uri="{BB962C8B-B14F-4D97-AF65-F5344CB8AC3E}">
        <p14:creationId xmlns:p14="http://schemas.microsoft.com/office/powerpoint/2010/main" val="220570155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DD5F9796-07A5-6131-76D4-2B9D429A8A1A}"/>
              </a:ext>
            </a:extLst>
          </p:cNvPr>
          <p:cNvSpPr txBox="1">
            <a:spLocks/>
          </p:cNvSpPr>
          <p:nvPr/>
        </p:nvSpPr>
        <p:spPr>
          <a:xfrm>
            <a:off x="-685800" y="762000"/>
            <a:ext cx="9220200" cy="936154"/>
          </a:xfrm>
          <a:prstGeom prst="rect">
            <a:avLst/>
          </a:prstGeom>
        </p:spPr>
        <p:txBody>
          <a:bodyPr vert="horz" wrap="square" lIns="0" tIns="12700" rIns="0" bIns="0" rtlCol="0" anchor="b">
            <a:normAutofit/>
          </a:bodyPr>
          <a:lstStyle>
            <a:lvl1pPr algn="ctr" defTabSz="914400" rtl="0" eaLnBrk="1" latinLnBrk="0" hangingPunct="1">
              <a:lnSpc>
                <a:spcPct val="80000"/>
              </a:lnSpc>
              <a:spcBef>
                <a:spcPct val="0"/>
              </a:spcBef>
              <a:buNone/>
              <a:defRPr sz="6000" b="0" i="0" kern="1200" spc="-200" baseline="0">
                <a:solidFill>
                  <a:schemeClr val="tx1"/>
                </a:solidFill>
                <a:latin typeface="+mj-lt"/>
                <a:ea typeface="+mj-ea"/>
                <a:cs typeface="+mj-cs"/>
              </a:defRPr>
            </a:lvl1pPr>
          </a:lstStyle>
          <a:p>
            <a:pPr marL="12700">
              <a:lnSpc>
                <a:spcPct val="110000"/>
              </a:lnSpc>
              <a:spcBef>
                <a:spcPts val="0"/>
              </a:spcBef>
              <a:spcAft>
                <a:spcPts val="600"/>
              </a:spcAft>
            </a:pPr>
            <a:r>
              <a:rPr lang="en-IN" sz="2000" b="1" dirty="0">
                <a:solidFill>
                  <a:srgbClr val="C00000"/>
                </a:solidFill>
                <a:latin typeface="Calibri"/>
                <a:cs typeface="Calibri"/>
              </a:rPr>
              <a:t>Interfaces of util package</a:t>
            </a:r>
          </a:p>
        </p:txBody>
      </p:sp>
      <p:pic>
        <p:nvPicPr>
          <p:cNvPr id="3" name="object 3">
            <a:extLst>
              <a:ext uri="{FF2B5EF4-FFF2-40B4-BE49-F238E27FC236}">
                <a16:creationId xmlns:a16="http://schemas.microsoft.com/office/drawing/2014/main" id="{EA33185D-17DC-8477-8EDB-F2526B148CA4}"/>
              </a:ext>
            </a:extLst>
          </p:cNvPr>
          <p:cNvPicPr/>
          <p:nvPr/>
        </p:nvPicPr>
        <p:blipFill>
          <a:blip r:embed="rId2" cstate="print"/>
          <a:stretch>
            <a:fillRect/>
          </a:stretch>
        </p:blipFill>
        <p:spPr>
          <a:xfrm>
            <a:off x="2895600" y="2057400"/>
            <a:ext cx="6096000" cy="2773680"/>
          </a:xfrm>
          <a:prstGeom prst="rect">
            <a:avLst/>
          </a:prstGeom>
        </p:spPr>
      </p:pic>
      <p:graphicFrame>
        <p:nvGraphicFramePr>
          <p:cNvPr id="6" name="object 4">
            <a:extLst>
              <a:ext uri="{FF2B5EF4-FFF2-40B4-BE49-F238E27FC236}">
                <a16:creationId xmlns:a16="http://schemas.microsoft.com/office/drawing/2014/main" id="{0A39C03E-B4E2-205F-B7A8-53CE7A95BB0E}"/>
              </a:ext>
            </a:extLst>
          </p:cNvPr>
          <p:cNvGraphicFramePr>
            <a:graphicFrameLocks noGrp="1"/>
          </p:cNvGraphicFramePr>
          <p:nvPr>
            <p:extLst>
              <p:ext uri="{D42A27DB-BD31-4B8C-83A1-F6EECF244321}">
                <p14:modId xmlns:p14="http://schemas.microsoft.com/office/powerpoint/2010/main" val="76781323"/>
              </p:ext>
            </p:extLst>
          </p:nvPr>
        </p:nvGraphicFramePr>
        <p:xfrm>
          <a:off x="2889757" y="2051557"/>
          <a:ext cx="6095364" cy="2769870"/>
        </p:xfrm>
        <a:graphic>
          <a:graphicData uri="http://schemas.openxmlformats.org/drawingml/2006/table">
            <a:tbl>
              <a:tblPr firstRow="1" bandRow="1">
                <a:tableStyleId>{2D5ABB26-0587-4C30-8999-92F81FD0307C}</a:tableStyleId>
              </a:tblPr>
              <a:tblGrid>
                <a:gridCol w="2032635">
                  <a:extLst>
                    <a:ext uri="{9D8B030D-6E8A-4147-A177-3AD203B41FA5}">
                      <a16:colId xmlns:a16="http://schemas.microsoft.com/office/drawing/2014/main" val="20000"/>
                    </a:ext>
                  </a:extLst>
                </a:gridCol>
                <a:gridCol w="2030094">
                  <a:extLst>
                    <a:ext uri="{9D8B030D-6E8A-4147-A177-3AD203B41FA5}">
                      <a16:colId xmlns:a16="http://schemas.microsoft.com/office/drawing/2014/main" val="20001"/>
                    </a:ext>
                  </a:extLst>
                </a:gridCol>
                <a:gridCol w="2032635">
                  <a:extLst>
                    <a:ext uri="{9D8B030D-6E8A-4147-A177-3AD203B41FA5}">
                      <a16:colId xmlns:a16="http://schemas.microsoft.com/office/drawing/2014/main" val="20002"/>
                    </a:ext>
                  </a:extLst>
                </a:gridCol>
              </a:tblGrid>
              <a:tr h="397510">
                <a:tc>
                  <a:txBody>
                    <a:bodyPr/>
                    <a:lstStyle/>
                    <a:p>
                      <a:pPr algn="ctr">
                        <a:lnSpc>
                          <a:spcPct val="100000"/>
                        </a:lnSpc>
                        <a:spcBef>
                          <a:spcPts val="165"/>
                        </a:spcBef>
                      </a:pPr>
                      <a:r>
                        <a:rPr sz="1600" b="1" dirty="0">
                          <a:solidFill>
                            <a:schemeClr val="tx1"/>
                          </a:solidFill>
                          <a:latin typeface="Calibri"/>
                          <a:cs typeface="Calibri"/>
                        </a:rPr>
                        <a:t>Collection</a:t>
                      </a:r>
                      <a:endParaRPr sz="1600">
                        <a:solidFill>
                          <a:schemeClr val="tx1"/>
                        </a:solidFill>
                        <a:latin typeface="Calibri"/>
                        <a:cs typeface="Calibri"/>
                      </a:endParaRPr>
                    </a:p>
                  </a:txBody>
                  <a:tcPr marL="0" marR="0" marT="2095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tcPr>
                </a:tc>
                <a:tc>
                  <a:txBody>
                    <a:bodyPr/>
                    <a:lstStyle/>
                    <a:p>
                      <a:pPr marL="2540" algn="ctr">
                        <a:lnSpc>
                          <a:spcPct val="100000"/>
                        </a:lnSpc>
                        <a:spcBef>
                          <a:spcPts val="165"/>
                        </a:spcBef>
                      </a:pPr>
                      <a:r>
                        <a:rPr sz="1600" b="1" dirty="0">
                          <a:solidFill>
                            <a:schemeClr val="tx1"/>
                          </a:solidFill>
                          <a:latin typeface="Calibri"/>
                          <a:cs typeface="Calibri"/>
                        </a:rPr>
                        <a:t>List</a:t>
                      </a:r>
                      <a:endParaRPr sz="1600">
                        <a:solidFill>
                          <a:schemeClr val="tx1"/>
                        </a:solidFill>
                        <a:latin typeface="Calibri"/>
                        <a:cs typeface="Calibri"/>
                      </a:endParaRPr>
                    </a:p>
                  </a:txBody>
                  <a:tcPr marL="0" marR="0" marT="2095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tcPr>
                </a:tc>
                <a:tc>
                  <a:txBody>
                    <a:bodyPr/>
                    <a:lstStyle/>
                    <a:p>
                      <a:pPr marL="6985" algn="ctr">
                        <a:lnSpc>
                          <a:spcPct val="100000"/>
                        </a:lnSpc>
                        <a:spcBef>
                          <a:spcPts val="165"/>
                        </a:spcBef>
                      </a:pPr>
                      <a:r>
                        <a:rPr sz="1600" b="1" dirty="0">
                          <a:solidFill>
                            <a:schemeClr val="tx1"/>
                          </a:solidFill>
                          <a:latin typeface="Calibri"/>
                          <a:cs typeface="Calibri"/>
                        </a:rPr>
                        <a:t>Queue</a:t>
                      </a:r>
                      <a:endParaRPr sz="1600">
                        <a:solidFill>
                          <a:schemeClr val="tx1"/>
                        </a:solidFill>
                        <a:latin typeface="Calibri"/>
                        <a:cs typeface="Calibri"/>
                      </a:endParaRPr>
                    </a:p>
                  </a:txBody>
                  <a:tcPr marL="0" marR="0" marT="20955" marB="0">
                    <a:lnL w="12700">
                      <a:solidFill>
                        <a:srgbClr val="FFFFFF"/>
                      </a:solidFill>
                      <a:prstDash val="solid"/>
                    </a:lnL>
                    <a:lnR w="12700">
                      <a:solidFill>
                        <a:srgbClr val="FFFFFF"/>
                      </a:solidFill>
                      <a:prstDash val="solid"/>
                    </a:lnR>
                    <a:lnT w="12700">
                      <a:solidFill>
                        <a:srgbClr val="FFFFFF"/>
                      </a:solidFill>
                      <a:prstDash val="solid"/>
                    </a:lnT>
                    <a:lnB w="57150">
                      <a:solidFill>
                        <a:srgbClr val="FFFFFF"/>
                      </a:solidFill>
                      <a:prstDash val="solid"/>
                    </a:lnB>
                  </a:tcPr>
                </a:tc>
                <a:extLst>
                  <a:ext uri="{0D108BD9-81ED-4DB2-BD59-A6C34878D82A}">
                    <a16:rowId xmlns:a16="http://schemas.microsoft.com/office/drawing/2014/main" val="10000"/>
                  </a:ext>
                </a:extLst>
              </a:tr>
              <a:tr h="394335">
                <a:tc>
                  <a:txBody>
                    <a:bodyPr/>
                    <a:lstStyle/>
                    <a:p>
                      <a:pPr algn="ctr">
                        <a:lnSpc>
                          <a:spcPct val="100000"/>
                        </a:lnSpc>
                        <a:spcBef>
                          <a:spcPts val="155"/>
                        </a:spcBef>
                      </a:pPr>
                      <a:r>
                        <a:rPr sz="1600" b="1" dirty="0">
                          <a:solidFill>
                            <a:schemeClr val="tx1"/>
                          </a:solidFill>
                          <a:latin typeface="Calibri"/>
                          <a:cs typeface="Calibri"/>
                        </a:rPr>
                        <a:t>Comparator</a:t>
                      </a:r>
                      <a:endParaRPr sz="1600" dirty="0">
                        <a:solidFill>
                          <a:schemeClr val="tx1"/>
                        </a:solidFill>
                        <a:latin typeface="Calibri"/>
                        <a:cs typeface="Calibri"/>
                      </a:endParaRPr>
                    </a:p>
                  </a:txBody>
                  <a:tcPr marL="0" marR="0" marT="19685" marB="0">
                    <a:lnL w="12700">
                      <a:solidFill>
                        <a:srgbClr val="FFFFFF"/>
                      </a:solidFill>
                      <a:prstDash val="solid"/>
                    </a:lnL>
                    <a:lnR w="12700">
                      <a:solidFill>
                        <a:srgbClr val="FFFFFF"/>
                      </a:solidFill>
                      <a:prstDash val="solid"/>
                    </a:lnR>
                    <a:lnT w="57150">
                      <a:solidFill>
                        <a:srgbClr val="FFFFFF"/>
                      </a:solidFill>
                      <a:prstDash val="solid"/>
                    </a:lnT>
                    <a:lnB w="12700">
                      <a:solidFill>
                        <a:srgbClr val="FFFFFF"/>
                      </a:solidFill>
                      <a:prstDash val="solid"/>
                    </a:lnB>
                  </a:tcPr>
                </a:tc>
                <a:tc>
                  <a:txBody>
                    <a:bodyPr/>
                    <a:lstStyle/>
                    <a:p>
                      <a:pPr algn="ctr">
                        <a:lnSpc>
                          <a:spcPct val="100000"/>
                        </a:lnSpc>
                        <a:spcBef>
                          <a:spcPts val="155"/>
                        </a:spcBef>
                      </a:pPr>
                      <a:r>
                        <a:rPr sz="1600" b="1" dirty="0">
                          <a:solidFill>
                            <a:schemeClr val="tx1"/>
                          </a:solidFill>
                          <a:latin typeface="Calibri"/>
                          <a:cs typeface="Calibri"/>
                        </a:rPr>
                        <a:t>ListIterator</a:t>
                      </a:r>
                      <a:endParaRPr sz="1600">
                        <a:solidFill>
                          <a:schemeClr val="tx1"/>
                        </a:solidFill>
                        <a:latin typeface="Calibri"/>
                        <a:cs typeface="Calibri"/>
                      </a:endParaRPr>
                    </a:p>
                  </a:txBody>
                  <a:tcPr marL="0" marR="0" marT="19685" marB="0">
                    <a:lnL w="12700">
                      <a:solidFill>
                        <a:srgbClr val="FFFFFF"/>
                      </a:solidFill>
                      <a:prstDash val="solid"/>
                    </a:lnL>
                    <a:lnR w="12700">
                      <a:solidFill>
                        <a:srgbClr val="FFFFFF"/>
                      </a:solidFill>
                      <a:prstDash val="solid"/>
                    </a:lnR>
                    <a:lnT w="57150">
                      <a:solidFill>
                        <a:srgbClr val="FFFFFF"/>
                      </a:solidFill>
                      <a:prstDash val="solid"/>
                    </a:lnT>
                    <a:lnB w="12700">
                      <a:solidFill>
                        <a:srgbClr val="FFFFFF"/>
                      </a:solidFill>
                      <a:prstDash val="solid"/>
                    </a:lnB>
                  </a:tcPr>
                </a:tc>
                <a:tc>
                  <a:txBody>
                    <a:bodyPr/>
                    <a:lstStyle/>
                    <a:p>
                      <a:pPr marL="1905" algn="ctr">
                        <a:lnSpc>
                          <a:spcPct val="100000"/>
                        </a:lnSpc>
                        <a:spcBef>
                          <a:spcPts val="155"/>
                        </a:spcBef>
                      </a:pPr>
                      <a:r>
                        <a:rPr sz="1600" b="1" dirty="0">
                          <a:solidFill>
                            <a:schemeClr val="tx1"/>
                          </a:solidFill>
                          <a:latin typeface="Calibri"/>
                          <a:cs typeface="Calibri"/>
                        </a:rPr>
                        <a:t>RandomAccess</a:t>
                      </a:r>
                      <a:endParaRPr sz="1600">
                        <a:solidFill>
                          <a:schemeClr val="tx1"/>
                        </a:solidFill>
                        <a:latin typeface="Calibri"/>
                        <a:cs typeface="Calibri"/>
                      </a:endParaRPr>
                    </a:p>
                  </a:txBody>
                  <a:tcPr marL="0" marR="0" marT="19685" marB="0">
                    <a:lnL w="12700">
                      <a:solidFill>
                        <a:srgbClr val="FFFFFF"/>
                      </a:solidFill>
                      <a:prstDash val="solid"/>
                    </a:lnL>
                    <a:lnR w="12700">
                      <a:solidFill>
                        <a:srgbClr val="FFFFFF"/>
                      </a:solidFill>
                      <a:prstDash val="solid"/>
                    </a:lnR>
                    <a:lnT w="57150">
                      <a:solidFill>
                        <a:srgbClr val="FFFFFF"/>
                      </a:solidFill>
                      <a:prstDash val="solid"/>
                    </a:lnT>
                    <a:lnB w="12700">
                      <a:solidFill>
                        <a:srgbClr val="FFFFFF"/>
                      </a:solidFill>
                      <a:prstDash val="solid"/>
                    </a:lnB>
                  </a:tcPr>
                </a:tc>
                <a:extLst>
                  <a:ext uri="{0D108BD9-81ED-4DB2-BD59-A6C34878D82A}">
                    <a16:rowId xmlns:a16="http://schemas.microsoft.com/office/drawing/2014/main" val="10001"/>
                  </a:ext>
                </a:extLst>
              </a:tr>
              <a:tr h="395605">
                <a:tc>
                  <a:txBody>
                    <a:bodyPr/>
                    <a:lstStyle/>
                    <a:p>
                      <a:pPr marL="635" algn="ctr">
                        <a:lnSpc>
                          <a:spcPct val="100000"/>
                        </a:lnSpc>
                        <a:spcBef>
                          <a:spcPts val="165"/>
                        </a:spcBef>
                      </a:pPr>
                      <a:r>
                        <a:rPr sz="1600" b="1" dirty="0">
                          <a:solidFill>
                            <a:schemeClr val="tx1"/>
                          </a:solidFill>
                          <a:latin typeface="Calibri"/>
                          <a:cs typeface="Calibri"/>
                        </a:rPr>
                        <a:t>Deque</a:t>
                      </a:r>
                      <a:endParaRPr sz="1600" dirty="0">
                        <a:solidFill>
                          <a:schemeClr val="tx1"/>
                        </a:solidFill>
                        <a:latin typeface="Calibri"/>
                        <a:cs typeface="Calibri"/>
                      </a:endParaRPr>
                    </a:p>
                  </a:txBody>
                  <a:tcPr marL="0" marR="0" marT="209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marL="3810" algn="ctr">
                        <a:lnSpc>
                          <a:spcPct val="100000"/>
                        </a:lnSpc>
                        <a:spcBef>
                          <a:spcPts val="165"/>
                        </a:spcBef>
                      </a:pPr>
                      <a:r>
                        <a:rPr sz="1600" b="1" dirty="0">
                          <a:solidFill>
                            <a:schemeClr val="tx1"/>
                          </a:solidFill>
                          <a:latin typeface="Calibri"/>
                          <a:cs typeface="Calibri"/>
                        </a:rPr>
                        <a:t>Map</a:t>
                      </a:r>
                      <a:endParaRPr sz="1600">
                        <a:solidFill>
                          <a:schemeClr val="tx1"/>
                        </a:solidFill>
                        <a:latin typeface="Calibri"/>
                        <a:cs typeface="Calibri"/>
                      </a:endParaRPr>
                    </a:p>
                  </a:txBody>
                  <a:tcPr marL="0" marR="0" marT="209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marL="5080" algn="ctr">
                        <a:lnSpc>
                          <a:spcPct val="100000"/>
                        </a:lnSpc>
                        <a:spcBef>
                          <a:spcPts val="165"/>
                        </a:spcBef>
                      </a:pPr>
                      <a:r>
                        <a:rPr sz="1600" b="1" dirty="0">
                          <a:solidFill>
                            <a:schemeClr val="tx1"/>
                          </a:solidFill>
                          <a:latin typeface="Calibri"/>
                          <a:cs typeface="Calibri"/>
                        </a:rPr>
                        <a:t>Set</a:t>
                      </a:r>
                      <a:endParaRPr sz="1600">
                        <a:solidFill>
                          <a:schemeClr val="tx1"/>
                        </a:solidFill>
                        <a:latin typeface="Calibri"/>
                        <a:cs typeface="Calibri"/>
                      </a:endParaRPr>
                    </a:p>
                  </a:txBody>
                  <a:tcPr marL="0" marR="0" marT="209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2"/>
                  </a:ext>
                </a:extLst>
              </a:tr>
              <a:tr h="395605">
                <a:tc>
                  <a:txBody>
                    <a:bodyPr/>
                    <a:lstStyle/>
                    <a:p>
                      <a:pPr algn="ctr">
                        <a:lnSpc>
                          <a:spcPct val="100000"/>
                        </a:lnSpc>
                        <a:spcBef>
                          <a:spcPts val="165"/>
                        </a:spcBef>
                      </a:pPr>
                      <a:r>
                        <a:rPr sz="1600" b="1" dirty="0">
                          <a:solidFill>
                            <a:schemeClr val="tx1"/>
                          </a:solidFill>
                          <a:latin typeface="Calibri"/>
                          <a:cs typeface="Calibri"/>
                        </a:rPr>
                        <a:t>Enumeration</a:t>
                      </a:r>
                      <a:endParaRPr sz="1600">
                        <a:solidFill>
                          <a:schemeClr val="tx1"/>
                        </a:solidFill>
                        <a:latin typeface="Calibri"/>
                        <a:cs typeface="Calibri"/>
                      </a:endParaRPr>
                    </a:p>
                  </a:txBody>
                  <a:tcPr marL="0" marR="0" marT="209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algn="ctr">
                        <a:lnSpc>
                          <a:spcPct val="100000"/>
                        </a:lnSpc>
                        <a:spcBef>
                          <a:spcPts val="165"/>
                        </a:spcBef>
                      </a:pPr>
                      <a:r>
                        <a:rPr sz="1600" b="1" dirty="0">
                          <a:solidFill>
                            <a:schemeClr val="tx1"/>
                          </a:solidFill>
                          <a:latin typeface="Calibri"/>
                          <a:cs typeface="Calibri"/>
                        </a:rPr>
                        <a:t>Map.Entry</a:t>
                      </a:r>
                      <a:endParaRPr sz="1600">
                        <a:solidFill>
                          <a:schemeClr val="tx1"/>
                        </a:solidFill>
                        <a:latin typeface="Calibri"/>
                        <a:cs typeface="Calibri"/>
                      </a:endParaRPr>
                    </a:p>
                  </a:txBody>
                  <a:tcPr marL="0" marR="0" marT="209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marL="5715" algn="ctr">
                        <a:lnSpc>
                          <a:spcPct val="100000"/>
                        </a:lnSpc>
                        <a:spcBef>
                          <a:spcPts val="165"/>
                        </a:spcBef>
                      </a:pPr>
                      <a:r>
                        <a:rPr sz="1600" b="1" dirty="0">
                          <a:solidFill>
                            <a:schemeClr val="tx1"/>
                          </a:solidFill>
                          <a:latin typeface="Calibri"/>
                          <a:cs typeface="Calibri"/>
                        </a:rPr>
                        <a:t>SortedMap</a:t>
                      </a:r>
                      <a:endParaRPr sz="1600">
                        <a:solidFill>
                          <a:schemeClr val="tx1"/>
                        </a:solidFill>
                        <a:latin typeface="Calibri"/>
                        <a:cs typeface="Calibri"/>
                      </a:endParaRPr>
                    </a:p>
                  </a:txBody>
                  <a:tcPr marL="0" marR="0" marT="209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3"/>
                  </a:ext>
                </a:extLst>
              </a:tr>
              <a:tr h="395605">
                <a:tc>
                  <a:txBody>
                    <a:bodyPr/>
                    <a:lstStyle/>
                    <a:p>
                      <a:pPr algn="ctr">
                        <a:lnSpc>
                          <a:spcPct val="100000"/>
                        </a:lnSpc>
                        <a:spcBef>
                          <a:spcPts val="165"/>
                        </a:spcBef>
                      </a:pPr>
                      <a:r>
                        <a:rPr sz="1600" b="1" dirty="0">
                          <a:solidFill>
                            <a:schemeClr val="tx1"/>
                          </a:solidFill>
                          <a:latin typeface="Calibri"/>
                          <a:cs typeface="Calibri"/>
                        </a:rPr>
                        <a:t>EventListener</a:t>
                      </a:r>
                      <a:endParaRPr sz="1600">
                        <a:solidFill>
                          <a:schemeClr val="tx1"/>
                        </a:solidFill>
                        <a:latin typeface="Calibri"/>
                        <a:cs typeface="Calibri"/>
                      </a:endParaRPr>
                    </a:p>
                  </a:txBody>
                  <a:tcPr marL="0" marR="0" marT="209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algn="ctr">
                        <a:lnSpc>
                          <a:spcPct val="100000"/>
                        </a:lnSpc>
                        <a:spcBef>
                          <a:spcPts val="165"/>
                        </a:spcBef>
                      </a:pPr>
                      <a:r>
                        <a:rPr sz="1600" b="1" dirty="0">
                          <a:solidFill>
                            <a:schemeClr val="tx1"/>
                          </a:solidFill>
                          <a:latin typeface="Calibri"/>
                          <a:cs typeface="Calibri"/>
                        </a:rPr>
                        <a:t>NavigableMap</a:t>
                      </a:r>
                      <a:endParaRPr sz="1600">
                        <a:solidFill>
                          <a:schemeClr val="tx1"/>
                        </a:solidFill>
                        <a:latin typeface="Calibri"/>
                        <a:cs typeface="Calibri"/>
                      </a:endParaRPr>
                    </a:p>
                  </a:txBody>
                  <a:tcPr marL="0" marR="0" marT="209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marL="4445" algn="ctr">
                        <a:lnSpc>
                          <a:spcPct val="100000"/>
                        </a:lnSpc>
                        <a:spcBef>
                          <a:spcPts val="165"/>
                        </a:spcBef>
                      </a:pPr>
                      <a:r>
                        <a:rPr sz="1600" b="1" dirty="0">
                          <a:solidFill>
                            <a:schemeClr val="tx1"/>
                          </a:solidFill>
                          <a:latin typeface="Calibri"/>
                          <a:cs typeface="Calibri"/>
                        </a:rPr>
                        <a:t>SortedSet</a:t>
                      </a:r>
                      <a:endParaRPr sz="1600">
                        <a:solidFill>
                          <a:schemeClr val="tx1"/>
                        </a:solidFill>
                        <a:latin typeface="Calibri"/>
                        <a:cs typeface="Calibri"/>
                      </a:endParaRPr>
                    </a:p>
                  </a:txBody>
                  <a:tcPr marL="0" marR="0" marT="209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4"/>
                  </a:ext>
                </a:extLst>
              </a:tr>
              <a:tr h="395605">
                <a:tc>
                  <a:txBody>
                    <a:bodyPr/>
                    <a:lstStyle/>
                    <a:p>
                      <a:pPr marL="1270" algn="ctr">
                        <a:lnSpc>
                          <a:spcPct val="100000"/>
                        </a:lnSpc>
                        <a:spcBef>
                          <a:spcPts val="165"/>
                        </a:spcBef>
                      </a:pPr>
                      <a:r>
                        <a:rPr sz="1600" b="1" dirty="0">
                          <a:solidFill>
                            <a:schemeClr val="tx1"/>
                          </a:solidFill>
                          <a:latin typeface="Calibri"/>
                          <a:cs typeface="Calibri"/>
                        </a:rPr>
                        <a:t>Formattable</a:t>
                      </a:r>
                      <a:endParaRPr sz="1600">
                        <a:solidFill>
                          <a:schemeClr val="tx1"/>
                        </a:solidFill>
                        <a:latin typeface="Calibri"/>
                        <a:cs typeface="Calibri"/>
                      </a:endParaRPr>
                    </a:p>
                  </a:txBody>
                  <a:tcPr marL="0" marR="0" marT="209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algn="ctr">
                        <a:lnSpc>
                          <a:spcPct val="100000"/>
                        </a:lnSpc>
                        <a:spcBef>
                          <a:spcPts val="165"/>
                        </a:spcBef>
                      </a:pPr>
                      <a:r>
                        <a:rPr sz="1600" b="1" dirty="0">
                          <a:solidFill>
                            <a:schemeClr val="tx1"/>
                          </a:solidFill>
                          <a:latin typeface="Calibri"/>
                          <a:cs typeface="Calibri"/>
                        </a:rPr>
                        <a:t>NavigableSet</a:t>
                      </a:r>
                      <a:endParaRPr sz="1600">
                        <a:solidFill>
                          <a:schemeClr val="tx1"/>
                        </a:solidFill>
                        <a:latin typeface="Calibri"/>
                        <a:cs typeface="Calibri"/>
                      </a:endParaRPr>
                    </a:p>
                  </a:txBody>
                  <a:tcPr marL="0" marR="0" marT="209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a:lnSpc>
                          <a:spcPct val="100000"/>
                        </a:lnSpc>
                      </a:pPr>
                      <a:endParaRPr sz="1600">
                        <a:solidFill>
                          <a:schemeClr val="tx1"/>
                        </a:solidFill>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5"/>
                  </a:ext>
                </a:extLst>
              </a:tr>
              <a:tr h="395605">
                <a:tc>
                  <a:txBody>
                    <a:bodyPr/>
                    <a:lstStyle/>
                    <a:p>
                      <a:pPr algn="ctr">
                        <a:lnSpc>
                          <a:spcPct val="100000"/>
                        </a:lnSpc>
                        <a:spcBef>
                          <a:spcPts val="170"/>
                        </a:spcBef>
                      </a:pPr>
                      <a:r>
                        <a:rPr sz="1600" b="1" dirty="0">
                          <a:solidFill>
                            <a:schemeClr val="tx1"/>
                          </a:solidFill>
                          <a:latin typeface="Calibri"/>
                          <a:cs typeface="Calibri"/>
                        </a:rPr>
                        <a:t>Iterator</a:t>
                      </a:r>
                      <a:endParaRPr sz="1600">
                        <a:solidFill>
                          <a:schemeClr val="tx1"/>
                        </a:solidFill>
                        <a:latin typeface="Calibri"/>
                        <a:cs typeface="Calibri"/>
                      </a:endParaRPr>
                    </a:p>
                  </a:txBody>
                  <a:tcPr marL="0" marR="0" marT="215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algn="ctr">
                        <a:lnSpc>
                          <a:spcPct val="100000"/>
                        </a:lnSpc>
                        <a:spcBef>
                          <a:spcPts val="170"/>
                        </a:spcBef>
                      </a:pPr>
                      <a:r>
                        <a:rPr sz="1600" b="1" dirty="0">
                          <a:solidFill>
                            <a:schemeClr val="tx1"/>
                          </a:solidFill>
                          <a:latin typeface="Calibri"/>
                          <a:cs typeface="Calibri"/>
                        </a:rPr>
                        <a:t>Observer</a:t>
                      </a:r>
                      <a:endParaRPr sz="1600">
                        <a:solidFill>
                          <a:schemeClr val="tx1"/>
                        </a:solidFill>
                        <a:latin typeface="Calibri"/>
                        <a:cs typeface="Calibri"/>
                      </a:endParaRPr>
                    </a:p>
                  </a:txBody>
                  <a:tcPr marL="0" marR="0" marT="215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a:lnSpc>
                          <a:spcPct val="100000"/>
                        </a:lnSpc>
                      </a:pPr>
                      <a:endParaRPr sz="1600" dirty="0">
                        <a:solidFill>
                          <a:schemeClr val="tx1"/>
                        </a:solidFill>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6"/>
                  </a:ext>
                </a:extLst>
              </a:tr>
            </a:tbl>
          </a:graphicData>
        </a:graphic>
      </p:graphicFrame>
      <p:pic>
        <p:nvPicPr>
          <p:cNvPr id="5" name="Picture 4">
            <a:extLst>
              <a:ext uri="{FF2B5EF4-FFF2-40B4-BE49-F238E27FC236}">
                <a16:creationId xmlns:a16="http://schemas.microsoft.com/office/drawing/2014/main" id="{05D6DD78-B64B-7221-36BF-03C7DBBCF341}"/>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275584919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p:cNvSpPr>
          <p:nvPr/>
        </p:nvSpPr>
        <p:spPr>
          <a:xfrm>
            <a:off x="4232275" y="2688793"/>
            <a:ext cx="3420110" cy="695325"/>
          </a:xfrm>
          <a:prstGeom prst="rect">
            <a:avLst/>
          </a:prstGeom>
        </p:spPr>
        <p:txBody>
          <a:bodyPr vert="horz" wrap="square" lIns="0" tIns="12065" rIns="0" bIns="0" rtlCol="0" anchor="b">
            <a:spAutoFit/>
          </a:bodyPr>
          <a:lstStyle>
            <a:lvl1pPr algn="ctr" defTabSz="914400" rtl="0" eaLnBrk="1" latinLnBrk="0" hangingPunct="1">
              <a:lnSpc>
                <a:spcPct val="80000"/>
              </a:lnSpc>
              <a:spcBef>
                <a:spcPct val="0"/>
              </a:spcBef>
              <a:buNone/>
              <a:defRPr sz="6000" b="0" i="0" kern="1200" spc="-200" baseline="0">
                <a:solidFill>
                  <a:schemeClr val="tx1"/>
                </a:solidFill>
                <a:latin typeface="+mj-lt"/>
                <a:ea typeface="+mj-ea"/>
                <a:cs typeface="+mj-cs"/>
              </a:defRPr>
            </a:lvl1pPr>
          </a:lstStyle>
          <a:p>
            <a:pPr marL="12700">
              <a:lnSpc>
                <a:spcPct val="100000"/>
              </a:lnSpc>
              <a:spcBef>
                <a:spcPts val="95"/>
              </a:spcBef>
            </a:pPr>
            <a:r>
              <a:rPr lang="en-IN" sz="4400" dirty="0">
                <a:solidFill>
                  <a:srgbClr val="001F5F"/>
                </a:solidFill>
                <a:latin typeface="Calibri"/>
                <a:cs typeface="Calibri"/>
              </a:rPr>
              <a:t>Thank You..!</a:t>
            </a:r>
          </a:p>
        </p:txBody>
      </p:sp>
    </p:spTree>
    <p:extLst>
      <p:ext uri="{BB962C8B-B14F-4D97-AF65-F5344CB8AC3E}">
        <p14:creationId xmlns:p14="http://schemas.microsoft.com/office/powerpoint/2010/main" val="3919174331"/>
      </p:ext>
    </p:extLst>
  </p:cSld>
  <p:clrMapOvr>
    <a:masterClrMapping/>
  </p:clrMapOvr>
</p:sld>
</file>

<file path=ppt/theme/theme1.xml><?xml version="1.0" encoding="utf-8"?>
<a:theme xmlns:a="http://schemas.openxmlformats.org/drawingml/2006/main" name="Template_R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mplate_RCE" id="{BCF1ED16-5215-4075-92C5-74E9CD1F169A}" vid="{FC1408AB-E413-45DD-9389-362F3B8A15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Template_RCE</Template>
  <TotalTime>6531</TotalTime>
  <Words>7098</Words>
  <Application>Microsoft Office PowerPoint</Application>
  <PresentationFormat>Widescreen</PresentationFormat>
  <Paragraphs>1195</Paragraphs>
  <Slides>113</Slides>
  <Notes>0</Notes>
  <HiddenSlides>9</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113</vt:i4>
      </vt:variant>
    </vt:vector>
  </HeadingPairs>
  <TitlesOfParts>
    <vt:vector size="124" baseType="lpstr">
      <vt:lpstr>Aptos</vt:lpstr>
      <vt:lpstr>Aptos Display</vt:lpstr>
      <vt:lpstr>Arial</vt:lpstr>
      <vt:lpstr>Arial MT</vt:lpstr>
      <vt:lpstr>Calibri</vt:lpstr>
      <vt:lpstr>Comic Sans MS</vt:lpstr>
      <vt:lpstr>Consolas</vt:lpstr>
      <vt:lpstr>Courier New</vt:lpstr>
      <vt:lpstr>Times New Roman</vt:lpstr>
      <vt:lpstr>Wingdings</vt:lpstr>
      <vt:lpstr>Template_RCE</vt:lpstr>
      <vt:lpstr>RAMACHANDRA COLLEGE OF ENGINEERING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Multiple Inheritance</vt:lpstr>
      <vt:lpstr>PowerPoint Presentation</vt:lpstr>
      <vt:lpstr>PowerPoint Presentation</vt:lpstr>
      <vt:lpstr>PowerPoint Presentation</vt:lpstr>
      <vt:lpstr>PowerPoint Presentation</vt:lpstr>
      <vt:lpstr>PowerPoint Presentation</vt:lpstr>
      <vt:lpstr>class Rectangle extends Shape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PART-A:Interfaces: Concept-5: Nested Interfaces</vt:lpstr>
      <vt:lpstr>PowerPoint Presentation</vt:lpstr>
      <vt:lpstr>PowerPoint Presentation</vt:lpstr>
      <vt:lpstr>PowerPoint Presentation</vt:lpstr>
      <vt:lpstr>Unit-IV: PART-B:Exception Handling</vt:lpstr>
      <vt:lpstr>PowerPoint Presentation</vt:lpstr>
      <vt:lpstr>PowerPoint Presentation</vt:lpstr>
      <vt:lpstr>PowerPoint Presentation</vt:lpstr>
      <vt:lpstr>ADVANTAGE OF EXCEPTION HANDLING</vt:lpstr>
      <vt:lpstr>Unit-IV: PART-B:Exception Handling</vt:lpstr>
      <vt:lpstr>PowerPoint Presentation</vt:lpstr>
      <vt:lpstr>PowerPoint Presentation</vt:lpstr>
      <vt:lpstr>PowerPoint Presentation</vt:lpstr>
      <vt:lpstr>Unit-IV: PART-B:Exception Handling</vt:lpstr>
      <vt:lpstr>PowerPoint Presentation</vt:lpstr>
      <vt:lpstr>3) where NumberFormatException occurs</vt:lpstr>
      <vt:lpstr>Unit-IV: PART-B:Exception Handling</vt:lpstr>
      <vt:lpstr>PowerPoint Presentation</vt:lpstr>
      <vt:lpstr>TRY BLOCK</vt:lpstr>
      <vt:lpstr>CATCH BLOCK</vt:lpstr>
      <vt:lpstr>PROBLEM WITHOUT EXCEPTION HANDLING</vt:lpstr>
      <vt:lpstr>PROBLEM WITH EXCEPTION HANDLING</vt:lpstr>
      <vt:lpstr>class WithoutboundException</vt:lpstr>
      <vt:lpstr>class WithboundException {</vt:lpstr>
      <vt:lpstr>class WithoutNullpointer</vt:lpstr>
      <vt:lpstr>class WithNullpointerExc</vt:lpstr>
      <vt:lpstr>class WithoutNumberFormat</vt:lpstr>
      <vt:lpstr>Problem with Exception Handling</vt:lpstr>
      <vt:lpstr>Finally Block</vt:lpstr>
      <vt:lpstr>Case 1: When an exception does not occur</vt:lpstr>
      <vt:lpstr>PowerPoint Presentation</vt:lpstr>
      <vt:lpstr>PowerPoint Presentation</vt:lpstr>
      <vt:lpstr>Throw block</vt:lpstr>
      <vt:lpstr>PowerPoint Presentation</vt:lpstr>
      <vt:lpstr>PowerPoint Presentation</vt:lpstr>
      <vt:lpstr>class ThrowBlockException</vt:lpstr>
      <vt:lpstr>PowerPoint Presentation</vt:lpstr>
      <vt:lpstr>PowerPoint Presentation</vt:lpstr>
      <vt:lpstr>PowerPoint Presentation</vt:lpstr>
      <vt:lpstr>Unit-IV: PART-B:Exception Handling</vt:lpstr>
      <vt:lpstr>PowerPoint Presentation</vt:lpstr>
      <vt:lpstr>PowerPoint Presentation</vt:lpstr>
      <vt:lpstr>PowerPoint Presentation</vt:lpstr>
      <vt:lpstr>PowerPoint Presentation</vt:lpstr>
      <vt:lpstr>PowerPoint Presentation</vt:lpstr>
      <vt:lpstr>Advantages of packages</vt:lpstr>
      <vt:lpstr>PowerPoint Presentation</vt:lpstr>
      <vt:lpstr>TYPES OF PACKAGES</vt:lpstr>
      <vt:lpstr>I.Built-in Packages:</vt:lpstr>
      <vt:lpstr>PowerPoint Presentation</vt:lpstr>
      <vt:lpstr>PowerPoint Presentation</vt:lpstr>
      <vt:lpstr>PowerPoint Presentation</vt:lpstr>
      <vt:lpstr>Importing Packages and Classes into Programs</vt:lpstr>
      <vt:lpstr>PowerPoint Presentation</vt:lpstr>
      <vt:lpstr>PowerPoint Presentation</vt:lpstr>
      <vt:lpstr>Program to use Addition.class from mypack import com.*;</vt:lpstr>
      <vt:lpstr>2) import package.classname;</vt:lpstr>
      <vt:lpstr>PowerPoint Presentation</vt:lpstr>
      <vt:lpstr>PowerPoint Presentation</vt:lpstr>
      <vt:lpstr>UNIT-03 PART-C</vt:lpstr>
      <vt:lpstr>PowerPoint Presentation</vt:lpstr>
      <vt:lpstr>PowerPoint Presentation</vt:lpstr>
      <vt:lpstr>PowerPoint Presentation</vt:lpstr>
      <vt:lpstr>UNIT-04 PART-C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class MathClassExample</vt:lpstr>
      <vt:lpstr>UNIT-04 PART-C Concept-08 Enumeration in java</vt:lpstr>
      <vt:lpstr>Enumeration in java</vt:lpstr>
      <vt:lpstr>PowerPoint Presentation</vt:lpstr>
      <vt:lpstr>PowerPoint Presentation</vt:lpstr>
      <vt:lpstr>Java Enum Example:</vt:lpstr>
      <vt:lpstr>PowerPoint Presentation</vt:lpstr>
      <vt:lpstr>PowerPoint Presentation</vt:lpstr>
      <vt:lpstr>UNIT-04 PART-C</vt:lpstr>
      <vt:lpstr>PowerPoint Presentation</vt:lpstr>
      <vt:lpstr>PowerPoint Presentation</vt:lpstr>
      <vt:lpstr>UNIT-04 PART-C</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 V N Raju</cp:lastModifiedBy>
  <cp:revision>26</cp:revision>
  <dcterms:created xsi:type="dcterms:W3CDTF">2025-10-05T06:38:45Z</dcterms:created>
  <dcterms:modified xsi:type="dcterms:W3CDTF">2026-10-07T07:59:21Z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2025-06-14T00:00:00Z</vt:filetime>
  </property>
  <property fmtid="{D5CDD505-2E9C-101B-9397-08002B2CF9AE}" pid="3" name="Creator">
    <vt:lpwstr>Microsoft® PowerPoint® 2016</vt:lpwstr>
  </property>
  <property fmtid="{D5CDD505-2E9C-101B-9397-08002B2CF9AE}" pid="4" name="LastSaved">
    <vt:filetime>2025-10-05T00:00:00Z</vt:filetime>
  </property>
  <property fmtid="{D5CDD505-2E9C-101B-9397-08002B2CF9AE}" pid="5" name="Producer">
    <vt:lpwstr>www.ilovepdf.com</vt:lpwstr>
  </property>
</Properties>
</file>